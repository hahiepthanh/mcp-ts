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2"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12192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24"/>
      </p:cViewPr>
      <p:guideLst/>
    </p:cSldViewPr>
  </p:slideViewPr>
  <p:notesTextViewPr>
    <p:cViewPr>
      <p:scale>
        <a:sx n="1" d="1"/>
        <a:sy n="1" d="1"/>
      </p:scale>
      <p:origin x="0" y="0"/>
    </p:cViewPr>
  </p:notesTextViewPr>
  <p:notesViewPr>
    <p:cSldViewPr snapToGrid="0" snapToObjects="1">
      <p:cViewPr varScale="1">
        <p:scale>
          <a:sx n="47" d="100"/>
          <a:sy n="47" d="100"/>
        </p:scale>
        <p:origin x="2126" y="5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937"/>
                </a:solidFill>
                <a:latin typeface="Arial"/>
              </a:defRPr>
            </a:pPr>
            <a:r>
              <a:rPr lang="en-US" sz="1400" b="0" i="0" u="none" strike="noStrike">
                <a:solidFill>
                  <a:srgbClr val="1F2937"/>
                </a:solidFill>
                <a:latin typeface="Arial"/>
              </a:rPr>
              <a:t>Median time per turn (s)</a:t>
            </a:r>
          </a:p>
        </c:rich>
      </c:tx>
      <c:overlay val="0"/>
    </c:title>
    <c:autoTitleDeleted val="0"/>
    <c:plotArea>
      <c:layout/>
      <c:barChart>
        <c:barDir val="bar"/>
        <c:grouping val="clustered"/>
        <c:varyColors val="0"/>
        <c:ser>
          <c:idx val="0"/>
          <c:order val="0"/>
          <c:tx>
            <c:strRef>
              <c:f>Sheet1!$B$1</c:f>
              <c:strCache>
                <c:ptCount val="1"/>
                <c:pt idx="0">
                  <c:v>Median seconds per turn</c:v>
                </c:pt>
              </c:strCache>
            </c:strRef>
          </c:tx>
          <c:spPr>
            <a:solidFill>
              <a:srgbClr val="0F8B8D"/>
            </a:solidFill>
            <a:effectLst/>
          </c:spPr>
          <c:invertIfNegative val="0"/>
          <c:dLbls>
            <c:numFmt formatCode="0.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Gemini 3.5 Flash-Lite (cloud)</c:v>
                </c:pt>
                <c:pt idx="1">
                  <c:v>Qwen3 4B Instruct (local)</c:v>
                </c:pt>
                <c:pt idx="2">
                  <c:v>Qwen3 4B Thinking (local)</c:v>
                </c:pt>
              </c:strCache>
            </c:strRef>
          </c:cat>
          <c:val>
            <c:numRef>
              <c:f>Sheet1!$B$2:$B$4</c:f>
              <c:numCache>
                <c:formatCode>General</c:formatCode>
                <c:ptCount val="3"/>
                <c:pt idx="0">
                  <c:v>2.7</c:v>
                </c:pt>
                <c:pt idx="1">
                  <c:v>2.1</c:v>
                </c:pt>
                <c:pt idx="2">
                  <c:v>24.4</c:v>
                </c:pt>
              </c:numCache>
            </c:numRef>
          </c:val>
          <c:extLst>
            <c:ext xmlns:c16="http://schemas.microsoft.com/office/drawing/2014/chart" uri="{C3380CC4-5D6E-409C-BE32-E72D297353CC}">
              <c16:uniqueId val="{00000000-D174-8F41-A513-59AF7E2653B3}"/>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47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t"/>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45060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We are group MCP.2502. Our topic is the Model Context Protocol and its TypeScript SDK. We did not only study the SDK: we built a real system with it — an academic records assistant — and today we show both the theory and the code.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follow the six points the lecturer asked for. First some background so everyone can follow, then the problem, the algorithms and flowcharts, the libraries, the input and output of every method, and code examples you can copy. We finish with a live demo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our project, a short background in four ideas: LLM, data, tools, and MCP.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LLM is a model trained on huge amounts of text. It reads our text as tokens and predicts the next token again and again — that is how it writes an answer. It is very good at language, but it only knows what was in its training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an LLM alone has three limits. It does not know private data, like our university grades. It does not know live data, like today's date. And it cannot act — it cannot save a file or change a record. Worse, if you ask anyway, it may invent a number. So it needs data and tools from outside.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give the LLM two things. Data, so it knows. And tools, so it can act. Together with the LLM that thinks, we get THINK, KNOW, ACT. Note one important thing: a tool is normal code. The number comes from code, not from the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tool calling in five steps with a real example. The user asks for a GPA. The model does not answer directly — it replies "please call calculate_gpa with this student ID". The application runs the function, gets 2.06, and gives it back. Only then does the model write the answer. The key point: the model only requests the call; the application executes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problem MCP solves. Imagine M AI applications — Claude, VS Code, our own chat app — and N data sources. Without a standard, every application writes its own connector to every source. Three apps and four sources already means twelve connectors, each written and maintained separately.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 the Model Context Protocol — is an open standard, like USB-C for AI. Each data source is wrapped once as an MCP server. Each application implements one MCP client. Then any app can use any server. Twelve connectors become seven pieces. This is exactly what we proved: the same server works in our app and in VS Code without changing one line.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roles. The host is the application the user talks to; it owns the LLM. Inside the host there is one client per server connection. A server exposes tools, resources and prompts. In our project the host is our chat app or VS Code, and we have two servers: academic and utility.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server offers three kinds of things, and the difference is who is in control. Tools are chosen by the model — like calculate_gpa. Resources are data the application or the user attaches — like a student profile. Prompts are templates the user picks, like a slash command. We implemented all three.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every message is JSON-RPC 2.0: a request with an id, a response with the same id, or a notification without one. The SDK supports two protocol versions. The 2025 version starts with an initialize handshake — two messages. The new 2026 version needs only one discover request, or zero if the client remembers the server. Messages travel over stdio, where the host starts the server as a child process, or over HTTP.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requirement one: our problem.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problem: staff and students want to ask about grades in plain language — "what is the GPA of this student", "how did class IT01 do". The grades live in CSV files the LLM has never seen. So we build MCP servers over the data. We set three hard requirements: numbers must be exact, any change to a grade needs a human to confirm, and we must be able to swap the LLM without touching the servers.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is generated with a fixed seed so everyone gets the same files: 40 students, 10 courses, 261 grade rows across 4 classes. We deliberately put 7 broken rows inside — a score of 11.5, a missing score, an unknown student and so on — to prove the server validates its input. All 7 are caught.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business rules the server must follow. The course total is 40 percent process score plus 60 percent final score. The total maps to a letter A to F and a 4-point value. GPA is weighted by credits, and for a retaken course the cumulative GPA keeps the best attempt. Important: every threshold is in config/grading.json, not hard-coded.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whole system. To show MCP really decouples things, we built two of everything: two MCP servers, two hosts, two LLMs — one in the cloud and one running locally — and two transports. Every combination works with the same server code.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two and three: the algorithms and their flowcharts. We have three: the tool-calling loop in the host, the GPA calculation in the server, and data loading with validation.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algorithm, implemented in our host. One: send the question plus the definitions of all 13 tools to the LLM. Two: the LLM answers with text or with tool calls. Three: for each call, the host finds the right server. Four: the server runs it and returns a result. Five: the result goes back to the LLM. Six: repeat until the LLM gives a text answer, with a limit on rounds so it can never loop forever. If a tool returns an error, we send the error back so the model can fix its own call.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algorithm as a flowchart. Follow the main path down: question, call the LLM, check for tool calls, check the round limit, execute the calls, send the results back — and the loop on the left returns to the LLM. The two exits on the right are the normal answer and the safety stop.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run of the loop. We asked: write a performance report for class IT01 and save it. The model used three rounds and four tool calls on two different servers. The servers never talk to each other — the LLM combines them. Total time 5.7 seconds.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flowchart is the domain algorithm in the academic server. Compute the course total, convert it to a letter and a point, choose semester or cumulative scope — cumulative keeps the best attempt — then the credit-weighted average and the classification. On the right, our hand-checked example: student 2201010 has 37 quality points over 18 credits, which is 2.06, Average.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flowchart: how data gets in. The server parses each CSV file and checks every row. Bad rows — missing IDs, unknown students, scores outside 0 to 10, duplicates — go to an issues list that anyone can read as a resource. Only valid rows reach the in-memory tables used by the tools. If update_grade changes a grade, subscribers get a notification.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algorithms that make MCP different from simple function calling. Elicitation: before update_grade changes anything, the server stops and asks the user to accept or decline. This caught a real mistake — the model filled a process score of zero that nobody asked for. Sampling: generate_student_feedback has no API key; it asks the host's LLM to write the text. The SDK supports both protocol eras — the 2025 one where the server pushes a request, and the 2026 one where the tool returns "input required" and the client retries.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four: the libraries.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all our runtime libraries. The core is the MCP TypeScript SDK version 2, split into a server package, a client package and a Node adapter. Zod declares the types of tool inputs and outputs. The Google GenAI SDK talks to Gemini, and the OpenAI SDK talks to Qwen through Ollama's OpenAI-compatible API. tsx runs TypeScript directly without a build step.</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version 2? Version 1 was a single package called @modelcontextprotocol/sdk. Version 2 splits server and client into separate packages, implements the newest specification 2026-07-28, and still serves older 2025 clients. Every server is created by a factory that the SDK calls per connection, and it tells the factory which protocol era the caller speaks.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five: the input and output of every method. First the SDK methods, then our 13 tools. The full reference with every option is in docs/method-reference.md in our repository.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server-side methods. new McpServer takes the server name and options. registerTool takes a name, a config with the schemas, and a handler — and the handler returns content, structured content, or an error flag. Resources and prompts follow the same pattern. serveStdio and createMcpHandler take the factory and serve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side, used by our host. new Client takes the client info and options, including how to negotiate the protocol version. connect takes a transport. listTools returns the tool definitions we hand to the LLM, and callTool returns the result. Note the difference: a tool problem comes back as a result with isError, so the LLM can recover; an unknown tool throws a protocol error.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ten academic tools with inputs and outputs. Most are read-only. Two are special: update_grade changes data, so it always asks for confirmation, and generate_student_feedback uses sampling. The last three are generic: list, describe and query any table, so the model can answer questions we did not write a dedicated tool for.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utility server is small on purpose: the current time and semester, score conversion, and saving a report file — which asks before overwriting. Then our five resources and two prompts. The two servers know nothing about each other; the LLM combines them.</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six: code examples that other groups can follow. All of them are in our repository and run with one command.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 server takes a few lines. Write a factory that builds an McpServer and registers tools, resources and prompts. Then pass the factory to serveStdio, or to createMcpHandler for HTTP. The SDK calls the factory for each connection and tells it the protocol era.</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real tool. The top part is what the LLM reads: the description and the input and output schemas. The bottom part is the handler, normal code the LLM never sees. That is why the number is always correct: the model only chooses the tool and fills student_id; the code computes the GPA.</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tool, different parameter sets — this is what the lecturer asked for. Valid input gives a result. A semester narrows the scope. An unknown student reaches our handler, which returns isError, so the LLM can read it and fix the call. A bad semester format or a wrong type never reaches our code: the SDK rejects it using the Zod schema. All results here are real output from npm run examples.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resource template: one URI pattern serves every student, and the complete function suggests IDs as the user types. If the student does not exist we throw ResourceNotFoundError, and the client gets protocol error -32602. Below, a prompt: the user picks class_report, gives a class ID with autocompletion, and gets a ready-made message for the LLM.</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client — this is how our host and VS Code talk to a server. Create a Client, choose a transport — here stdio starts the server as a child process — connect, list the tools, and call one. With version negotiation set to auto, the client tries the 2026 protocol first and falls back to 2025.</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follow along: clone our repository, install, and run npm run examples. You do not need any API key for this — it runs all 13 SDK examples and prints the real input and output. For chat, you need either a free Gemini key or Ollama with Qwen.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see it working.</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demo, one important slide. Left is the config of our own chat app; right is the config of VS Code. Same command lines, same servers. Connecting a new host is only configuration — no code change. And switching the LLM from Gemini to Qwen is one line in the config.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plan. In the terminal: list the tools, ask for a GPA, ask by name so the model chains two tools, change a grade to show the confirmation, and write and save a class report using both servers. Then the same servers inside VS Code. If the network fails we switch to the backup video.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screenshots are our backup in case the live demo has a problem. Left: the terminal answering the GPA question with the tool call visible. Right: VS Code using the same server.</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benchmarked the models on 11 questions, twice each, with the correct answers taken from the tools themselves. All three configurations scored 100 percent. The local Qwen instruct model was the fastest at 2.1 seconds per turn. The thinking version was just as accurate but more than ten times slower. And note: the LLM takes about 99 percent of the time — MCP tool calls take only milliseconds.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lessons. First, tool design matters more than model size: a small 4-billion-parameter local model was perfect because our tool names, descriptions and schemas are clear. Second, human-in-the-loop is not decoration — it caught a real model mistake. Third, a thinking model is ten times slower with no gain on tool tasks, and free cloud quotas were our real bottleneck.</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the LLM thinks, data lets it know, tools let it act, and MCP connects them. MCP separates the data and tools from whoever does the reasoning. With the TypeScript SDK version 2 we built two servers that work unchanged with two hosts and two LLMs. Thank you — we are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42020552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8079679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84915647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47064110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40856306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19379750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623836536"/>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774083869"/>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76317844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39611308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pPr algn="r"/>
            <a:fld id="{F7021451-1387-4CA6-816F-3879F97B5CBC}" type="slidenum">
              <a:rPr lang="en-US" b="0"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73206931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623413141"/>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pPr algn="r"/>
            <a:fld id="{F7021451-1387-4CA6-816F-3879F97B5CBC}" type="slidenum">
              <a:rPr lang="en-US" b="0"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85470454"/>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508750112"/>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762702509"/>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10/19/26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134773408"/>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ARK">
    <p:bg>
      <p:bgPr>
        <a:solidFill>
          <a:srgbClr val="1F2A4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40872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CONTENT">
    <p:bg>
      <p:bgPr>
        <a:solidFill>
          <a:srgbClr val="FFFFF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526261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VN"/>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VN"/>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VN"/>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VN"/>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VN"/>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VN"/>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VN"/>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VN"/>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VN"/>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VN"/>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VN"/>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VN"/>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VN"/>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VN"/>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VN"/>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VN"/>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VN"/>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VN"/>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VN"/>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VN"/>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VN"/>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VN"/>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VN"/>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VN"/>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VN"/>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10/19/26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946503656"/>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 id="2147483669" r:id="rId17"/>
    <p:sldLayoutId id="2147483670" r:id="rId18"/>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hf sldNum="0"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18.xml"/><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058400" cy="365760"/>
          </a:xfrm>
          <a:prstGeom prst="rect">
            <a:avLst/>
          </a:prstGeom>
          <a:noFill/>
          <a:ln/>
        </p:spPr>
        <p:txBody>
          <a:bodyPr wrap="square" lIns="0" tIns="0" rIns="0" bIns="0" rtlCol="0" anchor="ctr"/>
          <a:lstStyle/>
          <a:p>
            <a:pPr marL="0" indent="0">
              <a:buNone/>
            </a:pPr>
            <a:r>
              <a:rPr lang="en-US" sz="1600" b="1" kern="0" spc="300" dirty="0">
                <a:solidFill>
                  <a:srgbClr val="0F8B8D"/>
                </a:solidFill>
              </a:rPr>
              <a:t>MCP.2502 · PHASE 1</a:t>
            </a:r>
            <a:endParaRPr lang="en-US" sz="1600" dirty="0"/>
          </a:p>
        </p:txBody>
      </p:sp>
      <p:sp>
        <p:nvSpPr>
          <p:cNvPr id="3" name="Text 1"/>
          <p:cNvSpPr txBox="1"/>
          <p:nvPr/>
        </p:nvSpPr>
        <p:spPr>
          <a:xfrm>
            <a:off x="731520" y="1691640"/>
            <a:ext cx="10515600" cy="1737360"/>
          </a:xfrm>
          <a:prstGeom prst="rect">
            <a:avLst/>
          </a:prstGeom>
          <a:noFill/>
          <a:ln/>
        </p:spPr>
        <p:txBody>
          <a:bodyPr wrap="square" lIns="0" tIns="0" rIns="0" bIns="0" rtlCol="0" anchor="ctr"/>
          <a:lstStyle/>
          <a:p>
            <a:pPr marL="0" indent="0">
              <a:buNone/>
            </a:pPr>
            <a:r>
              <a:rPr lang="en-US" sz="48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Model Context Protocol</a:t>
            </a:r>
          </a:p>
          <a:p>
            <a:pPr marL="0" indent="0">
              <a:buNone/>
            </a:pPr>
            <a:r>
              <a:rPr lang="en-US" sz="48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rPr>
              <a:t>with the TypeScript SDK</a:t>
            </a:r>
          </a:p>
        </p:txBody>
      </p:sp>
      <p:sp>
        <p:nvSpPr>
          <p:cNvPr id="4" name="Text 2"/>
          <p:cNvSpPr txBox="1"/>
          <p:nvPr/>
        </p:nvSpPr>
        <p:spPr>
          <a:xfrm>
            <a:off x="731520" y="3474720"/>
            <a:ext cx="10515600" cy="457200"/>
          </a:xfrm>
          <a:prstGeom prst="rect">
            <a:avLst/>
          </a:prstGeom>
          <a:noFill/>
          <a:ln/>
        </p:spPr>
        <p:txBody>
          <a:bodyPr wrap="square" lIns="0" tIns="0" rIns="0" bIns="0" rtlCol="0" anchor="ctr"/>
          <a:lstStyle/>
          <a:p>
            <a:pPr marL="0" indent="0">
              <a:buNone/>
            </a:pPr>
            <a:r>
              <a:rPr lang="en-US" sz="2000" dirty="0">
                <a:solidFill>
                  <a:srgbClr val="C9D3E6"/>
                </a:solidFill>
              </a:rPr>
              <a:t>Case study: an academic records assistant — 2 MCP servers · 2 hosts · 2 LLMs</a:t>
            </a:r>
            <a:endParaRPr lang="en-US" sz="2000" dirty="0"/>
          </a:p>
        </p:txBody>
      </p:sp>
      <p:sp>
        <p:nvSpPr>
          <p:cNvPr id="5" name="Shape 3"/>
          <p:cNvSpPr/>
          <p:nvPr/>
        </p:nvSpPr>
        <p:spPr>
          <a:xfrm>
            <a:off x="731520" y="4389119"/>
            <a:ext cx="3877802" cy="1737359"/>
          </a:xfrm>
          <a:prstGeom prst="rect">
            <a:avLst/>
          </a:prstGeom>
          <a:solidFill>
            <a:srgbClr val="FFF4E6"/>
          </a:solidFill>
          <a:ln w="25400">
            <a:solidFill>
              <a:srgbClr val="D9480F"/>
            </a:solidFill>
            <a:prstDash val="dash"/>
          </a:ln>
        </p:spPr>
        <p:txBody>
          <a:bodyPr/>
          <a:lstStyle/>
          <a:p>
            <a:endParaRPr lang="en-VN"/>
          </a:p>
        </p:txBody>
      </p:sp>
      <p:sp>
        <p:nvSpPr>
          <p:cNvPr id="6" name="Text 4"/>
          <p:cNvSpPr txBox="1"/>
          <p:nvPr/>
        </p:nvSpPr>
        <p:spPr>
          <a:xfrm>
            <a:off x="929640" y="4526278"/>
            <a:ext cx="10332720" cy="1737360"/>
          </a:xfrm>
          <a:prstGeom prst="rect">
            <a:avLst/>
          </a:prstGeom>
          <a:noFill/>
          <a:ln/>
        </p:spPr>
        <p:txBody>
          <a:bodyPr wrap="square" lIns="0" tIns="0" rIns="0" bIns="0" rtlCol="0" anchor="ctr"/>
          <a:lstStyle/>
          <a:p>
            <a:pPr marL="0" indent="0">
              <a:buNone/>
            </a:pPr>
            <a:r>
              <a:rPr lang="en-US" sz="1600" dirty="0">
                <a:solidFill>
                  <a:srgbClr val="D9480F"/>
                </a:solidFill>
              </a:rPr>
              <a:t>HA HIEP THANH - 22301270</a:t>
            </a:r>
          </a:p>
          <a:p>
            <a:pPr marL="0" indent="0">
              <a:buNone/>
            </a:pPr>
            <a:r>
              <a:rPr lang="en-US" sz="1600" dirty="0">
                <a:solidFill>
                  <a:srgbClr val="D9480F"/>
                </a:solidFill>
              </a:rPr>
              <a:t>NGUYEN HUU THIEN - 22301751</a:t>
            </a:r>
          </a:p>
          <a:p>
            <a:pPr marL="0" indent="0">
              <a:buNone/>
            </a:pPr>
            <a:r>
              <a:rPr lang="en-US" sz="1600" dirty="0">
                <a:solidFill>
                  <a:srgbClr val="D9480F"/>
                </a:solidFill>
              </a:rPr>
              <a:t>HA VAN TRUONG PHU - 22302293</a:t>
            </a:r>
          </a:p>
          <a:p>
            <a:pPr marL="0" indent="0">
              <a:buNone/>
            </a:pPr>
            <a:r>
              <a:rPr lang="en-US" sz="1600" dirty="0">
                <a:solidFill>
                  <a:srgbClr val="D9480F"/>
                </a:solidFill>
              </a:rPr>
              <a:t>NGUYEN MINH TIEN -  22301796 </a:t>
            </a:r>
          </a:p>
          <a:p>
            <a:pPr marL="0" indent="0">
              <a:buNone/>
            </a:pPr>
            <a:r>
              <a:rPr lang="en-US" sz="1600" dirty="0">
                <a:solidFill>
                  <a:srgbClr val="D9480F"/>
                </a:solidFill>
              </a:rPr>
              <a:t>TRAN HUY HOANG - 22301953</a:t>
            </a:r>
          </a:p>
          <a:p>
            <a:r>
              <a:rPr lang="en-US" sz="1600" dirty="0">
                <a:solidFill>
                  <a:srgbClr val="D9480F"/>
                </a:solidFill>
              </a:rPr>
              <a:t>LE TUAN KHOA - 22302644</a:t>
            </a:r>
          </a:p>
          <a:p>
            <a:pPr marL="0" indent="0">
              <a:buNone/>
            </a:pPr>
            <a:endParaRPr lang="en-US" sz="1600" dirty="0">
              <a:solidFill>
                <a:srgbClr val="D9480F"/>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Agenda</a:t>
            </a:r>
            <a:endParaRPr lang="en-US" sz="3000" dirty="0">
              <a:latin typeface="Times New Roman" panose="02020603050405020304" pitchFamily="18" charset="0"/>
              <a:cs typeface="Times New Roman" panose="02020603050405020304" pitchFamily="18" charset="0"/>
            </a:endParaRPr>
          </a:p>
        </p:txBody>
      </p:sp>
      <p:sp>
        <p:nvSpPr>
          <p:cNvPr id="4" name="Shape 1"/>
          <p:cNvSpPr/>
          <p:nvPr/>
        </p:nvSpPr>
        <p:spPr>
          <a:xfrm>
            <a:off x="457200" y="1463040"/>
            <a:ext cx="777240" cy="777240"/>
          </a:xfrm>
          <a:prstGeom prst="ellipse">
            <a:avLst/>
          </a:prstGeom>
          <a:solidFill>
            <a:srgbClr val="0F8B8D"/>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5" name="Text 2"/>
          <p:cNvSpPr txBox="1"/>
          <p:nvPr/>
        </p:nvSpPr>
        <p:spPr>
          <a:xfrm>
            <a:off x="457200" y="1463040"/>
            <a:ext cx="77724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0</a:t>
            </a:r>
            <a:endParaRPr lang="en-US" sz="1800" dirty="0">
              <a:latin typeface="Times New Roman" panose="02020603050405020304" pitchFamily="18" charset="0"/>
              <a:cs typeface="Times New Roman" panose="02020603050405020304" pitchFamily="18" charset="0"/>
            </a:endParaRPr>
          </a:p>
        </p:txBody>
      </p:sp>
      <p:sp>
        <p:nvSpPr>
          <p:cNvPr id="6" name="Text 3"/>
          <p:cNvSpPr txBox="1"/>
          <p:nvPr/>
        </p:nvSpPr>
        <p:spPr>
          <a:xfrm>
            <a:off x="1417320" y="141732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Background</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LLM, data, tools, and why MCP exists</a:t>
            </a:r>
            <a:endParaRPr lang="en-US" sz="2000" dirty="0">
              <a:latin typeface="Times New Roman" panose="02020603050405020304" pitchFamily="18" charset="0"/>
              <a:cs typeface="Times New Roman" panose="02020603050405020304" pitchFamily="18" charset="0"/>
            </a:endParaRPr>
          </a:p>
        </p:txBody>
      </p:sp>
      <p:sp>
        <p:nvSpPr>
          <p:cNvPr id="7" name="Shape 4"/>
          <p:cNvSpPr/>
          <p:nvPr/>
        </p:nvSpPr>
        <p:spPr>
          <a:xfrm>
            <a:off x="457200" y="2651760"/>
            <a:ext cx="777240" cy="777240"/>
          </a:xfrm>
          <a:prstGeom prst="ellipse">
            <a:avLst/>
          </a:prstGeom>
          <a:solidFill>
            <a:srgbClr val="0F8B8D"/>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457200" y="2651760"/>
            <a:ext cx="77724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1</a:t>
            </a:r>
            <a:endParaRPr lang="en-US" sz="1800" dirty="0">
              <a:latin typeface="Times New Roman" panose="02020603050405020304" pitchFamily="18" charset="0"/>
              <a:cs typeface="Times New Roman" panose="02020603050405020304" pitchFamily="18" charset="0"/>
            </a:endParaRPr>
          </a:p>
        </p:txBody>
      </p:sp>
      <p:sp>
        <p:nvSpPr>
          <p:cNvPr id="9" name="Text 6"/>
          <p:cNvSpPr txBox="1"/>
          <p:nvPr/>
        </p:nvSpPr>
        <p:spPr>
          <a:xfrm>
            <a:off x="1417320" y="260604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Problem description</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Our academic records case study</a:t>
            </a:r>
            <a:endParaRPr lang="en-US" sz="2000" dirty="0">
              <a:latin typeface="Times New Roman" panose="02020603050405020304" pitchFamily="18" charset="0"/>
              <a:cs typeface="Times New Roman" panose="02020603050405020304" pitchFamily="18" charset="0"/>
            </a:endParaRPr>
          </a:p>
        </p:txBody>
      </p:sp>
      <p:sp>
        <p:nvSpPr>
          <p:cNvPr id="10" name="Shape 7"/>
          <p:cNvSpPr/>
          <p:nvPr/>
        </p:nvSpPr>
        <p:spPr>
          <a:xfrm>
            <a:off x="457200" y="3840480"/>
            <a:ext cx="777240" cy="777240"/>
          </a:xfrm>
          <a:prstGeom prst="ellipse">
            <a:avLst/>
          </a:prstGeom>
          <a:solidFill>
            <a:srgbClr val="0F8B8D"/>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1" name="Text 8"/>
          <p:cNvSpPr txBox="1"/>
          <p:nvPr/>
        </p:nvSpPr>
        <p:spPr>
          <a:xfrm>
            <a:off x="457200" y="3840480"/>
            <a:ext cx="77724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2–3</a:t>
            </a:r>
            <a:endParaRPr lang="en-US" sz="1800" dirty="0">
              <a:latin typeface="Times New Roman" panose="02020603050405020304" pitchFamily="18" charset="0"/>
              <a:cs typeface="Times New Roman" panose="02020603050405020304" pitchFamily="18" charset="0"/>
            </a:endParaRPr>
          </a:p>
        </p:txBody>
      </p:sp>
      <p:sp>
        <p:nvSpPr>
          <p:cNvPr id="12" name="Text 9"/>
          <p:cNvSpPr txBox="1"/>
          <p:nvPr/>
        </p:nvSpPr>
        <p:spPr>
          <a:xfrm>
            <a:off x="1417320" y="379476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Algorithms &amp; flowcharts</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Tool-calling loop · GPA · data validation</a:t>
            </a:r>
            <a:endParaRPr lang="en-US" sz="2000" dirty="0">
              <a:latin typeface="Times New Roman" panose="02020603050405020304" pitchFamily="18" charset="0"/>
              <a:cs typeface="Times New Roman" panose="02020603050405020304" pitchFamily="18" charset="0"/>
            </a:endParaRPr>
          </a:p>
        </p:txBody>
      </p:sp>
      <p:sp>
        <p:nvSpPr>
          <p:cNvPr id="13" name="Shape 10"/>
          <p:cNvSpPr/>
          <p:nvPr/>
        </p:nvSpPr>
        <p:spPr>
          <a:xfrm>
            <a:off x="457200" y="5029200"/>
            <a:ext cx="777240" cy="777240"/>
          </a:xfrm>
          <a:prstGeom prst="ellipse">
            <a:avLst/>
          </a:prstGeom>
          <a:solidFill>
            <a:srgbClr val="0F8B8D"/>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457200" y="5029200"/>
            <a:ext cx="77724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15" name="Text 12"/>
          <p:cNvSpPr txBox="1"/>
          <p:nvPr/>
        </p:nvSpPr>
        <p:spPr>
          <a:xfrm>
            <a:off x="1417320" y="498348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Libraries</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MCP TypeScript SDK v2 and friends</a:t>
            </a:r>
            <a:endParaRPr lang="en-US" sz="2000" dirty="0">
              <a:latin typeface="Times New Roman" panose="02020603050405020304" pitchFamily="18" charset="0"/>
              <a:cs typeface="Times New Roman" panose="02020603050405020304" pitchFamily="18" charset="0"/>
            </a:endParaRPr>
          </a:p>
        </p:txBody>
      </p:sp>
      <p:sp>
        <p:nvSpPr>
          <p:cNvPr id="16" name="Shape 13"/>
          <p:cNvSpPr/>
          <p:nvPr/>
        </p:nvSpPr>
        <p:spPr>
          <a:xfrm>
            <a:off x="6217920" y="1463040"/>
            <a:ext cx="777240" cy="777240"/>
          </a:xfrm>
          <a:prstGeom prst="ellipse">
            <a:avLst/>
          </a:prstGeom>
          <a:solidFill>
            <a:srgbClr val="0F8B8D"/>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7" name="Text 14"/>
          <p:cNvSpPr txBox="1"/>
          <p:nvPr/>
        </p:nvSpPr>
        <p:spPr>
          <a:xfrm>
            <a:off x="6217920" y="1463040"/>
            <a:ext cx="77724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5</a:t>
            </a:r>
            <a:endParaRPr lang="en-US" sz="1800" dirty="0">
              <a:latin typeface="Times New Roman" panose="02020603050405020304" pitchFamily="18" charset="0"/>
              <a:cs typeface="Times New Roman" panose="02020603050405020304" pitchFamily="18" charset="0"/>
            </a:endParaRPr>
          </a:p>
        </p:txBody>
      </p:sp>
      <p:sp>
        <p:nvSpPr>
          <p:cNvPr id="18" name="Text 15"/>
          <p:cNvSpPr txBox="1"/>
          <p:nvPr/>
        </p:nvSpPr>
        <p:spPr>
          <a:xfrm>
            <a:off x="7178040" y="141732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Input / Output</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Every SDK method and all 13 tools</a:t>
            </a:r>
            <a:endParaRPr lang="en-US" sz="2000" dirty="0">
              <a:latin typeface="Times New Roman" panose="02020603050405020304" pitchFamily="18" charset="0"/>
              <a:cs typeface="Times New Roman" panose="02020603050405020304" pitchFamily="18" charset="0"/>
            </a:endParaRPr>
          </a:p>
        </p:txBody>
      </p:sp>
      <p:sp>
        <p:nvSpPr>
          <p:cNvPr id="19" name="Shape 16"/>
          <p:cNvSpPr/>
          <p:nvPr/>
        </p:nvSpPr>
        <p:spPr>
          <a:xfrm>
            <a:off x="6217920" y="2651760"/>
            <a:ext cx="777240" cy="777240"/>
          </a:xfrm>
          <a:prstGeom prst="ellipse">
            <a:avLst/>
          </a:prstGeom>
          <a:solidFill>
            <a:srgbClr val="0F8B8D"/>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0" name="Text 17"/>
          <p:cNvSpPr txBox="1"/>
          <p:nvPr/>
        </p:nvSpPr>
        <p:spPr>
          <a:xfrm>
            <a:off x="6217920" y="2651760"/>
            <a:ext cx="777240" cy="77724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6</a:t>
            </a:r>
            <a:endParaRPr lang="en-US" sz="1800" dirty="0">
              <a:latin typeface="Times New Roman" panose="02020603050405020304" pitchFamily="18" charset="0"/>
              <a:cs typeface="Times New Roman" panose="02020603050405020304" pitchFamily="18" charset="0"/>
            </a:endParaRPr>
          </a:p>
        </p:txBody>
      </p:sp>
      <p:sp>
        <p:nvSpPr>
          <p:cNvPr id="21" name="Text 18"/>
          <p:cNvSpPr txBox="1"/>
          <p:nvPr/>
        </p:nvSpPr>
        <p:spPr>
          <a:xfrm>
            <a:off x="7178040" y="260604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Code examples</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Copy-ready examples with parameter sets</a:t>
            </a:r>
            <a:endParaRPr lang="en-US" sz="2000" dirty="0">
              <a:latin typeface="Times New Roman" panose="02020603050405020304" pitchFamily="18" charset="0"/>
              <a:cs typeface="Times New Roman" panose="02020603050405020304" pitchFamily="18" charset="0"/>
            </a:endParaRPr>
          </a:p>
        </p:txBody>
      </p:sp>
      <p:sp>
        <p:nvSpPr>
          <p:cNvPr id="22" name="Shape 19"/>
          <p:cNvSpPr/>
          <p:nvPr/>
        </p:nvSpPr>
        <p:spPr>
          <a:xfrm>
            <a:off x="6217920" y="3840480"/>
            <a:ext cx="777240" cy="777240"/>
          </a:xfrm>
          <a:prstGeom prst="ellipse">
            <a:avLst/>
          </a:prstGeom>
          <a:solidFill>
            <a:srgbClr val="E07A1F"/>
          </a:solidFill>
          <a:ln w="12700">
            <a:solidFill>
              <a:srgbClr val="FFFFF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3" name="Text 20"/>
          <p:cNvSpPr txBox="1"/>
          <p:nvPr/>
        </p:nvSpPr>
        <p:spPr>
          <a:xfrm>
            <a:off x="6217920" y="3840480"/>
            <a:ext cx="777240" cy="777240"/>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cs typeface="Times New Roman" panose="02020603050405020304" pitchFamily="18" charset="0"/>
              </a:rPr>
              <a:t>7</a:t>
            </a:r>
            <a:endParaRPr lang="en-US" sz="1800" dirty="0">
              <a:latin typeface="Times New Roman" panose="02020603050405020304" pitchFamily="18" charset="0"/>
              <a:cs typeface="Times New Roman" panose="02020603050405020304" pitchFamily="18" charset="0"/>
            </a:endParaRPr>
          </a:p>
        </p:txBody>
      </p:sp>
      <p:sp>
        <p:nvSpPr>
          <p:cNvPr id="24" name="Text 21"/>
          <p:cNvSpPr txBox="1"/>
          <p:nvPr/>
        </p:nvSpPr>
        <p:spPr>
          <a:xfrm>
            <a:off x="7178040" y="3794760"/>
            <a:ext cx="4572000" cy="86868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Demo &amp; results</a:t>
            </a:r>
            <a:endParaRPr lang="en-US" sz="20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Live demo, 2 LLMs compared, lessons</a:t>
            </a:r>
            <a:endParaRPr lang="en-US" sz="20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a:spLocks/>
          </p:cNvSpPr>
          <p:nvPr/>
        </p:nvSpPr>
        <p:spPr>
          <a:xfrm>
            <a:off x="824308" y="1836264"/>
            <a:ext cx="2743200" cy="1097280"/>
          </a:xfrm>
          <a:prstGeom prst="rect">
            <a:avLst/>
          </a:prstGeom>
          <a:noFill/>
          <a:ln/>
        </p:spPr>
        <p:txBody>
          <a:bodyPr wrap="square" lIns="0" tIns="0" rIns="0" bIns="0" rtlCol="0" anchor="ctr"/>
          <a:lstStyle/>
          <a:p>
            <a:pPr marL="0" indent="0">
              <a:buNone/>
            </a:pPr>
            <a:r>
              <a:rPr lang="en-US" sz="72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0</a:t>
            </a:r>
          </a:p>
        </p:txBody>
      </p:sp>
      <p:sp>
        <p:nvSpPr>
          <p:cNvPr id="3" name="Text 1"/>
          <p:cNvSpPr txBox="1">
            <a:spLocks/>
          </p:cNvSpPr>
          <p:nvPr/>
        </p:nvSpPr>
        <p:spPr>
          <a:xfrm>
            <a:off x="824308" y="2384904"/>
            <a:ext cx="11140440" cy="2088192"/>
          </a:xfrm>
          <a:prstGeom prst="rect">
            <a:avLst/>
          </a:prstGeom>
          <a:noFill/>
          <a:ln/>
        </p:spPr>
        <p:txBody>
          <a:bodyPr wrap="square" lIns="0" tIns="0" rIns="0" bIns="0" rtlCol="0" anchor="ctr"/>
          <a:lstStyle/>
          <a:p>
            <a:pPr marL="0" indent="0">
              <a:buNone/>
            </a:pPr>
            <a:r>
              <a:rPr lang="en-US" sz="66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Background</a:t>
            </a:r>
          </a:p>
        </p:txBody>
      </p:sp>
      <p:sp>
        <p:nvSpPr>
          <p:cNvPr id="4" name="Text 2"/>
          <p:cNvSpPr txBox="1">
            <a:spLocks/>
          </p:cNvSpPr>
          <p:nvPr/>
        </p:nvSpPr>
        <p:spPr>
          <a:xfrm>
            <a:off x="824308" y="4096141"/>
            <a:ext cx="10515600" cy="548640"/>
          </a:xfrm>
          <a:prstGeom prst="rect">
            <a:avLst/>
          </a:prstGeom>
          <a:noFill/>
          <a:ln/>
        </p:spPr>
        <p:txBody>
          <a:bodyPr wrap="square" lIns="0" tIns="0" rIns="0" bIns="0" rtlCol="0" anchor="ctr"/>
          <a:lstStyle/>
          <a:p>
            <a:pPr marL="0" indent="0">
              <a:buNone/>
            </a:pPr>
            <a:r>
              <a:rPr lang="en-US" sz="1800" dirty="0">
                <a:solidFill>
                  <a:srgbClr val="C9D3E6"/>
                </a:solidFill>
                <a:latin typeface="Times New Roman" panose="02020603050405020304" pitchFamily="18" charset="0"/>
                <a:cs typeface="Times New Roman" panose="02020603050405020304" pitchFamily="18" charset="0"/>
              </a:rPr>
              <a:t>LLM · Data · Tool · MCP</a:t>
            </a:r>
            <a:endParaRPr lang="en-US"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BACKGROUND</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What is a Large Language Model?</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548640" y="1645920"/>
            <a:ext cx="1828800" cy="1005840"/>
          </a:xfrm>
          <a:prstGeom prst="roundRect">
            <a:avLst>
              <a:gd name="adj" fmla="val 9091"/>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48640" y="1645920"/>
            <a:ext cx="1828800" cy="1005840"/>
          </a:xfrm>
          <a:prstGeom prst="rect">
            <a:avLst/>
          </a:prstGeom>
          <a:noFill/>
          <a:ln/>
        </p:spPr>
        <p:txBody>
          <a:bodyPr wrap="square" lIns="0" tIns="0" rIns="0" bIns="0" rtlCol="0" anchor="ctr"/>
          <a:lstStyle/>
          <a:p>
            <a:pPr marL="0" indent="0" algn="ctr">
              <a:buNone/>
            </a:pPr>
            <a:r>
              <a:rPr lang="en-US" sz="1600" b="1" dirty="0">
                <a:solidFill>
                  <a:srgbClr val="1F2937"/>
                </a:solidFill>
                <a:latin typeface="Times New Roman" panose="02020603050405020304" pitchFamily="18" charset="0"/>
                <a:cs typeface="Times New Roman" panose="02020603050405020304" pitchFamily="18" charset="0"/>
              </a:rPr>
              <a:t>Your text</a:t>
            </a:r>
            <a:endParaRPr lang="en-US" sz="1600" dirty="0">
              <a:latin typeface="Times New Roman" panose="02020603050405020304" pitchFamily="18" charset="0"/>
              <a:cs typeface="Times New Roman" panose="02020603050405020304" pitchFamily="18" charset="0"/>
            </a:endParaRPr>
          </a:p>
        </p:txBody>
      </p:sp>
      <p:sp>
        <p:nvSpPr>
          <p:cNvPr id="7" name="Shape 4"/>
          <p:cNvSpPr/>
          <p:nvPr/>
        </p:nvSpPr>
        <p:spPr>
          <a:xfrm>
            <a:off x="2423160" y="214884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8" name="Shape 5"/>
          <p:cNvSpPr/>
          <p:nvPr/>
        </p:nvSpPr>
        <p:spPr>
          <a:xfrm>
            <a:off x="2834640" y="1645920"/>
            <a:ext cx="1828800" cy="1005840"/>
          </a:xfrm>
          <a:prstGeom prst="roundRect">
            <a:avLst>
              <a:gd name="adj" fmla="val 9091"/>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2834640" y="1645920"/>
            <a:ext cx="1828800" cy="1005840"/>
          </a:xfrm>
          <a:prstGeom prst="rect">
            <a:avLst/>
          </a:prstGeom>
          <a:noFill/>
          <a:ln/>
        </p:spPr>
        <p:txBody>
          <a:bodyPr wrap="square" lIns="0" tIns="0" rIns="0" bIns="0" rtlCol="0" anchor="ctr"/>
          <a:lstStyle/>
          <a:p>
            <a:pPr marL="0" indent="0" algn="ctr">
              <a:buNone/>
            </a:pPr>
            <a:r>
              <a:rPr lang="en-US" sz="1600" b="1" dirty="0">
                <a:solidFill>
                  <a:srgbClr val="1F2937"/>
                </a:solidFill>
                <a:latin typeface="Times New Roman" panose="02020603050405020304" pitchFamily="18" charset="0"/>
                <a:cs typeface="Times New Roman" panose="02020603050405020304" pitchFamily="18" charset="0"/>
              </a:rPr>
              <a:t>Tokens</a:t>
            </a:r>
            <a:endParaRPr lang="en-US" sz="1600" dirty="0">
              <a:latin typeface="Times New Roman" panose="02020603050405020304" pitchFamily="18" charset="0"/>
              <a:cs typeface="Times New Roman" panose="02020603050405020304" pitchFamily="18" charset="0"/>
            </a:endParaRPr>
          </a:p>
        </p:txBody>
      </p:sp>
      <p:sp>
        <p:nvSpPr>
          <p:cNvPr id="10" name="Shape 7"/>
          <p:cNvSpPr/>
          <p:nvPr/>
        </p:nvSpPr>
        <p:spPr>
          <a:xfrm>
            <a:off x="4709160" y="214884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1" name="Shape 8"/>
          <p:cNvSpPr/>
          <p:nvPr/>
        </p:nvSpPr>
        <p:spPr>
          <a:xfrm>
            <a:off x="5120640" y="1645920"/>
            <a:ext cx="1828800" cy="1005840"/>
          </a:xfrm>
          <a:prstGeom prst="roundRect">
            <a:avLst>
              <a:gd name="adj" fmla="val 9091"/>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5120640" y="1645920"/>
            <a:ext cx="1828800" cy="10058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Transformer</a:t>
            </a:r>
            <a:endParaRPr lang="en-US" sz="1600" dirty="0">
              <a:latin typeface="Times New Roman" panose="02020603050405020304" pitchFamily="18" charset="0"/>
              <a:cs typeface="Times New Roman" panose="02020603050405020304" pitchFamily="18" charset="0"/>
            </a:endParaRPr>
          </a:p>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(attention)</a:t>
            </a:r>
            <a:endParaRPr lang="en-US" sz="1600" dirty="0">
              <a:latin typeface="Times New Roman" panose="02020603050405020304" pitchFamily="18" charset="0"/>
              <a:cs typeface="Times New Roman" panose="02020603050405020304" pitchFamily="18" charset="0"/>
            </a:endParaRPr>
          </a:p>
        </p:txBody>
      </p:sp>
      <p:sp>
        <p:nvSpPr>
          <p:cNvPr id="13" name="Shape 10"/>
          <p:cNvSpPr/>
          <p:nvPr/>
        </p:nvSpPr>
        <p:spPr>
          <a:xfrm>
            <a:off x="6995160" y="214884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4" name="Shape 11"/>
          <p:cNvSpPr/>
          <p:nvPr/>
        </p:nvSpPr>
        <p:spPr>
          <a:xfrm>
            <a:off x="7406640" y="1645920"/>
            <a:ext cx="1828800" cy="1005840"/>
          </a:xfrm>
          <a:prstGeom prst="roundRect">
            <a:avLst>
              <a:gd name="adj" fmla="val 9091"/>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5" name="Text 12"/>
          <p:cNvSpPr txBox="1"/>
          <p:nvPr/>
        </p:nvSpPr>
        <p:spPr>
          <a:xfrm>
            <a:off x="7406640" y="1645920"/>
            <a:ext cx="1828800" cy="1005840"/>
          </a:xfrm>
          <a:prstGeom prst="rect">
            <a:avLst/>
          </a:prstGeom>
          <a:noFill/>
          <a:ln/>
        </p:spPr>
        <p:txBody>
          <a:bodyPr wrap="square" lIns="0" tIns="0" rIns="0" bIns="0" rtlCol="0" anchor="ctr"/>
          <a:lstStyle/>
          <a:p>
            <a:pPr marL="0" indent="0" algn="ctr">
              <a:buNone/>
            </a:pPr>
            <a:r>
              <a:rPr lang="en-US" sz="1600" b="1" dirty="0">
                <a:solidFill>
                  <a:srgbClr val="1F2937"/>
                </a:solidFill>
                <a:latin typeface="Times New Roman" panose="02020603050405020304" pitchFamily="18" charset="0"/>
                <a:cs typeface="Times New Roman" panose="02020603050405020304" pitchFamily="18" charset="0"/>
              </a:rPr>
              <a:t>Next token</a:t>
            </a:r>
            <a:endParaRPr lang="en-US" sz="1600" dirty="0">
              <a:latin typeface="Times New Roman" panose="02020603050405020304" pitchFamily="18" charset="0"/>
              <a:cs typeface="Times New Roman" panose="02020603050405020304" pitchFamily="18" charset="0"/>
            </a:endParaRPr>
          </a:p>
          <a:p>
            <a:pPr marL="0" indent="0" algn="ctr">
              <a:buNone/>
            </a:pPr>
            <a:r>
              <a:rPr lang="en-US" sz="1600" b="1" dirty="0">
                <a:solidFill>
                  <a:srgbClr val="1F2937"/>
                </a:solidFill>
                <a:latin typeface="Times New Roman" panose="02020603050405020304" pitchFamily="18" charset="0"/>
                <a:cs typeface="Times New Roman" panose="02020603050405020304" pitchFamily="18" charset="0"/>
              </a:rPr>
              <a:t>(repeat)</a:t>
            </a:r>
            <a:endParaRPr lang="en-US" sz="1600" dirty="0">
              <a:latin typeface="Times New Roman" panose="02020603050405020304" pitchFamily="18" charset="0"/>
              <a:cs typeface="Times New Roman" panose="02020603050405020304" pitchFamily="18" charset="0"/>
            </a:endParaRPr>
          </a:p>
        </p:txBody>
      </p:sp>
      <p:sp>
        <p:nvSpPr>
          <p:cNvPr id="16" name="Shape 13"/>
          <p:cNvSpPr/>
          <p:nvPr/>
        </p:nvSpPr>
        <p:spPr>
          <a:xfrm>
            <a:off x="9281160" y="214884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7" name="Shape 14"/>
          <p:cNvSpPr/>
          <p:nvPr/>
        </p:nvSpPr>
        <p:spPr>
          <a:xfrm>
            <a:off x="9692640" y="1645920"/>
            <a:ext cx="1828800" cy="1005840"/>
          </a:xfrm>
          <a:prstGeom prst="roundRect">
            <a:avLst>
              <a:gd name="adj" fmla="val 9091"/>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9692640" y="1645920"/>
            <a:ext cx="1828800" cy="1005840"/>
          </a:xfrm>
          <a:prstGeom prst="rect">
            <a:avLst/>
          </a:prstGeom>
          <a:noFill/>
          <a:ln/>
        </p:spPr>
        <p:txBody>
          <a:bodyPr wrap="square" lIns="0" tIns="0" rIns="0" bIns="0" rtlCol="0" anchor="ctr"/>
          <a:lstStyle/>
          <a:p>
            <a:pPr marL="0" indent="0" algn="ctr">
              <a:buNone/>
            </a:pPr>
            <a:r>
              <a:rPr lang="en-US" sz="1600" b="1" dirty="0">
                <a:solidFill>
                  <a:srgbClr val="1F2937"/>
                </a:solidFill>
                <a:latin typeface="Times New Roman" panose="02020603050405020304" pitchFamily="18" charset="0"/>
                <a:cs typeface="Times New Roman" panose="02020603050405020304" pitchFamily="18" charset="0"/>
              </a:rPr>
              <a:t>Answer</a:t>
            </a:r>
            <a:endParaRPr lang="en-US" sz="1600" dirty="0">
              <a:latin typeface="Times New Roman" panose="02020603050405020304" pitchFamily="18" charset="0"/>
              <a:cs typeface="Times New Roman" panose="02020603050405020304" pitchFamily="18" charset="0"/>
            </a:endParaRPr>
          </a:p>
        </p:txBody>
      </p:sp>
      <p:sp>
        <p:nvSpPr>
          <p:cNvPr id="19" name="Shape 16"/>
          <p:cNvSpPr/>
          <p:nvPr/>
        </p:nvSpPr>
        <p:spPr>
          <a:xfrm>
            <a:off x="548640" y="3200400"/>
            <a:ext cx="3520440" cy="1828800"/>
          </a:xfrm>
          <a:prstGeom prst="roundRect">
            <a:avLst>
              <a:gd name="adj" fmla="val 4000"/>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0" name="Text 17"/>
          <p:cNvSpPr txBox="1"/>
          <p:nvPr/>
        </p:nvSpPr>
        <p:spPr>
          <a:xfrm>
            <a:off x="731520" y="3337560"/>
            <a:ext cx="315468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Understands</a:t>
            </a:r>
            <a:endParaRPr lang="en-US" sz="1800" dirty="0">
              <a:latin typeface="Times New Roman" panose="02020603050405020304" pitchFamily="18" charset="0"/>
              <a:cs typeface="Times New Roman" panose="02020603050405020304" pitchFamily="18" charset="0"/>
            </a:endParaRPr>
          </a:p>
        </p:txBody>
      </p:sp>
      <p:sp>
        <p:nvSpPr>
          <p:cNvPr id="21" name="Text 18"/>
          <p:cNvSpPr txBox="1"/>
          <p:nvPr/>
        </p:nvSpPr>
        <p:spPr>
          <a:xfrm>
            <a:off x="731520" y="3840480"/>
            <a:ext cx="3154680" cy="105156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Questions in natural language, in English or Vietnamese</a:t>
            </a:r>
            <a:endParaRPr lang="en-US" sz="1400" dirty="0">
              <a:latin typeface="Times New Roman" panose="02020603050405020304" pitchFamily="18" charset="0"/>
              <a:cs typeface="Times New Roman" panose="02020603050405020304" pitchFamily="18" charset="0"/>
            </a:endParaRPr>
          </a:p>
        </p:txBody>
      </p:sp>
      <p:sp>
        <p:nvSpPr>
          <p:cNvPr id="22" name="Shape 19"/>
          <p:cNvSpPr/>
          <p:nvPr/>
        </p:nvSpPr>
        <p:spPr>
          <a:xfrm>
            <a:off x="4343400" y="3200400"/>
            <a:ext cx="3520440" cy="1828800"/>
          </a:xfrm>
          <a:prstGeom prst="roundRect">
            <a:avLst>
              <a:gd name="adj" fmla="val 4000"/>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3" name="Text 20"/>
          <p:cNvSpPr txBox="1"/>
          <p:nvPr/>
        </p:nvSpPr>
        <p:spPr>
          <a:xfrm>
            <a:off x="4526280" y="3337560"/>
            <a:ext cx="315468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Generates</a:t>
            </a:r>
            <a:endParaRPr lang="en-US" sz="1800" dirty="0">
              <a:latin typeface="Times New Roman" panose="02020603050405020304" pitchFamily="18" charset="0"/>
              <a:cs typeface="Times New Roman" panose="02020603050405020304" pitchFamily="18" charset="0"/>
            </a:endParaRPr>
          </a:p>
        </p:txBody>
      </p:sp>
      <p:sp>
        <p:nvSpPr>
          <p:cNvPr id="24" name="Text 21"/>
          <p:cNvSpPr txBox="1"/>
          <p:nvPr/>
        </p:nvSpPr>
        <p:spPr>
          <a:xfrm>
            <a:off x="4526280" y="3840480"/>
            <a:ext cx="3154680" cy="105156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Answers, summaries, translations, code</a:t>
            </a:r>
            <a:endParaRPr lang="en-US" sz="1400" dirty="0">
              <a:latin typeface="Times New Roman" panose="02020603050405020304" pitchFamily="18" charset="0"/>
              <a:cs typeface="Times New Roman" panose="02020603050405020304" pitchFamily="18" charset="0"/>
            </a:endParaRPr>
          </a:p>
        </p:txBody>
      </p:sp>
      <p:sp>
        <p:nvSpPr>
          <p:cNvPr id="25" name="Shape 22"/>
          <p:cNvSpPr/>
          <p:nvPr/>
        </p:nvSpPr>
        <p:spPr>
          <a:xfrm>
            <a:off x="8138160" y="3200400"/>
            <a:ext cx="3520440" cy="1828800"/>
          </a:xfrm>
          <a:prstGeom prst="roundRect">
            <a:avLst>
              <a:gd name="adj" fmla="val 4000"/>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6" name="Text 23"/>
          <p:cNvSpPr txBox="1"/>
          <p:nvPr/>
        </p:nvSpPr>
        <p:spPr>
          <a:xfrm>
            <a:off x="8321040" y="3337560"/>
            <a:ext cx="315468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Decides</a:t>
            </a:r>
            <a:endParaRPr lang="en-US" sz="1800" dirty="0">
              <a:latin typeface="Times New Roman" panose="02020603050405020304" pitchFamily="18" charset="0"/>
              <a:cs typeface="Times New Roman" panose="02020603050405020304" pitchFamily="18" charset="0"/>
            </a:endParaRPr>
          </a:p>
        </p:txBody>
      </p:sp>
      <p:sp>
        <p:nvSpPr>
          <p:cNvPr id="27" name="Text 24"/>
          <p:cNvSpPr txBox="1"/>
          <p:nvPr/>
        </p:nvSpPr>
        <p:spPr>
          <a:xfrm>
            <a:off x="8321040" y="3840480"/>
            <a:ext cx="3154680" cy="105156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In an agent, the LLM is the "brain" that plans which action to take next</a:t>
            </a:r>
            <a:endParaRPr lang="en-US" sz="1400" dirty="0">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4</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BACKGROUND</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What a standalone LLM cannot do</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3566160" cy="2194560"/>
          </a:xfrm>
          <a:prstGeom prst="roundRect">
            <a:avLst>
              <a:gd name="adj" fmla="val 333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40080" y="160020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No private data</a:t>
            </a:r>
            <a:endParaRPr lang="en-US" sz="1800" dirty="0">
              <a:latin typeface="Times New Roman" panose="02020603050405020304" pitchFamily="18" charset="0"/>
              <a:cs typeface="Times New Roman" panose="02020603050405020304" pitchFamily="18" charset="0"/>
            </a:endParaRPr>
          </a:p>
        </p:txBody>
      </p:sp>
      <p:sp>
        <p:nvSpPr>
          <p:cNvPr id="7" name="Text 4"/>
          <p:cNvSpPr txBox="1"/>
          <p:nvPr/>
        </p:nvSpPr>
        <p:spPr>
          <a:xfrm>
            <a:off x="640080" y="2103120"/>
            <a:ext cx="3200400" cy="141732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It has never seen our student grade files</a:t>
            </a:r>
            <a:endParaRPr lang="en-US" sz="1400" dirty="0">
              <a:latin typeface="Times New Roman" panose="02020603050405020304" pitchFamily="18" charset="0"/>
              <a:cs typeface="Times New Roman" panose="02020603050405020304" pitchFamily="18" charset="0"/>
            </a:endParaRPr>
          </a:p>
        </p:txBody>
      </p:sp>
      <p:sp>
        <p:nvSpPr>
          <p:cNvPr id="8" name="Shape 5"/>
          <p:cNvSpPr/>
          <p:nvPr/>
        </p:nvSpPr>
        <p:spPr>
          <a:xfrm>
            <a:off x="4297680" y="1463040"/>
            <a:ext cx="3566160" cy="2194560"/>
          </a:xfrm>
          <a:prstGeom prst="roundRect">
            <a:avLst>
              <a:gd name="adj" fmla="val 333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4480560" y="160020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No live data</a:t>
            </a:r>
            <a:endParaRPr lang="en-US" sz="1800" dirty="0">
              <a:latin typeface="Times New Roman" panose="02020603050405020304" pitchFamily="18" charset="0"/>
              <a:cs typeface="Times New Roman" panose="02020603050405020304" pitchFamily="18" charset="0"/>
            </a:endParaRPr>
          </a:p>
        </p:txBody>
      </p:sp>
      <p:sp>
        <p:nvSpPr>
          <p:cNvPr id="10" name="Text 7"/>
          <p:cNvSpPr txBox="1"/>
          <p:nvPr/>
        </p:nvSpPr>
        <p:spPr>
          <a:xfrm>
            <a:off x="4480560" y="2103120"/>
            <a:ext cx="3200400" cy="141732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Its knowledge stops at its training date</a:t>
            </a:r>
            <a:endParaRPr lang="en-US" sz="1400" dirty="0">
              <a:latin typeface="Times New Roman" panose="02020603050405020304" pitchFamily="18" charset="0"/>
              <a:cs typeface="Times New Roman" panose="02020603050405020304" pitchFamily="18" charset="0"/>
            </a:endParaRPr>
          </a:p>
        </p:txBody>
      </p:sp>
      <p:sp>
        <p:nvSpPr>
          <p:cNvPr id="11" name="Shape 8"/>
          <p:cNvSpPr/>
          <p:nvPr/>
        </p:nvSpPr>
        <p:spPr>
          <a:xfrm>
            <a:off x="8138160" y="1463040"/>
            <a:ext cx="3566160" cy="2194560"/>
          </a:xfrm>
          <a:prstGeom prst="roundRect">
            <a:avLst>
              <a:gd name="adj" fmla="val 333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8321040" y="160020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Cannot act</a:t>
            </a:r>
            <a:endParaRPr lang="en-US" sz="1800" dirty="0">
              <a:latin typeface="Times New Roman" panose="02020603050405020304" pitchFamily="18" charset="0"/>
              <a:cs typeface="Times New Roman" panose="02020603050405020304" pitchFamily="18" charset="0"/>
            </a:endParaRPr>
          </a:p>
        </p:txBody>
      </p:sp>
      <p:sp>
        <p:nvSpPr>
          <p:cNvPr id="13" name="Text 10"/>
          <p:cNvSpPr txBox="1"/>
          <p:nvPr/>
        </p:nvSpPr>
        <p:spPr>
          <a:xfrm>
            <a:off x="8321040" y="2103120"/>
            <a:ext cx="3200400" cy="141732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It cannot save a report or update a grade by itself</a:t>
            </a:r>
            <a:endParaRPr lang="en-US" sz="1400" dirty="0">
              <a:latin typeface="Times New Roman" panose="02020603050405020304" pitchFamily="18" charset="0"/>
              <a:cs typeface="Times New Roman" panose="02020603050405020304" pitchFamily="18" charset="0"/>
            </a:endParaRPr>
          </a:p>
        </p:txBody>
      </p:sp>
      <p:sp>
        <p:nvSpPr>
          <p:cNvPr id="14" name="Shape 11"/>
          <p:cNvSpPr/>
          <p:nvPr/>
        </p:nvSpPr>
        <p:spPr>
          <a:xfrm>
            <a:off x="457200" y="4114800"/>
            <a:ext cx="11247120" cy="1645920"/>
          </a:xfrm>
          <a:prstGeom prst="roundRect">
            <a:avLst>
              <a:gd name="adj" fmla="val 4444"/>
            </a:avLst>
          </a:prstGeom>
          <a:solidFill>
            <a:srgbClr val="FDECEC"/>
          </a:solidFill>
          <a:ln w="12700">
            <a:solidFill>
              <a:srgbClr val="FDECEC"/>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5" name="Text 12"/>
          <p:cNvSpPr txBox="1"/>
          <p:nvPr/>
        </p:nvSpPr>
        <p:spPr>
          <a:xfrm>
            <a:off x="731520" y="4114800"/>
            <a:ext cx="10698480" cy="1645920"/>
          </a:xfrm>
          <a:prstGeom prst="rect">
            <a:avLst/>
          </a:prstGeom>
          <a:noFill/>
          <a:ln/>
        </p:spPr>
        <p:txBody>
          <a:bodyPr wrap="square" lIns="0" tIns="0" rIns="0" bIns="0" rtlCol="0" anchor="ctr"/>
          <a:lstStyle/>
          <a:p>
            <a:pPr marL="0" indent="0">
              <a:buNone/>
            </a:pPr>
            <a:r>
              <a:rPr lang="en-US" sz="2000" b="1" dirty="0">
                <a:solidFill>
                  <a:srgbClr val="1F2937"/>
                </a:solidFill>
                <a:latin typeface="Times New Roman" panose="02020603050405020304" pitchFamily="18" charset="0"/>
                <a:cs typeface="Times New Roman" panose="02020603050405020304" pitchFamily="18" charset="0"/>
              </a:rPr>
              <a:t>Ask: </a:t>
            </a:r>
            <a:r>
              <a:rPr lang="en-US" sz="2000" i="1" dirty="0">
                <a:solidFill>
                  <a:srgbClr val="1F2937"/>
                </a:solidFill>
                <a:latin typeface="Times New Roman" panose="02020603050405020304" pitchFamily="18" charset="0"/>
                <a:cs typeface="Times New Roman" panose="02020603050405020304" pitchFamily="18" charset="0"/>
              </a:rPr>
              <a:t>"What is the GPA of student 2201010?"</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solidFill>
                  <a:srgbClr val="1F2937"/>
                </a:solidFill>
                <a:latin typeface="Times New Roman" panose="02020603050405020304" pitchFamily="18" charset="0"/>
                <a:cs typeface="Times New Roman" panose="02020603050405020304" pitchFamily="18" charset="0"/>
              </a:rPr>
              <a:t>Without data, an LLM either refuses or </a:t>
            </a:r>
            <a:r>
              <a:rPr lang="en-US" sz="2000" b="1" dirty="0">
                <a:solidFill>
                  <a:srgbClr val="C53030"/>
                </a:solidFill>
                <a:latin typeface="Times New Roman" panose="02020603050405020304" pitchFamily="18" charset="0"/>
                <a:cs typeface="Times New Roman" panose="02020603050405020304" pitchFamily="18" charset="0"/>
              </a:rPr>
              <a:t>invents a plausible number</a:t>
            </a:r>
            <a:r>
              <a:rPr lang="en-US" sz="2000" dirty="0">
                <a:solidFill>
                  <a:srgbClr val="1F2937"/>
                </a:solidFill>
                <a:latin typeface="Times New Roman" panose="02020603050405020304" pitchFamily="18" charset="0"/>
                <a:cs typeface="Times New Roman" panose="02020603050405020304" pitchFamily="18" charset="0"/>
              </a:rPr>
              <a:t> — unacceptable for grades.</a:t>
            </a:r>
            <a:endParaRPr lang="en-US" sz="20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5</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BACKGROUND</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Data and tools fill the gap</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3566160" cy="3840480"/>
          </a:xfrm>
          <a:prstGeom prst="roundRect">
            <a:avLst>
              <a:gd name="adj" fmla="val 2564"/>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457200" y="1737360"/>
            <a:ext cx="3566160" cy="822960"/>
          </a:xfrm>
          <a:prstGeom prst="rect">
            <a:avLst/>
          </a:prstGeom>
          <a:noFill/>
          <a:ln/>
        </p:spPr>
        <p:txBody>
          <a:bodyPr wrap="square" lIns="0" tIns="0" rIns="0" bIns="0" rtlCol="0" anchor="ctr"/>
          <a:lstStyle/>
          <a:p>
            <a:pPr marL="0" indent="0" algn="ctr">
              <a:buNone/>
            </a:pPr>
            <a:r>
              <a:rPr lang="en-US" sz="4000" b="1" dirty="0">
                <a:solidFill>
                  <a:srgbClr val="FFFFFF"/>
                </a:solidFill>
                <a:latin typeface="Times New Roman" panose="02020603050405020304" pitchFamily="18" charset="0"/>
                <a:cs typeface="Times New Roman" panose="02020603050405020304" pitchFamily="18" charset="0"/>
              </a:rPr>
              <a:t>THINK</a:t>
            </a:r>
            <a:endParaRPr lang="en-US" sz="4000" dirty="0">
              <a:latin typeface="Times New Roman" panose="02020603050405020304" pitchFamily="18" charset="0"/>
              <a:cs typeface="Times New Roman" panose="02020603050405020304" pitchFamily="18" charset="0"/>
            </a:endParaRPr>
          </a:p>
        </p:txBody>
      </p:sp>
      <p:sp>
        <p:nvSpPr>
          <p:cNvPr id="7" name="Text 4"/>
          <p:cNvSpPr txBox="1"/>
          <p:nvPr/>
        </p:nvSpPr>
        <p:spPr>
          <a:xfrm>
            <a:off x="457200" y="2606040"/>
            <a:ext cx="356616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Times New Roman" panose="02020603050405020304" pitchFamily="18" charset="0"/>
                <a:cs typeface="Times New Roman" panose="02020603050405020304" pitchFamily="18" charset="0"/>
              </a:rPr>
              <a:t>LLM</a:t>
            </a:r>
            <a:endParaRPr lang="en-US" sz="2200" dirty="0">
              <a:latin typeface="Times New Roman" panose="02020603050405020304" pitchFamily="18" charset="0"/>
              <a:cs typeface="Times New Roman" panose="02020603050405020304" pitchFamily="18" charset="0"/>
            </a:endParaRPr>
          </a:p>
        </p:txBody>
      </p:sp>
      <p:sp>
        <p:nvSpPr>
          <p:cNvPr id="8" name="Text 5"/>
          <p:cNvSpPr txBox="1"/>
          <p:nvPr/>
        </p:nvSpPr>
        <p:spPr>
          <a:xfrm>
            <a:off x="731520" y="3246120"/>
            <a:ext cx="3017520" cy="1737360"/>
          </a:xfrm>
          <a:prstGeom prst="rect">
            <a:avLst/>
          </a:prstGeom>
          <a:noFill/>
          <a:ln/>
        </p:spPr>
        <p:txBody>
          <a:bodyPr wrap="square" lIns="0" tIns="0" rIns="0" bIns="0" rtlCol="0" anchor="t"/>
          <a:lstStyle/>
          <a:p>
            <a:pPr marL="0" indent="0" algn="ctr">
              <a:buNone/>
            </a:pPr>
            <a:r>
              <a:rPr lang="en-US" sz="1600" dirty="0">
                <a:solidFill>
                  <a:srgbClr val="FFFFFF"/>
                </a:solidFill>
                <a:latin typeface="Times New Roman" panose="02020603050405020304" pitchFamily="18" charset="0"/>
                <a:cs typeface="Times New Roman" panose="02020603050405020304" pitchFamily="18" charset="0"/>
              </a:rPr>
              <a:t>Understands the question and decides what to do</a:t>
            </a:r>
            <a:endParaRPr lang="en-US" sz="1600" dirty="0">
              <a:latin typeface="Times New Roman" panose="02020603050405020304" pitchFamily="18" charset="0"/>
              <a:cs typeface="Times New Roman" panose="02020603050405020304" pitchFamily="18" charset="0"/>
            </a:endParaRPr>
          </a:p>
        </p:txBody>
      </p:sp>
      <p:sp>
        <p:nvSpPr>
          <p:cNvPr id="9" name="Shape 6"/>
          <p:cNvSpPr/>
          <p:nvPr/>
        </p:nvSpPr>
        <p:spPr>
          <a:xfrm>
            <a:off x="4297680" y="1463040"/>
            <a:ext cx="3566160" cy="3840480"/>
          </a:xfrm>
          <a:prstGeom prst="roundRect">
            <a:avLst>
              <a:gd name="adj" fmla="val 2564"/>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4297680" y="1737360"/>
            <a:ext cx="3566160" cy="822960"/>
          </a:xfrm>
          <a:prstGeom prst="rect">
            <a:avLst/>
          </a:prstGeom>
          <a:noFill/>
          <a:ln/>
        </p:spPr>
        <p:txBody>
          <a:bodyPr wrap="square" lIns="0" tIns="0" rIns="0" bIns="0" rtlCol="0" anchor="ctr"/>
          <a:lstStyle/>
          <a:p>
            <a:pPr marL="0" indent="0" algn="ctr">
              <a:buNone/>
            </a:pPr>
            <a:r>
              <a:rPr lang="en-US" sz="4000" b="1" dirty="0">
                <a:solidFill>
                  <a:srgbClr val="FFFFFF"/>
                </a:solidFill>
                <a:latin typeface="Times New Roman" panose="02020603050405020304" pitchFamily="18" charset="0"/>
                <a:cs typeface="Times New Roman" panose="02020603050405020304" pitchFamily="18" charset="0"/>
              </a:rPr>
              <a:t>KNOW</a:t>
            </a:r>
            <a:endParaRPr lang="en-US" sz="4000" dirty="0">
              <a:latin typeface="Times New Roman" panose="02020603050405020304" pitchFamily="18" charset="0"/>
              <a:cs typeface="Times New Roman" panose="02020603050405020304" pitchFamily="18" charset="0"/>
            </a:endParaRPr>
          </a:p>
        </p:txBody>
      </p:sp>
      <p:sp>
        <p:nvSpPr>
          <p:cNvPr id="11" name="Text 8"/>
          <p:cNvSpPr txBox="1"/>
          <p:nvPr/>
        </p:nvSpPr>
        <p:spPr>
          <a:xfrm>
            <a:off x="4297680" y="2606040"/>
            <a:ext cx="356616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Times New Roman" panose="02020603050405020304" pitchFamily="18" charset="0"/>
                <a:cs typeface="Times New Roman" panose="02020603050405020304" pitchFamily="18" charset="0"/>
              </a:rPr>
              <a:t>Data</a:t>
            </a:r>
            <a:endParaRPr lang="en-US" sz="2200" dirty="0">
              <a:latin typeface="Times New Roman" panose="02020603050405020304" pitchFamily="18" charset="0"/>
              <a:cs typeface="Times New Roman" panose="02020603050405020304" pitchFamily="18" charset="0"/>
            </a:endParaRPr>
          </a:p>
        </p:txBody>
      </p:sp>
      <p:sp>
        <p:nvSpPr>
          <p:cNvPr id="12" name="Text 9"/>
          <p:cNvSpPr txBox="1"/>
          <p:nvPr/>
        </p:nvSpPr>
        <p:spPr>
          <a:xfrm>
            <a:off x="4572000" y="3246120"/>
            <a:ext cx="3017520" cy="1737360"/>
          </a:xfrm>
          <a:prstGeom prst="rect">
            <a:avLst/>
          </a:prstGeom>
          <a:noFill/>
          <a:ln/>
        </p:spPr>
        <p:txBody>
          <a:bodyPr wrap="square" lIns="0" tIns="0" rIns="0" bIns="0" rtlCol="0" anchor="t"/>
          <a:lstStyle/>
          <a:p>
            <a:pPr marL="0" indent="0" algn="ctr">
              <a:buNone/>
            </a:pPr>
            <a:r>
              <a:rPr lang="en-US" sz="1600" dirty="0">
                <a:solidFill>
                  <a:srgbClr val="FFFFFF"/>
                </a:solidFill>
                <a:latin typeface="Times New Roman" panose="02020603050405020304" pitchFamily="18" charset="0"/>
                <a:cs typeface="Times New Roman" panose="02020603050405020304" pitchFamily="18" charset="0"/>
              </a:rPr>
              <a:t>Files, databases, APIs — e.g. our grade CSV files</a:t>
            </a:r>
            <a:endParaRPr lang="en-US" sz="1600" dirty="0">
              <a:latin typeface="Times New Roman" panose="02020603050405020304" pitchFamily="18" charset="0"/>
              <a:cs typeface="Times New Roman" panose="02020603050405020304" pitchFamily="18" charset="0"/>
            </a:endParaRPr>
          </a:p>
        </p:txBody>
      </p:sp>
      <p:sp>
        <p:nvSpPr>
          <p:cNvPr id="13" name="Shape 10"/>
          <p:cNvSpPr/>
          <p:nvPr/>
        </p:nvSpPr>
        <p:spPr>
          <a:xfrm>
            <a:off x="8138160" y="1463040"/>
            <a:ext cx="3566160" cy="3840480"/>
          </a:xfrm>
          <a:prstGeom prst="roundRect">
            <a:avLst>
              <a:gd name="adj" fmla="val 2564"/>
            </a:avLst>
          </a:prstGeom>
          <a:solidFill>
            <a:srgbClr val="E07A1F"/>
          </a:solidFill>
          <a:ln w="12700">
            <a:solidFill>
              <a:srgbClr val="E07A1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8138160" y="1737360"/>
            <a:ext cx="3566160" cy="822960"/>
          </a:xfrm>
          <a:prstGeom prst="rect">
            <a:avLst/>
          </a:prstGeom>
          <a:noFill/>
          <a:ln/>
        </p:spPr>
        <p:txBody>
          <a:bodyPr wrap="square" lIns="0" tIns="0" rIns="0" bIns="0" rtlCol="0" anchor="ctr"/>
          <a:lstStyle/>
          <a:p>
            <a:pPr marL="0" indent="0" algn="ctr">
              <a:buNone/>
            </a:pPr>
            <a:r>
              <a:rPr lang="en-US" sz="4000" b="1" dirty="0">
                <a:solidFill>
                  <a:srgbClr val="FFFFFF"/>
                </a:solidFill>
                <a:latin typeface="Times New Roman" panose="02020603050405020304" pitchFamily="18" charset="0"/>
                <a:cs typeface="Times New Roman" panose="02020603050405020304" pitchFamily="18" charset="0"/>
              </a:rPr>
              <a:t>ACT</a:t>
            </a:r>
            <a:endParaRPr lang="en-US" sz="4000" dirty="0">
              <a:latin typeface="Times New Roman" panose="02020603050405020304" pitchFamily="18" charset="0"/>
              <a:cs typeface="Times New Roman" panose="02020603050405020304" pitchFamily="18" charset="0"/>
            </a:endParaRPr>
          </a:p>
        </p:txBody>
      </p:sp>
      <p:sp>
        <p:nvSpPr>
          <p:cNvPr id="15" name="Text 12"/>
          <p:cNvSpPr txBox="1"/>
          <p:nvPr/>
        </p:nvSpPr>
        <p:spPr>
          <a:xfrm>
            <a:off x="8138160" y="2606040"/>
            <a:ext cx="356616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Times New Roman" panose="02020603050405020304" pitchFamily="18" charset="0"/>
                <a:cs typeface="Times New Roman" panose="02020603050405020304" pitchFamily="18" charset="0"/>
              </a:rPr>
              <a:t>Tool</a:t>
            </a:r>
            <a:endParaRPr lang="en-US" sz="2200" dirty="0">
              <a:latin typeface="Times New Roman" panose="02020603050405020304" pitchFamily="18" charset="0"/>
              <a:cs typeface="Times New Roman" panose="02020603050405020304" pitchFamily="18" charset="0"/>
            </a:endParaRPr>
          </a:p>
        </p:txBody>
      </p:sp>
      <p:sp>
        <p:nvSpPr>
          <p:cNvPr id="16" name="Text 13"/>
          <p:cNvSpPr txBox="1"/>
          <p:nvPr/>
        </p:nvSpPr>
        <p:spPr>
          <a:xfrm>
            <a:off x="8412480" y="3246120"/>
            <a:ext cx="3017520" cy="1737360"/>
          </a:xfrm>
          <a:prstGeom prst="rect">
            <a:avLst/>
          </a:prstGeom>
          <a:noFill/>
          <a:ln/>
        </p:spPr>
        <p:txBody>
          <a:bodyPr wrap="square" lIns="0" tIns="0" rIns="0" bIns="0" rtlCol="0" anchor="t"/>
          <a:lstStyle/>
          <a:p>
            <a:pPr marL="0" indent="0" algn="ctr">
              <a:buNone/>
            </a:pPr>
            <a:r>
              <a:rPr lang="en-US" sz="1600" dirty="0">
                <a:solidFill>
                  <a:srgbClr val="FFFFFF"/>
                </a:solidFill>
                <a:latin typeface="Times New Roman" panose="02020603050405020304" pitchFamily="18" charset="0"/>
                <a:cs typeface="Times New Roman" panose="02020603050405020304" pitchFamily="18" charset="0"/>
              </a:rPr>
              <a:t>A function the AI can call — e.g. calculate_gpa(student_id)</a:t>
            </a:r>
            <a:endParaRPr lang="en-US" sz="1600" dirty="0">
              <a:latin typeface="Times New Roman" panose="02020603050405020304" pitchFamily="18" charset="0"/>
              <a:cs typeface="Times New Roman" panose="02020603050405020304" pitchFamily="18" charset="0"/>
            </a:endParaRPr>
          </a:p>
        </p:txBody>
      </p:sp>
      <p:sp>
        <p:nvSpPr>
          <p:cNvPr id="17" name="Text 14"/>
          <p:cNvSpPr txBox="1"/>
          <p:nvPr/>
        </p:nvSpPr>
        <p:spPr>
          <a:xfrm>
            <a:off x="1212980" y="5566643"/>
            <a:ext cx="11247120" cy="457200"/>
          </a:xfrm>
          <a:prstGeom prst="rect">
            <a:avLst/>
          </a:prstGeom>
          <a:noFill/>
          <a:ln/>
        </p:spPr>
        <p:txBody>
          <a:bodyPr wrap="square" lIns="0" tIns="0" rIns="0" bIns="0" rtlCol="0" anchor="ctr"/>
          <a:lstStyle/>
          <a:p>
            <a:pPr marL="0" indent="0">
              <a:buNone/>
            </a:pPr>
            <a:r>
              <a:rPr lang="en-US" sz="1800" b="1" dirty="0">
                <a:solidFill>
                  <a:srgbClr val="1F2937"/>
                </a:solidFill>
                <a:latin typeface="Times New Roman" panose="02020603050405020304" pitchFamily="18" charset="0"/>
                <a:cs typeface="Times New Roman" panose="02020603050405020304" pitchFamily="18" charset="0"/>
              </a:rPr>
              <a:t>A tool is ordinary code: the LLM picks it, the code computes the answer.</a:t>
            </a:r>
            <a:endParaRPr lang="en-US" sz="18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6</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BACKGROUND</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How an LLM calls a tool</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1143000" y="1554480"/>
            <a:ext cx="640080" cy="64008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1143000" y="155448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1</a:t>
            </a:r>
            <a:endParaRPr lang="en-US" sz="1800" dirty="0">
              <a:latin typeface="Times New Roman" panose="02020603050405020304" pitchFamily="18" charset="0"/>
              <a:cs typeface="Times New Roman" panose="02020603050405020304" pitchFamily="18" charset="0"/>
            </a:endParaRPr>
          </a:p>
        </p:txBody>
      </p:sp>
      <p:sp>
        <p:nvSpPr>
          <p:cNvPr id="7" name="Shape 4"/>
          <p:cNvSpPr/>
          <p:nvPr/>
        </p:nvSpPr>
        <p:spPr>
          <a:xfrm>
            <a:off x="1874520" y="1874520"/>
            <a:ext cx="146304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457200" y="2377440"/>
            <a:ext cx="2011680" cy="411480"/>
          </a:xfrm>
          <a:prstGeom prst="rect">
            <a:avLst/>
          </a:prstGeom>
          <a:noFill/>
          <a:ln/>
        </p:spPr>
        <p:txBody>
          <a:bodyPr wrap="square" lIns="0" tIns="0" rIns="0" bIns="0" rtlCol="0" anchor="ctr"/>
          <a:lstStyle/>
          <a:p>
            <a:pPr marL="0" indent="0" algn="ctr">
              <a:buNone/>
            </a:pPr>
            <a:r>
              <a:rPr lang="en-US" sz="1800" b="1" dirty="0">
                <a:solidFill>
                  <a:srgbClr val="1F2937"/>
                </a:solidFill>
                <a:latin typeface="Times New Roman" panose="02020603050405020304" pitchFamily="18" charset="0"/>
                <a:cs typeface="Times New Roman" panose="02020603050405020304" pitchFamily="18" charset="0"/>
              </a:rPr>
              <a:t>Ask</a:t>
            </a:r>
            <a:endParaRPr lang="en-US" sz="1800" dirty="0">
              <a:latin typeface="Times New Roman" panose="02020603050405020304" pitchFamily="18" charset="0"/>
              <a:cs typeface="Times New Roman" panose="02020603050405020304" pitchFamily="18" charset="0"/>
            </a:endParaRPr>
          </a:p>
        </p:txBody>
      </p:sp>
      <p:sp>
        <p:nvSpPr>
          <p:cNvPr id="9" name="Text 6"/>
          <p:cNvSpPr txBox="1"/>
          <p:nvPr/>
        </p:nvSpPr>
        <p:spPr>
          <a:xfrm>
            <a:off x="457200" y="2834640"/>
            <a:ext cx="2011680" cy="1188720"/>
          </a:xfrm>
          <a:prstGeom prst="rect">
            <a:avLst/>
          </a:prstGeom>
          <a:noFill/>
          <a:ln/>
        </p:spPr>
        <p:txBody>
          <a:bodyPr wrap="square" lIns="0" tIns="0" rIns="0" bIns="0" rtlCol="0" anchor="t"/>
          <a:lstStyle/>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"GPA of student 2201010?"</a:t>
            </a:r>
            <a:endParaRPr lang="en-US" sz="1300" dirty="0">
              <a:latin typeface="Times New Roman" panose="02020603050405020304" pitchFamily="18" charset="0"/>
              <a:cs typeface="Times New Roman" panose="02020603050405020304" pitchFamily="18" charset="0"/>
            </a:endParaRPr>
          </a:p>
        </p:txBody>
      </p:sp>
      <p:sp>
        <p:nvSpPr>
          <p:cNvPr id="10" name="Shape 7"/>
          <p:cNvSpPr/>
          <p:nvPr/>
        </p:nvSpPr>
        <p:spPr>
          <a:xfrm>
            <a:off x="3429000" y="1554480"/>
            <a:ext cx="640080" cy="64008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1" name="Text 8"/>
          <p:cNvSpPr txBox="1"/>
          <p:nvPr/>
        </p:nvSpPr>
        <p:spPr>
          <a:xfrm>
            <a:off x="3429000" y="155448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2</a:t>
            </a:r>
            <a:endParaRPr lang="en-US" sz="1800" dirty="0">
              <a:latin typeface="Times New Roman" panose="02020603050405020304" pitchFamily="18" charset="0"/>
              <a:cs typeface="Times New Roman" panose="02020603050405020304" pitchFamily="18" charset="0"/>
            </a:endParaRPr>
          </a:p>
        </p:txBody>
      </p:sp>
      <p:sp>
        <p:nvSpPr>
          <p:cNvPr id="12" name="Shape 9"/>
          <p:cNvSpPr/>
          <p:nvPr/>
        </p:nvSpPr>
        <p:spPr>
          <a:xfrm>
            <a:off x="4160520" y="1874520"/>
            <a:ext cx="146304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3" name="Text 10"/>
          <p:cNvSpPr txBox="1"/>
          <p:nvPr/>
        </p:nvSpPr>
        <p:spPr>
          <a:xfrm>
            <a:off x="2743200" y="2377440"/>
            <a:ext cx="2011680" cy="411480"/>
          </a:xfrm>
          <a:prstGeom prst="rect">
            <a:avLst/>
          </a:prstGeom>
          <a:noFill/>
          <a:ln/>
        </p:spPr>
        <p:txBody>
          <a:bodyPr wrap="square" lIns="0" tIns="0" rIns="0" bIns="0" rtlCol="0" anchor="ctr"/>
          <a:lstStyle/>
          <a:p>
            <a:pPr marL="0" indent="0" algn="ctr">
              <a:buNone/>
            </a:pPr>
            <a:r>
              <a:rPr lang="en-US" sz="1800" b="1" dirty="0">
                <a:solidFill>
                  <a:srgbClr val="1F2937"/>
                </a:solidFill>
                <a:latin typeface="Times New Roman" panose="02020603050405020304" pitchFamily="18" charset="0"/>
                <a:cs typeface="Times New Roman" panose="02020603050405020304" pitchFamily="18" charset="0"/>
              </a:rPr>
              <a:t>Decide</a:t>
            </a:r>
            <a:endParaRPr lang="en-US" sz="1800" dirty="0">
              <a:latin typeface="Times New Roman" panose="02020603050405020304" pitchFamily="18" charset="0"/>
              <a:cs typeface="Times New Roman" panose="02020603050405020304" pitchFamily="18" charset="0"/>
            </a:endParaRPr>
          </a:p>
        </p:txBody>
      </p:sp>
      <p:sp>
        <p:nvSpPr>
          <p:cNvPr id="14" name="Text 11"/>
          <p:cNvSpPr txBox="1"/>
          <p:nvPr/>
        </p:nvSpPr>
        <p:spPr>
          <a:xfrm>
            <a:off x="2743200" y="2834640"/>
            <a:ext cx="2011680" cy="1188720"/>
          </a:xfrm>
          <a:prstGeom prst="rect">
            <a:avLst/>
          </a:prstGeom>
          <a:noFill/>
          <a:ln/>
        </p:spPr>
        <p:txBody>
          <a:bodyPr wrap="square" lIns="0" tIns="0" rIns="0" bIns="0" rtlCol="0" anchor="t"/>
          <a:lstStyle/>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LLM: call calculate_gpa</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{student_id: "2201010"}</a:t>
            </a:r>
            <a:endParaRPr lang="en-US" sz="1300" dirty="0">
              <a:latin typeface="Times New Roman" panose="02020603050405020304" pitchFamily="18" charset="0"/>
              <a:cs typeface="Times New Roman" panose="02020603050405020304" pitchFamily="18" charset="0"/>
            </a:endParaRPr>
          </a:p>
        </p:txBody>
      </p:sp>
      <p:sp>
        <p:nvSpPr>
          <p:cNvPr id="15" name="Shape 12"/>
          <p:cNvSpPr/>
          <p:nvPr/>
        </p:nvSpPr>
        <p:spPr>
          <a:xfrm>
            <a:off x="5715000" y="1554480"/>
            <a:ext cx="640080" cy="64008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5715000" y="155448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3</a:t>
            </a:r>
            <a:endParaRPr lang="en-US" sz="1800" dirty="0">
              <a:latin typeface="Times New Roman" panose="02020603050405020304" pitchFamily="18" charset="0"/>
              <a:cs typeface="Times New Roman" panose="02020603050405020304" pitchFamily="18" charset="0"/>
            </a:endParaRPr>
          </a:p>
        </p:txBody>
      </p:sp>
      <p:sp>
        <p:nvSpPr>
          <p:cNvPr id="17" name="Shape 14"/>
          <p:cNvSpPr/>
          <p:nvPr/>
        </p:nvSpPr>
        <p:spPr>
          <a:xfrm>
            <a:off x="6446520" y="1874520"/>
            <a:ext cx="146304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5029200" y="2377440"/>
            <a:ext cx="2011680" cy="411480"/>
          </a:xfrm>
          <a:prstGeom prst="rect">
            <a:avLst/>
          </a:prstGeom>
          <a:noFill/>
          <a:ln/>
        </p:spPr>
        <p:txBody>
          <a:bodyPr wrap="square" lIns="0" tIns="0" rIns="0" bIns="0" rtlCol="0" anchor="ctr"/>
          <a:lstStyle/>
          <a:p>
            <a:pPr marL="0" indent="0" algn="ctr">
              <a:buNone/>
            </a:pPr>
            <a:r>
              <a:rPr lang="en-US" sz="1800" b="1" dirty="0">
                <a:solidFill>
                  <a:srgbClr val="1F2937"/>
                </a:solidFill>
                <a:latin typeface="Times New Roman" panose="02020603050405020304" pitchFamily="18" charset="0"/>
                <a:cs typeface="Times New Roman" panose="02020603050405020304" pitchFamily="18" charset="0"/>
              </a:rPr>
              <a:t>Execute</a:t>
            </a:r>
            <a:endParaRPr lang="en-US" sz="1800" dirty="0">
              <a:latin typeface="Times New Roman" panose="02020603050405020304" pitchFamily="18" charset="0"/>
              <a:cs typeface="Times New Roman" panose="02020603050405020304" pitchFamily="18" charset="0"/>
            </a:endParaRPr>
          </a:p>
        </p:txBody>
      </p:sp>
      <p:sp>
        <p:nvSpPr>
          <p:cNvPr id="19" name="Text 16"/>
          <p:cNvSpPr txBox="1"/>
          <p:nvPr/>
        </p:nvSpPr>
        <p:spPr>
          <a:xfrm>
            <a:off x="5029200" y="2834640"/>
            <a:ext cx="2011680" cy="1188720"/>
          </a:xfrm>
          <a:prstGeom prst="rect">
            <a:avLst/>
          </a:prstGeom>
          <a:noFill/>
          <a:ln/>
        </p:spPr>
        <p:txBody>
          <a:bodyPr wrap="square" lIns="0" tIns="0" rIns="0" bIns="0" rtlCol="0" anchor="t"/>
          <a:lstStyle/>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The app runs the function</a:t>
            </a:r>
            <a:endParaRPr lang="en-US" sz="1300" dirty="0">
              <a:latin typeface="Times New Roman" panose="02020603050405020304" pitchFamily="18" charset="0"/>
              <a:cs typeface="Times New Roman" panose="02020603050405020304" pitchFamily="18" charset="0"/>
            </a:endParaRPr>
          </a:p>
        </p:txBody>
      </p:sp>
      <p:sp>
        <p:nvSpPr>
          <p:cNvPr id="20" name="Shape 17"/>
          <p:cNvSpPr/>
          <p:nvPr/>
        </p:nvSpPr>
        <p:spPr>
          <a:xfrm>
            <a:off x="8001000" y="1554480"/>
            <a:ext cx="640080" cy="64008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1" name="Text 18"/>
          <p:cNvSpPr txBox="1"/>
          <p:nvPr/>
        </p:nvSpPr>
        <p:spPr>
          <a:xfrm>
            <a:off x="8001000" y="155448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22" name="Shape 19"/>
          <p:cNvSpPr/>
          <p:nvPr/>
        </p:nvSpPr>
        <p:spPr>
          <a:xfrm>
            <a:off x="8732520" y="1874520"/>
            <a:ext cx="146304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3" name="Text 20"/>
          <p:cNvSpPr txBox="1"/>
          <p:nvPr/>
        </p:nvSpPr>
        <p:spPr>
          <a:xfrm>
            <a:off x="7315200" y="2377440"/>
            <a:ext cx="2011680" cy="411480"/>
          </a:xfrm>
          <a:prstGeom prst="rect">
            <a:avLst/>
          </a:prstGeom>
          <a:noFill/>
          <a:ln/>
        </p:spPr>
        <p:txBody>
          <a:bodyPr wrap="square" lIns="0" tIns="0" rIns="0" bIns="0" rtlCol="0" anchor="ctr"/>
          <a:lstStyle/>
          <a:p>
            <a:pPr marL="0" indent="0" algn="ctr">
              <a:buNone/>
            </a:pPr>
            <a:r>
              <a:rPr lang="en-US" sz="1800" b="1" dirty="0">
                <a:solidFill>
                  <a:srgbClr val="1F2937"/>
                </a:solidFill>
                <a:latin typeface="Times New Roman" panose="02020603050405020304" pitchFamily="18" charset="0"/>
                <a:cs typeface="Times New Roman" panose="02020603050405020304" pitchFamily="18" charset="0"/>
              </a:rPr>
              <a:t>Result</a:t>
            </a:r>
            <a:endParaRPr lang="en-US" sz="1800" dirty="0">
              <a:latin typeface="Times New Roman" panose="02020603050405020304" pitchFamily="18" charset="0"/>
              <a:cs typeface="Times New Roman" panose="02020603050405020304" pitchFamily="18" charset="0"/>
            </a:endParaRPr>
          </a:p>
        </p:txBody>
      </p:sp>
      <p:sp>
        <p:nvSpPr>
          <p:cNvPr id="24" name="Text 21"/>
          <p:cNvSpPr txBox="1"/>
          <p:nvPr/>
        </p:nvSpPr>
        <p:spPr>
          <a:xfrm>
            <a:off x="7315200" y="2834640"/>
            <a:ext cx="2011680" cy="1188720"/>
          </a:xfrm>
          <a:prstGeom prst="rect">
            <a:avLst/>
          </a:prstGeom>
          <a:noFill/>
          <a:ln/>
        </p:spPr>
        <p:txBody>
          <a:bodyPr wrap="square" lIns="0" tIns="0" rIns="0" bIns="0" rtlCol="0" anchor="t"/>
          <a:lstStyle/>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{gpa: 2.06,</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classification: "Average"}</a:t>
            </a:r>
            <a:endParaRPr lang="en-US" sz="1300" dirty="0">
              <a:latin typeface="Times New Roman" panose="02020603050405020304" pitchFamily="18" charset="0"/>
              <a:cs typeface="Times New Roman" panose="02020603050405020304" pitchFamily="18" charset="0"/>
            </a:endParaRPr>
          </a:p>
        </p:txBody>
      </p:sp>
      <p:sp>
        <p:nvSpPr>
          <p:cNvPr id="25" name="Shape 22"/>
          <p:cNvSpPr/>
          <p:nvPr/>
        </p:nvSpPr>
        <p:spPr>
          <a:xfrm>
            <a:off x="10287000" y="1554480"/>
            <a:ext cx="640080" cy="64008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6" name="Text 23"/>
          <p:cNvSpPr txBox="1"/>
          <p:nvPr/>
        </p:nvSpPr>
        <p:spPr>
          <a:xfrm>
            <a:off x="10287000" y="155448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5</a:t>
            </a:r>
            <a:endParaRPr lang="en-US" sz="1800" dirty="0">
              <a:latin typeface="Times New Roman" panose="02020603050405020304" pitchFamily="18" charset="0"/>
              <a:cs typeface="Times New Roman" panose="02020603050405020304" pitchFamily="18" charset="0"/>
            </a:endParaRPr>
          </a:p>
        </p:txBody>
      </p:sp>
      <p:sp>
        <p:nvSpPr>
          <p:cNvPr id="27" name="Text 24"/>
          <p:cNvSpPr txBox="1"/>
          <p:nvPr/>
        </p:nvSpPr>
        <p:spPr>
          <a:xfrm>
            <a:off x="9601200" y="2377440"/>
            <a:ext cx="2011680" cy="411480"/>
          </a:xfrm>
          <a:prstGeom prst="rect">
            <a:avLst/>
          </a:prstGeom>
          <a:noFill/>
          <a:ln/>
        </p:spPr>
        <p:txBody>
          <a:bodyPr wrap="square" lIns="0" tIns="0" rIns="0" bIns="0" rtlCol="0" anchor="ctr"/>
          <a:lstStyle/>
          <a:p>
            <a:pPr marL="0" indent="0" algn="ctr">
              <a:buNone/>
            </a:pPr>
            <a:r>
              <a:rPr lang="en-US" sz="1800" b="1" dirty="0">
                <a:solidFill>
                  <a:srgbClr val="1F2937"/>
                </a:solidFill>
                <a:latin typeface="Times New Roman" panose="02020603050405020304" pitchFamily="18" charset="0"/>
                <a:cs typeface="Times New Roman" panose="02020603050405020304" pitchFamily="18" charset="0"/>
              </a:rPr>
              <a:t>Answer</a:t>
            </a:r>
            <a:endParaRPr lang="en-US" sz="1800" dirty="0">
              <a:latin typeface="Times New Roman" panose="02020603050405020304" pitchFamily="18" charset="0"/>
              <a:cs typeface="Times New Roman" panose="02020603050405020304" pitchFamily="18" charset="0"/>
            </a:endParaRPr>
          </a:p>
        </p:txBody>
      </p:sp>
      <p:sp>
        <p:nvSpPr>
          <p:cNvPr id="28" name="Text 25"/>
          <p:cNvSpPr txBox="1"/>
          <p:nvPr/>
        </p:nvSpPr>
        <p:spPr>
          <a:xfrm>
            <a:off x="9601200" y="2834640"/>
            <a:ext cx="2011680" cy="1188720"/>
          </a:xfrm>
          <a:prstGeom prst="rect">
            <a:avLst/>
          </a:prstGeom>
          <a:noFill/>
          <a:ln/>
        </p:spPr>
        <p:txBody>
          <a:bodyPr wrap="square" lIns="0" tIns="0" rIns="0" bIns="0" rtlCol="0" anchor="t"/>
          <a:lstStyle/>
          <a:p>
            <a:pPr marL="0" indent="0" algn="ctr">
              <a:buNone/>
            </a:pPr>
            <a:r>
              <a:rPr lang="en-US" sz="1300" dirty="0">
                <a:solidFill>
                  <a:srgbClr val="5B6475"/>
                </a:solidFill>
                <a:latin typeface="Times New Roman" panose="02020603050405020304" pitchFamily="18" charset="0"/>
                <a:cs typeface="Times New Roman" panose="02020603050405020304" pitchFamily="18" charset="0"/>
              </a:rPr>
              <a:t>"GPA is 2.06 — Average"</a:t>
            </a:r>
            <a:endParaRPr lang="en-US" sz="1300" dirty="0">
              <a:latin typeface="Times New Roman" panose="02020603050405020304" pitchFamily="18" charset="0"/>
              <a:cs typeface="Times New Roman" panose="02020603050405020304" pitchFamily="18" charset="0"/>
            </a:endParaRPr>
          </a:p>
        </p:txBody>
      </p:sp>
      <p:sp>
        <p:nvSpPr>
          <p:cNvPr id="29" name="Shape 26"/>
          <p:cNvSpPr/>
          <p:nvPr/>
        </p:nvSpPr>
        <p:spPr>
          <a:xfrm>
            <a:off x="457200" y="4480560"/>
            <a:ext cx="11247120" cy="1280160"/>
          </a:xfrm>
          <a:prstGeom prst="roundRect">
            <a:avLst>
              <a:gd name="adj" fmla="val 5714"/>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30" name="Text 27"/>
          <p:cNvSpPr txBox="1"/>
          <p:nvPr/>
        </p:nvSpPr>
        <p:spPr>
          <a:xfrm>
            <a:off x="731520" y="4480560"/>
            <a:ext cx="10698480" cy="1280160"/>
          </a:xfrm>
          <a:prstGeom prst="rect">
            <a:avLst/>
          </a:prstGeom>
          <a:noFill/>
          <a:ln/>
        </p:spPr>
        <p:txBody>
          <a:bodyPr wrap="square" lIns="0" tIns="0" rIns="0" bIns="0" rtlCol="0" anchor="ctr"/>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Security rule: </a:t>
            </a:r>
            <a:r>
              <a:rPr lang="en-US" sz="1800" dirty="0">
                <a:solidFill>
                  <a:srgbClr val="1F2937"/>
                </a:solidFill>
                <a:latin typeface="Times New Roman" panose="02020603050405020304" pitchFamily="18" charset="0"/>
                <a:cs typeface="Times New Roman" panose="02020603050405020304" pitchFamily="18" charset="0"/>
              </a:rPr>
              <a:t>the LLM only </a:t>
            </a:r>
            <a:r>
              <a:rPr lang="en-US" sz="1800" b="1" dirty="0">
                <a:solidFill>
                  <a:srgbClr val="1F2937"/>
                </a:solidFill>
                <a:latin typeface="Times New Roman" panose="02020603050405020304" pitchFamily="18" charset="0"/>
                <a:cs typeface="Times New Roman" panose="02020603050405020304" pitchFamily="18" charset="0"/>
              </a:rPr>
              <a:t>requests</a:t>
            </a:r>
            <a:r>
              <a:rPr lang="en-US" sz="1800" dirty="0">
                <a:solidFill>
                  <a:srgbClr val="1F2937"/>
                </a:solidFill>
                <a:latin typeface="Times New Roman" panose="02020603050405020304" pitchFamily="18" charset="0"/>
                <a:cs typeface="Times New Roman" panose="02020603050405020304" pitchFamily="18" charset="0"/>
              </a:rPr>
              <a:t> a tool call. The application (the host) decides whether to run it — and can ask the user first.</a:t>
            </a:r>
            <a:endParaRPr lang="en-US" sz="1800" dirty="0">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7</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BACKGROUND · WHY MCP</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The problem: M × N integrations</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548640" y="1737360"/>
            <a:ext cx="2377440" cy="731520"/>
          </a:xfrm>
          <a:prstGeom prst="roundRect">
            <a:avLst>
              <a:gd name="adj" fmla="val 12500"/>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48640" y="1737360"/>
            <a:ext cx="237744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Claude Desktop</a:t>
            </a:r>
            <a:endParaRPr lang="en-US" sz="1500" dirty="0">
              <a:latin typeface="Times New Roman" panose="02020603050405020304" pitchFamily="18" charset="0"/>
              <a:cs typeface="Times New Roman" panose="02020603050405020304" pitchFamily="18" charset="0"/>
            </a:endParaRPr>
          </a:p>
        </p:txBody>
      </p:sp>
      <p:sp>
        <p:nvSpPr>
          <p:cNvPr id="7" name="Shape 4"/>
          <p:cNvSpPr/>
          <p:nvPr/>
        </p:nvSpPr>
        <p:spPr>
          <a:xfrm>
            <a:off x="548640" y="3108960"/>
            <a:ext cx="2377440" cy="731520"/>
          </a:xfrm>
          <a:prstGeom prst="roundRect">
            <a:avLst>
              <a:gd name="adj" fmla="val 12500"/>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548640" y="3108960"/>
            <a:ext cx="237744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VS Code Copilot</a:t>
            </a:r>
            <a:endParaRPr lang="en-US" sz="1500" dirty="0">
              <a:latin typeface="Times New Roman" panose="02020603050405020304" pitchFamily="18" charset="0"/>
              <a:cs typeface="Times New Roman" panose="02020603050405020304" pitchFamily="18" charset="0"/>
            </a:endParaRPr>
          </a:p>
        </p:txBody>
      </p:sp>
      <p:sp>
        <p:nvSpPr>
          <p:cNvPr id="9" name="Shape 6"/>
          <p:cNvSpPr/>
          <p:nvPr/>
        </p:nvSpPr>
        <p:spPr>
          <a:xfrm>
            <a:off x="548640" y="4480560"/>
            <a:ext cx="2377440" cy="731520"/>
          </a:xfrm>
          <a:prstGeom prst="roundRect">
            <a:avLst>
              <a:gd name="adj" fmla="val 12500"/>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548640" y="4480560"/>
            <a:ext cx="237744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Our chat app</a:t>
            </a:r>
            <a:endParaRPr lang="en-US" sz="1500" dirty="0">
              <a:latin typeface="Times New Roman" panose="02020603050405020304" pitchFamily="18" charset="0"/>
              <a:cs typeface="Times New Roman" panose="02020603050405020304" pitchFamily="18" charset="0"/>
            </a:endParaRPr>
          </a:p>
        </p:txBody>
      </p:sp>
      <p:sp>
        <p:nvSpPr>
          <p:cNvPr id="11" name="Shape 8"/>
          <p:cNvSpPr/>
          <p:nvPr/>
        </p:nvSpPr>
        <p:spPr>
          <a:xfrm>
            <a:off x="5120640" y="1737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5120640" y="1737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Grades DB</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5120640" y="2880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5120640" y="2880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Google Drive</a:t>
            </a:r>
            <a:endParaRPr lang="en-US" sz="1500" dirty="0">
              <a:latin typeface="Times New Roman" panose="02020603050405020304" pitchFamily="18" charset="0"/>
              <a:cs typeface="Times New Roman" panose="02020603050405020304" pitchFamily="18" charset="0"/>
            </a:endParaRPr>
          </a:p>
        </p:txBody>
      </p:sp>
      <p:sp>
        <p:nvSpPr>
          <p:cNvPr id="15" name="Shape 12"/>
          <p:cNvSpPr/>
          <p:nvPr/>
        </p:nvSpPr>
        <p:spPr>
          <a:xfrm>
            <a:off x="5120640" y="4023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5120640" y="4023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GitHub</a:t>
            </a:r>
            <a:endParaRPr lang="en-US" sz="1500" dirty="0">
              <a:latin typeface="Times New Roman" panose="02020603050405020304" pitchFamily="18" charset="0"/>
              <a:cs typeface="Times New Roman" panose="02020603050405020304" pitchFamily="18" charset="0"/>
            </a:endParaRPr>
          </a:p>
        </p:txBody>
      </p:sp>
      <p:sp>
        <p:nvSpPr>
          <p:cNvPr id="17" name="Shape 14"/>
          <p:cNvSpPr/>
          <p:nvPr/>
        </p:nvSpPr>
        <p:spPr>
          <a:xfrm>
            <a:off x="5120640" y="5166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5120640" y="5166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Cloud API</a:t>
            </a:r>
            <a:endParaRPr lang="en-US" sz="1500" dirty="0">
              <a:latin typeface="Times New Roman" panose="02020603050405020304" pitchFamily="18" charset="0"/>
              <a:cs typeface="Times New Roman" panose="02020603050405020304" pitchFamily="18" charset="0"/>
            </a:endParaRPr>
          </a:p>
        </p:txBody>
      </p:sp>
      <p:sp>
        <p:nvSpPr>
          <p:cNvPr id="19" name="Shape 16"/>
          <p:cNvSpPr/>
          <p:nvPr/>
        </p:nvSpPr>
        <p:spPr>
          <a:xfrm>
            <a:off x="2926080" y="2103120"/>
            <a:ext cx="2194560" cy="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0" name="Shape 17"/>
          <p:cNvSpPr/>
          <p:nvPr/>
        </p:nvSpPr>
        <p:spPr>
          <a:xfrm>
            <a:off x="2926080" y="2103120"/>
            <a:ext cx="2194560" cy="11430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1" name="Shape 18"/>
          <p:cNvSpPr/>
          <p:nvPr/>
        </p:nvSpPr>
        <p:spPr>
          <a:xfrm>
            <a:off x="2926080" y="2103120"/>
            <a:ext cx="2194560" cy="22860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2" name="Shape 19"/>
          <p:cNvSpPr/>
          <p:nvPr/>
        </p:nvSpPr>
        <p:spPr>
          <a:xfrm>
            <a:off x="2926080" y="2103120"/>
            <a:ext cx="2194560" cy="34290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3" name="Shape 20"/>
          <p:cNvSpPr/>
          <p:nvPr/>
        </p:nvSpPr>
        <p:spPr>
          <a:xfrm flipV="1">
            <a:off x="2926080" y="2103120"/>
            <a:ext cx="2194560" cy="13716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4" name="Shape 21"/>
          <p:cNvSpPr/>
          <p:nvPr/>
        </p:nvSpPr>
        <p:spPr>
          <a:xfrm flipV="1">
            <a:off x="2926080" y="3246120"/>
            <a:ext cx="2194560" cy="2286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5" name="Shape 22"/>
          <p:cNvSpPr/>
          <p:nvPr/>
        </p:nvSpPr>
        <p:spPr>
          <a:xfrm>
            <a:off x="2926080" y="3474720"/>
            <a:ext cx="2194560" cy="9144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6" name="Shape 23"/>
          <p:cNvSpPr/>
          <p:nvPr/>
        </p:nvSpPr>
        <p:spPr>
          <a:xfrm>
            <a:off x="2926080" y="3474720"/>
            <a:ext cx="2194560" cy="20574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7" name="Shape 24"/>
          <p:cNvSpPr/>
          <p:nvPr/>
        </p:nvSpPr>
        <p:spPr>
          <a:xfrm flipV="1">
            <a:off x="2926080" y="2103120"/>
            <a:ext cx="2194560" cy="27432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8" name="Shape 25"/>
          <p:cNvSpPr/>
          <p:nvPr/>
        </p:nvSpPr>
        <p:spPr>
          <a:xfrm flipV="1">
            <a:off x="2926080" y="3246120"/>
            <a:ext cx="2194560" cy="16002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9" name="Shape 26"/>
          <p:cNvSpPr/>
          <p:nvPr/>
        </p:nvSpPr>
        <p:spPr>
          <a:xfrm flipV="1">
            <a:off x="2926080" y="4389120"/>
            <a:ext cx="2194560" cy="4572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30" name="Shape 27"/>
          <p:cNvSpPr/>
          <p:nvPr/>
        </p:nvSpPr>
        <p:spPr>
          <a:xfrm>
            <a:off x="2926080" y="4846320"/>
            <a:ext cx="2194560" cy="68580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31" name="Text 28"/>
          <p:cNvSpPr txBox="1"/>
          <p:nvPr/>
        </p:nvSpPr>
        <p:spPr>
          <a:xfrm>
            <a:off x="7955280" y="2011680"/>
            <a:ext cx="3749040" cy="1097280"/>
          </a:xfrm>
          <a:prstGeom prst="rect">
            <a:avLst/>
          </a:prstGeom>
          <a:noFill/>
          <a:ln/>
        </p:spPr>
        <p:txBody>
          <a:bodyPr wrap="square" lIns="0" tIns="0" rIns="0" bIns="0" rtlCol="0" anchor="ctr"/>
          <a:lstStyle/>
          <a:p>
            <a:pPr marL="0" indent="0">
              <a:buNone/>
            </a:pPr>
            <a:r>
              <a:rPr lang="en-US" sz="5400" b="1" dirty="0">
                <a:solidFill>
                  <a:srgbClr val="C53030"/>
                </a:solidFill>
                <a:latin typeface="Times New Roman" panose="02020603050405020304" pitchFamily="18" charset="0"/>
                <a:cs typeface="Times New Roman" panose="02020603050405020304" pitchFamily="18" charset="0"/>
              </a:rPr>
              <a:t>3 × 4 = 12</a:t>
            </a:r>
            <a:endParaRPr lang="en-US" sz="5400" dirty="0">
              <a:latin typeface="Times New Roman" panose="02020603050405020304" pitchFamily="18" charset="0"/>
              <a:cs typeface="Times New Roman" panose="02020603050405020304" pitchFamily="18" charset="0"/>
            </a:endParaRPr>
          </a:p>
        </p:txBody>
      </p:sp>
      <p:sp>
        <p:nvSpPr>
          <p:cNvPr id="32" name="Text 29"/>
          <p:cNvSpPr txBox="1"/>
          <p:nvPr/>
        </p:nvSpPr>
        <p:spPr>
          <a:xfrm>
            <a:off x="7955280" y="3200400"/>
            <a:ext cx="3749040" cy="1645920"/>
          </a:xfrm>
          <a:prstGeom prst="rect">
            <a:avLst/>
          </a:prstGeom>
          <a:noFill/>
          <a:ln/>
        </p:spPr>
        <p:txBody>
          <a:bodyPr wrap="square" lIns="0" tIns="0" rIns="0" bIns="0" rtlCol="0" anchor="t"/>
          <a:lstStyle/>
          <a:p>
            <a:pPr marL="0" indent="0">
              <a:buNone/>
            </a:pPr>
            <a:r>
              <a:rPr lang="en-US" sz="1800" dirty="0">
                <a:solidFill>
                  <a:srgbClr val="1F2937"/>
                </a:solidFill>
                <a:latin typeface="Times New Roman" panose="02020603050405020304" pitchFamily="18" charset="0"/>
                <a:cs typeface="Times New Roman" panose="02020603050405020304" pitchFamily="18" charset="0"/>
              </a:rPr>
              <a:t>custom connectors — every app re-implements every source, and every change breaks them again</a:t>
            </a:r>
            <a:endParaRPr lang="en-US" sz="1800" dirty="0">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8</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BACKGROUND · WHY MCP</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MCP: one standard, M + N</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548640" y="1737360"/>
            <a:ext cx="2377440" cy="731520"/>
          </a:xfrm>
          <a:prstGeom prst="roundRect">
            <a:avLst>
              <a:gd name="adj" fmla="val 12500"/>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48640" y="1737360"/>
            <a:ext cx="237744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Claude Desktop</a:t>
            </a:r>
            <a:endParaRPr lang="en-US" sz="1500" dirty="0">
              <a:latin typeface="Times New Roman" panose="02020603050405020304" pitchFamily="18" charset="0"/>
              <a:cs typeface="Times New Roman" panose="02020603050405020304" pitchFamily="18" charset="0"/>
            </a:endParaRPr>
          </a:p>
        </p:txBody>
      </p:sp>
      <p:sp>
        <p:nvSpPr>
          <p:cNvPr id="7" name="Shape 4"/>
          <p:cNvSpPr/>
          <p:nvPr/>
        </p:nvSpPr>
        <p:spPr>
          <a:xfrm>
            <a:off x="548640" y="3108960"/>
            <a:ext cx="2377440" cy="731520"/>
          </a:xfrm>
          <a:prstGeom prst="roundRect">
            <a:avLst>
              <a:gd name="adj" fmla="val 12500"/>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548640" y="3108960"/>
            <a:ext cx="237744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VS Code Copilot</a:t>
            </a:r>
            <a:endParaRPr lang="en-US" sz="1500" dirty="0">
              <a:latin typeface="Times New Roman" panose="02020603050405020304" pitchFamily="18" charset="0"/>
              <a:cs typeface="Times New Roman" panose="02020603050405020304" pitchFamily="18" charset="0"/>
            </a:endParaRPr>
          </a:p>
        </p:txBody>
      </p:sp>
      <p:sp>
        <p:nvSpPr>
          <p:cNvPr id="9" name="Shape 6"/>
          <p:cNvSpPr/>
          <p:nvPr/>
        </p:nvSpPr>
        <p:spPr>
          <a:xfrm>
            <a:off x="548640" y="4480560"/>
            <a:ext cx="2377440" cy="731520"/>
          </a:xfrm>
          <a:prstGeom prst="roundRect">
            <a:avLst>
              <a:gd name="adj" fmla="val 12500"/>
            </a:avLst>
          </a:prstGeom>
          <a:solidFill>
            <a:srgbClr val="1F2A44"/>
          </a:solidFill>
          <a:ln w="12700">
            <a:solidFill>
              <a:srgbClr val="1F2A44"/>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548640" y="4480560"/>
            <a:ext cx="237744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Our chat app</a:t>
            </a:r>
            <a:endParaRPr lang="en-US" sz="1500" dirty="0">
              <a:latin typeface="Times New Roman" panose="02020603050405020304" pitchFamily="18" charset="0"/>
              <a:cs typeface="Times New Roman" panose="02020603050405020304" pitchFamily="18" charset="0"/>
            </a:endParaRPr>
          </a:p>
        </p:txBody>
      </p:sp>
      <p:sp>
        <p:nvSpPr>
          <p:cNvPr id="11" name="Shape 8"/>
          <p:cNvSpPr/>
          <p:nvPr/>
        </p:nvSpPr>
        <p:spPr>
          <a:xfrm>
            <a:off x="5120640" y="1737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5120640" y="1737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Grades DB</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5120640" y="2880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5120640" y="2880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Google Drive</a:t>
            </a:r>
            <a:endParaRPr lang="en-US" sz="1500" dirty="0">
              <a:latin typeface="Times New Roman" panose="02020603050405020304" pitchFamily="18" charset="0"/>
              <a:cs typeface="Times New Roman" panose="02020603050405020304" pitchFamily="18" charset="0"/>
            </a:endParaRPr>
          </a:p>
        </p:txBody>
      </p:sp>
      <p:sp>
        <p:nvSpPr>
          <p:cNvPr id="15" name="Shape 12"/>
          <p:cNvSpPr/>
          <p:nvPr/>
        </p:nvSpPr>
        <p:spPr>
          <a:xfrm>
            <a:off x="5120640" y="4023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5120640" y="4023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GitHub</a:t>
            </a:r>
            <a:endParaRPr lang="en-US" sz="1500" dirty="0">
              <a:latin typeface="Times New Roman" panose="02020603050405020304" pitchFamily="18" charset="0"/>
              <a:cs typeface="Times New Roman" panose="02020603050405020304" pitchFamily="18" charset="0"/>
            </a:endParaRPr>
          </a:p>
        </p:txBody>
      </p:sp>
      <p:sp>
        <p:nvSpPr>
          <p:cNvPr id="17" name="Shape 14"/>
          <p:cNvSpPr/>
          <p:nvPr/>
        </p:nvSpPr>
        <p:spPr>
          <a:xfrm>
            <a:off x="5120640" y="5166360"/>
            <a:ext cx="2194560" cy="731520"/>
          </a:xfrm>
          <a:prstGeom prst="roundRect">
            <a:avLst>
              <a:gd name="adj" fmla="val 12500"/>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5120640" y="5166360"/>
            <a:ext cx="219456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Times New Roman" panose="02020603050405020304" pitchFamily="18" charset="0"/>
                <a:cs typeface="Times New Roman" panose="02020603050405020304" pitchFamily="18" charset="0"/>
              </a:rPr>
              <a:t>Cloud API</a:t>
            </a:r>
            <a:endParaRPr lang="en-US" sz="1500" dirty="0">
              <a:latin typeface="Times New Roman" panose="02020603050405020304" pitchFamily="18" charset="0"/>
              <a:cs typeface="Times New Roman" panose="02020603050405020304" pitchFamily="18" charset="0"/>
            </a:endParaRPr>
          </a:p>
        </p:txBody>
      </p:sp>
      <p:sp>
        <p:nvSpPr>
          <p:cNvPr id="19" name="Shape 16"/>
          <p:cNvSpPr/>
          <p:nvPr/>
        </p:nvSpPr>
        <p:spPr>
          <a:xfrm>
            <a:off x="3429000" y="3063240"/>
            <a:ext cx="1188720" cy="1188720"/>
          </a:xfrm>
          <a:prstGeom prst="ellipse">
            <a:avLst/>
          </a:prstGeom>
          <a:solidFill>
            <a:srgbClr val="E07A1F"/>
          </a:solidFill>
          <a:ln w="12700">
            <a:solidFill>
              <a:srgbClr val="E07A1F"/>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0" name="Text 17"/>
          <p:cNvSpPr txBox="1"/>
          <p:nvPr/>
        </p:nvSpPr>
        <p:spPr>
          <a:xfrm>
            <a:off x="3429000" y="3063240"/>
            <a:ext cx="1188720" cy="11887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anose="02020603050405020304" pitchFamily="18" charset="0"/>
                <a:cs typeface="Times New Roman" panose="02020603050405020304" pitchFamily="18" charset="0"/>
              </a:rPr>
              <a:t>MCP</a:t>
            </a:r>
            <a:endParaRPr lang="en-US" sz="1800" dirty="0">
              <a:latin typeface="Times New Roman" panose="02020603050405020304" pitchFamily="18" charset="0"/>
              <a:cs typeface="Times New Roman" panose="02020603050405020304" pitchFamily="18" charset="0"/>
            </a:endParaRPr>
          </a:p>
        </p:txBody>
      </p:sp>
      <p:sp>
        <p:nvSpPr>
          <p:cNvPr id="21" name="Shape 18"/>
          <p:cNvSpPr/>
          <p:nvPr/>
        </p:nvSpPr>
        <p:spPr>
          <a:xfrm>
            <a:off x="2926080" y="2103120"/>
            <a:ext cx="502920" cy="155448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2" name="Shape 19"/>
          <p:cNvSpPr/>
          <p:nvPr/>
        </p:nvSpPr>
        <p:spPr>
          <a:xfrm>
            <a:off x="2926080" y="3474720"/>
            <a:ext cx="502920" cy="18288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3" name="Shape 20"/>
          <p:cNvSpPr/>
          <p:nvPr/>
        </p:nvSpPr>
        <p:spPr>
          <a:xfrm flipV="1">
            <a:off x="2926080" y="3657600"/>
            <a:ext cx="502920" cy="118872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4" name="Shape 21"/>
          <p:cNvSpPr/>
          <p:nvPr/>
        </p:nvSpPr>
        <p:spPr>
          <a:xfrm flipV="1">
            <a:off x="4617720" y="2103120"/>
            <a:ext cx="502920" cy="155448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5" name="Shape 22"/>
          <p:cNvSpPr/>
          <p:nvPr/>
        </p:nvSpPr>
        <p:spPr>
          <a:xfrm flipV="1">
            <a:off x="4617720" y="3246120"/>
            <a:ext cx="502920" cy="41148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6" name="Shape 23"/>
          <p:cNvSpPr/>
          <p:nvPr/>
        </p:nvSpPr>
        <p:spPr>
          <a:xfrm>
            <a:off x="4617720" y="3657600"/>
            <a:ext cx="502920" cy="73152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7" name="Shape 24"/>
          <p:cNvSpPr/>
          <p:nvPr/>
        </p:nvSpPr>
        <p:spPr>
          <a:xfrm>
            <a:off x="4617720" y="3657600"/>
            <a:ext cx="502920" cy="187452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8" name="Text 25"/>
          <p:cNvSpPr txBox="1"/>
          <p:nvPr/>
        </p:nvSpPr>
        <p:spPr>
          <a:xfrm>
            <a:off x="7955280" y="2011680"/>
            <a:ext cx="3749040" cy="1097280"/>
          </a:xfrm>
          <a:prstGeom prst="rect">
            <a:avLst/>
          </a:prstGeom>
          <a:noFill/>
          <a:ln/>
        </p:spPr>
        <p:txBody>
          <a:bodyPr wrap="square" lIns="0" tIns="0" rIns="0" bIns="0" rtlCol="0" anchor="ctr"/>
          <a:lstStyle/>
          <a:p>
            <a:pPr marL="0" indent="0">
              <a:buNone/>
            </a:pPr>
            <a:r>
              <a:rPr lang="en-US" sz="5400" b="1" dirty="0">
                <a:solidFill>
                  <a:srgbClr val="2F855A"/>
                </a:solidFill>
                <a:latin typeface="Times New Roman" panose="02020603050405020304" pitchFamily="18" charset="0"/>
                <a:cs typeface="Times New Roman" panose="02020603050405020304" pitchFamily="18" charset="0"/>
              </a:rPr>
              <a:t>3 + 4 = 7</a:t>
            </a:r>
            <a:endParaRPr lang="en-US" sz="5400" dirty="0">
              <a:latin typeface="Times New Roman" panose="02020603050405020304" pitchFamily="18" charset="0"/>
              <a:cs typeface="Times New Roman" panose="02020603050405020304" pitchFamily="18" charset="0"/>
            </a:endParaRPr>
          </a:p>
        </p:txBody>
      </p:sp>
      <p:sp>
        <p:nvSpPr>
          <p:cNvPr id="29" name="Text 26"/>
          <p:cNvSpPr txBox="1"/>
          <p:nvPr/>
        </p:nvSpPr>
        <p:spPr>
          <a:xfrm>
            <a:off x="7955280" y="3200400"/>
            <a:ext cx="3749040" cy="1645920"/>
          </a:xfrm>
          <a:prstGeom prst="rect">
            <a:avLst/>
          </a:prstGeom>
          <a:noFill/>
          <a:ln/>
        </p:spPr>
        <p:txBody>
          <a:bodyPr wrap="square" lIns="0" tIns="0" rIns="0" bIns="0" rtlCol="0" anchor="t"/>
          <a:lstStyle/>
          <a:p>
            <a:pPr marL="0" indent="0">
              <a:buNone/>
            </a:pPr>
            <a:r>
              <a:rPr lang="en-US" sz="1800" dirty="0">
                <a:solidFill>
                  <a:srgbClr val="1F2937"/>
                </a:solidFill>
                <a:latin typeface="Times New Roman" panose="02020603050405020304" pitchFamily="18" charset="0"/>
                <a:cs typeface="Times New Roman" panose="02020603050405020304" pitchFamily="18" charset="0"/>
              </a:rPr>
              <a:t>Each source is wrapped once as an MCP server; each app needs one MCP client. "USB-C for AI".</a:t>
            </a:r>
            <a:endParaRPr lang="en-US" sz="1800" dirty="0">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9</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MCP ARCHITECTURE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Roles: Host · Client · Server</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5120640" cy="4480560"/>
          </a:xfrm>
          <a:prstGeom prst="roundRect">
            <a:avLst>
              <a:gd name="adj" fmla="val 1633"/>
            </a:avLst>
          </a:prstGeom>
          <a:solidFill>
            <a:srgbClr val="EEF2F6"/>
          </a:solidFill>
          <a:ln w="12700">
            <a:solidFill>
              <a:srgbClr val="8A94A6"/>
            </a:solidFill>
            <a:prstDash val="dash"/>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40080" y="1554480"/>
            <a:ext cx="4754880" cy="365760"/>
          </a:xfrm>
          <a:prstGeom prst="rect">
            <a:avLst/>
          </a:prstGeom>
          <a:noFill/>
          <a:ln/>
        </p:spPr>
        <p:txBody>
          <a:bodyPr wrap="square" lIns="0" tIns="0" rIns="0" bIns="0" rtlCol="0" anchor="ctr"/>
          <a:lstStyle/>
          <a:p>
            <a:pPr marL="0" indent="0">
              <a:buNone/>
            </a:pPr>
            <a:r>
              <a:rPr lang="en-US" sz="1500" b="1" dirty="0">
                <a:solidFill>
                  <a:srgbClr val="1F2937"/>
                </a:solidFill>
                <a:latin typeface="Times New Roman" panose="02020603050405020304" pitchFamily="18" charset="0"/>
                <a:cs typeface="Times New Roman" panose="02020603050405020304" pitchFamily="18" charset="0"/>
              </a:rPr>
              <a:t>HOST — our chat app / VS Code</a:t>
            </a:r>
            <a:endParaRPr lang="en-US" sz="1500" dirty="0">
              <a:latin typeface="Times New Roman" panose="02020603050405020304" pitchFamily="18" charset="0"/>
              <a:cs typeface="Times New Roman" panose="02020603050405020304" pitchFamily="18" charset="0"/>
            </a:endParaRPr>
          </a:p>
        </p:txBody>
      </p:sp>
      <p:sp>
        <p:nvSpPr>
          <p:cNvPr id="7" name="Shape 4"/>
          <p:cNvSpPr/>
          <p:nvPr/>
        </p:nvSpPr>
        <p:spPr>
          <a:xfrm>
            <a:off x="822960" y="2194560"/>
            <a:ext cx="2011680" cy="1097280"/>
          </a:xfrm>
          <a:prstGeom prst="rect">
            <a:avLst/>
          </a:prstGeom>
          <a:solidFill>
            <a:srgbClr val="DDE7F7"/>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896112" y="2194560"/>
            <a:ext cx="1865376" cy="109728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LLM</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(Gemini or Qwen)</a:t>
            </a:r>
            <a:endParaRPr lang="en-US" sz="1300" dirty="0">
              <a:latin typeface="Times New Roman" panose="02020603050405020304" pitchFamily="18" charset="0"/>
              <a:cs typeface="Times New Roman" panose="02020603050405020304" pitchFamily="18" charset="0"/>
            </a:endParaRPr>
          </a:p>
        </p:txBody>
      </p:sp>
      <p:sp>
        <p:nvSpPr>
          <p:cNvPr id="9" name="Shape 6"/>
          <p:cNvSpPr/>
          <p:nvPr/>
        </p:nvSpPr>
        <p:spPr>
          <a:xfrm>
            <a:off x="3200400" y="2194560"/>
            <a:ext cx="2103120" cy="914400"/>
          </a:xfrm>
          <a:prstGeom prst="rect">
            <a:avLst/>
          </a:prstGeom>
          <a:solidFill>
            <a:srgbClr val="FFFFFF"/>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3273552" y="2194560"/>
            <a:ext cx="1956816" cy="91440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MCP Client #1</a:t>
            </a:r>
            <a:endParaRPr lang="en-US" sz="1300" dirty="0">
              <a:latin typeface="Times New Roman" panose="02020603050405020304" pitchFamily="18" charset="0"/>
              <a:cs typeface="Times New Roman" panose="02020603050405020304" pitchFamily="18" charset="0"/>
            </a:endParaRPr>
          </a:p>
        </p:txBody>
      </p:sp>
      <p:sp>
        <p:nvSpPr>
          <p:cNvPr id="11" name="Shape 8"/>
          <p:cNvSpPr/>
          <p:nvPr/>
        </p:nvSpPr>
        <p:spPr>
          <a:xfrm>
            <a:off x="3200400" y="4023360"/>
            <a:ext cx="2103120" cy="914400"/>
          </a:xfrm>
          <a:prstGeom prst="rect">
            <a:avLst/>
          </a:prstGeom>
          <a:solidFill>
            <a:srgbClr val="FFFFFF"/>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3273552" y="4023360"/>
            <a:ext cx="1956816" cy="91440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MCP Client #2</a:t>
            </a:r>
            <a:endParaRPr lang="en-US" sz="1300" dirty="0">
              <a:latin typeface="Times New Roman" panose="02020603050405020304" pitchFamily="18" charset="0"/>
              <a:cs typeface="Times New Roman" panose="02020603050405020304" pitchFamily="18" charset="0"/>
            </a:endParaRPr>
          </a:p>
        </p:txBody>
      </p:sp>
      <p:sp>
        <p:nvSpPr>
          <p:cNvPr id="13" name="Shape 10"/>
          <p:cNvSpPr/>
          <p:nvPr/>
        </p:nvSpPr>
        <p:spPr>
          <a:xfrm>
            <a:off x="2834640" y="265176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4" name="Shape 11"/>
          <p:cNvSpPr/>
          <p:nvPr/>
        </p:nvSpPr>
        <p:spPr>
          <a:xfrm>
            <a:off x="1828800" y="3291840"/>
            <a:ext cx="0" cy="118872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5" name="Shape 12"/>
          <p:cNvSpPr/>
          <p:nvPr/>
        </p:nvSpPr>
        <p:spPr>
          <a:xfrm>
            <a:off x="1828800" y="4480560"/>
            <a:ext cx="137160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731520" y="5120640"/>
            <a:ext cx="4572000" cy="640080"/>
          </a:xfrm>
          <a:prstGeom prst="rect">
            <a:avLst/>
          </a:prstGeom>
          <a:noFill/>
          <a:ln/>
        </p:spPr>
        <p:txBody>
          <a:bodyPr wrap="square" lIns="0" tIns="0" rIns="0" bIns="0" rtlCol="0" anchor="ctr"/>
          <a:lstStyle/>
          <a:p>
            <a:pPr marL="0" indent="0">
              <a:buNone/>
            </a:pPr>
            <a:r>
              <a:rPr lang="en-US" sz="1300" i="1" dirty="0">
                <a:solidFill>
                  <a:srgbClr val="5B6475"/>
                </a:solidFill>
                <a:latin typeface="Times New Roman" panose="02020603050405020304" pitchFamily="18" charset="0"/>
                <a:cs typeface="Times New Roman" panose="02020603050405020304" pitchFamily="18" charset="0"/>
              </a:rPr>
              <a:t>the host runs the tool-calling loop and executes the calls</a:t>
            </a:r>
            <a:endParaRPr lang="en-US" sz="1300" dirty="0">
              <a:latin typeface="Times New Roman" panose="02020603050405020304" pitchFamily="18" charset="0"/>
              <a:cs typeface="Times New Roman" panose="02020603050405020304" pitchFamily="18" charset="0"/>
            </a:endParaRPr>
          </a:p>
        </p:txBody>
      </p:sp>
      <p:sp>
        <p:nvSpPr>
          <p:cNvPr id="17" name="Shape 14"/>
          <p:cNvSpPr/>
          <p:nvPr/>
        </p:nvSpPr>
        <p:spPr>
          <a:xfrm>
            <a:off x="6583680" y="2103120"/>
            <a:ext cx="3291840" cy="1097280"/>
          </a:xfrm>
          <a:prstGeom prst="rect">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6656832" y="2103120"/>
            <a:ext cx="3145536" cy="109728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MCP Server "academic"</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10 tools · 4 resources · 2 prompts</a:t>
            </a:r>
            <a:endParaRPr lang="en-US" sz="1300" dirty="0">
              <a:latin typeface="Times New Roman" panose="02020603050405020304" pitchFamily="18" charset="0"/>
              <a:cs typeface="Times New Roman" panose="02020603050405020304" pitchFamily="18" charset="0"/>
            </a:endParaRPr>
          </a:p>
        </p:txBody>
      </p:sp>
      <p:sp>
        <p:nvSpPr>
          <p:cNvPr id="19" name="Shape 16"/>
          <p:cNvSpPr/>
          <p:nvPr/>
        </p:nvSpPr>
        <p:spPr>
          <a:xfrm>
            <a:off x="6583680" y="3931920"/>
            <a:ext cx="3291840" cy="1097280"/>
          </a:xfrm>
          <a:prstGeom prst="rect">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0" name="Text 17"/>
          <p:cNvSpPr txBox="1"/>
          <p:nvPr/>
        </p:nvSpPr>
        <p:spPr>
          <a:xfrm>
            <a:off x="6656832" y="3931920"/>
            <a:ext cx="3145536" cy="109728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MCP Server "utility"</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3 tools · 1 resource</a:t>
            </a:r>
            <a:endParaRPr lang="en-US" sz="1300" dirty="0">
              <a:latin typeface="Times New Roman" panose="02020603050405020304" pitchFamily="18" charset="0"/>
              <a:cs typeface="Times New Roman" panose="02020603050405020304" pitchFamily="18" charset="0"/>
            </a:endParaRPr>
          </a:p>
        </p:txBody>
      </p:sp>
      <p:sp>
        <p:nvSpPr>
          <p:cNvPr id="21" name="Shape 18"/>
          <p:cNvSpPr/>
          <p:nvPr/>
        </p:nvSpPr>
        <p:spPr>
          <a:xfrm>
            <a:off x="5303520" y="2651760"/>
            <a:ext cx="12801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2" name="Shape 19"/>
          <p:cNvSpPr/>
          <p:nvPr/>
        </p:nvSpPr>
        <p:spPr>
          <a:xfrm>
            <a:off x="5303520" y="4480560"/>
            <a:ext cx="12801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3" name="Text 20"/>
          <p:cNvSpPr txBox="1"/>
          <p:nvPr/>
        </p:nvSpPr>
        <p:spPr>
          <a:xfrm>
            <a:off x="5349240" y="3246120"/>
            <a:ext cx="1234440" cy="640080"/>
          </a:xfrm>
          <a:prstGeom prst="rect">
            <a:avLst/>
          </a:prstGeom>
          <a:noFill/>
          <a:ln/>
        </p:spPr>
        <p:txBody>
          <a:bodyPr wrap="square" lIns="0" tIns="0" rIns="0" bIns="0" rtlCol="0" anchor="ctr"/>
          <a:lstStyle/>
          <a:p>
            <a:pPr marL="0" indent="0" algn="ctr">
              <a:buNone/>
            </a:pPr>
            <a:r>
              <a:rPr lang="en-US" sz="1100" dirty="0">
                <a:solidFill>
                  <a:srgbClr val="5B6475"/>
                </a:solidFill>
                <a:latin typeface="Times New Roman" panose="02020603050405020304" pitchFamily="18" charset="0"/>
                <a:cs typeface="Times New Roman" panose="02020603050405020304" pitchFamily="18" charset="0"/>
              </a:rPr>
              <a:t>JSON-RPC</a:t>
            </a:r>
            <a:endParaRPr lang="en-US" sz="1100" dirty="0">
              <a:latin typeface="Times New Roman" panose="02020603050405020304" pitchFamily="18" charset="0"/>
              <a:cs typeface="Times New Roman" panose="02020603050405020304" pitchFamily="18" charset="0"/>
            </a:endParaRPr>
          </a:p>
          <a:p>
            <a:pPr marL="0" indent="0" algn="ctr">
              <a:buNone/>
            </a:pPr>
            <a:r>
              <a:rPr lang="en-US" sz="1100" dirty="0">
                <a:solidFill>
                  <a:srgbClr val="5B6475"/>
                </a:solidFill>
                <a:latin typeface="Times New Roman" panose="02020603050405020304" pitchFamily="18" charset="0"/>
                <a:cs typeface="Times New Roman" panose="02020603050405020304" pitchFamily="18" charset="0"/>
              </a:rPr>
              <a:t>stdio / HTTP</a:t>
            </a:r>
            <a:endParaRPr lang="en-US" sz="1100" dirty="0">
              <a:latin typeface="Times New Roman" panose="02020603050405020304" pitchFamily="18" charset="0"/>
              <a:cs typeface="Times New Roman" panose="02020603050405020304" pitchFamily="18" charset="0"/>
            </a:endParaRPr>
          </a:p>
        </p:txBody>
      </p:sp>
      <p:sp>
        <p:nvSpPr>
          <p:cNvPr id="24" name="Shape 21"/>
          <p:cNvSpPr/>
          <p:nvPr/>
        </p:nvSpPr>
        <p:spPr>
          <a:xfrm>
            <a:off x="10241280" y="2240280"/>
            <a:ext cx="1463040" cy="822960"/>
          </a:xfrm>
          <a:prstGeom prst="rect">
            <a:avLst/>
          </a:prstGeom>
          <a:solidFill>
            <a:srgbClr val="FFFFFF"/>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5" name="Text 22"/>
          <p:cNvSpPr txBox="1"/>
          <p:nvPr/>
        </p:nvSpPr>
        <p:spPr>
          <a:xfrm>
            <a:off x="10314432" y="2240280"/>
            <a:ext cx="131673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CSV data</a:t>
            </a:r>
            <a:endParaRPr lang="en-US" sz="1300" dirty="0">
              <a:latin typeface="Times New Roman" panose="02020603050405020304" pitchFamily="18" charset="0"/>
              <a:cs typeface="Times New Roman" panose="02020603050405020304" pitchFamily="18" charset="0"/>
            </a:endParaRPr>
          </a:p>
        </p:txBody>
      </p:sp>
      <p:sp>
        <p:nvSpPr>
          <p:cNvPr id="26" name="Shape 23"/>
          <p:cNvSpPr/>
          <p:nvPr/>
        </p:nvSpPr>
        <p:spPr>
          <a:xfrm>
            <a:off x="10241280" y="4069080"/>
            <a:ext cx="1463040" cy="822960"/>
          </a:xfrm>
          <a:prstGeom prst="rect">
            <a:avLst/>
          </a:prstGeom>
          <a:solidFill>
            <a:srgbClr val="FFFFFF"/>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7" name="Text 24"/>
          <p:cNvSpPr txBox="1"/>
          <p:nvPr/>
        </p:nvSpPr>
        <p:spPr>
          <a:xfrm>
            <a:off x="10314432" y="4069080"/>
            <a:ext cx="131673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Clock ·</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report files</a:t>
            </a:r>
            <a:endParaRPr lang="en-US" sz="1300" dirty="0">
              <a:latin typeface="Times New Roman" panose="02020603050405020304" pitchFamily="18" charset="0"/>
              <a:cs typeface="Times New Roman" panose="02020603050405020304" pitchFamily="18" charset="0"/>
            </a:endParaRPr>
          </a:p>
        </p:txBody>
      </p:sp>
      <p:sp>
        <p:nvSpPr>
          <p:cNvPr id="28" name="Shape 25"/>
          <p:cNvSpPr/>
          <p:nvPr/>
        </p:nvSpPr>
        <p:spPr>
          <a:xfrm>
            <a:off x="9875520" y="265176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9" name="Shape 26"/>
          <p:cNvSpPr/>
          <p:nvPr/>
        </p:nvSpPr>
        <p:spPr>
          <a:xfrm>
            <a:off x="9875520" y="448056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10</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MCP ARCHITECTURE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What a server offers: Tools · Resources · Prompts</a:t>
            </a:r>
            <a:endParaRPr lang="en-US" sz="3000" dirty="0">
              <a:latin typeface="Times New Roman" panose="02020603050405020304" pitchFamily="18" charset="0"/>
              <a:cs typeface="Times New Roman" panose="02020603050405020304" pitchFamily="18" charset="0"/>
            </a:endParaRPr>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3291840"/>
        </p:xfrm>
        <a:graphic>
          <a:graphicData uri="http://schemas.openxmlformats.org/drawingml/2006/table">
            <a:tbl>
              <a:tblPr/>
              <a:tblGrid>
                <a:gridCol w="16459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822960">
                <a:tc>
                  <a:txBody>
                    <a:bodyPr/>
                    <a:lstStyle/>
                    <a:p>
                      <a:pPr marL="0" indent="0">
                        <a:buNone/>
                      </a:pPr>
                      <a:r>
                        <a:rPr lang="en-US" sz="1600" b="1" dirty="0">
                          <a:solidFill>
                            <a:srgbClr val="FFFFFF"/>
                          </a:solidFill>
                        </a:rPr>
                        <a:t>Primitive</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600" b="1" dirty="0">
                          <a:solidFill>
                            <a:srgbClr val="FFFFFF"/>
                          </a:solidFill>
                        </a:rPr>
                        <a:t>Who controls it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600" b="1" dirty="0">
                          <a:solidFill>
                            <a:srgbClr val="FFFFFF"/>
                          </a:solidFill>
                        </a:rPr>
                        <a:t>What it is</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600" b="1" dirty="0">
                          <a:solidFill>
                            <a:srgbClr val="FFFFFF"/>
                          </a:solidFill>
                        </a:rPr>
                        <a:t>Our example</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22960">
                <a:tc>
                  <a:txBody>
                    <a:bodyPr/>
                    <a:lstStyle/>
                    <a:p>
                      <a:pPr marL="0" indent="0">
                        <a:buNone/>
                      </a:pPr>
                      <a:r>
                        <a:rPr lang="en-US" sz="1600" dirty="0">
                          <a:solidFill>
                            <a:srgbClr val="1F2937"/>
                          </a:solidFill>
                        </a:rPr>
                        <a:t>Tool</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the MODEL decides to call it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A function with typed input and output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calculate_gpa(student_id)</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a:lstStyle/>
                    <a:p>
                      <a:pPr marL="0" indent="0">
                        <a:buNone/>
                      </a:pPr>
                      <a:r>
                        <a:rPr lang="en-US" sz="1600" dirty="0">
                          <a:solidFill>
                            <a:srgbClr val="1F2937"/>
                          </a:solidFill>
                        </a:rPr>
                        <a:t>Resource</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the APP / USER attaches it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Read-only data addressed by a URI</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academic://students/2201010</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a:lstStyle/>
                    <a:p>
                      <a:pPr marL="0" indent="0">
                        <a:buNone/>
                      </a:pPr>
                      <a:r>
                        <a:rPr lang="en-US" sz="1600" dirty="0">
                          <a:solidFill>
                            <a:srgbClr val="1F2937"/>
                          </a:solidFill>
                        </a:rPr>
                        <a:t>Prompt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the USER picks it (like /command)</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A ready-made message template</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class_report(class_id)</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p:cNvSpPr txBox="1"/>
          <p:nvPr/>
        </p:nvSpPr>
        <p:spPr>
          <a:xfrm>
            <a:off x="457200" y="5120640"/>
            <a:ext cx="11247120" cy="731520"/>
          </a:xfrm>
          <a:prstGeom prst="rect">
            <a:avLst/>
          </a:prstGeom>
          <a:noFill/>
          <a:ln/>
        </p:spPr>
        <p:txBody>
          <a:bodyPr wrap="square" lIns="0" tIns="0" rIns="0" bIns="0" rtlCol="0" anchor="ctr"/>
          <a:lstStyle/>
          <a:p>
            <a:pPr marL="0" indent="0">
              <a:buNone/>
            </a:pPr>
            <a:r>
              <a:rPr lang="en-US" sz="1500" dirty="0">
                <a:solidFill>
                  <a:srgbClr val="5B6475"/>
                </a:solidFill>
                <a:latin typeface="Times New Roman" panose="02020603050405020304" pitchFamily="18" charset="0"/>
                <a:cs typeface="Times New Roman" panose="02020603050405020304" pitchFamily="18" charset="0"/>
              </a:rPr>
              <a:t>Advanced features we also use: elicitation (server asks the user to confirm) · sampling (server borrows the host's LLM) · progress · subscriptions</a:t>
            </a:r>
            <a:endParaRPr lang="en-US" sz="15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11</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MCP ARCHITECTURE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Under the hood: JSON-RPC, two protocol eras, two transports</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5852160" cy="384048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554480"/>
            <a:ext cx="5577840" cy="3657600"/>
          </a:xfrm>
          <a:prstGeom prst="rect">
            <a:avLst/>
          </a:prstGeom>
          <a:noFill/>
          <a:ln/>
        </p:spPr>
        <p:txBody>
          <a:bodyPr wrap="square" lIns="0" tIns="0" rIns="0" bIns="0" rtlCol="0" anchor="t"/>
          <a:lstStyle/>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request</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"jsonrpc": "2.0", "id": 7,</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"method": "tools/call",</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"params": { "name": "calculate_gpa",</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"arguments": { "student_id": "2201010" } } }</a:t>
            </a:r>
            <a:endParaRPr lang="en-US" sz="1300" dirty="0">
              <a:latin typeface="Times New Roman" panose="02020603050405020304" pitchFamily="18" charset="0"/>
              <a:cs typeface="Times New Roman" panose="02020603050405020304" pitchFamily="18" charset="0"/>
            </a:endParaRPr>
          </a:p>
          <a:p>
            <a:pPr marL="0" indent="0">
              <a:buNone/>
            </a:pP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response (same id)</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"jsonrpc": "2.0", "id": 7,</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"result": { "structuredContent":</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 "gpa": 2.06, ... } } }</a:t>
            </a:r>
            <a:endParaRPr lang="en-US" sz="1300" dirty="0">
              <a:latin typeface="Times New Roman" panose="02020603050405020304" pitchFamily="18" charset="0"/>
              <a:cs typeface="Times New Roman" panose="02020603050405020304" pitchFamily="18" charset="0"/>
            </a:endParaRPr>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5120640" cy="1429512"/>
        </p:xfrm>
        <a:graphic>
          <a:graphicData uri="http://schemas.openxmlformats.org/drawingml/2006/table">
            <a:tbl>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0">
                <a:tc>
                  <a:txBody>
                    <a:bodyPr/>
                    <a:lstStyle/>
                    <a:p>
                      <a:pPr marL="0" indent="0">
                        <a:buNone/>
                      </a:pP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2025 era</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2026-07-28 era</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937"/>
                          </a:solidFill>
                        </a:rPr>
                        <a:t>Opens with</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initialize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server/discover</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dirty="0">
                          <a:solidFill>
                            <a:srgbClr val="1F2937"/>
                          </a:solidFill>
                        </a:rPr>
                        <a:t>Requests to connect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1 (0 with a cached result)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F2937"/>
                          </a:solidFill>
                        </a:rPr>
                        <a:t>Session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stateful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stateless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583680" y="3657600"/>
          <a:ext cx="5120640" cy="1517904"/>
        </p:xfrm>
        <a:graphic>
          <a:graphicData uri="http://schemas.openxmlformats.org/drawingml/2006/table">
            <a:tbl>
              <a:tblPr/>
              <a:tblGrid>
                <a:gridCol w="14630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0">
                <a:tc>
                  <a:txBody>
                    <a:bodyPr/>
                    <a:lstStyle/>
                    <a:p>
                      <a:pPr marL="0" indent="0">
                        <a:buNone/>
                      </a:pPr>
                      <a:r>
                        <a:rPr lang="en-US" sz="1300" b="1" dirty="0">
                          <a:solidFill>
                            <a:srgbClr val="FFFFFF"/>
                          </a:solidFill>
                        </a:rPr>
                        <a:t>Transport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How</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Connect (measured)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937"/>
                          </a:solidFill>
                        </a:rPr>
                        <a:t>stdio</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host starts server as a child process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 181 ms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F2937"/>
                          </a:solidFill>
                        </a:rPr>
                        <a:t>Streamable HTTP</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server runs separately, by URL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 6–32 ms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12</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828800"/>
            <a:ext cx="2743200" cy="1097280"/>
          </a:xfrm>
          <a:prstGeom prst="rect">
            <a:avLst/>
          </a:prstGeom>
          <a:noFill/>
          <a:ln/>
        </p:spPr>
        <p:txBody>
          <a:bodyPr wrap="square" lIns="0" tIns="0" rIns="0" bIns="0" rtlCol="0" anchor="ctr"/>
          <a:lstStyle/>
          <a:p>
            <a:pPr marL="0" indent="0">
              <a:buNone/>
            </a:pPr>
            <a:r>
              <a:rPr lang="en-US" sz="7200" b="1" dirty="0">
                <a:solidFill>
                  <a:srgbClr val="0F8B8D"/>
                </a:solidFill>
                <a:latin typeface="Times New Roman" panose="02020603050405020304" pitchFamily="18" charset="0"/>
                <a:cs typeface="Times New Roman" panose="02020603050405020304" pitchFamily="18" charset="0"/>
              </a:rPr>
              <a:t>1</a:t>
            </a:r>
            <a:endParaRPr lang="en-US" sz="7200" dirty="0">
              <a:latin typeface="Times New Roman" panose="02020603050405020304" pitchFamily="18" charset="0"/>
              <a:cs typeface="Times New Roman" panose="02020603050405020304" pitchFamily="18" charset="0"/>
            </a:endParaRPr>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Times New Roman" panose="02020603050405020304" pitchFamily="18" charset="0"/>
                <a:cs typeface="Times New Roman" panose="02020603050405020304" pitchFamily="18" charset="0"/>
              </a:rPr>
              <a:t>Problem description</a:t>
            </a:r>
            <a:endParaRPr lang="en-US" sz="4000" dirty="0">
              <a:latin typeface="Times New Roman" panose="02020603050405020304" pitchFamily="18" charset="0"/>
              <a:cs typeface="Times New Roman" panose="02020603050405020304" pitchFamily="18" charset="0"/>
            </a:endParaRPr>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marL="0" indent="0">
              <a:buNone/>
            </a:pPr>
            <a:r>
              <a:rPr lang="en-US" sz="1800" dirty="0">
                <a:solidFill>
                  <a:srgbClr val="C9D3E6"/>
                </a:solidFill>
                <a:latin typeface="Times New Roman" panose="02020603050405020304" pitchFamily="18" charset="0"/>
                <a:cs typeface="Times New Roman" panose="02020603050405020304" pitchFamily="18" charset="0"/>
              </a:rPr>
              <a:t>An academic records assistant</a:t>
            </a:r>
            <a:endParaRPr lang="en-US"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1 · PROBLEM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Our problem: ask about grades in plain English</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11247120" cy="1188720"/>
          </a:xfrm>
          <a:prstGeom prst="roundRect">
            <a:avLst>
              <a:gd name="adj" fmla="val 6154"/>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731520" y="1463040"/>
            <a:ext cx="10698480" cy="1188720"/>
          </a:xfrm>
          <a:prstGeom prst="rect">
            <a:avLst/>
          </a:prstGeom>
          <a:noFill/>
          <a:ln/>
        </p:spPr>
        <p:txBody>
          <a:bodyPr wrap="square" lIns="0" tIns="0" rIns="0" bIns="0" rtlCol="0" anchor="ctr"/>
          <a:lstStyle/>
          <a:p>
            <a:pPr marL="0" indent="0">
              <a:buNone/>
            </a:pPr>
            <a:r>
              <a:rPr lang="en-US" sz="1700" b="1" dirty="0">
                <a:solidFill>
                  <a:srgbClr val="0F8B8D"/>
                </a:solidFill>
                <a:latin typeface="Times New Roman" panose="02020603050405020304" pitchFamily="18" charset="0"/>
                <a:cs typeface="Times New Roman" panose="02020603050405020304" pitchFamily="18" charset="0"/>
              </a:rPr>
              <a:t>Example questions: </a:t>
            </a:r>
            <a:r>
              <a:rPr lang="en-US" sz="1700" i="1" dirty="0">
                <a:solidFill>
                  <a:srgbClr val="1F2937"/>
                </a:solidFill>
                <a:latin typeface="Times New Roman" panose="02020603050405020304" pitchFamily="18" charset="0"/>
                <a:cs typeface="Times New Roman" panose="02020603050405020304" pitchFamily="18" charset="0"/>
              </a:rPr>
              <a:t>"What is the cumulative GPA of student 2201010?" · "What grades did Hải get in 2024-1?" · "Write a report for class IT01 and save it."</a:t>
            </a:r>
            <a:endParaRPr lang="en-US" sz="1700" dirty="0">
              <a:latin typeface="Times New Roman" panose="02020603050405020304" pitchFamily="18" charset="0"/>
              <a:cs typeface="Times New Roman" panose="02020603050405020304" pitchFamily="18" charset="0"/>
            </a:endParaRPr>
          </a:p>
        </p:txBody>
      </p:sp>
      <p:sp>
        <p:nvSpPr>
          <p:cNvPr id="7" name="Shape 4"/>
          <p:cNvSpPr/>
          <p:nvPr/>
        </p:nvSpPr>
        <p:spPr>
          <a:xfrm>
            <a:off x="457200" y="3017520"/>
            <a:ext cx="3566160" cy="2743200"/>
          </a:xfrm>
          <a:prstGeom prst="roundRect">
            <a:avLst>
              <a:gd name="adj" fmla="val 2667"/>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640080" y="315468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① Exact numbers</a:t>
            </a:r>
            <a:endParaRPr lang="en-US" sz="1800" dirty="0">
              <a:latin typeface="Times New Roman" panose="02020603050405020304" pitchFamily="18" charset="0"/>
              <a:cs typeface="Times New Roman" panose="02020603050405020304" pitchFamily="18" charset="0"/>
            </a:endParaRPr>
          </a:p>
        </p:txBody>
      </p:sp>
      <p:sp>
        <p:nvSpPr>
          <p:cNvPr id="9" name="Text 6"/>
          <p:cNvSpPr txBox="1"/>
          <p:nvPr/>
        </p:nvSpPr>
        <p:spPr>
          <a:xfrm>
            <a:off x="640080" y="3657600"/>
            <a:ext cx="3200400" cy="196596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GPA and statistics are computed by code in the MCP server — never estimated by the LLM</a:t>
            </a:r>
            <a:endParaRPr lang="en-US" sz="1400" dirty="0">
              <a:latin typeface="Times New Roman" panose="02020603050405020304" pitchFamily="18" charset="0"/>
              <a:cs typeface="Times New Roman" panose="02020603050405020304" pitchFamily="18" charset="0"/>
            </a:endParaRPr>
          </a:p>
        </p:txBody>
      </p:sp>
      <p:sp>
        <p:nvSpPr>
          <p:cNvPr id="10" name="Shape 7"/>
          <p:cNvSpPr/>
          <p:nvPr/>
        </p:nvSpPr>
        <p:spPr>
          <a:xfrm>
            <a:off x="4297680" y="3017520"/>
            <a:ext cx="3566160" cy="2743200"/>
          </a:xfrm>
          <a:prstGeom prst="roundRect">
            <a:avLst>
              <a:gd name="adj" fmla="val 2667"/>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1" name="Text 8"/>
          <p:cNvSpPr txBox="1"/>
          <p:nvPr/>
        </p:nvSpPr>
        <p:spPr>
          <a:xfrm>
            <a:off x="4480560" y="315468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② Human in the loop</a:t>
            </a:r>
            <a:endParaRPr lang="en-US" sz="1800" dirty="0">
              <a:latin typeface="Times New Roman" panose="02020603050405020304" pitchFamily="18" charset="0"/>
              <a:cs typeface="Times New Roman" panose="02020603050405020304" pitchFamily="18" charset="0"/>
            </a:endParaRPr>
          </a:p>
        </p:txBody>
      </p:sp>
      <p:sp>
        <p:nvSpPr>
          <p:cNvPr id="12" name="Text 9"/>
          <p:cNvSpPr txBox="1"/>
          <p:nvPr/>
        </p:nvSpPr>
        <p:spPr>
          <a:xfrm>
            <a:off x="4480560" y="3657600"/>
            <a:ext cx="3200400" cy="196596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Changing a grade or overwriting a report requires the user's confirmation (MCP elicitation)</a:t>
            </a:r>
            <a:endParaRPr lang="en-US" sz="1400" dirty="0">
              <a:latin typeface="Times New Roman" panose="02020603050405020304" pitchFamily="18" charset="0"/>
              <a:cs typeface="Times New Roman" panose="02020603050405020304" pitchFamily="18" charset="0"/>
            </a:endParaRPr>
          </a:p>
        </p:txBody>
      </p:sp>
      <p:sp>
        <p:nvSpPr>
          <p:cNvPr id="13" name="Shape 10"/>
          <p:cNvSpPr/>
          <p:nvPr/>
        </p:nvSpPr>
        <p:spPr>
          <a:xfrm>
            <a:off x="8138160" y="3017520"/>
            <a:ext cx="3566160" cy="2743200"/>
          </a:xfrm>
          <a:prstGeom prst="roundRect">
            <a:avLst>
              <a:gd name="adj" fmla="val 2667"/>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8321040" y="315468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③ Swap anything</a:t>
            </a:r>
            <a:endParaRPr lang="en-US" sz="1800" dirty="0">
              <a:latin typeface="Times New Roman" panose="02020603050405020304" pitchFamily="18" charset="0"/>
              <a:cs typeface="Times New Roman" panose="02020603050405020304" pitchFamily="18" charset="0"/>
            </a:endParaRPr>
          </a:p>
        </p:txBody>
      </p:sp>
      <p:sp>
        <p:nvSpPr>
          <p:cNvPr id="15" name="Text 12"/>
          <p:cNvSpPr txBox="1"/>
          <p:nvPr/>
        </p:nvSpPr>
        <p:spPr>
          <a:xfrm>
            <a:off x="8321040" y="3657600"/>
            <a:ext cx="3200400" cy="196596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Change the LLM (Gemini ↔ Qwen) or the host (CLI ↔ VS Code) by editing a config file only</a:t>
            </a:r>
            <a:endParaRPr lang="en-US" sz="14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14</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1 · PROBLEM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Our dataset</a:t>
            </a:r>
            <a:endParaRPr lang="en-US" sz="3000" dirty="0">
              <a:latin typeface="Times New Roman" panose="02020603050405020304" pitchFamily="18" charset="0"/>
              <a:cs typeface="Times New Roman" panose="02020603050405020304" pitchFamily="18" charset="0"/>
            </a:endParaRPr>
          </a:p>
        </p:txBody>
      </p:sp>
      <p:sp>
        <p:nvSpPr>
          <p:cNvPr id="5" name="Text 2"/>
          <p:cNvSpPr txBox="1"/>
          <p:nvPr/>
        </p:nvSpPr>
        <p:spPr>
          <a:xfrm>
            <a:off x="457200" y="1371600"/>
            <a:ext cx="2651760" cy="914400"/>
          </a:xfrm>
          <a:prstGeom prst="rect">
            <a:avLst/>
          </a:prstGeom>
          <a:noFill/>
          <a:ln/>
        </p:spPr>
        <p:txBody>
          <a:bodyPr wrap="square" lIns="0" tIns="0" rIns="0" bIns="0" rtlCol="0" anchor="ctr"/>
          <a:lstStyle/>
          <a:p>
            <a:pPr marL="0" indent="0">
              <a:buNone/>
            </a:pPr>
            <a:r>
              <a:rPr lang="en-US" sz="5400" b="1" dirty="0">
                <a:solidFill>
                  <a:srgbClr val="0F8B8D"/>
                </a:solidFill>
                <a:latin typeface="Times New Roman" panose="02020603050405020304" pitchFamily="18" charset="0"/>
                <a:cs typeface="Times New Roman" panose="02020603050405020304" pitchFamily="18" charset="0"/>
              </a:rPr>
              <a:t>40</a:t>
            </a:r>
            <a:endParaRPr lang="en-US" sz="5400" dirty="0">
              <a:latin typeface="Times New Roman" panose="02020603050405020304" pitchFamily="18" charset="0"/>
              <a:cs typeface="Times New Roman" panose="02020603050405020304" pitchFamily="18" charset="0"/>
            </a:endParaRPr>
          </a:p>
        </p:txBody>
      </p:sp>
      <p:sp>
        <p:nvSpPr>
          <p:cNvPr id="6" name="Text 3"/>
          <p:cNvSpPr txBox="1"/>
          <p:nvPr/>
        </p:nvSpPr>
        <p:spPr>
          <a:xfrm>
            <a:off x="457200" y="2286000"/>
            <a:ext cx="2651760" cy="365760"/>
          </a:xfrm>
          <a:prstGeom prst="rect">
            <a:avLst/>
          </a:prstGeom>
          <a:noFill/>
          <a:ln/>
        </p:spPr>
        <p:txBody>
          <a:bodyPr wrap="square" lIns="0" tIns="0" rIns="0" bIns="0" rtlCol="0" anchor="ctr"/>
          <a:lstStyle/>
          <a:p>
            <a:pPr marL="0" indent="0">
              <a:buNone/>
            </a:pPr>
            <a:r>
              <a:rPr lang="en-US" sz="1600" dirty="0">
                <a:solidFill>
                  <a:srgbClr val="5B6475"/>
                </a:solidFill>
                <a:latin typeface="Times New Roman" panose="02020603050405020304" pitchFamily="18" charset="0"/>
                <a:cs typeface="Times New Roman" panose="02020603050405020304" pitchFamily="18" charset="0"/>
              </a:rPr>
              <a:t>students</a:t>
            </a:r>
            <a:endParaRPr lang="en-US" sz="1600" dirty="0">
              <a:latin typeface="Times New Roman" panose="02020603050405020304" pitchFamily="18" charset="0"/>
              <a:cs typeface="Times New Roman" panose="02020603050405020304" pitchFamily="18" charset="0"/>
            </a:endParaRPr>
          </a:p>
        </p:txBody>
      </p:sp>
      <p:sp>
        <p:nvSpPr>
          <p:cNvPr id="7" name="Text 4"/>
          <p:cNvSpPr txBox="1"/>
          <p:nvPr/>
        </p:nvSpPr>
        <p:spPr>
          <a:xfrm>
            <a:off x="3291840" y="1371600"/>
            <a:ext cx="2651760" cy="914400"/>
          </a:xfrm>
          <a:prstGeom prst="rect">
            <a:avLst/>
          </a:prstGeom>
          <a:noFill/>
          <a:ln/>
        </p:spPr>
        <p:txBody>
          <a:bodyPr wrap="square" lIns="0" tIns="0" rIns="0" bIns="0" rtlCol="0" anchor="ctr"/>
          <a:lstStyle/>
          <a:p>
            <a:pPr marL="0" indent="0">
              <a:buNone/>
            </a:pPr>
            <a:r>
              <a:rPr lang="en-US" sz="5400" b="1" dirty="0">
                <a:solidFill>
                  <a:srgbClr val="0F8B8D"/>
                </a:solidFill>
                <a:latin typeface="Times New Roman" panose="02020603050405020304" pitchFamily="18" charset="0"/>
                <a:cs typeface="Times New Roman" panose="02020603050405020304" pitchFamily="18" charset="0"/>
              </a:rPr>
              <a:t>10</a:t>
            </a:r>
            <a:endParaRPr lang="en-US" sz="5400" dirty="0">
              <a:latin typeface="Times New Roman" panose="02020603050405020304" pitchFamily="18" charset="0"/>
              <a:cs typeface="Times New Roman" panose="02020603050405020304" pitchFamily="18" charset="0"/>
            </a:endParaRPr>
          </a:p>
        </p:txBody>
      </p:sp>
      <p:sp>
        <p:nvSpPr>
          <p:cNvPr id="8" name="Text 5"/>
          <p:cNvSpPr txBox="1"/>
          <p:nvPr/>
        </p:nvSpPr>
        <p:spPr>
          <a:xfrm>
            <a:off x="3291840" y="2286000"/>
            <a:ext cx="2651760" cy="365760"/>
          </a:xfrm>
          <a:prstGeom prst="rect">
            <a:avLst/>
          </a:prstGeom>
          <a:noFill/>
          <a:ln/>
        </p:spPr>
        <p:txBody>
          <a:bodyPr wrap="square" lIns="0" tIns="0" rIns="0" bIns="0" rtlCol="0" anchor="ctr"/>
          <a:lstStyle/>
          <a:p>
            <a:pPr marL="0" indent="0">
              <a:buNone/>
            </a:pPr>
            <a:r>
              <a:rPr lang="en-US" sz="1600" dirty="0">
                <a:solidFill>
                  <a:srgbClr val="5B6475"/>
                </a:solidFill>
                <a:latin typeface="Times New Roman" panose="02020603050405020304" pitchFamily="18" charset="0"/>
                <a:cs typeface="Times New Roman" panose="02020603050405020304" pitchFamily="18" charset="0"/>
              </a:rPr>
              <a:t>courses</a:t>
            </a:r>
            <a:endParaRPr lang="en-US" sz="1600" dirty="0">
              <a:latin typeface="Times New Roman" panose="02020603050405020304" pitchFamily="18" charset="0"/>
              <a:cs typeface="Times New Roman" panose="02020603050405020304" pitchFamily="18" charset="0"/>
            </a:endParaRPr>
          </a:p>
        </p:txBody>
      </p:sp>
      <p:sp>
        <p:nvSpPr>
          <p:cNvPr id="9" name="Text 6"/>
          <p:cNvSpPr txBox="1"/>
          <p:nvPr/>
        </p:nvSpPr>
        <p:spPr>
          <a:xfrm>
            <a:off x="6126480" y="1371600"/>
            <a:ext cx="2651760" cy="914400"/>
          </a:xfrm>
          <a:prstGeom prst="rect">
            <a:avLst/>
          </a:prstGeom>
          <a:noFill/>
          <a:ln/>
        </p:spPr>
        <p:txBody>
          <a:bodyPr wrap="square" lIns="0" tIns="0" rIns="0" bIns="0" rtlCol="0" anchor="ctr"/>
          <a:lstStyle/>
          <a:p>
            <a:pPr marL="0" indent="0">
              <a:buNone/>
            </a:pPr>
            <a:r>
              <a:rPr lang="en-US" sz="5400" b="1" dirty="0">
                <a:solidFill>
                  <a:srgbClr val="0F8B8D"/>
                </a:solidFill>
                <a:latin typeface="Times New Roman" panose="02020603050405020304" pitchFamily="18" charset="0"/>
                <a:cs typeface="Times New Roman" panose="02020603050405020304" pitchFamily="18" charset="0"/>
              </a:rPr>
              <a:t>261</a:t>
            </a:r>
            <a:endParaRPr lang="en-US" sz="5400" dirty="0">
              <a:latin typeface="Times New Roman" panose="02020603050405020304" pitchFamily="18" charset="0"/>
              <a:cs typeface="Times New Roman" panose="02020603050405020304" pitchFamily="18" charset="0"/>
            </a:endParaRPr>
          </a:p>
        </p:txBody>
      </p:sp>
      <p:sp>
        <p:nvSpPr>
          <p:cNvPr id="10" name="Text 7"/>
          <p:cNvSpPr txBox="1"/>
          <p:nvPr/>
        </p:nvSpPr>
        <p:spPr>
          <a:xfrm>
            <a:off x="6126480" y="2286000"/>
            <a:ext cx="2651760" cy="365760"/>
          </a:xfrm>
          <a:prstGeom prst="rect">
            <a:avLst/>
          </a:prstGeom>
          <a:noFill/>
          <a:ln/>
        </p:spPr>
        <p:txBody>
          <a:bodyPr wrap="square" lIns="0" tIns="0" rIns="0" bIns="0" rtlCol="0" anchor="ctr"/>
          <a:lstStyle/>
          <a:p>
            <a:pPr marL="0" indent="0">
              <a:buNone/>
            </a:pPr>
            <a:r>
              <a:rPr lang="en-US" sz="1600" dirty="0">
                <a:solidFill>
                  <a:srgbClr val="5B6475"/>
                </a:solidFill>
                <a:latin typeface="Times New Roman" panose="02020603050405020304" pitchFamily="18" charset="0"/>
                <a:cs typeface="Times New Roman" panose="02020603050405020304" pitchFamily="18" charset="0"/>
              </a:rPr>
              <a:t>grade rows</a:t>
            </a:r>
            <a:endParaRPr lang="en-US" sz="1600" dirty="0">
              <a:latin typeface="Times New Roman" panose="02020603050405020304" pitchFamily="18" charset="0"/>
              <a:cs typeface="Times New Roman" panose="02020603050405020304" pitchFamily="18" charset="0"/>
            </a:endParaRPr>
          </a:p>
        </p:txBody>
      </p:sp>
      <p:sp>
        <p:nvSpPr>
          <p:cNvPr id="11" name="Text 8"/>
          <p:cNvSpPr txBox="1"/>
          <p:nvPr/>
        </p:nvSpPr>
        <p:spPr>
          <a:xfrm>
            <a:off x="8961120" y="1371600"/>
            <a:ext cx="2651760" cy="914400"/>
          </a:xfrm>
          <a:prstGeom prst="rect">
            <a:avLst/>
          </a:prstGeom>
          <a:noFill/>
          <a:ln/>
        </p:spPr>
        <p:txBody>
          <a:bodyPr wrap="square" lIns="0" tIns="0" rIns="0" bIns="0" rtlCol="0" anchor="ctr"/>
          <a:lstStyle/>
          <a:p>
            <a:pPr marL="0" indent="0">
              <a:buNone/>
            </a:pPr>
            <a:r>
              <a:rPr lang="en-US" sz="5400" b="1" dirty="0">
                <a:solidFill>
                  <a:srgbClr val="0F8B8D"/>
                </a:solidFill>
                <a:latin typeface="Times New Roman" panose="02020603050405020304" pitchFamily="18" charset="0"/>
                <a:cs typeface="Times New Roman" panose="02020603050405020304" pitchFamily="18" charset="0"/>
              </a:rPr>
              <a:t>4</a:t>
            </a:r>
            <a:endParaRPr lang="en-US" sz="5400" dirty="0">
              <a:latin typeface="Times New Roman" panose="02020603050405020304" pitchFamily="18" charset="0"/>
              <a:cs typeface="Times New Roman" panose="02020603050405020304" pitchFamily="18" charset="0"/>
            </a:endParaRPr>
          </a:p>
        </p:txBody>
      </p:sp>
      <p:sp>
        <p:nvSpPr>
          <p:cNvPr id="12" name="Text 9"/>
          <p:cNvSpPr txBox="1"/>
          <p:nvPr/>
        </p:nvSpPr>
        <p:spPr>
          <a:xfrm>
            <a:off x="8961120" y="2286000"/>
            <a:ext cx="2651760" cy="365760"/>
          </a:xfrm>
          <a:prstGeom prst="rect">
            <a:avLst/>
          </a:prstGeom>
          <a:noFill/>
          <a:ln/>
        </p:spPr>
        <p:txBody>
          <a:bodyPr wrap="square" lIns="0" tIns="0" rIns="0" bIns="0" rtlCol="0" anchor="ctr"/>
          <a:lstStyle/>
          <a:p>
            <a:pPr marL="0" indent="0">
              <a:buNone/>
            </a:pPr>
            <a:r>
              <a:rPr lang="en-US" sz="1600" dirty="0">
                <a:solidFill>
                  <a:srgbClr val="5B6475"/>
                </a:solidFill>
                <a:latin typeface="Times New Roman" panose="02020603050405020304" pitchFamily="18" charset="0"/>
                <a:cs typeface="Times New Roman" panose="02020603050405020304" pitchFamily="18" charset="0"/>
              </a:rPr>
              <a:t>classes · 2 faculties</a:t>
            </a:r>
            <a:endParaRPr lang="en-US" sz="1600" dirty="0">
              <a:latin typeface="Times New Roman" panose="02020603050405020304" pitchFamily="18" charset="0"/>
              <a:cs typeface="Times New Roman" panose="02020603050405020304" pitchFamily="18" charset="0"/>
            </a:endParaRPr>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2926080"/>
          <a:ext cx="6949440" cy="1429512"/>
        </p:xfrm>
        <a:graphic>
          <a:graphicData uri="http://schemas.openxmlformats.org/drawingml/2006/table">
            <a:tbl>
              <a:tblPr/>
              <a:tblGrid>
                <a:gridCol w="18288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FFFFF"/>
                          </a:solidFill>
                        </a:rPr>
                        <a:t>File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Columns (English)</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students.csv</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student_id, full_name, gender, date_of_birth, class_id, faculty, enrollment_year, email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courses.csv</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course_id, course_name, credits, faculty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grades.csv</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student_id, course_id, semester, process_score, final_score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Shape 10"/>
          <p:cNvSpPr/>
          <p:nvPr/>
        </p:nvSpPr>
        <p:spPr>
          <a:xfrm>
            <a:off x="7680960" y="2926080"/>
            <a:ext cx="4023360" cy="3017520"/>
          </a:xfrm>
          <a:prstGeom prst="roundRect">
            <a:avLst>
              <a:gd name="adj" fmla="val 2424"/>
            </a:avLst>
          </a:prstGeom>
          <a:solidFill>
            <a:srgbClr val="FDECEC"/>
          </a:solidFill>
          <a:ln w="12700">
            <a:solidFill>
              <a:srgbClr val="FDECEC"/>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5" name="Text 11"/>
          <p:cNvSpPr txBox="1"/>
          <p:nvPr/>
        </p:nvSpPr>
        <p:spPr>
          <a:xfrm>
            <a:off x="7863840" y="3063240"/>
            <a:ext cx="3657600" cy="457200"/>
          </a:xfrm>
          <a:prstGeom prst="rect">
            <a:avLst/>
          </a:prstGeom>
          <a:noFill/>
          <a:ln/>
        </p:spPr>
        <p:txBody>
          <a:bodyPr wrap="square" lIns="0" tIns="0" rIns="0" bIns="0" rtlCol="0" anchor="t"/>
          <a:lstStyle/>
          <a:p>
            <a:pPr marL="0" indent="0">
              <a:buNone/>
            </a:pPr>
            <a:r>
              <a:rPr lang="en-US" sz="1800" b="1" dirty="0">
                <a:solidFill>
                  <a:srgbClr val="C53030"/>
                </a:solidFill>
                <a:latin typeface="Times New Roman" panose="02020603050405020304" pitchFamily="18" charset="0"/>
                <a:cs typeface="Times New Roman" panose="02020603050405020304" pitchFamily="18" charset="0"/>
              </a:rPr>
              <a:t>7 deliberately broken rows</a:t>
            </a:r>
            <a:endParaRPr lang="en-US" sz="1800" dirty="0">
              <a:latin typeface="Times New Roman" panose="02020603050405020304" pitchFamily="18" charset="0"/>
              <a:cs typeface="Times New Roman" panose="02020603050405020304" pitchFamily="18" charset="0"/>
            </a:endParaRPr>
          </a:p>
        </p:txBody>
      </p:sp>
      <p:sp>
        <p:nvSpPr>
          <p:cNvPr id="4" name="Text 12"/>
          <p:cNvSpPr txBox="1"/>
          <p:nvPr/>
        </p:nvSpPr>
        <p:spPr>
          <a:xfrm>
            <a:off x="7863840" y="3566160"/>
            <a:ext cx="3657600" cy="224028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score 11.5 (out of range) · missing score · negative score · unknown student · unknown course · duplicate rows</a:t>
            </a: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r>
              <a:rPr lang="en-US" sz="1400" dirty="0">
                <a:solidFill>
                  <a:srgbClr val="1F2937"/>
                </a:solidFill>
                <a:latin typeface="Times New Roman" panose="02020603050405020304" pitchFamily="18" charset="0"/>
                <a:cs typeface="Times New Roman" panose="02020603050405020304" pitchFamily="18" charset="0"/>
              </a:rPr>
              <a:t>→ all 7 detected, none used in a calculation</a:t>
            </a:r>
            <a:endParaRPr lang="en-US" sz="14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15</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1 · PROBLEM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Grading rules (university 4-point scale)</a:t>
            </a:r>
            <a:endParaRPr lang="en-US" sz="3000" dirty="0">
              <a:latin typeface="Times New Roman" panose="02020603050405020304" pitchFamily="18" charset="0"/>
              <a:cs typeface="Times New Roman" panose="02020603050405020304" pitchFamily="18" charset="0"/>
            </a:endParaRPr>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475488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502920">
                <a:tc>
                  <a:txBody>
                    <a:bodyPr/>
                    <a:lstStyle/>
                    <a:p>
                      <a:pPr marL="0" indent="0">
                        <a:buNone/>
                      </a:pPr>
                      <a:r>
                        <a:rPr lang="en-US" sz="1600" b="1" dirty="0">
                          <a:solidFill>
                            <a:srgbClr val="FFFFFF"/>
                          </a:solidFill>
                        </a:rPr>
                        <a:t>Total (0–10)</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600" b="1" dirty="0">
                          <a:solidFill>
                            <a:srgbClr val="FFFFFF"/>
                          </a:solidFill>
                        </a:rPr>
                        <a:t>Letter</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600" b="1" dirty="0">
                          <a:solidFill>
                            <a:srgbClr val="FFFFFF"/>
                          </a:solidFill>
                        </a:rPr>
                        <a:t>Point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600" dirty="0">
                          <a:solidFill>
                            <a:srgbClr val="1F2937"/>
                          </a:solidFill>
                        </a:rPr>
                        <a:t>8.5 – 10</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A</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4</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dirty="0">
                          <a:solidFill>
                            <a:srgbClr val="1F2937"/>
                          </a:solidFill>
                        </a:rPr>
                        <a:t>7.0 – 8.4</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B</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3</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buNone/>
                      </a:pPr>
                      <a:r>
                        <a:rPr lang="en-US" sz="1600" dirty="0">
                          <a:solidFill>
                            <a:srgbClr val="1F2937"/>
                          </a:solidFill>
                        </a:rPr>
                        <a:t>5.5 – 6.9</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C</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2</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dirty="0">
                          <a:solidFill>
                            <a:srgbClr val="1F2937"/>
                          </a:solidFill>
                        </a:rPr>
                        <a:t>4.0 – 5.4</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D</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1</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buNone/>
                      </a:pPr>
                      <a:r>
                        <a:rPr lang="en-US" sz="1600" dirty="0">
                          <a:solidFill>
                            <a:srgbClr val="1F2937"/>
                          </a:solidFill>
                        </a:rPr>
                        <a:t>&lt; 4.0</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F (fail)</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0</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486400" y="1463040"/>
          <a:ext cx="3108960" cy="3017520"/>
        </p:xfrm>
        <a:graphic>
          <a:graphicData uri="http://schemas.openxmlformats.org/drawingml/2006/table">
            <a:tbl>
              <a:tblPr/>
              <a:tblGrid>
                <a:gridCol w="11887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502920">
                <a:tc>
                  <a:txBody>
                    <a:bodyPr/>
                    <a:lstStyle/>
                    <a:p>
                      <a:pPr marL="0" indent="0">
                        <a:buNone/>
                      </a:pPr>
                      <a:r>
                        <a:rPr lang="en-US" sz="1600" b="1" dirty="0">
                          <a:solidFill>
                            <a:srgbClr val="FFFFFF"/>
                          </a:solidFill>
                        </a:rPr>
                        <a:t>GPA</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600" b="1" dirty="0">
                          <a:solidFill>
                            <a:srgbClr val="FFFFFF"/>
                          </a:solidFill>
                        </a:rPr>
                        <a:t>Classification</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600" dirty="0">
                          <a:solidFill>
                            <a:srgbClr val="1F2937"/>
                          </a:solidFill>
                        </a:rPr>
                        <a:t>≥ 3.6</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Excellent</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dirty="0">
                          <a:solidFill>
                            <a:srgbClr val="1F2937"/>
                          </a:solidFill>
                        </a:rPr>
                        <a:t>≥ 3.2</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Very good</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buNone/>
                      </a:pPr>
                      <a:r>
                        <a:rPr lang="en-US" sz="1600" dirty="0">
                          <a:solidFill>
                            <a:srgbClr val="1F2937"/>
                          </a:solidFill>
                        </a:rPr>
                        <a:t>≥ 2.5</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Good</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dirty="0">
                          <a:solidFill>
                            <a:srgbClr val="1F2937"/>
                          </a:solidFill>
                        </a:rPr>
                        <a:t>≥ 2.0</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600" dirty="0">
                          <a:solidFill>
                            <a:srgbClr val="1F2937"/>
                          </a:solidFill>
                        </a:rPr>
                        <a:t>Average</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buNone/>
                      </a:pPr>
                      <a:r>
                        <a:rPr lang="en-US" sz="1600" dirty="0">
                          <a:solidFill>
                            <a:srgbClr val="1F2937"/>
                          </a:solidFill>
                        </a:rPr>
                        <a:t>&lt; 2.0</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600" dirty="0">
                          <a:solidFill>
                            <a:srgbClr val="1F2937"/>
                          </a:solidFill>
                        </a:rPr>
                        <a:t>Weak</a:t>
                      </a:r>
                      <a:endParaRPr lang="en-US" sz="16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2"/>
          <p:cNvSpPr/>
          <p:nvPr/>
        </p:nvSpPr>
        <p:spPr>
          <a:xfrm>
            <a:off x="8961120" y="1463040"/>
            <a:ext cx="2743200" cy="3017520"/>
          </a:xfrm>
          <a:prstGeom prst="roundRect">
            <a:avLst>
              <a:gd name="adj" fmla="val 2667"/>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3"/>
          <p:cNvSpPr txBox="1"/>
          <p:nvPr/>
        </p:nvSpPr>
        <p:spPr>
          <a:xfrm>
            <a:off x="9144000" y="1600200"/>
            <a:ext cx="237744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Formulas</a:t>
            </a:r>
            <a:endParaRPr lang="en-US" sz="1800" dirty="0">
              <a:latin typeface="Times New Roman" panose="02020603050405020304" pitchFamily="18" charset="0"/>
              <a:cs typeface="Times New Roman" panose="02020603050405020304" pitchFamily="18" charset="0"/>
            </a:endParaRPr>
          </a:p>
        </p:txBody>
      </p:sp>
      <p:sp>
        <p:nvSpPr>
          <p:cNvPr id="9" name="Text 4"/>
          <p:cNvSpPr txBox="1"/>
          <p:nvPr/>
        </p:nvSpPr>
        <p:spPr>
          <a:xfrm>
            <a:off x="9144000" y="2103120"/>
            <a:ext cx="2377440" cy="224028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total = 0.4 × process + 0.6 × final</a:t>
            </a: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r>
              <a:rPr lang="en-US" sz="1400" dirty="0">
                <a:solidFill>
                  <a:srgbClr val="1F2937"/>
                </a:solidFill>
                <a:latin typeface="Times New Roman" panose="02020603050405020304" pitchFamily="18" charset="0"/>
                <a:cs typeface="Times New Roman" panose="02020603050405020304" pitchFamily="18" charset="0"/>
              </a:rPr>
              <a:t>GPA = Σ(point × credits) / Σ credits</a:t>
            </a: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r>
              <a:rPr lang="en-US" sz="1400" dirty="0">
                <a:solidFill>
                  <a:srgbClr val="1F2937"/>
                </a:solidFill>
                <a:latin typeface="Times New Roman" panose="02020603050405020304" pitchFamily="18" charset="0"/>
                <a:cs typeface="Times New Roman" panose="02020603050405020304" pitchFamily="18" charset="0"/>
              </a:rPr>
              <a:t>Retake: keep the best attempt</a:t>
            </a:r>
            <a:endParaRPr lang="en-US" sz="1400" dirty="0">
              <a:latin typeface="Times New Roman" panose="02020603050405020304" pitchFamily="18" charset="0"/>
              <a:cs typeface="Times New Roman" panose="02020603050405020304" pitchFamily="18" charset="0"/>
            </a:endParaRPr>
          </a:p>
        </p:txBody>
      </p:sp>
      <p:sp>
        <p:nvSpPr>
          <p:cNvPr id="10" name="Text 5"/>
          <p:cNvSpPr txBox="1"/>
          <p:nvPr/>
        </p:nvSpPr>
        <p:spPr>
          <a:xfrm>
            <a:off x="1240971" y="4709160"/>
            <a:ext cx="11247120" cy="548640"/>
          </a:xfrm>
          <a:prstGeom prst="rect">
            <a:avLst/>
          </a:prstGeom>
          <a:noFill/>
          <a:ln/>
        </p:spPr>
        <p:txBody>
          <a:bodyPr wrap="square" lIns="0" tIns="0" rIns="0" bIns="0" rtlCol="0" anchor="ctr"/>
          <a:lstStyle/>
          <a:p>
            <a:pPr marL="0" indent="0">
              <a:buNone/>
            </a:pPr>
            <a:r>
              <a:rPr lang="en-US" sz="1800" dirty="0">
                <a:solidFill>
                  <a:srgbClr val="1F2937"/>
                </a:solidFill>
                <a:latin typeface="Times New Roman" panose="02020603050405020304" pitchFamily="18" charset="0"/>
                <a:cs typeface="Times New Roman" panose="02020603050405020304" pitchFamily="18" charset="0"/>
              </a:rPr>
              <a:t>All thresholds live in </a:t>
            </a:r>
            <a:r>
              <a:rPr lang="en-US" sz="1800" b="1" dirty="0">
                <a:solidFill>
                  <a:srgbClr val="1F2937"/>
                </a:solidFill>
                <a:latin typeface="Times New Roman" panose="02020603050405020304" pitchFamily="18" charset="0"/>
                <a:ea typeface="Courier New" pitchFamily="34" charset="-122"/>
                <a:cs typeface="Times New Roman" panose="02020603050405020304" pitchFamily="18" charset="0"/>
              </a:rPr>
              <a:t>config/grading.json</a:t>
            </a:r>
            <a:r>
              <a:rPr lang="en-US" sz="1800" dirty="0">
                <a:solidFill>
                  <a:srgbClr val="1F2937"/>
                </a:solidFill>
                <a:latin typeface="Times New Roman" panose="02020603050405020304" pitchFamily="18" charset="0"/>
                <a:cs typeface="Times New Roman" panose="02020603050405020304" pitchFamily="18" charset="0"/>
              </a:rPr>
              <a:t> — change the rules without changing code.</a:t>
            </a:r>
            <a:endParaRPr lang="en-US" sz="18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16</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1 · PROBLEM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Our system: "2" of everything</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5532120" cy="2103120"/>
          </a:xfrm>
          <a:prstGeom prst="roundRect">
            <a:avLst>
              <a:gd name="adj" fmla="val 3478"/>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40080" y="1600200"/>
            <a:ext cx="5166360" cy="457200"/>
          </a:xfrm>
          <a:prstGeom prst="rect">
            <a:avLst/>
          </a:prstGeom>
          <a:noFill/>
          <a:ln/>
        </p:spPr>
        <p:txBody>
          <a:bodyPr wrap="square" lIns="0" tIns="0" rIns="0" bIns="0" rtlCol="0" anchor="t"/>
          <a:lstStyle/>
          <a:p>
            <a:pPr marL="0" indent="0">
              <a:buNone/>
            </a:pPr>
            <a:r>
              <a:rPr lang="en-US" sz="2200" b="1" dirty="0">
                <a:solidFill>
                  <a:srgbClr val="0F8B8D"/>
                </a:solidFill>
                <a:latin typeface="Times New Roman" panose="02020603050405020304" pitchFamily="18" charset="0"/>
                <a:cs typeface="Times New Roman" panose="02020603050405020304" pitchFamily="18" charset="0"/>
              </a:rPr>
              <a:t>2 MCP servers</a:t>
            </a:r>
            <a:endParaRPr lang="en-US" sz="2200" dirty="0">
              <a:latin typeface="Times New Roman" panose="02020603050405020304" pitchFamily="18" charset="0"/>
              <a:cs typeface="Times New Roman" panose="02020603050405020304" pitchFamily="18" charset="0"/>
            </a:endParaRPr>
          </a:p>
        </p:txBody>
      </p:sp>
      <p:sp>
        <p:nvSpPr>
          <p:cNvPr id="7" name="Text 4"/>
          <p:cNvSpPr txBox="1"/>
          <p:nvPr/>
        </p:nvSpPr>
        <p:spPr>
          <a:xfrm>
            <a:off x="640080" y="2103120"/>
            <a:ext cx="5166360" cy="1325880"/>
          </a:xfrm>
          <a:prstGeom prst="rect">
            <a:avLst/>
          </a:prstGeom>
          <a:noFill/>
          <a:ln/>
        </p:spPr>
        <p:txBody>
          <a:bodyPr wrap="square" lIns="0" tIns="0" rIns="0" bIns="0" rtlCol="0" anchor="t"/>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academic — 10 tools, 4 resources, 2 prompts</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utility — 3 tools, 1 resource</a:t>
            </a:r>
            <a:endParaRPr lang="en-US" sz="1700" dirty="0">
              <a:latin typeface="Times New Roman" panose="02020603050405020304" pitchFamily="18" charset="0"/>
              <a:cs typeface="Times New Roman" panose="02020603050405020304" pitchFamily="18" charset="0"/>
            </a:endParaRPr>
          </a:p>
        </p:txBody>
      </p:sp>
      <p:sp>
        <p:nvSpPr>
          <p:cNvPr id="8" name="Shape 5"/>
          <p:cNvSpPr/>
          <p:nvPr/>
        </p:nvSpPr>
        <p:spPr>
          <a:xfrm>
            <a:off x="6172200" y="1463040"/>
            <a:ext cx="5532120" cy="2103120"/>
          </a:xfrm>
          <a:prstGeom prst="roundRect">
            <a:avLst>
              <a:gd name="adj" fmla="val 3478"/>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6355080" y="1600200"/>
            <a:ext cx="5166360" cy="457200"/>
          </a:xfrm>
          <a:prstGeom prst="rect">
            <a:avLst/>
          </a:prstGeom>
          <a:noFill/>
          <a:ln/>
        </p:spPr>
        <p:txBody>
          <a:bodyPr wrap="square" lIns="0" tIns="0" rIns="0" bIns="0" rtlCol="0" anchor="t"/>
          <a:lstStyle/>
          <a:p>
            <a:pPr marL="0" indent="0">
              <a:buNone/>
            </a:pPr>
            <a:r>
              <a:rPr lang="en-US" sz="2200" b="1" dirty="0">
                <a:solidFill>
                  <a:srgbClr val="0F8B8D"/>
                </a:solidFill>
                <a:latin typeface="Times New Roman" panose="02020603050405020304" pitchFamily="18" charset="0"/>
                <a:cs typeface="Times New Roman" panose="02020603050405020304" pitchFamily="18" charset="0"/>
              </a:rPr>
              <a:t>2 hosts</a:t>
            </a:r>
            <a:endParaRPr lang="en-US" sz="2200" dirty="0">
              <a:latin typeface="Times New Roman" panose="02020603050405020304" pitchFamily="18" charset="0"/>
              <a:cs typeface="Times New Roman" panose="02020603050405020304" pitchFamily="18" charset="0"/>
            </a:endParaRPr>
          </a:p>
        </p:txBody>
      </p:sp>
      <p:sp>
        <p:nvSpPr>
          <p:cNvPr id="10" name="Text 7"/>
          <p:cNvSpPr txBox="1"/>
          <p:nvPr/>
        </p:nvSpPr>
        <p:spPr>
          <a:xfrm>
            <a:off x="6355080" y="2103120"/>
            <a:ext cx="5166360" cy="1325880"/>
          </a:xfrm>
          <a:prstGeom prst="rect">
            <a:avLst/>
          </a:prstGeom>
          <a:noFill/>
          <a:ln/>
        </p:spPr>
        <p:txBody>
          <a:bodyPr wrap="square" lIns="0" tIns="0" rIns="0" bIns="0" rtlCol="0" anchor="t"/>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Our own chat CLI (TypeScript)</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VS Code Copilot Chat (agent mode)</a:t>
            </a:r>
            <a:endParaRPr lang="en-US" sz="1700" dirty="0">
              <a:latin typeface="Times New Roman" panose="02020603050405020304" pitchFamily="18" charset="0"/>
              <a:cs typeface="Times New Roman" panose="02020603050405020304" pitchFamily="18" charset="0"/>
            </a:endParaRPr>
          </a:p>
        </p:txBody>
      </p:sp>
      <p:sp>
        <p:nvSpPr>
          <p:cNvPr id="11" name="Shape 8"/>
          <p:cNvSpPr/>
          <p:nvPr/>
        </p:nvSpPr>
        <p:spPr>
          <a:xfrm>
            <a:off x="457200" y="3794760"/>
            <a:ext cx="5532120" cy="2103120"/>
          </a:xfrm>
          <a:prstGeom prst="roundRect">
            <a:avLst>
              <a:gd name="adj" fmla="val 3478"/>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640080" y="3931920"/>
            <a:ext cx="5166360" cy="457200"/>
          </a:xfrm>
          <a:prstGeom prst="rect">
            <a:avLst/>
          </a:prstGeom>
          <a:noFill/>
          <a:ln/>
        </p:spPr>
        <p:txBody>
          <a:bodyPr wrap="square" lIns="0" tIns="0" rIns="0" bIns="0" rtlCol="0" anchor="t"/>
          <a:lstStyle/>
          <a:p>
            <a:pPr marL="0" indent="0">
              <a:buNone/>
            </a:pPr>
            <a:r>
              <a:rPr lang="en-US" sz="2200" b="1" dirty="0">
                <a:solidFill>
                  <a:srgbClr val="0F8B8D"/>
                </a:solidFill>
                <a:latin typeface="Times New Roman" panose="02020603050405020304" pitchFamily="18" charset="0"/>
                <a:cs typeface="Times New Roman" panose="02020603050405020304" pitchFamily="18" charset="0"/>
              </a:rPr>
              <a:t>2 LLMs</a:t>
            </a:r>
            <a:endParaRPr lang="en-US" sz="2200" dirty="0">
              <a:latin typeface="Times New Roman" panose="02020603050405020304" pitchFamily="18" charset="0"/>
              <a:cs typeface="Times New Roman" panose="02020603050405020304" pitchFamily="18" charset="0"/>
            </a:endParaRPr>
          </a:p>
        </p:txBody>
      </p:sp>
      <p:sp>
        <p:nvSpPr>
          <p:cNvPr id="13" name="Text 10"/>
          <p:cNvSpPr txBox="1"/>
          <p:nvPr/>
        </p:nvSpPr>
        <p:spPr>
          <a:xfrm>
            <a:off x="640080" y="4434840"/>
            <a:ext cx="5166360" cy="1325880"/>
          </a:xfrm>
          <a:prstGeom prst="rect">
            <a:avLst/>
          </a:prstGeom>
          <a:noFill/>
          <a:ln/>
        </p:spPr>
        <p:txBody>
          <a:bodyPr wrap="square" lIns="0" tIns="0" rIns="0" bIns="0" rtlCol="0" anchor="t"/>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Gemini 3.5 Flash-Lite (cloud)</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Qwen3 4B Instruct via Ollama (local, 3.3 GB)</a:t>
            </a:r>
            <a:endParaRPr lang="en-US" sz="1700" dirty="0">
              <a:latin typeface="Times New Roman" panose="02020603050405020304" pitchFamily="18" charset="0"/>
              <a:cs typeface="Times New Roman" panose="02020603050405020304" pitchFamily="18" charset="0"/>
            </a:endParaRPr>
          </a:p>
        </p:txBody>
      </p:sp>
      <p:sp>
        <p:nvSpPr>
          <p:cNvPr id="14" name="Shape 11"/>
          <p:cNvSpPr/>
          <p:nvPr/>
        </p:nvSpPr>
        <p:spPr>
          <a:xfrm>
            <a:off x="6172200" y="3794760"/>
            <a:ext cx="5532120" cy="2103120"/>
          </a:xfrm>
          <a:prstGeom prst="roundRect">
            <a:avLst>
              <a:gd name="adj" fmla="val 3478"/>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5" name="Text 12"/>
          <p:cNvSpPr txBox="1"/>
          <p:nvPr/>
        </p:nvSpPr>
        <p:spPr>
          <a:xfrm>
            <a:off x="6355080" y="3931920"/>
            <a:ext cx="5166360" cy="457200"/>
          </a:xfrm>
          <a:prstGeom prst="rect">
            <a:avLst/>
          </a:prstGeom>
          <a:noFill/>
          <a:ln/>
        </p:spPr>
        <p:txBody>
          <a:bodyPr wrap="square" lIns="0" tIns="0" rIns="0" bIns="0" rtlCol="0" anchor="t"/>
          <a:lstStyle/>
          <a:p>
            <a:pPr marL="0" indent="0">
              <a:buNone/>
            </a:pPr>
            <a:r>
              <a:rPr lang="en-US" sz="2200" b="1" dirty="0">
                <a:solidFill>
                  <a:srgbClr val="0F8B8D"/>
                </a:solidFill>
                <a:latin typeface="Times New Roman" panose="02020603050405020304" pitchFamily="18" charset="0"/>
                <a:cs typeface="Times New Roman" panose="02020603050405020304" pitchFamily="18" charset="0"/>
              </a:rPr>
              <a:t>2 transports</a:t>
            </a:r>
            <a:endParaRPr lang="en-US" sz="2200" dirty="0">
              <a:latin typeface="Times New Roman" panose="02020603050405020304" pitchFamily="18" charset="0"/>
              <a:cs typeface="Times New Roman" panose="02020603050405020304" pitchFamily="18" charset="0"/>
            </a:endParaRPr>
          </a:p>
        </p:txBody>
      </p:sp>
      <p:sp>
        <p:nvSpPr>
          <p:cNvPr id="16" name="Text 13"/>
          <p:cNvSpPr txBox="1"/>
          <p:nvPr/>
        </p:nvSpPr>
        <p:spPr>
          <a:xfrm>
            <a:off x="6355080" y="4434840"/>
            <a:ext cx="5166360" cy="1325880"/>
          </a:xfrm>
          <a:prstGeom prst="rect">
            <a:avLst/>
          </a:prstGeom>
          <a:noFill/>
          <a:ln/>
        </p:spPr>
        <p:txBody>
          <a:bodyPr wrap="square" lIns="0" tIns="0" rIns="0" bIns="0" rtlCol="0" anchor="t"/>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stdio (child process)</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Streamable HTTP (ports 3001 / 3002)</a:t>
            </a:r>
            <a:endParaRPr lang="en-US" sz="17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17</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38200" y="1828800"/>
            <a:ext cx="2743200" cy="1097280"/>
          </a:xfrm>
          <a:prstGeom prst="rect">
            <a:avLst/>
          </a:prstGeom>
          <a:noFill/>
          <a:ln/>
        </p:spPr>
        <p:txBody>
          <a:bodyPr wrap="square" lIns="0" tIns="0" rIns="0" bIns="0" rtlCol="0" anchor="ctr"/>
          <a:lstStyle/>
          <a:p>
            <a:pPr marL="0" indent="0">
              <a:buNone/>
            </a:pPr>
            <a:r>
              <a:rPr lang="en-US" sz="7200" b="1" dirty="0">
                <a:solidFill>
                  <a:srgbClr val="0F8B8D"/>
                </a:solidFill>
                <a:latin typeface="Times New Roman" panose="02020603050405020304" pitchFamily="18" charset="0"/>
                <a:cs typeface="Times New Roman" panose="02020603050405020304" pitchFamily="18" charset="0"/>
              </a:rPr>
              <a:t>2–3</a:t>
            </a:r>
            <a:endParaRPr lang="en-US" sz="7200" dirty="0">
              <a:latin typeface="Times New Roman" panose="02020603050405020304" pitchFamily="18" charset="0"/>
              <a:cs typeface="Times New Roman" panose="02020603050405020304" pitchFamily="18" charset="0"/>
            </a:endParaRPr>
          </a:p>
        </p:txBody>
      </p:sp>
      <p:sp>
        <p:nvSpPr>
          <p:cNvPr id="3" name="Text 1"/>
          <p:cNvSpPr txBox="1"/>
          <p:nvPr/>
        </p:nvSpPr>
        <p:spPr>
          <a:xfrm>
            <a:off x="838200" y="29260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Times New Roman" panose="02020603050405020304" pitchFamily="18" charset="0"/>
                <a:cs typeface="Times New Roman" panose="02020603050405020304" pitchFamily="18" charset="0"/>
              </a:rPr>
              <a:t>Algorithms &amp; flowcharts</a:t>
            </a:r>
            <a:endParaRPr lang="en-US" sz="4000" dirty="0">
              <a:latin typeface="Times New Roman" panose="02020603050405020304" pitchFamily="18" charset="0"/>
              <a:cs typeface="Times New Roman" panose="02020603050405020304" pitchFamily="18" charset="0"/>
            </a:endParaRPr>
          </a:p>
        </p:txBody>
      </p:sp>
      <p:sp>
        <p:nvSpPr>
          <p:cNvPr id="4" name="Text 2"/>
          <p:cNvSpPr txBox="1"/>
          <p:nvPr/>
        </p:nvSpPr>
        <p:spPr>
          <a:xfrm>
            <a:off x="838200" y="3794760"/>
            <a:ext cx="10515600" cy="548640"/>
          </a:xfrm>
          <a:prstGeom prst="rect">
            <a:avLst/>
          </a:prstGeom>
          <a:noFill/>
          <a:ln/>
        </p:spPr>
        <p:txBody>
          <a:bodyPr wrap="square" lIns="0" tIns="0" rIns="0" bIns="0" rtlCol="0" anchor="ctr"/>
          <a:lstStyle/>
          <a:p>
            <a:pPr marL="0" indent="0">
              <a:buNone/>
            </a:pPr>
            <a:r>
              <a:rPr lang="en-US" sz="1800" dirty="0">
                <a:solidFill>
                  <a:srgbClr val="C9D3E6"/>
                </a:solidFill>
                <a:latin typeface="Times New Roman" panose="02020603050405020304" pitchFamily="18" charset="0"/>
                <a:cs typeface="Times New Roman" panose="02020603050405020304" pitchFamily="18" charset="0"/>
              </a:rPr>
              <a:t>Tool-calling loop · GPA calculation · data validation</a:t>
            </a:r>
            <a:endParaRPr lang="en-US"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2 · ALGORITHM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Algorithm 1 — the tool-calling loop (in the host)</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548640" cy="54864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457200" y="146304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 name="Text 4"/>
          <p:cNvSpPr txBox="1"/>
          <p:nvPr/>
        </p:nvSpPr>
        <p:spPr>
          <a:xfrm>
            <a:off x="1188720" y="1417320"/>
            <a:ext cx="10424160" cy="640080"/>
          </a:xfrm>
          <a:prstGeom prst="rect">
            <a:avLst/>
          </a:prstGeom>
          <a:noFill/>
          <a:ln/>
        </p:spPr>
        <p:txBody>
          <a:bodyPr wrap="square" lIns="0" tIns="0" rIns="0" bIns="0" rtlCol="0" anchor="ctr"/>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Host sends the question + definitions of all 13 tools (from both servers) to the LLM</a:t>
            </a:r>
            <a:endParaRPr lang="en-US" sz="1700" dirty="0">
              <a:latin typeface="Times New Roman" panose="02020603050405020304" pitchFamily="18" charset="0"/>
              <a:cs typeface="Times New Roman" panose="02020603050405020304" pitchFamily="18" charset="0"/>
            </a:endParaRPr>
          </a:p>
        </p:txBody>
      </p:sp>
      <p:sp>
        <p:nvSpPr>
          <p:cNvPr id="8" name="Shape 5"/>
          <p:cNvSpPr/>
          <p:nvPr/>
        </p:nvSpPr>
        <p:spPr>
          <a:xfrm>
            <a:off x="457200" y="2240280"/>
            <a:ext cx="548640" cy="54864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457200" y="22402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10" name="Text 7"/>
          <p:cNvSpPr txBox="1"/>
          <p:nvPr/>
        </p:nvSpPr>
        <p:spPr>
          <a:xfrm>
            <a:off x="1188720" y="2194560"/>
            <a:ext cx="10424160" cy="640080"/>
          </a:xfrm>
          <a:prstGeom prst="rect">
            <a:avLst/>
          </a:prstGeom>
          <a:noFill/>
          <a:ln/>
        </p:spPr>
        <p:txBody>
          <a:bodyPr wrap="square" lIns="0" tIns="0" rIns="0" bIns="0" rtlCol="0" anchor="ctr"/>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LLM returns either a final text answer or one or more tool calls</a:t>
            </a:r>
            <a:endParaRPr lang="en-US" sz="1700" dirty="0">
              <a:latin typeface="Times New Roman" panose="02020603050405020304" pitchFamily="18" charset="0"/>
              <a:cs typeface="Times New Roman" panose="02020603050405020304" pitchFamily="18" charset="0"/>
            </a:endParaRPr>
          </a:p>
        </p:txBody>
      </p:sp>
      <p:sp>
        <p:nvSpPr>
          <p:cNvPr id="11" name="Shape 8"/>
          <p:cNvSpPr/>
          <p:nvPr/>
        </p:nvSpPr>
        <p:spPr>
          <a:xfrm>
            <a:off x="457200" y="3017520"/>
            <a:ext cx="548640" cy="54864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457200" y="301752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13" name="Text 10"/>
          <p:cNvSpPr txBox="1"/>
          <p:nvPr/>
        </p:nvSpPr>
        <p:spPr>
          <a:xfrm>
            <a:off x="1188720" y="2971800"/>
            <a:ext cx="10424160" cy="640080"/>
          </a:xfrm>
          <a:prstGeom prst="rect">
            <a:avLst/>
          </a:prstGeom>
          <a:noFill/>
          <a:ln/>
        </p:spPr>
        <p:txBody>
          <a:bodyPr wrap="square" lIns="0" tIns="0" rIns="0" bIns="0" rtlCol="0" anchor="ctr"/>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Host splits the qualified name academic__calculate_gpa → server + tool</a:t>
            </a:r>
            <a:endParaRPr lang="en-US" sz="1700" dirty="0">
              <a:latin typeface="Times New Roman" panose="02020603050405020304" pitchFamily="18" charset="0"/>
              <a:cs typeface="Times New Roman" panose="02020603050405020304" pitchFamily="18" charset="0"/>
            </a:endParaRPr>
          </a:p>
        </p:txBody>
      </p:sp>
      <p:sp>
        <p:nvSpPr>
          <p:cNvPr id="14" name="Shape 11"/>
          <p:cNvSpPr/>
          <p:nvPr/>
        </p:nvSpPr>
        <p:spPr>
          <a:xfrm>
            <a:off x="457200" y="3794760"/>
            <a:ext cx="548640" cy="54864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5" name="Text 12"/>
          <p:cNvSpPr txBox="1"/>
          <p:nvPr/>
        </p:nvSpPr>
        <p:spPr>
          <a:xfrm>
            <a:off x="457200" y="379476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16" name="Text 13"/>
          <p:cNvSpPr txBox="1"/>
          <p:nvPr/>
        </p:nvSpPr>
        <p:spPr>
          <a:xfrm>
            <a:off x="1188720" y="3749040"/>
            <a:ext cx="10424160" cy="640080"/>
          </a:xfrm>
          <a:prstGeom prst="rect">
            <a:avLst/>
          </a:prstGeom>
          <a:noFill/>
          <a:ln/>
        </p:spPr>
        <p:txBody>
          <a:bodyPr wrap="square" lIns="0" tIns="0" rIns="0" bIns="0" rtlCol="0" anchor="ctr"/>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That server's MCP client calls tools/call; the server runs the code and returns a result</a:t>
            </a:r>
            <a:endParaRPr lang="en-US" sz="1700" dirty="0">
              <a:latin typeface="Times New Roman" panose="02020603050405020304" pitchFamily="18" charset="0"/>
              <a:cs typeface="Times New Roman" panose="02020603050405020304" pitchFamily="18" charset="0"/>
            </a:endParaRPr>
          </a:p>
        </p:txBody>
      </p:sp>
      <p:sp>
        <p:nvSpPr>
          <p:cNvPr id="17" name="Shape 14"/>
          <p:cNvSpPr/>
          <p:nvPr/>
        </p:nvSpPr>
        <p:spPr>
          <a:xfrm>
            <a:off x="457200" y="4572000"/>
            <a:ext cx="548640" cy="54864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457200" y="457200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19" name="Text 16"/>
          <p:cNvSpPr txBox="1"/>
          <p:nvPr/>
        </p:nvSpPr>
        <p:spPr>
          <a:xfrm>
            <a:off x="1188720" y="4526280"/>
            <a:ext cx="10424160" cy="640080"/>
          </a:xfrm>
          <a:prstGeom prst="rect">
            <a:avLst/>
          </a:prstGeom>
          <a:noFill/>
          <a:ln/>
        </p:spPr>
        <p:txBody>
          <a:bodyPr wrap="square" lIns="0" tIns="0" rIns="0" bIns="0" rtlCol="0" anchor="ctr"/>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Host sends the result — or the error message — back to the LLM</a:t>
            </a:r>
            <a:endParaRPr lang="en-US" sz="1700" dirty="0">
              <a:latin typeface="Times New Roman" panose="02020603050405020304" pitchFamily="18" charset="0"/>
              <a:cs typeface="Times New Roman" panose="02020603050405020304" pitchFamily="18" charset="0"/>
            </a:endParaRPr>
          </a:p>
        </p:txBody>
      </p:sp>
      <p:sp>
        <p:nvSpPr>
          <p:cNvPr id="20" name="Shape 17"/>
          <p:cNvSpPr/>
          <p:nvPr/>
        </p:nvSpPr>
        <p:spPr>
          <a:xfrm>
            <a:off x="457200" y="5349240"/>
            <a:ext cx="548640" cy="548640"/>
          </a:xfrm>
          <a:prstGeom prst="ellipse">
            <a:avLst/>
          </a:prstGeom>
          <a:solidFill>
            <a:srgbClr val="0F8B8D"/>
          </a:solidFill>
          <a:ln w="12700">
            <a:solidFill>
              <a:srgbClr val="0F8B8D"/>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1" name="Text 18"/>
          <p:cNvSpPr txBox="1"/>
          <p:nvPr/>
        </p:nvSpPr>
        <p:spPr>
          <a:xfrm>
            <a:off x="457200" y="534924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Times New Roman" panose="02020603050405020304" pitchFamily="18" charset="0"/>
                <a:cs typeface="Times New Roman" panose="02020603050405020304" pitchFamily="18" charset="0"/>
              </a:rPr>
              <a:t>6</a:t>
            </a:r>
            <a:endParaRPr lang="en-US" sz="1600" dirty="0">
              <a:latin typeface="Times New Roman" panose="02020603050405020304" pitchFamily="18" charset="0"/>
              <a:cs typeface="Times New Roman" panose="02020603050405020304" pitchFamily="18" charset="0"/>
            </a:endParaRPr>
          </a:p>
        </p:txBody>
      </p:sp>
      <p:sp>
        <p:nvSpPr>
          <p:cNvPr id="22" name="Text 19"/>
          <p:cNvSpPr txBox="1"/>
          <p:nvPr/>
        </p:nvSpPr>
        <p:spPr>
          <a:xfrm>
            <a:off x="1188720" y="5303520"/>
            <a:ext cx="10424160" cy="640080"/>
          </a:xfrm>
          <a:prstGeom prst="rect">
            <a:avLst/>
          </a:prstGeom>
          <a:noFill/>
          <a:ln/>
        </p:spPr>
        <p:txBody>
          <a:bodyPr wrap="square" lIns="0" tIns="0" rIns="0" bIns="0" rtlCol="0" anchor="ctr"/>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Repeat until the LLM answers in text, at most maxToolRounds (= 8) rounds</a:t>
            </a:r>
            <a:endParaRPr lang="en-US" sz="17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19</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3 · FLOWCHART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Flowchart 1 — tool-calling loop</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1645920" y="1280160"/>
            <a:ext cx="3291840" cy="457200"/>
          </a:xfrm>
          <a:prstGeom prst="roundRect">
            <a:avLst>
              <a:gd name="adj" fmla="val 50000"/>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1719072" y="1280160"/>
            <a:ext cx="3145536" cy="45720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User question</a:t>
            </a:r>
            <a:endParaRPr lang="en-US" sz="1300" dirty="0">
              <a:latin typeface="Times New Roman" panose="02020603050405020304" pitchFamily="18" charset="0"/>
              <a:cs typeface="Times New Roman" panose="02020603050405020304" pitchFamily="18" charset="0"/>
            </a:endParaRPr>
          </a:p>
        </p:txBody>
      </p:sp>
      <p:sp>
        <p:nvSpPr>
          <p:cNvPr id="7" name="Shape 4"/>
          <p:cNvSpPr/>
          <p:nvPr/>
        </p:nvSpPr>
        <p:spPr>
          <a:xfrm>
            <a:off x="1645920" y="1965960"/>
            <a:ext cx="3291840" cy="54864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1719072" y="1965960"/>
            <a:ext cx="3145536" cy="54864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Send question + all tool definitions to the LLM</a:t>
            </a:r>
            <a:endParaRPr lang="en-US" sz="1300" dirty="0">
              <a:latin typeface="Times New Roman" panose="02020603050405020304" pitchFamily="18" charset="0"/>
              <a:cs typeface="Times New Roman" panose="02020603050405020304" pitchFamily="18" charset="0"/>
            </a:endParaRPr>
          </a:p>
        </p:txBody>
      </p:sp>
      <p:sp>
        <p:nvSpPr>
          <p:cNvPr id="9" name="Shape 6"/>
          <p:cNvSpPr/>
          <p:nvPr/>
        </p:nvSpPr>
        <p:spPr>
          <a:xfrm>
            <a:off x="1645920" y="2743200"/>
            <a:ext cx="3291840" cy="822960"/>
          </a:xfrm>
          <a:prstGeom prst="diamond">
            <a:avLst/>
          </a:prstGeom>
          <a:solidFill>
            <a:srgbClr val="FFF7E0"/>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1719072" y="2743200"/>
            <a:ext cx="3145536" cy="822960"/>
          </a:xfrm>
          <a:prstGeom prst="rect">
            <a:avLst/>
          </a:prstGeom>
          <a:noFill/>
          <a:ln/>
        </p:spPr>
        <p:txBody>
          <a:bodyPr wrap="square" lIns="0" tIns="0" rIns="0" bIns="0" rtlCol="0" anchor="ctr"/>
          <a:lstStyle/>
          <a:p>
            <a:pPr marL="0" indent="0" algn="ctr">
              <a:buNone/>
            </a:pPr>
            <a:r>
              <a:rPr lang="en-US" sz="1200" dirty="0">
                <a:solidFill>
                  <a:srgbClr val="1F2937"/>
                </a:solidFill>
                <a:latin typeface="Times New Roman" panose="02020603050405020304" pitchFamily="18" charset="0"/>
                <a:cs typeface="Times New Roman" panose="02020603050405020304" pitchFamily="18" charset="0"/>
              </a:rPr>
              <a:t>Tool calls</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dirty="0">
                <a:solidFill>
                  <a:srgbClr val="1F2937"/>
                </a:solidFill>
                <a:latin typeface="Times New Roman" panose="02020603050405020304" pitchFamily="18" charset="0"/>
                <a:cs typeface="Times New Roman" panose="02020603050405020304" pitchFamily="18" charset="0"/>
              </a:rPr>
              <a:t>returned?</a:t>
            </a:r>
            <a:endParaRPr lang="en-US" sz="1200" dirty="0">
              <a:latin typeface="Times New Roman" panose="02020603050405020304" pitchFamily="18" charset="0"/>
              <a:cs typeface="Times New Roman" panose="02020603050405020304" pitchFamily="18" charset="0"/>
            </a:endParaRPr>
          </a:p>
        </p:txBody>
      </p:sp>
      <p:sp>
        <p:nvSpPr>
          <p:cNvPr id="11" name="Shape 8"/>
          <p:cNvSpPr/>
          <p:nvPr/>
        </p:nvSpPr>
        <p:spPr>
          <a:xfrm>
            <a:off x="1645920" y="3749040"/>
            <a:ext cx="3291840" cy="822960"/>
          </a:xfrm>
          <a:prstGeom prst="diamond">
            <a:avLst/>
          </a:prstGeom>
          <a:solidFill>
            <a:srgbClr val="FFF7E0"/>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1719072" y="3749040"/>
            <a:ext cx="3145536" cy="822960"/>
          </a:xfrm>
          <a:prstGeom prst="rect">
            <a:avLst/>
          </a:prstGeom>
          <a:noFill/>
          <a:ln/>
        </p:spPr>
        <p:txBody>
          <a:bodyPr wrap="square" lIns="0" tIns="0" rIns="0" bIns="0" rtlCol="0" anchor="ctr"/>
          <a:lstStyle/>
          <a:p>
            <a:pPr marL="0" indent="0" algn="ctr">
              <a:buNone/>
            </a:pPr>
            <a:r>
              <a:rPr lang="en-US" sz="1200" dirty="0">
                <a:solidFill>
                  <a:srgbClr val="1F2937"/>
                </a:solidFill>
                <a:latin typeface="Times New Roman" panose="02020603050405020304" pitchFamily="18" charset="0"/>
                <a:cs typeface="Times New Roman" panose="02020603050405020304" pitchFamily="18" charset="0"/>
              </a:rPr>
              <a:t>rounds &lt;</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dirty="0">
                <a:solidFill>
                  <a:srgbClr val="1F2937"/>
                </a:solidFill>
                <a:latin typeface="Times New Roman" panose="02020603050405020304" pitchFamily="18" charset="0"/>
                <a:cs typeface="Times New Roman" panose="02020603050405020304" pitchFamily="18" charset="0"/>
              </a:rPr>
              <a:t>maxToolRounds?</a:t>
            </a:r>
            <a:endParaRPr lang="en-US" sz="1200" dirty="0">
              <a:latin typeface="Times New Roman" panose="02020603050405020304" pitchFamily="18" charset="0"/>
              <a:cs typeface="Times New Roman" panose="02020603050405020304" pitchFamily="18" charset="0"/>
            </a:endParaRPr>
          </a:p>
        </p:txBody>
      </p:sp>
      <p:sp>
        <p:nvSpPr>
          <p:cNvPr id="13" name="Shape 10"/>
          <p:cNvSpPr/>
          <p:nvPr/>
        </p:nvSpPr>
        <p:spPr>
          <a:xfrm>
            <a:off x="1645920" y="4754880"/>
            <a:ext cx="3291840" cy="50292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1719072" y="4754880"/>
            <a:ext cx="3145536" cy="50292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client.callTool() on the right server</a:t>
            </a:r>
            <a:endParaRPr lang="en-US" sz="1300" dirty="0">
              <a:latin typeface="Times New Roman" panose="02020603050405020304" pitchFamily="18" charset="0"/>
              <a:cs typeface="Times New Roman" panose="02020603050405020304" pitchFamily="18" charset="0"/>
            </a:endParaRPr>
          </a:p>
        </p:txBody>
      </p:sp>
      <p:sp>
        <p:nvSpPr>
          <p:cNvPr id="15" name="Shape 12"/>
          <p:cNvSpPr/>
          <p:nvPr/>
        </p:nvSpPr>
        <p:spPr>
          <a:xfrm>
            <a:off x="1645920" y="5486400"/>
            <a:ext cx="3291840" cy="502920"/>
          </a:xfrm>
          <a:prstGeom prst="rect">
            <a:avLst/>
          </a:prstGeom>
          <a:solidFill>
            <a:srgbClr val="FFF7E0"/>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1719072" y="5486400"/>
            <a:ext cx="3145536" cy="50292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Send result or {error} back to the LLM</a:t>
            </a:r>
            <a:endParaRPr lang="en-US" sz="1300" dirty="0">
              <a:latin typeface="Times New Roman" panose="02020603050405020304" pitchFamily="18" charset="0"/>
              <a:cs typeface="Times New Roman" panose="02020603050405020304" pitchFamily="18" charset="0"/>
            </a:endParaRPr>
          </a:p>
        </p:txBody>
      </p:sp>
      <p:sp>
        <p:nvSpPr>
          <p:cNvPr id="17" name="Shape 14"/>
          <p:cNvSpPr/>
          <p:nvPr/>
        </p:nvSpPr>
        <p:spPr>
          <a:xfrm>
            <a:off x="3291840" y="1737360"/>
            <a:ext cx="0" cy="2286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8" name="Shape 15"/>
          <p:cNvSpPr/>
          <p:nvPr/>
        </p:nvSpPr>
        <p:spPr>
          <a:xfrm>
            <a:off x="3291840" y="2514600"/>
            <a:ext cx="0" cy="2286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9" name="Shape 16"/>
          <p:cNvSpPr/>
          <p:nvPr/>
        </p:nvSpPr>
        <p:spPr>
          <a:xfrm>
            <a:off x="3291840" y="3566160"/>
            <a:ext cx="0" cy="18288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0" name="Text 17"/>
          <p:cNvSpPr txBox="1"/>
          <p:nvPr/>
        </p:nvSpPr>
        <p:spPr>
          <a:xfrm>
            <a:off x="3364992" y="3520440"/>
            <a:ext cx="731520" cy="256032"/>
          </a:xfrm>
          <a:prstGeom prst="rect">
            <a:avLst/>
          </a:prstGeom>
          <a:noFill/>
          <a:ln/>
        </p:spPr>
        <p:txBody>
          <a:bodyPr wrap="square" lIns="0" tIns="0" rIns="0" bIns="0" rtlCol="0" anchor="ctr"/>
          <a:lstStyle/>
          <a:p>
            <a:pPr marL="0" indent="0">
              <a:buNone/>
            </a:pPr>
            <a:r>
              <a:rPr lang="en-US" sz="1100" b="1" dirty="0">
                <a:solidFill>
                  <a:srgbClr val="2F855A"/>
                </a:solidFill>
                <a:latin typeface="Times New Roman" panose="02020603050405020304" pitchFamily="18" charset="0"/>
                <a:cs typeface="Times New Roman" panose="02020603050405020304" pitchFamily="18" charset="0"/>
              </a:rPr>
              <a:t>yes</a:t>
            </a:r>
            <a:endParaRPr lang="en-US" sz="1100" dirty="0">
              <a:latin typeface="Times New Roman" panose="02020603050405020304" pitchFamily="18" charset="0"/>
              <a:cs typeface="Times New Roman" panose="02020603050405020304" pitchFamily="18" charset="0"/>
            </a:endParaRPr>
          </a:p>
        </p:txBody>
      </p:sp>
      <p:sp>
        <p:nvSpPr>
          <p:cNvPr id="21" name="Shape 18"/>
          <p:cNvSpPr/>
          <p:nvPr/>
        </p:nvSpPr>
        <p:spPr>
          <a:xfrm>
            <a:off x="3291840" y="4572000"/>
            <a:ext cx="0" cy="18288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2" name="Text 19"/>
          <p:cNvSpPr txBox="1"/>
          <p:nvPr/>
        </p:nvSpPr>
        <p:spPr>
          <a:xfrm>
            <a:off x="3364992" y="4526280"/>
            <a:ext cx="731520" cy="256032"/>
          </a:xfrm>
          <a:prstGeom prst="rect">
            <a:avLst/>
          </a:prstGeom>
          <a:noFill/>
          <a:ln/>
        </p:spPr>
        <p:txBody>
          <a:bodyPr wrap="square" lIns="0" tIns="0" rIns="0" bIns="0" rtlCol="0" anchor="ctr"/>
          <a:lstStyle/>
          <a:p>
            <a:pPr marL="0" indent="0">
              <a:buNone/>
            </a:pPr>
            <a:r>
              <a:rPr lang="en-US" sz="1100" b="1" dirty="0">
                <a:solidFill>
                  <a:srgbClr val="2F855A"/>
                </a:solidFill>
                <a:latin typeface="Times New Roman" panose="02020603050405020304" pitchFamily="18" charset="0"/>
                <a:cs typeface="Times New Roman" panose="02020603050405020304" pitchFamily="18" charset="0"/>
              </a:rPr>
              <a:t>yes</a:t>
            </a:r>
            <a:endParaRPr lang="en-US" sz="1100" dirty="0">
              <a:latin typeface="Times New Roman" panose="02020603050405020304" pitchFamily="18" charset="0"/>
              <a:cs typeface="Times New Roman" panose="02020603050405020304" pitchFamily="18" charset="0"/>
            </a:endParaRPr>
          </a:p>
        </p:txBody>
      </p:sp>
      <p:sp>
        <p:nvSpPr>
          <p:cNvPr id="23" name="Shape 20"/>
          <p:cNvSpPr/>
          <p:nvPr/>
        </p:nvSpPr>
        <p:spPr>
          <a:xfrm>
            <a:off x="3291840" y="5257800"/>
            <a:ext cx="0" cy="2286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4" name="Shape 21"/>
          <p:cNvSpPr/>
          <p:nvPr/>
        </p:nvSpPr>
        <p:spPr>
          <a:xfrm flipH="1">
            <a:off x="1097280" y="5733288"/>
            <a:ext cx="548640" cy="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5" name="Shape 22"/>
          <p:cNvSpPr/>
          <p:nvPr/>
        </p:nvSpPr>
        <p:spPr>
          <a:xfrm flipV="1">
            <a:off x="1097280" y="2240280"/>
            <a:ext cx="0" cy="3493008"/>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6" name="Shape 23"/>
          <p:cNvSpPr/>
          <p:nvPr/>
        </p:nvSpPr>
        <p:spPr>
          <a:xfrm>
            <a:off x="1097280" y="2240280"/>
            <a:ext cx="54864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8" name="Shape 25"/>
          <p:cNvSpPr/>
          <p:nvPr/>
        </p:nvSpPr>
        <p:spPr>
          <a:xfrm>
            <a:off x="6675120" y="2880360"/>
            <a:ext cx="3291840" cy="548640"/>
          </a:xfrm>
          <a:prstGeom prst="roundRect">
            <a:avLst>
              <a:gd name="adj" fmla="val 41667"/>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9" name="Text 26"/>
          <p:cNvSpPr txBox="1"/>
          <p:nvPr/>
        </p:nvSpPr>
        <p:spPr>
          <a:xfrm>
            <a:off x="6748272" y="2880360"/>
            <a:ext cx="3145536" cy="54864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Show answer · log the turn (JSONL)</a:t>
            </a:r>
            <a:endParaRPr lang="en-US" sz="1300" dirty="0">
              <a:latin typeface="Times New Roman" panose="02020603050405020304" pitchFamily="18" charset="0"/>
              <a:cs typeface="Times New Roman" panose="02020603050405020304" pitchFamily="18" charset="0"/>
            </a:endParaRPr>
          </a:p>
        </p:txBody>
      </p:sp>
      <p:sp>
        <p:nvSpPr>
          <p:cNvPr id="30" name="Shape 27"/>
          <p:cNvSpPr/>
          <p:nvPr/>
        </p:nvSpPr>
        <p:spPr>
          <a:xfrm>
            <a:off x="6675120" y="3886200"/>
            <a:ext cx="3291840" cy="548640"/>
          </a:xfrm>
          <a:prstGeom prst="rect">
            <a:avLst/>
          </a:prstGeom>
          <a:solidFill>
            <a:srgbClr val="FDECEC"/>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31" name="Text 28"/>
          <p:cNvSpPr txBox="1"/>
          <p:nvPr/>
        </p:nvSpPr>
        <p:spPr>
          <a:xfrm>
            <a:off x="6748272" y="3886200"/>
            <a:ext cx="3145536" cy="54864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Stop: round limit reached</a:t>
            </a:r>
            <a:endParaRPr lang="en-US" sz="1300" dirty="0">
              <a:latin typeface="Times New Roman" panose="02020603050405020304" pitchFamily="18" charset="0"/>
              <a:cs typeface="Times New Roman" panose="02020603050405020304" pitchFamily="18" charset="0"/>
            </a:endParaRPr>
          </a:p>
        </p:txBody>
      </p:sp>
      <p:sp>
        <p:nvSpPr>
          <p:cNvPr id="32" name="Shape 29"/>
          <p:cNvSpPr/>
          <p:nvPr/>
        </p:nvSpPr>
        <p:spPr>
          <a:xfrm>
            <a:off x="4937760" y="3154680"/>
            <a:ext cx="17373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33" name="Text 30"/>
          <p:cNvSpPr txBox="1"/>
          <p:nvPr/>
        </p:nvSpPr>
        <p:spPr>
          <a:xfrm>
            <a:off x="5440680" y="2862072"/>
            <a:ext cx="731520" cy="256032"/>
          </a:xfrm>
          <a:prstGeom prst="rect">
            <a:avLst/>
          </a:prstGeom>
          <a:noFill/>
          <a:ln/>
        </p:spPr>
        <p:txBody>
          <a:bodyPr wrap="square" lIns="0" tIns="0" rIns="0" bIns="0" rtlCol="0" anchor="ctr"/>
          <a:lstStyle/>
          <a:p>
            <a:pPr marL="0" indent="0">
              <a:buNone/>
            </a:pPr>
            <a:r>
              <a:rPr lang="en-US" sz="1100" b="1" dirty="0">
                <a:solidFill>
                  <a:srgbClr val="C53030"/>
                </a:solidFill>
                <a:latin typeface="Times New Roman" panose="02020603050405020304" pitchFamily="18" charset="0"/>
                <a:cs typeface="Times New Roman" panose="02020603050405020304" pitchFamily="18" charset="0"/>
              </a:rPr>
              <a:t>no</a:t>
            </a:r>
            <a:endParaRPr lang="en-US" sz="1100" dirty="0">
              <a:latin typeface="Times New Roman" panose="02020603050405020304" pitchFamily="18" charset="0"/>
              <a:cs typeface="Times New Roman" panose="02020603050405020304" pitchFamily="18" charset="0"/>
            </a:endParaRPr>
          </a:p>
        </p:txBody>
      </p:sp>
      <p:sp>
        <p:nvSpPr>
          <p:cNvPr id="34" name="Shape 31"/>
          <p:cNvSpPr/>
          <p:nvPr/>
        </p:nvSpPr>
        <p:spPr>
          <a:xfrm>
            <a:off x="4937760" y="4160520"/>
            <a:ext cx="17373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35" name="Text 32"/>
          <p:cNvSpPr txBox="1"/>
          <p:nvPr/>
        </p:nvSpPr>
        <p:spPr>
          <a:xfrm>
            <a:off x="5440680" y="3867912"/>
            <a:ext cx="731520" cy="256032"/>
          </a:xfrm>
          <a:prstGeom prst="rect">
            <a:avLst/>
          </a:prstGeom>
          <a:noFill/>
          <a:ln/>
        </p:spPr>
        <p:txBody>
          <a:bodyPr wrap="square" lIns="0" tIns="0" rIns="0" bIns="0" rtlCol="0" anchor="ctr"/>
          <a:lstStyle/>
          <a:p>
            <a:pPr marL="0" indent="0">
              <a:buNone/>
            </a:pPr>
            <a:r>
              <a:rPr lang="en-US" sz="1100" b="1" dirty="0">
                <a:solidFill>
                  <a:srgbClr val="C53030"/>
                </a:solidFill>
                <a:latin typeface="Times New Roman" panose="02020603050405020304" pitchFamily="18" charset="0"/>
                <a:cs typeface="Times New Roman" panose="02020603050405020304" pitchFamily="18" charset="0"/>
              </a:rPr>
              <a:t>no</a:t>
            </a:r>
            <a:endParaRPr lang="en-US" sz="1100" dirty="0">
              <a:latin typeface="Times New Roman" panose="02020603050405020304" pitchFamily="18" charset="0"/>
              <a:cs typeface="Times New Roman" panose="02020603050405020304" pitchFamily="18" charset="0"/>
            </a:endParaRPr>
          </a:p>
        </p:txBody>
      </p:sp>
      <p:sp>
        <p:nvSpPr>
          <p:cNvPr id="36" name="Shape 33"/>
          <p:cNvSpPr/>
          <p:nvPr/>
        </p:nvSpPr>
        <p:spPr>
          <a:xfrm flipV="1">
            <a:off x="8321040" y="3429000"/>
            <a:ext cx="0" cy="4572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37" name="Text 34"/>
          <p:cNvSpPr txBox="1"/>
          <p:nvPr/>
        </p:nvSpPr>
        <p:spPr>
          <a:xfrm>
            <a:off x="6675120" y="5120640"/>
            <a:ext cx="5029200" cy="822960"/>
          </a:xfrm>
          <a:prstGeom prst="rect">
            <a:avLst/>
          </a:prstGeom>
          <a:noFill/>
          <a:ln/>
        </p:spPr>
        <p:txBody>
          <a:bodyPr wrap="square" lIns="0" tIns="0" rIns="0" bIns="0" rtlCol="0" anchor="ctr"/>
          <a:lstStyle/>
          <a:p>
            <a:pPr marL="0" indent="0">
              <a:buNone/>
            </a:pPr>
            <a:r>
              <a:rPr lang="en-US" sz="1500" i="1" dirty="0">
                <a:solidFill>
                  <a:srgbClr val="5B6475"/>
                </a:solidFill>
                <a:latin typeface="Times New Roman" panose="02020603050405020304" pitchFamily="18" charset="0"/>
                <a:cs typeface="Times New Roman" panose="02020603050405020304" pitchFamily="18" charset="0"/>
              </a:rPr>
              <a:t>Errors are not fatal: the model reads the error and corrects its own call.</a:t>
            </a:r>
            <a:endParaRPr lang="en-US" sz="1500" dirty="0">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20</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85344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2 · ALGORITHM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85344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The loop in action: two servers combined by the LLM</a:t>
            </a:r>
            <a:endParaRPr lang="en-US" sz="3000" dirty="0">
              <a:latin typeface="Times New Roman" panose="02020603050405020304" pitchFamily="18" charset="0"/>
              <a:cs typeface="Times New Roman" panose="02020603050405020304" pitchFamily="18" charset="0"/>
            </a:endParaRPr>
          </a:p>
        </p:txBody>
      </p:sp>
      <p:sp>
        <p:nvSpPr>
          <p:cNvPr id="5" name="Text 2"/>
          <p:cNvSpPr txBox="1"/>
          <p:nvPr/>
        </p:nvSpPr>
        <p:spPr>
          <a:xfrm>
            <a:off x="853440" y="1371600"/>
            <a:ext cx="11247120" cy="457200"/>
          </a:xfrm>
          <a:prstGeom prst="rect">
            <a:avLst/>
          </a:prstGeom>
          <a:noFill/>
          <a:ln/>
        </p:spPr>
        <p:txBody>
          <a:bodyPr wrap="square" lIns="0" tIns="0" rIns="0" bIns="0" rtlCol="0" anchor="ctr"/>
          <a:lstStyle/>
          <a:p>
            <a:pPr marL="0" indent="0">
              <a:buNone/>
            </a:pPr>
            <a:r>
              <a:rPr lang="en-US" sz="1800" i="1" dirty="0">
                <a:solidFill>
                  <a:srgbClr val="1F2937"/>
                </a:solidFill>
                <a:latin typeface="Times New Roman" panose="02020603050405020304" pitchFamily="18" charset="0"/>
                <a:cs typeface="Times New Roman" panose="02020603050405020304" pitchFamily="18" charset="0"/>
              </a:rPr>
              <a:t>"Write a performance report for class IT01 and save it."</a:t>
            </a:r>
            <a:endParaRPr lang="en-US" sz="1800" dirty="0">
              <a:latin typeface="Times New Roman" panose="02020603050405020304" pitchFamily="18" charset="0"/>
              <a:cs typeface="Times New Roman" panose="02020603050405020304" pitchFamily="18" charset="0"/>
            </a:endParaRPr>
          </a:p>
        </p:txBody>
      </p:sp>
      <p:graphicFrame>
        <p:nvGraphicFramePr>
          <p:cNvPr id="22" name="Table 0"/>
          <p:cNvGraphicFramePr>
            <a:graphicFrameLocks noGrp="1"/>
          </p:cNvGraphicFramePr>
          <p:nvPr>
            <p:extLst>
              <p:ext uri="{D42A27DB-BD31-4B8C-83A1-F6EECF244321}">
                <p14:modId xmlns:p14="http://schemas.microsoft.com/office/powerpoint/2010/main" val="2228491352"/>
              </p:ext>
            </p:extLst>
          </p:nvPr>
        </p:nvGraphicFramePr>
        <p:xfrm>
          <a:off x="853440" y="2011680"/>
          <a:ext cx="11247120" cy="3017520"/>
        </p:xfrm>
        <a:graphic>
          <a:graphicData uri="http://schemas.openxmlformats.org/drawingml/2006/table">
            <a:tbl>
              <a:tblPr/>
              <a:tblGrid>
                <a:gridCol w="82296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buNone/>
                      </a:pPr>
                      <a:r>
                        <a:rPr lang="en-US" sz="1400" b="1" dirty="0">
                          <a:solidFill>
                            <a:srgbClr val="FFFFFF"/>
                          </a:solidFill>
                        </a:rPr>
                        <a:t>Round</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rPr>
                        <a:t>Tool called by the LLM</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rPr>
                        <a:t>Server</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rPr>
                        <a:t>Returned</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400" dirty="0">
                          <a:solidFill>
                            <a:srgbClr val="1F2937"/>
                          </a:solidFill>
                        </a:rPr>
                        <a:t>1</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class_statistics(class_id: "IT01")</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400" dirty="0">
                          <a:solidFill>
                            <a:srgbClr val="1F2937"/>
                          </a:solidFill>
                        </a:rPr>
                        <a:t>academic</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400" dirty="0">
                          <a:solidFill>
                            <a:srgbClr val="1F2937"/>
                          </a:solidFill>
                        </a:rPr>
                        <a:t>average GPA, pass rate, grade distribution</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400" dirty="0">
                          <a:solidFill>
                            <a:srgbClr val="1F2937"/>
                          </a:solidFill>
                        </a:rPr>
                        <a:t>1</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get_current_time()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400" dirty="0">
                          <a:solidFill>
                            <a:srgbClr val="1F2937"/>
                          </a:solidFill>
                        </a:rPr>
                        <a:t>utility</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400" dirty="0">
                          <a:solidFill>
                            <a:srgbClr val="1F2937"/>
                          </a:solidFill>
                        </a:rPr>
                        <a:t>date and current semester</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buNone/>
                      </a:pPr>
                      <a:r>
                        <a:rPr lang="en-US" sz="1400" dirty="0">
                          <a:solidFill>
                            <a:srgbClr val="1F2937"/>
                          </a:solidFill>
                        </a:rPr>
                        <a:t>2</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rank_students(scope: "class", value: "IT01")</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400" dirty="0">
                          <a:solidFill>
                            <a:srgbClr val="1F2937"/>
                          </a:solidFill>
                        </a:rPr>
                        <a:t>academic</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400" dirty="0">
                          <a:solidFill>
                            <a:srgbClr val="1F2937"/>
                          </a:solidFill>
                        </a:rPr>
                        <a:t>top students by GPA</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400" dirty="0">
                          <a:solidFill>
                            <a:srgbClr val="1F2937"/>
                          </a:solidFill>
                        </a:rPr>
                        <a:t>3</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save_report(filename: "IT01-report", content)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400" dirty="0">
                          <a:solidFill>
                            <a:srgbClr val="1F2937"/>
                          </a:solidFill>
                        </a:rPr>
                        <a:t>utility</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400" dirty="0">
                          <a:solidFill>
                            <a:srgbClr val="1F2937"/>
                          </a:solidFill>
                        </a:rPr>
                        <a:t>saved to outputs/reports/IT01-report.md</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buNone/>
                      </a:pPr>
                      <a:r>
                        <a:rPr lang="en-US" sz="1400" dirty="0">
                          <a:solidFill>
                            <a:srgbClr val="1F2937"/>
                          </a:solidFill>
                        </a:rPr>
                        <a:t>—</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400" dirty="0">
                          <a:solidFill>
                            <a:srgbClr val="1F2937"/>
                          </a:solidFill>
                        </a:rPr>
                        <a:t>final text answer</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400" dirty="0">
                          <a:solidFill>
                            <a:srgbClr val="1F2937"/>
                          </a:solidFill>
                        </a:rPr>
                        <a:t>"Report saved to …"</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3"/>
          <p:cNvSpPr txBox="1"/>
          <p:nvPr/>
        </p:nvSpPr>
        <p:spPr>
          <a:xfrm>
            <a:off x="1235995" y="5120640"/>
            <a:ext cx="2651760" cy="1005840"/>
          </a:xfrm>
          <a:prstGeom prst="rect">
            <a:avLst/>
          </a:prstGeom>
          <a:noFill/>
          <a:ln/>
        </p:spPr>
        <p:txBody>
          <a:bodyPr wrap="square" lIns="0" tIns="0" rIns="0" bIns="0" rtlCol="0" anchor="ctr"/>
          <a:lstStyle/>
          <a:p>
            <a:pPr marL="0" indent="0">
              <a:buNone/>
            </a:pPr>
            <a:r>
              <a:rPr lang="en-US" sz="3200" b="1" dirty="0">
                <a:solidFill>
                  <a:srgbClr val="0F8B8D"/>
                </a:solidFill>
                <a:latin typeface="Times New Roman" panose="02020603050405020304" pitchFamily="18" charset="0"/>
                <a:cs typeface="Times New Roman" panose="02020603050405020304" pitchFamily="18" charset="0"/>
              </a:rPr>
              <a:t>4</a:t>
            </a:r>
            <a:endParaRPr lang="en-US" sz="32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tool calls</a:t>
            </a:r>
            <a:endParaRPr lang="en-US" sz="3200" dirty="0">
              <a:latin typeface="Times New Roman" panose="02020603050405020304" pitchFamily="18" charset="0"/>
              <a:cs typeface="Times New Roman" panose="02020603050405020304" pitchFamily="18" charset="0"/>
            </a:endParaRPr>
          </a:p>
        </p:txBody>
      </p:sp>
      <p:sp>
        <p:nvSpPr>
          <p:cNvPr id="8" name="Text 4"/>
          <p:cNvSpPr txBox="1"/>
          <p:nvPr/>
        </p:nvSpPr>
        <p:spPr>
          <a:xfrm>
            <a:off x="3688080" y="5120640"/>
            <a:ext cx="2651760" cy="1005840"/>
          </a:xfrm>
          <a:prstGeom prst="rect">
            <a:avLst/>
          </a:prstGeom>
          <a:noFill/>
          <a:ln/>
        </p:spPr>
        <p:txBody>
          <a:bodyPr wrap="square" lIns="0" tIns="0" rIns="0" bIns="0" rtlCol="0" anchor="ctr"/>
          <a:lstStyle/>
          <a:p>
            <a:pPr marL="0" indent="0">
              <a:buNone/>
            </a:pPr>
            <a:r>
              <a:rPr lang="en-US" sz="3200" b="1" dirty="0">
                <a:solidFill>
                  <a:srgbClr val="0F8B8D"/>
                </a:solidFill>
                <a:latin typeface="Times New Roman" panose="02020603050405020304" pitchFamily="18" charset="0"/>
                <a:cs typeface="Times New Roman" panose="02020603050405020304" pitchFamily="18" charset="0"/>
              </a:rPr>
              <a:t>3</a:t>
            </a:r>
            <a:endParaRPr lang="en-US" sz="32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rounds</a:t>
            </a:r>
            <a:endParaRPr lang="en-US" sz="3200" dirty="0">
              <a:latin typeface="Times New Roman" panose="02020603050405020304" pitchFamily="18" charset="0"/>
              <a:cs typeface="Times New Roman" panose="02020603050405020304" pitchFamily="18" charset="0"/>
            </a:endParaRPr>
          </a:p>
        </p:txBody>
      </p:sp>
      <p:sp>
        <p:nvSpPr>
          <p:cNvPr id="9" name="Text 5"/>
          <p:cNvSpPr txBox="1"/>
          <p:nvPr/>
        </p:nvSpPr>
        <p:spPr>
          <a:xfrm>
            <a:off x="6522720" y="5120640"/>
            <a:ext cx="2651760" cy="1005840"/>
          </a:xfrm>
          <a:prstGeom prst="rect">
            <a:avLst/>
          </a:prstGeom>
          <a:noFill/>
          <a:ln/>
        </p:spPr>
        <p:txBody>
          <a:bodyPr wrap="square" lIns="0" tIns="0" rIns="0" bIns="0" rtlCol="0" anchor="ctr"/>
          <a:lstStyle/>
          <a:p>
            <a:pPr marL="0" indent="0">
              <a:buNone/>
            </a:pPr>
            <a:r>
              <a:rPr lang="en-US" sz="3200" b="1" dirty="0">
                <a:solidFill>
                  <a:srgbClr val="0F8B8D"/>
                </a:solidFill>
                <a:latin typeface="Times New Roman" panose="02020603050405020304" pitchFamily="18" charset="0"/>
                <a:cs typeface="Times New Roman" panose="02020603050405020304" pitchFamily="18" charset="0"/>
              </a:rPr>
              <a:t>2</a:t>
            </a:r>
            <a:endParaRPr lang="en-US" sz="32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servers</a:t>
            </a:r>
            <a:endParaRPr lang="en-US" sz="3200" dirty="0">
              <a:latin typeface="Times New Roman" panose="02020603050405020304" pitchFamily="18" charset="0"/>
              <a:cs typeface="Times New Roman" panose="02020603050405020304" pitchFamily="18" charset="0"/>
            </a:endParaRPr>
          </a:p>
        </p:txBody>
      </p:sp>
      <p:sp>
        <p:nvSpPr>
          <p:cNvPr id="10" name="Text 6"/>
          <p:cNvSpPr txBox="1"/>
          <p:nvPr/>
        </p:nvSpPr>
        <p:spPr>
          <a:xfrm>
            <a:off x="9357360" y="5120640"/>
            <a:ext cx="2651760" cy="1005840"/>
          </a:xfrm>
          <a:prstGeom prst="rect">
            <a:avLst/>
          </a:prstGeom>
          <a:noFill/>
          <a:ln/>
        </p:spPr>
        <p:txBody>
          <a:bodyPr wrap="square" lIns="0" tIns="0" rIns="0" bIns="0" rtlCol="0" anchor="ctr"/>
          <a:lstStyle/>
          <a:p>
            <a:pPr marL="0" indent="0">
              <a:buNone/>
            </a:pPr>
            <a:r>
              <a:rPr lang="en-US" sz="3200" b="1" dirty="0">
                <a:solidFill>
                  <a:srgbClr val="0F8B8D"/>
                </a:solidFill>
                <a:latin typeface="Times New Roman" panose="02020603050405020304" pitchFamily="18" charset="0"/>
                <a:cs typeface="Times New Roman" panose="02020603050405020304" pitchFamily="18" charset="0"/>
              </a:rPr>
              <a:t>5.7 s</a:t>
            </a:r>
            <a:endParaRPr lang="en-US" sz="32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end to end</a:t>
            </a:r>
            <a:endParaRPr lang="en-US" sz="32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64336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21</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3 · FLOWCHART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Flowchart 2 — from scores to GPA</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548640" y="1325880"/>
            <a:ext cx="4937760" cy="502920"/>
          </a:xfrm>
          <a:prstGeom prst="roundRect">
            <a:avLst>
              <a:gd name="adj" fmla="val 45455"/>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21792" y="1325880"/>
            <a:ext cx="4791456" cy="50292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process_score, final_score (0–10)</a:t>
            </a:r>
            <a:endParaRPr lang="en-US" sz="1300" dirty="0">
              <a:latin typeface="Times New Roman" panose="02020603050405020304" pitchFamily="18" charset="0"/>
              <a:cs typeface="Times New Roman" panose="02020603050405020304" pitchFamily="18" charset="0"/>
            </a:endParaRPr>
          </a:p>
        </p:txBody>
      </p:sp>
      <p:sp>
        <p:nvSpPr>
          <p:cNvPr id="7" name="Shape 4"/>
          <p:cNvSpPr/>
          <p:nvPr/>
        </p:nvSpPr>
        <p:spPr>
          <a:xfrm>
            <a:off x="548640" y="2057400"/>
            <a:ext cx="4937760" cy="50292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621792" y="2057400"/>
            <a:ext cx="4791456" cy="50292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total = 0.4 × process + 0.6 × final (1 decimal)</a:t>
            </a:r>
            <a:endParaRPr lang="en-US" sz="1300" dirty="0">
              <a:latin typeface="Times New Roman" panose="02020603050405020304" pitchFamily="18" charset="0"/>
              <a:cs typeface="Times New Roman" panose="02020603050405020304" pitchFamily="18" charset="0"/>
            </a:endParaRPr>
          </a:p>
        </p:txBody>
      </p:sp>
      <p:sp>
        <p:nvSpPr>
          <p:cNvPr id="9" name="Shape 6"/>
          <p:cNvSpPr/>
          <p:nvPr/>
        </p:nvSpPr>
        <p:spPr>
          <a:xfrm>
            <a:off x="548640" y="2788920"/>
            <a:ext cx="4937760" cy="50292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621792" y="2788920"/>
            <a:ext cx="4791456" cy="50292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letter + point: A 4 · B 3 · C 2 · D 1 · F 0</a:t>
            </a:r>
            <a:endParaRPr lang="en-US" sz="1300" dirty="0">
              <a:latin typeface="Times New Roman" panose="02020603050405020304" pitchFamily="18" charset="0"/>
              <a:cs typeface="Times New Roman" panose="02020603050405020304" pitchFamily="18" charset="0"/>
            </a:endParaRPr>
          </a:p>
        </p:txBody>
      </p:sp>
      <p:sp>
        <p:nvSpPr>
          <p:cNvPr id="11" name="Shape 8"/>
          <p:cNvSpPr/>
          <p:nvPr/>
        </p:nvSpPr>
        <p:spPr>
          <a:xfrm>
            <a:off x="2103120" y="3520440"/>
            <a:ext cx="1828800" cy="731520"/>
          </a:xfrm>
          <a:prstGeom prst="diamond">
            <a:avLst/>
          </a:prstGeom>
          <a:solidFill>
            <a:srgbClr val="FFF7E0"/>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2176272" y="3520440"/>
            <a:ext cx="1682496" cy="731520"/>
          </a:xfrm>
          <a:prstGeom prst="rect">
            <a:avLst/>
          </a:prstGeom>
          <a:noFill/>
          <a:ln/>
        </p:spPr>
        <p:txBody>
          <a:bodyPr wrap="square" lIns="0" tIns="0" rIns="0" bIns="0" rtlCol="0" anchor="ctr"/>
          <a:lstStyle/>
          <a:p>
            <a:pPr marL="0" indent="0" algn="ctr">
              <a:buNone/>
            </a:pPr>
            <a:r>
              <a:rPr lang="en-US" sz="1200" dirty="0">
                <a:solidFill>
                  <a:srgbClr val="1F2937"/>
                </a:solidFill>
                <a:latin typeface="Times New Roman" panose="02020603050405020304" pitchFamily="18" charset="0"/>
                <a:cs typeface="Times New Roman" panose="02020603050405020304" pitchFamily="18" charset="0"/>
              </a:rPr>
              <a:t>Scope?</a:t>
            </a:r>
            <a:endParaRPr lang="en-US" sz="1200" dirty="0">
              <a:latin typeface="Times New Roman" panose="02020603050405020304" pitchFamily="18" charset="0"/>
              <a:cs typeface="Times New Roman" panose="02020603050405020304" pitchFamily="18" charset="0"/>
            </a:endParaRPr>
          </a:p>
        </p:txBody>
      </p:sp>
      <p:sp>
        <p:nvSpPr>
          <p:cNvPr id="13" name="Shape 10"/>
          <p:cNvSpPr/>
          <p:nvPr/>
        </p:nvSpPr>
        <p:spPr>
          <a:xfrm>
            <a:off x="548640" y="4526280"/>
            <a:ext cx="2194560" cy="54864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621792" y="4526280"/>
            <a:ext cx="2048256" cy="54864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semester:</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every attempt</a:t>
            </a:r>
            <a:endParaRPr lang="en-US" sz="1300" dirty="0">
              <a:latin typeface="Times New Roman" panose="02020603050405020304" pitchFamily="18" charset="0"/>
              <a:cs typeface="Times New Roman" panose="02020603050405020304" pitchFamily="18" charset="0"/>
            </a:endParaRPr>
          </a:p>
        </p:txBody>
      </p:sp>
      <p:sp>
        <p:nvSpPr>
          <p:cNvPr id="15" name="Shape 12"/>
          <p:cNvSpPr/>
          <p:nvPr/>
        </p:nvSpPr>
        <p:spPr>
          <a:xfrm>
            <a:off x="3291840" y="4526280"/>
            <a:ext cx="2194560" cy="54864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3364992" y="4526280"/>
            <a:ext cx="2048256" cy="54864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cumulative: best</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attempt per course</a:t>
            </a:r>
            <a:endParaRPr lang="en-US" sz="1300" dirty="0">
              <a:latin typeface="Times New Roman" panose="02020603050405020304" pitchFamily="18" charset="0"/>
              <a:cs typeface="Times New Roman" panose="02020603050405020304" pitchFamily="18" charset="0"/>
            </a:endParaRPr>
          </a:p>
        </p:txBody>
      </p:sp>
      <p:sp>
        <p:nvSpPr>
          <p:cNvPr id="17" name="Shape 14"/>
          <p:cNvSpPr/>
          <p:nvPr/>
        </p:nvSpPr>
        <p:spPr>
          <a:xfrm>
            <a:off x="548640" y="5440680"/>
            <a:ext cx="4937760" cy="54864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8" name="Text 15"/>
          <p:cNvSpPr txBox="1"/>
          <p:nvPr/>
        </p:nvSpPr>
        <p:spPr>
          <a:xfrm>
            <a:off x="621792" y="5440680"/>
            <a:ext cx="4791456" cy="54864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GPA = Σ(point × credits) / Σ credits → classification</a:t>
            </a:r>
            <a:endParaRPr lang="en-US" sz="1300" dirty="0">
              <a:latin typeface="Times New Roman" panose="02020603050405020304" pitchFamily="18" charset="0"/>
              <a:cs typeface="Times New Roman" panose="02020603050405020304" pitchFamily="18" charset="0"/>
            </a:endParaRPr>
          </a:p>
        </p:txBody>
      </p:sp>
      <p:sp>
        <p:nvSpPr>
          <p:cNvPr id="19" name="Shape 16"/>
          <p:cNvSpPr/>
          <p:nvPr/>
        </p:nvSpPr>
        <p:spPr>
          <a:xfrm>
            <a:off x="3017520" y="1828800"/>
            <a:ext cx="0" cy="2286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0" name="Shape 17"/>
          <p:cNvSpPr/>
          <p:nvPr/>
        </p:nvSpPr>
        <p:spPr>
          <a:xfrm>
            <a:off x="3017520" y="2560320"/>
            <a:ext cx="0" cy="2286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1" name="Shape 18"/>
          <p:cNvSpPr/>
          <p:nvPr/>
        </p:nvSpPr>
        <p:spPr>
          <a:xfrm>
            <a:off x="3017520" y="3291840"/>
            <a:ext cx="0" cy="22860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2" name="Shape 19"/>
          <p:cNvSpPr/>
          <p:nvPr/>
        </p:nvSpPr>
        <p:spPr>
          <a:xfrm flipH="1">
            <a:off x="1645920" y="3886200"/>
            <a:ext cx="457200" cy="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3" name="Shape 20"/>
          <p:cNvSpPr/>
          <p:nvPr/>
        </p:nvSpPr>
        <p:spPr>
          <a:xfrm>
            <a:off x="1645920" y="3886200"/>
            <a:ext cx="0" cy="64008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4" name="Shape 21"/>
          <p:cNvSpPr/>
          <p:nvPr/>
        </p:nvSpPr>
        <p:spPr>
          <a:xfrm>
            <a:off x="3931920" y="3886200"/>
            <a:ext cx="457200" cy="0"/>
          </a:xfrm>
          <a:prstGeom prst="line">
            <a:avLst/>
          </a:prstGeom>
          <a:noFill/>
          <a:ln w="1905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5" name="Shape 22"/>
          <p:cNvSpPr/>
          <p:nvPr/>
        </p:nvSpPr>
        <p:spPr>
          <a:xfrm>
            <a:off x="4389120" y="3886200"/>
            <a:ext cx="0" cy="64008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6" name="Shape 23"/>
          <p:cNvSpPr/>
          <p:nvPr/>
        </p:nvSpPr>
        <p:spPr>
          <a:xfrm>
            <a:off x="1645920" y="5074920"/>
            <a:ext cx="0" cy="36576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7" name="Shape 24"/>
          <p:cNvSpPr/>
          <p:nvPr/>
        </p:nvSpPr>
        <p:spPr>
          <a:xfrm>
            <a:off x="4389120" y="5074920"/>
            <a:ext cx="0" cy="36576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8" name="Text 25"/>
          <p:cNvSpPr txBox="1"/>
          <p:nvPr/>
        </p:nvSpPr>
        <p:spPr>
          <a:xfrm>
            <a:off x="6126480" y="1325880"/>
            <a:ext cx="5577840" cy="365760"/>
          </a:xfrm>
          <a:prstGeom prst="rect">
            <a:avLst/>
          </a:prstGeom>
          <a:noFill/>
          <a:ln/>
        </p:spPr>
        <p:txBody>
          <a:bodyPr wrap="square" lIns="0" tIns="0" rIns="0" bIns="0" rtlCol="0" anchor="ctr"/>
          <a:lstStyle/>
          <a:p>
            <a:pPr marL="0" indent="0">
              <a:buNone/>
            </a:pPr>
            <a:r>
              <a:rPr lang="en-US" sz="1600" b="1" dirty="0">
                <a:solidFill>
                  <a:srgbClr val="1F2937"/>
                </a:solidFill>
                <a:latin typeface="Times New Roman" panose="02020603050405020304" pitchFamily="18" charset="0"/>
                <a:cs typeface="Times New Roman" panose="02020603050405020304" pitchFamily="18" charset="0"/>
              </a:rPr>
              <a:t>Worked example — student 2201010 (cumulative)</a:t>
            </a:r>
            <a:endParaRPr lang="en-US" sz="1600" dirty="0">
              <a:latin typeface="Times New Roman" panose="02020603050405020304" pitchFamily="18" charset="0"/>
              <a:cs typeface="Times New Roman" panose="02020603050405020304" pitchFamily="18" charset="0"/>
            </a:endParaR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26480" y="1737360"/>
          <a:ext cx="5577840" cy="2926080"/>
        </p:xfrm>
        <a:graphic>
          <a:graphicData uri="http://schemas.openxmlformats.org/drawingml/2006/table">
            <a:tbl>
              <a:tblPr/>
              <a:tblGrid>
                <a:gridCol w="13716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buNone/>
                      </a:pPr>
                      <a:r>
                        <a:rPr lang="en-US" sz="1300" b="1" dirty="0">
                          <a:solidFill>
                            <a:srgbClr val="FFFFFF"/>
                          </a:solidFill>
                        </a:rPr>
                        <a:t>Course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Best grade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Credits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Point × cr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300" dirty="0">
                          <a:solidFill>
                            <a:srgbClr val="1F2937"/>
                          </a:solidFill>
                        </a:rPr>
                        <a:t>GE101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C (2)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300" dirty="0">
                          <a:solidFill>
                            <a:srgbClr val="1F2937"/>
                          </a:solidFill>
                        </a:rPr>
                        <a:t>GE102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B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buNone/>
                      </a:pPr>
                      <a:r>
                        <a:rPr lang="en-US" sz="1300" dirty="0">
                          <a:solidFill>
                            <a:srgbClr val="1F2937"/>
                          </a:solidFill>
                        </a:rPr>
                        <a:t>CS101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D (1)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300" dirty="0">
                          <a:solidFill>
                            <a:srgbClr val="1F2937"/>
                          </a:solidFill>
                        </a:rPr>
                        <a:t>CS102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C (2)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buNone/>
                      </a:pPr>
                      <a:r>
                        <a:rPr lang="en-US" sz="1300" dirty="0">
                          <a:solidFill>
                            <a:srgbClr val="1F2937"/>
                          </a:solidFill>
                        </a:rPr>
                        <a:t>CS201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B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12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300" dirty="0">
                          <a:solidFill>
                            <a:srgbClr val="1F2937"/>
                          </a:solidFill>
                        </a:rPr>
                        <a:t>CS202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D (1)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buNone/>
                      </a:pPr>
                      <a:r>
                        <a:rPr lang="en-US" sz="1300" b="1" dirty="0">
                          <a:solidFill>
                            <a:srgbClr val="1F2937"/>
                          </a:solidFill>
                        </a:rPr>
                        <a:t>Total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b="1" dirty="0">
                          <a:solidFill>
                            <a:srgbClr val="1F2937"/>
                          </a:solidFill>
                        </a:rPr>
                        <a:t>18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b="1" dirty="0">
                          <a:solidFill>
                            <a:srgbClr val="1F2937"/>
                          </a:solidFill>
                        </a:rPr>
                        <a:t>37</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0" name="Text 26"/>
          <p:cNvSpPr txBox="1"/>
          <p:nvPr/>
        </p:nvSpPr>
        <p:spPr>
          <a:xfrm>
            <a:off x="6126480" y="4937760"/>
            <a:ext cx="5577840" cy="457200"/>
          </a:xfrm>
          <a:prstGeom prst="rect">
            <a:avLst/>
          </a:prstGeom>
          <a:noFill/>
          <a:ln/>
        </p:spPr>
        <p:txBody>
          <a:bodyPr wrap="square" lIns="0" tIns="0" rIns="0" bIns="0" rtlCol="0" anchor="ctr"/>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37 / 18 = 2.06 → Average</a:t>
            </a:r>
            <a:r>
              <a:rPr lang="en-US" sz="1300" dirty="0">
                <a:solidFill>
                  <a:srgbClr val="5B6475"/>
                </a:solidFill>
                <a:latin typeface="Times New Roman" panose="02020603050405020304" pitchFamily="18" charset="0"/>
                <a:cs typeface="Times New Roman" panose="02020603050405020304" pitchFamily="18" charset="0"/>
              </a:rPr>
              <a:t>   (semester 2024-1 alone: 0.38 → Weak)</a:t>
            </a:r>
            <a:endParaRPr lang="en-US" sz="1800" dirty="0">
              <a:latin typeface="Times New Roman" panose="02020603050405020304" pitchFamily="18" charset="0"/>
              <a:cs typeface="Times New Roman" panose="02020603050405020304" pitchFamily="18" charset="0"/>
            </a:endParaRPr>
          </a:p>
        </p:txBody>
      </p:sp>
      <p:sp>
        <p:nvSpPr>
          <p:cNvPr id="29"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22</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3 · FLOWCHART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Flowchart 3 — loading and validating the data</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2011680"/>
            <a:ext cx="1828800" cy="822960"/>
          </a:xfrm>
          <a:prstGeom prst="roundRect">
            <a:avLst>
              <a:gd name="adj" fmla="val 27778"/>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30352" y="2011680"/>
            <a:ext cx="168249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CSV files</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(data/sample)</a:t>
            </a:r>
            <a:endParaRPr lang="en-US" sz="1300" dirty="0">
              <a:latin typeface="Times New Roman" panose="02020603050405020304" pitchFamily="18" charset="0"/>
              <a:cs typeface="Times New Roman" panose="02020603050405020304" pitchFamily="18" charset="0"/>
            </a:endParaRPr>
          </a:p>
        </p:txBody>
      </p:sp>
      <p:sp>
        <p:nvSpPr>
          <p:cNvPr id="7" name="Shape 4"/>
          <p:cNvSpPr/>
          <p:nvPr/>
        </p:nvSpPr>
        <p:spPr>
          <a:xfrm>
            <a:off x="2651760" y="2011680"/>
            <a:ext cx="1828800" cy="82296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2724912" y="2011680"/>
            <a:ext cx="168249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parseCsv</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(UTF-8, quotes)</a:t>
            </a:r>
            <a:endParaRPr lang="en-US" sz="1300" dirty="0">
              <a:latin typeface="Times New Roman" panose="02020603050405020304" pitchFamily="18" charset="0"/>
              <a:cs typeface="Times New Roman" panose="02020603050405020304" pitchFamily="18" charset="0"/>
            </a:endParaRPr>
          </a:p>
        </p:txBody>
      </p:sp>
      <p:sp>
        <p:nvSpPr>
          <p:cNvPr id="9" name="Shape 6"/>
          <p:cNvSpPr/>
          <p:nvPr/>
        </p:nvSpPr>
        <p:spPr>
          <a:xfrm>
            <a:off x="4846320" y="1965960"/>
            <a:ext cx="1920240" cy="914400"/>
          </a:xfrm>
          <a:prstGeom prst="diamond">
            <a:avLst/>
          </a:prstGeom>
          <a:solidFill>
            <a:srgbClr val="FFF7E0"/>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0" name="Text 7"/>
          <p:cNvSpPr txBox="1"/>
          <p:nvPr/>
        </p:nvSpPr>
        <p:spPr>
          <a:xfrm>
            <a:off x="4919472" y="1965960"/>
            <a:ext cx="1773936" cy="914400"/>
          </a:xfrm>
          <a:prstGeom prst="rect">
            <a:avLst/>
          </a:prstGeom>
          <a:noFill/>
          <a:ln/>
        </p:spPr>
        <p:txBody>
          <a:bodyPr wrap="square" lIns="0" tIns="0" rIns="0" bIns="0" rtlCol="0" anchor="ctr"/>
          <a:lstStyle/>
          <a:p>
            <a:pPr marL="0" indent="0" algn="ctr">
              <a:buNone/>
            </a:pPr>
            <a:r>
              <a:rPr lang="en-US" sz="1200" dirty="0">
                <a:solidFill>
                  <a:srgbClr val="1F2937"/>
                </a:solidFill>
                <a:latin typeface="Times New Roman" panose="02020603050405020304" pitchFamily="18" charset="0"/>
                <a:cs typeface="Times New Roman" panose="02020603050405020304" pitchFamily="18" charset="0"/>
              </a:rPr>
              <a:t>Row valid?</a:t>
            </a:r>
            <a:endParaRPr lang="en-US" sz="1200" dirty="0">
              <a:latin typeface="Times New Roman" panose="02020603050405020304" pitchFamily="18" charset="0"/>
              <a:cs typeface="Times New Roman" panose="02020603050405020304" pitchFamily="18" charset="0"/>
            </a:endParaRPr>
          </a:p>
        </p:txBody>
      </p:sp>
      <p:sp>
        <p:nvSpPr>
          <p:cNvPr id="11" name="Shape 8"/>
          <p:cNvSpPr/>
          <p:nvPr/>
        </p:nvSpPr>
        <p:spPr>
          <a:xfrm>
            <a:off x="7223760" y="2011680"/>
            <a:ext cx="2377440" cy="822960"/>
          </a:xfrm>
          <a:prstGeom prst="rect">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7296912" y="2011680"/>
            <a:ext cx="223113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In-memory tables: students · courses · grades</a:t>
            </a:r>
            <a:endParaRPr lang="en-US" sz="1300" dirty="0">
              <a:latin typeface="Times New Roman" panose="02020603050405020304" pitchFamily="18" charset="0"/>
              <a:cs typeface="Times New Roman" panose="02020603050405020304" pitchFamily="18" charset="0"/>
            </a:endParaRPr>
          </a:p>
        </p:txBody>
      </p:sp>
      <p:sp>
        <p:nvSpPr>
          <p:cNvPr id="13" name="Shape 10"/>
          <p:cNvSpPr/>
          <p:nvPr/>
        </p:nvSpPr>
        <p:spPr>
          <a:xfrm>
            <a:off x="9966960" y="2011680"/>
            <a:ext cx="1737360" cy="822960"/>
          </a:xfrm>
          <a:prstGeom prst="roundRect">
            <a:avLst>
              <a:gd name="adj" fmla="val 27778"/>
            </a:avLst>
          </a:prstGeom>
          <a:solidFill>
            <a:srgbClr val="DDF3F1"/>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4" name="Text 11"/>
          <p:cNvSpPr txBox="1"/>
          <p:nvPr/>
        </p:nvSpPr>
        <p:spPr>
          <a:xfrm>
            <a:off x="10040112" y="2011680"/>
            <a:ext cx="159105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Tools · resources · prompts</a:t>
            </a:r>
            <a:endParaRPr lang="en-US" sz="1300" dirty="0">
              <a:latin typeface="Times New Roman" panose="02020603050405020304" pitchFamily="18" charset="0"/>
              <a:cs typeface="Times New Roman" panose="02020603050405020304" pitchFamily="18" charset="0"/>
            </a:endParaRPr>
          </a:p>
        </p:txBody>
      </p:sp>
      <p:sp>
        <p:nvSpPr>
          <p:cNvPr id="15" name="Shape 12"/>
          <p:cNvSpPr/>
          <p:nvPr/>
        </p:nvSpPr>
        <p:spPr>
          <a:xfrm>
            <a:off x="4434840" y="3657600"/>
            <a:ext cx="2743200" cy="822960"/>
          </a:xfrm>
          <a:prstGeom prst="rect">
            <a:avLst/>
          </a:prstGeom>
          <a:solidFill>
            <a:srgbClr val="FDECEC"/>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6" name="Text 13"/>
          <p:cNvSpPr txBox="1"/>
          <p:nvPr/>
        </p:nvSpPr>
        <p:spPr>
          <a:xfrm>
            <a:off x="4507992" y="3657600"/>
            <a:ext cx="259689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Issues list → resource academic://reports/data-quality</a:t>
            </a:r>
            <a:endParaRPr lang="en-US" sz="1300" dirty="0">
              <a:latin typeface="Times New Roman" panose="02020603050405020304" pitchFamily="18" charset="0"/>
              <a:cs typeface="Times New Roman" panose="02020603050405020304" pitchFamily="18" charset="0"/>
            </a:endParaRPr>
          </a:p>
        </p:txBody>
      </p:sp>
      <p:sp>
        <p:nvSpPr>
          <p:cNvPr id="17" name="Shape 14"/>
          <p:cNvSpPr/>
          <p:nvPr/>
        </p:nvSpPr>
        <p:spPr>
          <a:xfrm>
            <a:off x="2286000" y="242316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8" name="Shape 15"/>
          <p:cNvSpPr/>
          <p:nvPr/>
        </p:nvSpPr>
        <p:spPr>
          <a:xfrm>
            <a:off x="4480560" y="242316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19" name="Shape 16"/>
          <p:cNvSpPr/>
          <p:nvPr/>
        </p:nvSpPr>
        <p:spPr>
          <a:xfrm>
            <a:off x="6766560" y="2423160"/>
            <a:ext cx="45720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0" name="Text 17"/>
          <p:cNvSpPr txBox="1"/>
          <p:nvPr/>
        </p:nvSpPr>
        <p:spPr>
          <a:xfrm>
            <a:off x="6629400" y="2130552"/>
            <a:ext cx="731520" cy="256032"/>
          </a:xfrm>
          <a:prstGeom prst="rect">
            <a:avLst/>
          </a:prstGeom>
          <a:noFill/>
          <a:ln/>
        </p:spPr>
        <p:txBody>
          <a:bodyPr wrap="square" lIns="0" tIns="0" rIns="0" bIns="0" rtlCol="0" anchor="ctr"/>
          <a:lstStyle/>
          <a:p>
            <a:pPr marL="0" indent="0">
              <a:buNone/>
            </a:pPr>
            <a:r>
              <a:rPr lang="en-US" sz="1100" b="1" dirty="0">
                <a:solidFill>
                  <a:srgbClr val="2F855A"/>
                </a:solidFill>
                <a:latin typeface="Times New Roman" panose="02020603050405020304" pitchFamily="18" charset="0"/>
                <a:cs typeface="Times New Roman" panose="02020603050405020304" pitchFamily="18" charset="0"/>
              </a:rPr>
              <a:t>yes</a:t>
            </a:r>
            <a:endParaRPr lang="en-US" sz="1100" dirty="0">
              <a:latin typeface="Times New Roman" panose="02020603050405020304" pitchFamily="18" charset="0"/>
              <a:cs typeface="Times New Roman" panose="02020603050405020304" pitchFamily="18" charset="0"/>
            </a:endParaRPr>
          </a:p>
        </p:txBody>
      </p:sp>
      <p:sp>
        <p:nvSpPr>
          <p:cNvPr id="21" name="Shape 18"/>
          <p:cNvSpPr/>
          <p:nvPr/>
        </p:nvSpPr>
        <p:spPr>
          <a:xfrm>
            <a:off x="9601200" y="242316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2" name="Shape 19"/>
          <p:cNvSpPr/>
          <p:nvPr/>
        </p:nvSpPr>
        <p:spPr>
          <a:xfrm>
            <a:off x="5806440" y="2880360"/>
            <a:ext cx="0" cy="77724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23" name="Text 20"/>
          <p:cNvSpPr txBox="1"/>
          <p:nvPr/>
        </p:nvSpPr>
        <p:spPr>
          <a:xfrm>
            <a:off x="5879592" y="3131820"/>
            <a:ext cx="731520" cy="256032"/>
          </a:xfrm>
          <a:prstGeom prst="rect">
            <a:avLst/>
          </a:prstGeom>
          <a:noFill/>
          <a:ln/>
        </p:spPr>
        <p:txBody>
          <a:bodyPr wrap="square" lIns="0" tIns="0" rIns="0" bIns="0" rtlCol="0" anchor="ctr"/>
          <a:lstStyle/>
          <a:p>
            <a:pPr marL="0" indent="0">
              <a:buNone/>
            </a:pPr>
            <a:r>
              <a:rPr lang="en-US" sz="1100" b="1" dirty="0">
                <a:solidFill>
                  <a:srgbClr val="C53030"/>
                </a:solidFill>
                <a:latin typeface="Times New Roman" panose="02020603050405020304" pitchFamily="18" charset="0"/>
                <a:cs typeface="Times New Roman" panose="02020603050405020304" pitchFamily="18" charset="0"/>
              </a:rPr>
              <a:t>no</a:t>
            </a:r>
            <a:endParaRPr lang="en-US" sz="1100" dirty="0">
              <a:latin typeface="Times New Roman" panose="02020603050405020304" pitchFamily="18" charset="0"/>
              <a:cs typeface="Times New Roman" panose="02020603050405020304" pitchFamily="18" charset="0"/>
            </a:endParaRPr>
          </a:p>
        </p:txBody>
      </p:sp>
      <p:sp>
        <p:nvSpPr>
          <p:cNvPr id="24" name="Text 21"/>
          <p:cNvSpPr txBox="1"/>
          <p:nvPr/>
        </p:nvSpPr>
        <p:spPr>
          <a:xfrm>
            <a:off x="457200" y="3291840"/>
            <a:ext cx="3749040" cy="822960"/>
          </a:xfrm>
          <a:prstGeom prst="rect">
            <a:avLst/>
          </a:prstGeom>
          <a:noFill/>
          <a:ln/>
        </p:spPr>
        <p:txBody>
          <a:bodyPr wrap="square" lIns="0" tIns="0" rIns="0" bIns="0" rtlCol="0" anchor="ctr"/>
          <a:lstStyle/>
          <a:p>
            <a:pPr marL="0" indent="0">
              <a:buNone/>
            </a:pPr>
            <a:r>
              <a:rPr lang="en-US" sz="1300" i="1" dirty="0">
                <a:solidFill>
                  <a:srgbClr val="5B6475"/>
                </a:solidFill>
                <a:latin typeface="Times New Roman" panose="02020603050405020304" pitchFamily="18" charset="0"/>
                <a:cs typeface="Times New Roman" panose="02020603050405020304" pitchFamily="18" charset="0"/>
              </a:rPr>
              <a:t>missing id · unknown student / course · score outside 0–10 · duplicate</a:t>
            </a:r>
            <a:endParaRPr lang="en-US" sz="1300" dirty="0">
              <a:latin typeface="Times New Roman" panose="02020603050405020304" pitchFamily="18" charset="0"/>
              <a:cs typeface="Times New Roman" panose="02020603050405020304" pitchFamily="18" charset="0"/>
            </a:endParaRPr>
          </a:p>
        </p:txBody>
      </p:sp>
      <p:sp>
        <p:nvSpPr>
          <p:cNvPr id="25" name="Shape 22"/>
          <p:cNvSpPr/>
          <p:nvPr/>
        </p:nvSpPr>
        <p:spPr>
          <a:xfrm>
            <a:off x="7406640" y="3657600"/>
            <a:ext cx="2194560" cy="822960"/>
          </a:xfrm>
          <a:prstGeom prst="rect">
            <a:avLst/>
          </a:prstGeom>
          <a:solidFill>
            <a:srgbClr val="EEF2F6"/>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6" name="Text 23"/>
          <p:cNvSpPr txBox="1"/>
          <p:nvPr/>
        </p:nvSpPr>
        <p:spPr>
          <a:xfrm>
            <a:off x="7479792" y="3657600"/>
            <a:ext cx="204825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update_grade (after user confirms)</a:t>
            </a:r>
            <a:endParaRPr lang="en-US" sz="1300" dirty="0">
              <a:latin typeface="Times New Roman" panose="02020603050405020304" pitchFamily="18" charset="0"/>
              <a:cs typeface="Times New Roman" panose="02020603050405020304" pitchFamily="18" charset="0"/>
            </a:endParaRPr>
          </a:p>
        </p:txBody>
      </p:sp>
      <p:sp>
        <p:nvSpPr>
          <p:cNvPr id="27" name="Shape 24"/>
          <p:cNvSpPr/>
          <p:nvPr/>
        </p:nvSpPr>
        <p:spPr>
          <a:xfrm>
            <a:off x="9966960" y="3657600"/>
            <a:ext cx="1737360" cy="822960"/>
          </a:xfrm>
          <a:prstGeom prst="rect">
            <a:avLst/>
          </a:prstGeom>
          <a:solidFill>
            <a:srgbClr val="FFF7E0"/>
          </a:solidFill>
          <a:ln w="12700">
            <a:solidFill>
              <a:srgbClr val="8A94A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28" name="Text 25"/>
          <p:cNvSpPr txBox="1"/>
          <p:nvPr/>
        </p:nvSpPr>
        <p:spPr>
          <a:xfrm>
            <a:off x="10040112" y="3657600"/>
            <a:ext cx="1591056" cy="822960"/>
          </a:xfrm>
          <a:prstGeom prst="rect">
            <a:avLst/>
          </a:prstGeom>
          <a:noFill/>
          <a:ln/>
        </p:spPr>
        <p:txBody>
          <a:bodyPr wrap="square" lIns="0" tIns="0" rIns="0" bIns="0" rtlCol="0" anchor="ctr"/>
          <a:lstStyle/>
          <a:p>
            <a:pPr marL="0" indent="0" algn="ctr">
              <a:buNone/>
            </a:pPr>
            <a:r>
              <a:rPr lang="en-US" sz="1300" dirty="0">
                <a:solidFill>
                  <a:srgbClr val="1F2937"/>
                </a:solidFill>
                <a:latin typeface="Times New Roman" panose="02020603050405020304" pitchFamily="18" charset="0"/>
                <a:cs typeface="Times New Roman" panose="02020603050405020304" pitchFamily="18" charset="0"/>
              </a:rPr>
              <a:t>notifications/resources/updated → subscribers</a:t>
            </a:r>
            <a:endParaRPr lang="en-US" sz="1300" dirty="0">
              <a:latin typeface="Times New Roman" panose="02020603050405020304" pitchFamily="18" charset="0"/>
              <a:cs typeface="Times New Roman" panose="02020603050405020304" pitchFamily="18" charset="0"/>
            </a:endParaRPr>
          </a:p>
        </p:txBody>
      </p:sp>
      <p:sp>
        <p:nvSpPr>
          <p:cNvPr id="29" name="Shape 26"/>
          <p:cNvSpPr/>
          <p:nvPr/>
        </p:nvSpPr>
        <p:spPr>
          <a:xfrm flipV="1">
            <a:off x="8412480" y="2834640"/>
            <a:ext cx="0" cy="82296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30" name="Shape 27"/>
          <p:cNvSpPr/>
          <p:nvPr/>
        </p:nvSpPr>
        <p:spPr>
          <a:xfrm>
            <a:off x="9601200" y="4069080"/>
            <a:ext cx="365760" cy="0"/>
          </a:xfrm>
          <a:prstGeom prst="line">
            <a:avLst/>
          </a:prstGeom>
          <a:noFill/>
          <a:ln w="19050">
            <a:solidFill>
              <a:srgbClr val="8A94A6"/>
            </a:solidFill>
            <a:prstDash val="solid"/>
            <a:tailEnd type="triangle"/>
          </a:ln>
        </p:spPr>
        <p:txBody>
          <a:bodyPr/>
          <a:lstStyle/>
          <a:p>
            <a:endParaRPr lang="en-VN">
              <a:latin typeface="Times New Roman" panose="02020603050405020304" pitchFamily="18" charset="0"/>
              <a:cs typeface="Times New Roman" panose="02020603050405020304" pitchFamily="18" charset="0"/>
            </a:endParaRPr>
          </a:p>
        </p:txBody>
      </p:sp>
      <p:sp>
        <p:nvSpPr>
          <p:cNvPr id="31" name="Text 28"/>
          <p:cNvSpPr txBox="1"/>
          <p:nvPr/>
        </p:nvSpPr>
        <p:spPr>
          <a:xfrm>
            <a:off x="457200" y="4937760"/>
            <a:ext cx="3566160" cy="1005840"/>
          </a:xfrm>
          <a:prstGeom prst="rect">
            <a:avLst/>
          </a:prstGeom>
          <a:noFill/>
          <a:ln/>
        </p:spPr>
        <p:txBody>
          <a:bodyPr wrap="square" lIns="0" tIns="0" rIns="0" bIns="0" rtlCol="0" anchor="ctr"/>
          <a:lstStyle/>
          <a:p>
            <a:pPr marL="0" indent="0">
              <a:buNone/>
            </a:pPr>
            <a:r>
              <a:rPr lang="en-US" sz="3400" b="1" dirty="0">
                <a:solidFill>
                  <a:srgbClr val="0F8B8D"/>
                </a:solidFill>
                <a:latin typeface="Times New Roman" panose="02020603050405020304" pitchFamily="18" charset="0"/>
                <a:cs typeface="Times New Roman" panose="02020603050405020304" pitchFamily="18" charset="0"/>
              </a:rPr>
              <a:t>7 / 7</a:t>
            </a:r>
            <a:endParaRPr lang="en-US" sz="34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broken rows detected</a:t>
            </a:r>
            <a:endParaRPr lang="en-US" sz="3400" dirty="0">
              <a:latin typeface="Times New Roman" panose="02020603050405020304" pitchFamily="18" charset="0"/>
              <a:cs typeface="Times New Roman" panose="02020603050405020304" pitchFamily="18" charset="0"/>
            </a:endParaRPr>
          </a:p>
        </p:txBody>
      </p:sp>
      <p:sp>
        <p:nvSpPr>
          <p:cNvPr id="32" name="Text 29"/>
          <p:cNvSpPr txBox="1"/>
          <p:nvPr/>
        </p:nvSpPr>
        <p:spPr>
          <a:xfrm>
            <a:off x="4206240" y="4937760"/>
            <a:ext cx="3566160" cy="1005840"/>
          </a:xfrm>
          <a:prstGeom prst="rect">
            <a:avLst/>
          </a:prstGeom>
          <a:noFill/>
          <a:ln/>
        </p:spPr>
        <p:txBody>
          <a:bodyPr wrap="square" lIns="0" tIns="0" rIns="0" bIns="0" rtlCol="0" anchor="ctr"/>
          <a:lstStyle/>
          <a:p>
            <a:pPr marL="0" indent="0">
              <a:buNone/>
            </a:pPr>
            <a:r>
              <a:rPr lang="en-US" sz="3400" b="1" dirty="0">
                <a:solidFill>
                  <a:srgbClr val="0F8B8D"/>
                </a:solidFill>
                <a:latin typeface="Times New Roman" panose="02020603050405020304" pitchFamily="18" charset="0"/>
                <a:cs typeface="Times New Roman" panose="02020603050405020304" pitchFamily="18" charset="0"/>
              </a:rPr>
              <a:t>0</a:t>
            </a:r>
            <a:endParaRPr lang="en-US" sz="34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broken rows used in a calculation</a:t>
            </a:r>
            <a:endParaRPr lang="en-US" sz="3400" dirty="0">
              <a:latin typeface="Times New Roman" panose="02020603050405020304" pitchFamily="18" charset="0"/>
              <a:cs typeface="Times New Roman" panose="02020603050405020304" pitchFamily="18" charset="0"/>
            </a:endParaRPr>
          </a:p>
        </p:txBody>
      </p:sp>
      <p:sp>
        <p:nvSpPr>
          <p:cNvPr id="33" name="Text 30"/>
          <p:cNvSpPr txBox="1"/>
          <p:nvPr/>
        </p:nvSpPr>
        <p:spPr>
          <a:xfrm>
            <a:off x="7955280" y="4937760"/>
            <a:ext cx="3566160" cy="1005840"/>
          </a:xfrm>
          <a:prstGeom prst="rect">
            <a:avLst/>
          </a:prstGeom>
          <a:noFill/>
          <a:ln/>
        </p:spPr>
        <p:txBody>
          <a:bodyPr wrap="square" lIns="0" tIns="0" rIns="0" bIns="0" rtlCol="0" anchor="ctr"/>
          <a:lstStyle/>
          <a:p>
            <a:pPr marL="0" indent="0">
              <a:buNone/>
            </a:pPr>
            <a:r>
              <a:rPr lang="en-US" sz="3400" b="1" dirty="0">
                <a:solidFill>
                  <a:srgbClr val="0F8B8D"/>
                </a:solidFill>
                <a:latin typeface="Times New Roman" panose="02020603050405020304" pitchFamily="18" charset="0"/>
                <a:cs typeface="Times New Roman" panose="02020603050405020304" pitchFamily="18" charset="0"/>
              </a:rPr>
              <a:t>261</a:t>
            </a:r>
            <a:endParaRPr lang="en-US" sz="3400" dirty="0">
              <a:latin typeface="Times New Roman" panose="02020603050405020304" pitchFamily="18" charset="0"/>
              <a:cs typeface="Times New Roman" panose="02020603050405020304" pitchFamily="18" charset="0"/>
            </a:endParaRPr>
          </a:p>
          <a:p>
            <a:pPr marL="0" indent="0">
              <a:buNone/>
            </a:pPr>
            <a:r>
              <a:rPr lang="en-US" sz="1400" dirty="0">
                <a:solidFill>
                  <a:srgbClr val="5B6475"/>
                </a:solidFill>
                <a:latin typeface="Times New Roman" panose="02020603050405020304" pitchFamily="18" charset="0"/>
                <a:cs typeface="Times New Roman" panose="02020603050405020304" pitchFamily="18" charset="0"/>
              </a:rPr>
              <a:t>valid grade rows loaded</a:t>
            </a:r>
            <a:endParaRPr lang="en-US" sz="3400" dirty="0">
              <a:latin typeface="Times New Roman" panose="02020603050405020304" pitchFamily="18" charset="0"/>
              <a:cs typeface="Times New Roman" panose="02020603050405020304" pitchFamily="18" charset="0"/>
            </a:endParaRPr>
          </a:p>
        </p:txBody>
      </p:sp>
      <p:sp>
        <p:nvSpPr>
          <p:cNvPr id="4"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23</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2 · ALGORITHM</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Algorithm detail: the server asks back</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5486400" cy="4480560"/>
          </a:xfrm>
          <a:prstGeom prst="roundRect">
            <a:avLst>
              <a:gd name="adj" fmla="val 163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40080" y="1600200"/>
            <a:ext cx="512064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Elicitation — human in the loop</a:t>
            </a:r>
            <a:endParaRPr lang="en-US" sz="1800" dirty="0">
              <a:latin typeface="Times New Roman" panose="02020603050405020304" pitchFamily="18" charset="0"/>
              <a:cs typeface="Times New Roman" panose="02020603050405020304" pitchFamily="18" charset="0"/>
            </a:endParaRPr>
          </a:p>
        </p:txBody>
      </p:sp>
      <p:sp>
        <p:nvSpPr>
          <p:cNvPr id="7" name="Text 4"/>
          <p:cNvSpPr txBox="1"/>
          <p:nvPr/>
        </p:nvSpPr>
        <p:spPr>
          <a:xfrm>
            <a:off x="640080" y="2103120"/>
            <a:ext cx="5120640" cy="3703320"/>
          </a:xfrm>
          <a:prstGeom prst="rect">
            <a:avLst/>
          </a:prstGeom>
          <a:noFill/>
          <a:ln/>
        </p:spPr>
        <p:txBody>
          <a:bodyPr wrap="square" lIns="0" tIns="0" rIns="0" bIns="0" rtlCol="0" anchor="t"/>
          <a:lstStyle/>
          <a:p>
            <a:pPr marL="0" indent="0">
              <a:buNone/>
            </a:pPr>
            <a:r>
              <a:rPr lang="en-US" sz="1500" dirty="0">
                <a:solidFill>
                  <a:srgbClr val="1F2937"/>
                </a:solidFill>
                <a:latin typeface="Times New Roman" panose="02020603050405020304" pitchFamily="18" charset="0"/>
                <a:cs typeface="Times New Roman" panose="02020603050405020304" pitchFamily="18" charset="0"/>
              </a:rPr>
              <a:t>Tools: update_grade, save_report (overwrite)</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1. LLM calls update_grade(...)</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2. Server pauses and asks the USER: accept / decline / cancel</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3. Only "accept" changes the data</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Real catch: the LLM invented process_score: 0 — the confirmation dialog showed it, so we made omitted scores keep their value.</a:t>
            </a:r>
            <a:endParaRPr lang="en-US" sz="1500" dirty="0">
              <a:latin typeface="Times New Roman" panose="02020603050405020304" pitchFamily="18" charset="0"/>
              <a:cs typeface="Times New Roman" panose="02020603050405020304" pitchFamily="18" charset="0"/>
            </a:endParaRPr>
          </a:p>
        </p:txBody>
      </p:sp>
      <p:sp>
        <p:nvSpPr>
          <p:cNvPr id="8" name="Shape 5"/>
          <p:cNvSpPr/>
          <p:nvPr/>
        </p:nvSpPr>
        <p:spPr>
          <a:xfrm>
            <a:off x="6217920" y="1463040"/>
            <a:ext cx="5486400" cy="4480560"/>
          </a:xfrm>
          <a:prstGeom prst="roundRect">
            <a:avLst>
              <a:gd name="adj" fmla="val 163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6400800" y="1600200"/>
            <a:ext cx="512064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Sampling — server borrows the LLM</a:t>
            </a:r>
            <a:endParaRPr lang="en-US" sz="1800" dirty="0">
              <a:latin typeface="Times New Roman" panose="02020603050405020304" pitchFamily="18" charset="0"/>
              <a:cs typeface="Times New Roman" panose="02020603050405020304" pitchFamily="18" charset="0"/>
            </a:endParaRPr>
          </a:p>
        </p:txBody>
      </p:sp>
      <p:sp>
        <p:nvSpPr>
          <p:cNvPr id="10" name="Text 7"/>
          <p:cNvSpPr txBox="1"/>
          <p:nvPr/>
        </p:nvSpPr>
        <p:spPr>
          <a:xfrm>
            <a:off x="6400800" y="2103120"/>
            <a:ext cx="5120640" cy="3703320"/>
          </a:xfrm>
          <a:prstGeom prst="rect">
            <a:avLst/>
          </a:prstGeom>
          <a:noFill/>
          <a:ln/>
        </p:spPr>
        <p:txBody>
          <a:bodyPr wrap="square" lIns="0" tIns="0" rIns="0" bIns="0" rtlCol="0" anchor="t"/>
          <a:lstStyle/>
          <a:p>
            <a:pPr marL="0" indent="0">
              <a:buNone/>
            </a:pPr>
            <a:r>
              <a:rPr lang="en-US" sz="1500" dirty="0">
                <a:solidFill>
                  <a:srgbClr val="1F2937"/>
                </a:solidFill>
                <a:latin typeface="Times New Roman" panose="02020603050405020304" pitchFamily="18" charset="0"/>
                <a:cs typeface="Times New Roman" panose="02020603050405020304" pitchFamily="18" charset="0"/>
              </a:rPr>
              <a:t>Tool: generate_student_feedback</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1. Server builds a prompt from the transcript</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2. Server asks the HOST's model to write the text</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3. Host decides which model and may refuse</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2025 era: server pushes elicitation/create · sampling/createMessage</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2026 era: tool returns inputRequired(...), client answers and retries</a:t>
            </a:r>
            <a:endParaRPr lang="en-US" sz="15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24</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828800"/>
            <a:ext cx="2743200" cy="1097280"/>
          </a:xfrm>
          <a:prstGeom prst="rect">
            <a:avLst/>
          </a:prstGeom>
          <a:noFill/>
          <a:ln/>
        </p:spPr>
        <p:txBody>
          <a:bodyPr wrap="square" lIns="0" tIns="0" rIns="0" bIns="0" rtlCol="0" anchor="ctr"/>
          <a:lstStyle/>
          <a:p>
            <a:pPr marL="0" indent="0">
              <a:buNone/>
            </a:pPr>
            <a:r>
              <a:rPr lang="en-US" sz="7200" b="1" dirty="0">
                <a:solidFill>
                  <a:srgbClr val="0F8B8D"/>
                </a:solidFill>
                <a:latin typeface="Times New Roman" panose="02020603050405020304" pitchFamily="18" charset="0"/>
                <a:cs typeface="Times New Roman" panose="02020603050405020304" pitchFamily="18" charset="0"/>
              </a:rPr>
              <a:t>4</a:t>
            </a:r>
            <a:endParaRPr lang="en-US" sz="7200" dirty="0">
              <a:latin typeface="Times New Roman" panose="02020603050405020304" pitchFamily="18" charset="0"/>
              <a:cs typeface="Times New Roman" panose="02020603050405020304" pitchFamily="18" charset="0"/>
            </a:endParaRPr>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Times New Roman" panose="02020603050405020304" pitchFamily="18" charset="0"/>
                <a:cs typeface="Times New Roman" panose="02020603050405020304" pitchFamily="18" charset="0"/>
              </a:rPr>
              <a:t>Libraries</a:t>
            </a:r>
            <a:endParaRPr lang="en-US" sz="4000" dirty="0">
              <a:latin typeface="Times New Roman" panose="02020603050405020304" pitchFamily="18" charset="0"/>
              <a:cs typeface="Times New Roman" panose="02020603050405020304" pitchFamily="18" charset="0"/>
            </a:endParaRPr>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marL="0" indent="0">
              <a:buNone/>
            </a:pPr>
            <a:r>
              <a:rPr lang="en-US" sz="1800" dirty="0">
                <a:solidFill>
                  <a:srgbClr val="C9D3E6"/>
                </a:solidFill>
                <a:latin typeface="Times New Roman" panose="02020603050405020304" pitchFamily="18" charset="0"/>
                <a:cs typeface="Times New Roman" panose="02020603050405020304" pitchFamily="18" charset="0"/>
              </a:rPr>
              <a:t>MCP TypeScript SDK v2 and what we used around it</a:t>
            </a:r>
            <a:endParaRPr lang="en-US"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4 · LIBRARIES</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Libraries used</a:t>
            </a:r>
            <a:endParaRPr lang="en-US" sz="3000" dirty="0">
              <a:latin typeface="Times New Roman" panose="02020603050405020304" pitchFamily="18" charset="0"/>
              <a:cs typeface="Times New Roman" panose="02020603050405020304" pitchFamily="18" charset="0"/>
            </a:endParaRPr>
          </a:p>
        </p:txBody>
      </p:sp>
      <p:graphicFrame>
        <p:nvGraphicFramePr>
          <p:cNvPr id="27" name="Table 0"/>
          <p:cNvGraphicFramePr>
            <a:graphicFrameLocks noGrp="1"/>
          </p:cNvGraphicFramePr>
          <p:nvPr>
            <p:extLst>
              <p:ext uri="{D42A27DB-BD31-4B8C-83A1-F6EECF244321}">
                <p14:modId xmlns:p14="http://schemas.microsoft.com/office/powerpoint/2010/main" val="4225177843"/>
              </p:ext>
            </p:extLst>
          </p:nvPr>
        </p:nvGraphicFramePr>
        <p:xfrm>
          <a:off x="1315616" y="1408176"/>
          <a:ext cx="10730205" cy="4538472"/>
        </p:xfrm>
        <a:graphic>
          <a:graphicData uri="http://schemas.openxmlformats.org/drawingml/2006/table">
            <a:tbl>
              <a:tblPr/>
              <a:tblGrid>
                <a:gridCol w="3402260">
                  <a:extLst>
                    <a:ext uri="{9D8B030D-6E8A-4147-A177-3AD203B41FA5}">
                      <a16:colId xmlns:a16="http://schemas.microsoft.com/office/drawing/2014/main" val="20000"/>
                    </a:ext>
                  </a:extLst>
                </a:gridCol>
                <a:gridCol w="1134087">
                  <a:extLst>
                    <a:ext uri="{9D8B030D-6E8A-4147-A177-3AD203B41FA5}">
                      <a16:colId xmlns:a16="http://schemas.microsoft.com/office/drawing/2014/main" val="20001"/>
                    </a:ext>
                  </a:extLst>
                </a:gridCol>
                <a:gridCol w="6193858">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rPr>
                        <a:t>Package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Version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Role in our project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@modelcontextprotocol/server</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2.0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Build MCP servers: McpServer, registerTool/Resource/Prompt, serveStdio, createMcpHandler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@modelcontextprotocol/client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2.0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Connect to servers from the host: Client, StdioClientTransport, StreamableHTTPClientTransport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@modelcontextprotocol/node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2.0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Serve over node:http — toNodeHandler, localhost Host/Origin validation (403)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zod</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4.2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Typed input/output schemas → JSON Schema the LLM reads; invalid args rejected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@google/genai</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2.23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LLM #1: Gemini (cloud)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openai</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7.20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LLM #2: Qwen3 4B through Ollama's OpenAI-compatible endpoint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hono</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4.11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Web framework used by the SDK's HTTP handler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tsx · typescript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4.23 · 5.9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Run TypeScript directly · type checking (dev)</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Text 2"/>
          <p:cNvSpPr txBox="1"/>
          <p:nvPr/>
        </p:nvSpPr>
        <p:spPr>
          <a:xfrm>
            <a:off x="1315616" y="5982789"/>
            <a:ext cx="11247120" cy="320040"/>
          </a:xfrm>
          <a:prstGeom prst="rect">
            <a:avLst/>
          </a:prstGeom>
          <a:noFill/>
          <a:ln/>
        </p:spPr>
        <p:txBody>
          <a:bodyPr wrap="square" lIns="0" tIns="0" rIns="0" bIns="0" rtlCol="0" anchor="ctr"/>
          <a:lstStyle/>
          <a:p>
            <a:pPr marL="0" indent="0">
              <a:buNone/>
            </a:pPr>
            <a:r>
              <a:rPr lang="en-US" sz="1300" dirty="0">
                <a:solidFill>
                  <a:srgbClr val="5B6475"/>
                </a:solidFill>
                <a:latin typeface="Times New Roman" panose="02020603050405020304" pitchFamily="18" charset="0"/>
                <a:cs typeface="Times New Roman" panose="02020603050405020304" pitchFamily="18" charset="0"/>
              </a:rPr>
              <a:t>Runtime: Node.js ≥ 20 (we use 24) · ES modules · Ollama 0.33 for the local model</a:t>
            </a:r>
            <a:endParaRPr lang="en-US" sz="13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26</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4 · LIBRARIES</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SDK v2 vs v1</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5486400" cy="4206240"/>
          </a:xfrm>
          <a:prstGeom prst="roundRect">
            <a:avLst>
              <a:gd name="adj" fmla="val 1739"/>
            </a:avLst>
          </a:prstGeom>
          <a:solidFill>
            <a:srgbClr val="F1F1F1"/>
          </a:solidFill>
          <a:ln w="12700">
            <a:solidFill>
              <a:srgbClr val="F1F1F1"/>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40080" y="1600200"/>
            <a:ext cx="5120640" cy="457200"/>
          </a:xfrm>
          <a:prstGeom prst="rect">
            <a:avLst/>
          </a:prstGeom>
          <a:noFill/>
          <a:ln/>
        </p:spPr>
        <p:txBody>
          <a:bodyPr wrap="square" lIns="0" tIns="0" rIns="0" bIns="0" rtlCol="0" anchor="t"/>
          <a:lstStyle/>
          <a:p>
            <a:pPr marL="0" indent="0">
              <a:buNone/>
            </a:pPr>
            <a:r>
              <a:rPr lang="en-US" sz="1800" b="1" dirty="0">
                <a:solidFill>
                  <a:srgbClr val="5B6475"/>
                </a:solidFill>
                <a:latin typeface="Times New Roman" panose="02020603050405020304" pitchFamily="18" charset="0"/>
                <a:cs typeface="Times New Roman" panose="02020603050405020304" pitchFamily="18" charset="0"/>
              </a:rPr>
              <a:t>SDK v1 (legacy)</a:t>
            </a:r>
            <a:endParaRPr lang="en-US" sz="1800" dirty="0">
              <a:latin typeface="Times New Roman" panose="02020603050405020304" pitchFamily="18" charset="0"/>
              <a:cs typeface="Times New Roman" panose="02020603050405020304" pitchFamily="18" charset="0"/>
            </a:endParaRPr>
          </a:p>
        </p:txBody>
      </p:sp>
      <p:sp>
        <p:nvSpPr>
          <p:cNvPr id="7" name="Text 4"/>
          <p:cNvSpPr txBox="1"/>
          <p:nvPr/>
        </p:nvSpPr>
        <p:spPr>
          <a:xfrm>
            <a:off x="640080" y="2103120"/>
            <a:ext cx="5120640" cy="3429000"/>
          </a:xfrm>
          <a:prstGeom prst="rect">
            <a:avLst/>
          </a:prstGeom>
          <a:noFill/>
          <a:ln/>
        </p:spPr>
        <p:txBody>
          <a:bodyPr wrap="square" lIns="0" tIns="0" rIns="0" bIns="0" rtlCol="0" anchor="t"/>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 One package: @modelcontextprotocol/sdk</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 Spec 2025 only: initialize handshake, stateful sessions</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 One server instance wired to one transport</a:t>
            </a:r>
            <a:endParaRPr lang="en-US" sz="1700" dirty="0">
              <a:latin typeface="Times New Roman" panose="02020603050405020304" pitchFamily="18" charset="0"/>
              <a:cs typeface="Times New Roman" panose="02020603050405020304" pitchFamily="18" charset="0"/>
            </a:endParaRPr>
          </a:p>
        </p:txBody>
      </p:sp>
      <p:sp>
        <p:nvSpPr>
          <p:cNvPr id="8" name="Shape 5"/>
          <p:cNvSpPr/>
          <p:nvPr/>
        </p:nvSpPr>
        <p:spPr>
          <a:xfrm>
            <a:off x="6217920" y="1463040"/>
            <a:ext cx="5486400" cy="4206240"/>
          </a:xfrm>
          <a:prstGeom prst="roundRect">
            <a:avLst>
              <a:gd name="adj" fmla="val 1739"/>
            </a:avLst>
          </a:prstGeom>
          <a:solidFill>
            <a:srgbClr val="DDF3F1"/>
          </a:solidFill>
          <a:ln w="12700">
            <a:solidFill>
              <a:srgbClr val="DDF3F1"/>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6400800" y="1600200"/>
            <a:ext cx="512064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SDK v2 (what we use)</a:t>
            </a:r>
            <a:endParaRPr lang="en-US" sz="1800" dirty="0">
              <a:latin typeface="Times New Roman" panose="02020603050405020304" pitchFamily="18" charset="0"/>
              <a:cs typeface="Times New Roman" panose="02020603050405020304" pitchFamily="18" charset="0"/>
            </a:endParaRPr>
          </a:p>
        </p:txBody>
      </p:sp>
      <p:sp>
        <p:nvSpPr>
          <p:cNvPr id="10" name="Text 7"/>
          <p:cNvSpPr txBox="1"/>
          <p:nvPr/>
        </p:nvSpPr>
        <p:spPr>
          <a:xfrm>
            <a:off x="6400800" y="2103120"/>
            <a:ext cx="5120640" cy="3429000"/>
          </a:xfrm>
          <a:prstGeom prst="rect">
            <a:avLst/>
          </a:prstGeom>
          <a:noFill/>
          <a:ln/>
        </p:spPr>
        <p:txBody>
          <a:bodyPr wrap="square" lIns="0" tIns="0" rIns="0" bIns="0" rtlCol="0" anchor="t"/>
          <a:lstStyle/>
          <a:p>
            <a:pPr marL="0" indent="0">
              <a:buNone/>
            </a:pPr>
            <a:r>
              <a:rPr lang="en-US" sz="1700" dirty="0">
                <a:solidFill>
                  <a:srgbClr val="1F2937"/>
                </a:solidFill>
                <a:latin typeface="Times New Roman" panose="02020603050405020304" pitchFamily="18" charset="0"/>
                <a:cs typeface="Times New Roman" panose="02020603050405020304" pitchFamily="18" charset="0"/>
              </a:rPr>
              <a:t>• Split packages: /server, /client, /node (+ express, hono adapters)</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 Spec 2026-07-28 (server/discover, stateless) AND still serves 2025 clients</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 Server = factory(ctx) → McpServer, called per connection; ctx.era tells the protocol</a:t>
            </a:r>
            <a:endParaRPr lang="en-US" sz="1700" dirty="0">
              <a:latin typeface="Times New Roman" panose="02020603050405020304" pitchFamily="18" charset="0"/>
              <a:cs typeface="Times New Roman" panose="02020603050405020304" pitchFamily="18" charset="0"/>
            </a:endParaRPr>
          </a:p>
          <a:p>
            <a:pPr marL="0" indent="0">
              <a:buNone/>
            </a:pPr>
            <a:r>
              <a:rPr lang="en-US" sz="1700" dirty="0">
                <a:solidFill>
                  <a:srgbClr val="1F2937"/>
                </a:solidFill>
                <a:latin typeface="Times New Roman" panose="02020603050405020304" pitchFamily="18" charset="0"/>
                <a:cs typeface="Times New Roman" panose="02020603050405020304" pitchFamily="18" charset="0"/>
              </a:rPr>
              <a:t>• Zod v4 / Standard Schema for validation</a:t>
            </a:r>
            <a:endParaRPr lang="en-US" sz="17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27</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1828800"/>
            <a:ext cx="2743200" cy="1097280"/>
          </a:xfrm>
          <a:prstGeom prst="rect">
            <a:avLst/>
          </a:prstGeom>
          <a:noFill/>
          <a:ln/>
        </p:spPr>
        <p:txBody>
          <a:bodyPr wrap="square" lIns="0" tIns="0" rIns="0" bIns="0" rtlCol="0" anchor="ctr"/>
          <a:lstStyle/>
          <a:p>
            <a:pPr marL="0" indent="0">
              <a:buNone/>
            </a:pPr>
            <a:r>
              <a:rPr lang="en-US" sz="7200" b="1" dirty="0">
                <a:solidFill>
                  <a:srgbClr val="0F8B8D"/>
                </a:solidFill>
                <a:latin typeface="Times New Roman" panose="02020603050405020304" pitchFamily="18" charset="0"/>
                <a:cs typeface="Times New Roman" panose="02020603050405020304" pitchFamily="18" charset="0"/>
              </a:rPr>
              <a:t>5</a:t>
            </a:r>
            <a:endParaRPr lang="en-US" sz="7200" dirty="0">
              <a:latin typeface="Times New Roman" panose="02020603050405020304" pitchFamily="18" charset="0"/>
              <a:cs typeface="Times New Roman" panose="02020603050405020304" pitchFamily="18" charset="0"/>
            </a:endParaRPr>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Times New Roman" panose="02020603050405020304" pitchFamily="18" charset="0"/>
                <a:cs typeface="Times New Roman" panose="02020603050405020304" pitchFamily="18" charset="0"/>
              </a:rPr>
              <a:t>Input / Output</a:t>
            </a:r>
            <a:endParaRPr lang="en-US" sz="4000" dirty="0">
              <a:latin typeface="Times New Roman" panose="02020603050405020304" pitchFamily="18" charset="0"/>
              <a:cs typeface="Times New Roman" panose="02020603050405020304" pitchFamily="18" charset="0"/>
            </a:endParaRPr>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marL="0" indent="0">
              <a:buNone/>
            </a:pPr>
            <a:r>
              <a:rPr lang="en-US" sz="1800" dirty="0">
                <a:solidFill>
                  <a:srgbClr val="C9D3E6"/>
                </a:solidFill>
                <a:latin typeface="Times New Roman" panose="02020603050405020304" pitchFamily="18" charset="0"/>
                <a:cs typeface="Times New Roman" panose="02020603050405020304" pitchFamily="18" charset="0"/>
              </a:rPr>
              <a:t>Every SDK method we use, and all 13 tools</a:t>
            </a:r>
            <a:endParaRPr lang="en-US" sz="18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5 · INPUT / OUTPUT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8768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SDK methods — server side</a:t>
            </a:r>
            <a:endParaRPr lang="en-US" sz="3000" dirty="0">
              <a:latin typeface="Times New Roman" panose="02020603050405020304" pitchFamily="18" charset="0"/>
              <a:cs typeface="Times New Roman" panose="02020603050405020304" pitchFamily="18" charset="0"/>
            </a:endParaRPr>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47120" cy="4389120"/>
        </p:xfrm>
        <a:graphic>
          <a:graphicData uri="http://schemas.openxmlformats.org/drawingml/2006/table">
            <a:tbl>
              <a:tblPr/>
              <a:tblGrid>
                <a:gridCol w="40233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548640">
                <a:tc>
                  <a:txBody>
                    <a:bodyPr/>
                    <a:lstStyle/>
                    <a:p>
                      <a:pPr marL="0" indent="0">
                        <a:buNone/>
                      </a:pPr>
                      <a:r>
                        <a:rPr lang="en-US" sz="1200" b="1" dirty="0">
                          <a:solidFill>
                            <a:srgbClr val="FFFFFF"/>
                          </a:solidFill>
                        </a:rPr>
                        <a:t>Method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Input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Output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new McpServer(info, options)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{name, version, title} · {instructions, capabilities, cacheHints}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McpServer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server.registerTool(name, config, handler)</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config: {description, inputSchema, outputSchema, annotations} · handler(args, ctx)</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RegisteredTool; handler → {content[], structuredContent?, isError?}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server.registerResource(name, uri | ResourceTemplate, meta, read)</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fixed URI or pattern academic://students/{student_id}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read → {contents: [{uri, mimeType, text}]}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server.registerPrompt(name, config, cb)</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config: {description, argsSchema}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cb → {messages: [{role, content}]}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completable(schema, fn)</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Zod field + suggestion function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Zod field with autocompletion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serveStdio(factory)</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factory(ctx) → McpServer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stdio server (one instance per connection)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createMcpHandler(factory)</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same factory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{fetch, notify, close} for HTTP</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29</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5 · INPUT / OUTPUT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SDK methods — client side</a:t>
            </a:r>
            <a:endParaRPr lang="en-US" sz="3000" dirty="0">
              <a:latin typeface="Times New Roman" panose="02020603050405020304" pitchFamily="18" charset="0"/>
              <a:cs typeface="Times New Roman" panose="02020603050405020304" pitchFamily="18" charset="0"/>
            </a:endParaRPr>
          </a:p>
        </p:txBody>
      </p:sp>
      <p:graphicFrame>
        <p:nvGraphicFramePr>
          <p:cNvPr id="31" name="Table 0"/>
          <p:cNvGraphicFramePr>
            <a:graphicFrameLocks noGrp="1"/>
          </p:cNvGraphicFramePr>
          <p:nvPr>
            <p:extLst>
              <p:ext uri="{D42A27DB-BD31-4B8C-83A1-F6EECF244321}">
                <p14:modId xmlns:p14="http://schemas.microsoft.com/office/powerpoint/2010/main" val="319277519"/>
              </p:ext>
            </p:extLst>
          </p:nvPr>
        </p:nvGraphicFramePr>
        <p:xfrm>
          <a:off x="1287625" y="1384663"/>
          <a:ext cx="10416695" cy="4389120"/>
        </p:xfrm>
        <a:graphic>
          <a:graphicData uri="http://schemas.openxmlformats.org/drawingml/2006/table">
            <a:tbl>
              <a:tblPr/>
              <a:tblGrid>
                <a:gridCol w="3556920">
                  <a:extLst>
                    <a:ext uri="{9D8B030D-6E8A-4147-A177-3AD203B41FA5}">
                      <a16:colId xmlns:a16="http://schemas.microsoft.com/office/drawing/2014/main" val="20000"/>
                    </a:ext>
                  </a:extLst>
                </a:gridCol>
                <a:gridCol w="3895675">
                  <a:extLst>
                    <a:ext uri="{9D8B030D-6E8A-4147-A177-3AD203B41FA5}">
                      <a16:colId xmlns:a16="http://schemas.microsoft.com/office/drawing/2014/main" val="20001"/>
                    </a:ext>
                  </a:extLst>
                </a:gridCol>
                <a:gridCol w="2964100">
                  <a:extLst>
                    <a:ext uri="{9D8B030D-6E8A-4147-A177-3AD203B41FA5}">
                      <a16:colId xmlns:a16="http://schemas.microsoft.com/office/drawing/2014/main" val="20002"/>
                    </a:ext>
                  </a:extLst>
                </a:gridCol>
              </a:tblGrid>
              <a:tr h="548640">
                <a:tc>
                  <a:txBody>
                    <a:bodyPr/>
                    <a:lstStyle/>
                    <a:p>
                      <a:pPr marL="0" indent="0">
                        <a:buNone/>
                      </a:pPr>
                      <a:r>
                        <a:rPr lang="en-US" sz="1200" b="1" dirty="0">
                          <a:solidFill>
                            <a:srgbClr val="FFFFFF"/>
                          </a:solidFill>
                        </a:rPr>
                        <a:t>Method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Input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Output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new Client(info, options)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{name, version} · {capabilities, versionNegotiation: auto | pin}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Client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client.connect(transport)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StdioClientTransport({command, args}) or StreamableHTTPClientTransport(url)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Promise&lt;void&gt; — 2 / 1 / 0 requests (2025 / 2026 / cached)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client.listTools()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{tools: [{name, description, inputSchema, outputSchema}]}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client.callTool({name, arguments}, options)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options: {timeout, onprogress, signal}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{content[], structuredContent?, isError?}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client.readResource({uri})</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resource URI</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{contents[]} · not found → ProtocolError -32602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client.getPrompt({name, arguments})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prompt name + args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{messages[]}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4864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client.setRequestHandler(method, h)</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'elicitation/create' | 'sampling/createMessage'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answer to the server's question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30</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5 · INPUT / OUTPUT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Our tools — academic server (10)</a:t>
            </a:r>
            <a:endParaRPr lang="en-US" sz="3000" dirty="0">
              <a:latin typeface="Times New Roman" panose="02020603050405020304" pitchFamily="18" charset="0"/>
              <a:cs typeface="Times New Roman" panose="02020603050405020304" pitchFamily="18" charset="0"/>
            </a:endParaRPr>
          </a:p>
        </p:txBody>
      </p:sp>
      <p:graphicFrame>
        <p:nvGraphicFramePr>
          <p:cNvPr id="32" name="Table 0"/>
          <p:cNvGraphicFramePr>
            <a:graphicFrameLocks noGrp="1"/>
          </p:cNvGraphicFramePr>
          <p:nvPr>
            <p:extLst>
              <p:ext uri="{D42A27DB-BD31-4B8C-83A1-F6EECF244321}">
                <p14:modId xmlns:p14="http://schemas.microsoft.com/office/powerpoint/2010/main" val="429236580"/>
              </p:ext>
            </p:extLst>
          </p:nvPr>
        </p:nvGraphicFramePr>
        <p:xfrm>
          <a:off x="1175657" y="1322708"/>
          <a:ext cx="10528663" cy="4818888"/>
        </p:xfrm>
        <a:graphic>
          <a:graphicData uri="http://schemas.openxmlformats.org/drawingml/2006/table">
            <a:tbl>
              <a:tblPr/>
              <a:tblGrid>
                <a:gridCol w="2824763">
                  <a:extLst>
                    <a:ext uri="{9D8B030D-6E8A-4147-A177-3AD203B41FA5}">
                      <a16:colId xmlns:a16="http://schemas.microsoft.com/office/drawing/2014/main" val="20000"/>
                    </a:ext>
                  </a:extLst>
                </a:gridCol>
                <a:gridCol w="4536741">
                  <a:extLst>
                    <a:ext uri="{9D8B030D-6E8A-4147-A177-3AD203B41FA5}">
                      <a16:colId xmlns:a16="http://schemas.microsoft.com/office/drawing/2014/main" val="20001"/>
                    </a:ext>
                  </a:extLst>
                </a:gridCol>
                <a:gridCol w="3167159">
                  <a:extLst>
                    <a:ext uri="{9D8B030D-6E8A-4147-A177-3AD203B41FA5}">
                      <a16:colId xmlns:a16="http://schemas.microsoft.com/office/drawing/2014/main" val="20002"/>
                    </a:ext>
                  </a:extLst>
                </a:gridCol>
              </a:tblGrid>
              <a:tr h="429768">
                <a:tc>
                  <a:txBody>
                    <a:bodyPr/>
                    <a:lstStyle/>
                    <a:p>
                      <a:pPr marL="0" indent="0">
                        <a:buNone/>
                      </a:pPr>
                      <a:r>
                        <a:rPr lang="en-US" sz="1200" b="1" dirty="0">
                          <a:solidFill>
                            <a:srgbClr val="FFFFFF"/>
                          </a:solidFill>
                        </a:rPr>
                        <a:t>Tool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Input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Output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search_students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keyword?, class_id?, faculty?, limit (≤ 50)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total_matches, students[]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get_transcript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student_id, semester?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courses[] with total, letter, point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calculate_gpa</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student_id, semester?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gpa, classification, credits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class_statistics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class_id, course_id?, semester?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average, pass_rate, letter distribution, avg GPA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rank_students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scope (class|faculty|all), value?, semester?, top</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ranking[] (reports progress)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update_grade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student_id, course_id, semester, process_score?, final_score?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old → new · asks user to confirm</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generate_student_feedback</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student_id, tone (encouraging|formal)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feedback text (via sampling)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list_tables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tables[] with row counts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describe_table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table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columns, types, sample rows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29768">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query_table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table, filters[] {column, operator, value}, columns?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matching rows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31</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45720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5 · INPUT / OUTPUT</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731520" y="73152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Our tools — utility server (3), resources and prompts</a:t>
            </a:r>
            <a:endParaRPr lang="en-US" sz="3000" dirty="0">
              <a:latin typeface="Times New Roman" panose="02020603050405020304" pitchFamily="18" charset="0"/>
              <a:cs typeface="Times New Roman" panose="02020603050405020304" pitchFamily="18" charset="0"/>
            </a:endParaRPr>
          </a:p>
        </p:txBody>
      </p:sp>
      <p:graphicFrame>
        <p:nvGraphicFramePr>
          <p:cNvPr id="33" name="Table 0"/>
          <p:cNvGraphicFramePr>
            <a:graphicFrameLocks noGrp="1"/>
          </p:cNvGraphicFramePr>
          <p:nvPr>
            <p:extLst>
              <p:ext uri="{D42A27DB-BD31-4B8C-83A1-F6EECF244321}">
                <p14:modId xmlns:p14="http://schemas.microsoft.com/office/powerpoint/2010/main" val="2407016304"/>
              </p:ext>
            </p:extLst>
          </p:nvPr>
        </p:nvGraphicFramePr>
        <p:xfrm>
          <a:off x="731520" y="1508760"/>
          <a:ext cx="11247120" cy="1231392"/>
        </p:xfrm>
        <a:graphic>
          <a:graphicData uri="http://schemas.openxmlformats.org/drawingml/2006/table">
            <a:tbl>
              <a:tblPr/>
              <a:tblGrid>
                <a:gridCol w="27432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0">
                <a:tc>
                  <a:txBody>
                    <a:bodyPr/>
                    <a:lstStyle/>
                    <a:p>
                      <a:pPr marL="0" indent="0">
                        <a:buNone/>
                      </a:pPr>
                      <a:r>
                        <a:rPr lang="en-US" sz="1300" b="1" dirty="0">
                          <a:solidFill>
                            <a:srgbClr val="FFFFFF"/>
                          </a:solidFill>
                        </a:rPr>
                        <a:t>Tool (utility)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Input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Output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get_current_time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timezone (default Asia/Ho_Chi_Minh)</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date, time, current_semester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convert_score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score 0–10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letter, point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save_report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filename, content, format (md|csv)</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saved path · asks before overwrite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3339379129"/>
              </p:ext>
            </p:extLst>
          </p:nvPr>
        </p:nvGraphicFramePr>
        <p:xfrm>
          <a:off x="731520" y="3429000"/>
          <a:ext cx="6766560" cy="1755648"/>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rPr>
                        <a:t>Resource URI</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Content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academic://rules/grading</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grading rules (Markdown)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academic://reports/data-quality</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the 7 rejected rows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academic://tables/{table}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raw CSV table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academic://students/{student_id}</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profile + GPA per semester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utility://reports/{filename}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a saved report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97" name="Table 2"/>
          <p:cNvGraphicFramePr>
            <a:graphicFrameLocks noGrp="1"/>
          </p:cNvGraphicFramePr>
          <p:nvPr>
            <p:extLst>
              <p:ext uri="{D42A27DB-BD31-4B8C-83A1-F6EECF244321}">
                <p14:modId xmlns:p14="http://schemas.microsoft.com/office/powerpoint/2010/main" val="3240548490"/>
              </p:ext>
            </p:extLst>
          </p:nvPr>
        </p:nvGraphicFramePr>
        <p:xfrm>
          <a:off x="7772400" y="3429000"/>
          <a:ext cx="4206240" cy="877824"/>
        </p:xfrm>
        <a:graphic>
          <a:graphicData uri="http://schemas.openxmlformats.org/drawingml/2006/table">
            <a:tbl>
              <a:tblPr/>
              <a:tblGrid>
                <a:gridCol w="21945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rPr>
                        <a:t>Prompt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Arguments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class_report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class_id, semester?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study_advice</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student_id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521440" y="66294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32</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3260116" y="2155372"/>
            <a:ext cx="2743200" cy="1097280"/>
          </a:xfrm>
          <a:prstGeom prst="rect">
            <a:avLst/>
          </a:prstGeom>
          <a:noFill/>
          <a:ln/>
        </p:spPr>
        <p:txBody>
          <a:bodyPr wrap="square" lIns="0" tIns="0" rIns="0" bIns="0" rtlCol="0" anchor="ctr"/>
          <a:lstStyle/>
          <a:p>
            <a:pPr marL="0" indent="0">
              <a:buNone/>
            </a:pPr>
            <a:r>
              <a:rPr lang="en-US" sz="72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6</a:t>
            </a:r>
          </a:p>
        </p:txBody>
      </p:sp>
      <p:sp>
        <p:nvSpPr>
          <p:cNvPr id="3" name="Text 1"/>
          <p:cNvSpPr txBox="1"/>
          <p:nvPr/>
        </p:nvSpPr>
        <p:spPr>
          <a:xfrm>
            <a:off x="3260116" y="3252652"/>
            <a:ext cx="10515600" cy="822960"/>
          </a:xfrm>
          <a:prstGeom prst="rect">
            <a:avLst/>
          </a:prstGeom>
          <a:noFill/>
          <a:ln/>
        </p:spPr>
        <p:txBody>
          <a:bodyPr wrap="square" lIns="0" tIns="0" rIns="0" bIns="0" rtlCol="0" anchor="ctr"/>
          <a:lstStyle/>
          <a:p>
            <a:pPr marL="0" indent="0">
              <a:buNone/>
            </a:pPr>
            <a:r>
              <a:rPr lang="en-US" sz="40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Code examples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6 · CODE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Example 1 — create and serve an MCP server</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371600"/>
            <a:ext cx="7498080" cy="457200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463040"/>
            <a:ext cx="7223760" cy="4389120"/>
          </a:xfrm>
          <a:prstGeom prst="rect">
            <a:avLst/>
          </a:prstGeom>
          <a:noFill/>
          <a:ln/>
        </p:spPr>
        <p:txBody>
          <a:bodyPr wrap="square" lIns="0" tIns="0" rIns="0" bIns="0" rtlCol="0" anchor="t"/>
          <a:lstStyle/>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import { McpServer } from '@modelcontextprotocol/server';</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import { serveStdio } from '@modelcontextprotocol/server/stdio';</a:t>
            </a:r>
            <a:endParaRPr lang="en-US" sz="1300" dirty="0">
              <a:latin typeface="Times New Roman" panose="02020603050405020304" pitchFamily="18" charset="0"/>
              <a:cs typeface="Times New Roman" panose="02020603050405020304" pitchFamily="18" charset="0"/>
            </a:endParaRPr>
          </a:p>
          <a:p>
            <a:pPr marL="0" indent="0">
              <a:buNone/>
            </a:pP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called by the SDK per connection; ctx.era = 2025 or 2026 era</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const factory = (ctx) =&gt;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const server = new McpServer(</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 name: 'academic', title: 'Academic Records', version: '1.0.0'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 instructions: ACADEMIC_INSTRUCTIONS,</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capabilities: { logging: {}, resources: { subscribe: true } }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registerAcademicTools(server, data, ctx.era);</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registerAcademicResources(server, data);</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registerAcademicPrompts(server, data);</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return server;</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300" dirty="0">
              <a:latin typeface="Times New Roman" panose="02020603050405020304" pitchFamily="18" charset="0"/>
              <a:cs typeface="Times New Roman" panose="02020603050405020304" pitchFamily="18" charset="0"/>
            </a:endParaRPr>
          </a:p>
          <a:p>
            <a:pPr marL="0" indent="0">
              <a:buNone/>
            </a:pP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serveStdio(factory);                              // stdio</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HTTP:</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createServer(toNodeHandler(createMcpHandler(factory)))</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.listen(3001);</a:t>
            </a:r>
            <a:endParaRPr lang="en-US" sz="1300" dirty="0">
              <a:latin typeface="Times New Roman" panose="02020603050405020304" pitchFamily="18" charset="0"/>
              <a:cs typeface="Times New Roman" panose="02020603050405020304" pitchFamily="18" charset="0"/>
            </a:endParaRPr>
          </a:p>
        </p:txBody>
      </p:sp>
      <p:sp>
        <p:nvSpPr>
          <p:cNvPr id="8" name="Shape 5"/>
          <p:cNvSpPr/>
          <p:nvPr/>
        </p:nvSpPr>
        <p:spPr>
          <a:xfrm>
            <a:off x="8229600" y="1371600"/>
            <a:ext cx="3474720" cy="4572000"/>
          </a:xfrm>
          <a:prstGeom prst="roundRect">
            <a:avLst>
              <a:gd name="adj" fmla="val 2105"/>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8412480" y="1508760"/>
            <a:ext cx="310896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Run it</a:t>
            </a:r>
            <a:endParaRPr lang="en-US" sz="1800" dirty="0">
              <a:latin typeface="Times New Roman" panose="02020603050405020304" pitchFamily="18" charset="0"/>
              <a:cs typeface="Times New Roman" panose="02020603050405020304" pitchFamily="18" charset="0"/>
            </a:endParaRPr>
          </a:p>
        </p:txBody>
      </p:sp>
      <p:sp>
        <p:nvSpPr>
          <p:cNvPr id="10" name="Text 7"/>
          <p:cNvSpPr txBox="1"/>
          <p:nvPr/>
        </p:nvSpPr>
        <p:spPr>
          <a:xfrm>
            <a:off x="8412480" y="2011680"/>
            <a:ext cx="3108960" cy="3794760"/>
          </a:xfrm>
          <a:prstGeom prst="rect">
            <a:avLst/>
          </a:prstGeom>
          <a:noFill/>
          <a:ln/>
        </p:spPr>
        <p:txBody>
          <a:bodyPr wrap="square" lIns="0" tIns="0" rIns="0" bIns="0" rtlCol="0" anchor="t"/>
          <a:lstStyle/>
          <a:p>
            <a:pPr marL="0" indent="0">
              <a:buNone/>
            </a:pPr>
            <a:r>
              <a:rPr lang="en-US" sz="1500" dirty="0">
                <a:solidFill>
                  <a:srgbClr val="1F2937"/>
                </a:solidFill>
                <a:latin typeface="Times New Roman" panose="02020603050405020304" pitchFamily="18" charset="0"/>
                <a:cs typeface="Times New Roman" panose="02020603050405020304" pitchFamily="18" charset="0"/>
              </a:rPr>
              <a:t>npm install</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npm run academic</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(stdio)</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npm run academic:http</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(HTTP, port 3001)</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npm run examples</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 13/13 examples passed</a:t>
            </a:r>
            <a:endParaRPr lang="en-US" sz="15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34</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6 · CODE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Example 2 — registerTool: calculate_gpa</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325880"/>
            <a:ext cx="7863840" cy="466344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417320"/>
            <a:ext cx="7589520" cy="4480560"/>
          </a:xfrm>
          <a:prstGeom prst="rect">
            <a:avLst/>
          </a:prstGeom>
          <a:noFill/>
          <a:ln/>
        </p:spPr>
        <p:txBody>
          <a:bodyPr wrap="square" lIns="0" tIns="0" rIns="0" bIns="0" rtlCol="0" anchor="t"/>
          <a:lstStyle/>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server.registerTool('calculate_gpa',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title: 'Calculate GPA',</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description: 'Credit-weighted GPA on the 4-point scale plus '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'classification. With semester: that semester only. '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'Without: cumulative, best attempt of retaken courses.',</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inputSchema: z.object({ student_id: studentId,</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semester: semester.optional()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outputSchema: z.object({ student_id: z.string(), full_name: z.string(),</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scope: z.enum(['semester', 'cumulative']),</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...gpaFields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annotations: READ_ONLY</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async ({ student_id, semester }) =&gt; {   // handler: LLM never sees it</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const student = findStudent(student_id);</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if (!student) return notFound(student_id);           // isError</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const summary = data.gpaOf(student.student_id, semester);</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return structured({ student_id, full_name: student.full_name,</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scope: semester ? 'semester' : 'cumulative', ...summary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200" dirty="0">
              <a:latin typeface="Times New Roman" panose="02020603050405020304" pitchFamily="18" charset="0"/>
              <a:cs typeface="Times New Roman" panose="02020603050405020304" pitchFamily="18" charset="0"/>
            </a:endParaRPr>
          </a:p>
        </p:txBody>
      </p:sp>
      <p:sp>
        <p:nvSpPr>
          <p:cNvPr id="8" name="Shape 5"/>
          <p:cNvSpPr/>
          <p:nvPr/>
        </p:nvSpPr>
        <p:spPr>
          <a:xfrm>
            <a:off x="8595360" y="1371600"/>
            <a:ext cx="3108960" cy="2148840"/>
          </a:xfrm>
          <a:prstGeom prst="roundRect">
            <a:avLst>
              <a:gd name="adj" fmla="val 3404"/>
            </a:avLst>
          </a:prstGeom>
          <a:solidFill>
            <a:srgbClr val="DDE7F7"/>
          </a:solidFill>
          <a:ln w="12700">
            <a:solidFill>
              <a:srgbClr val="DDE7F7"/>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8778240" y="1508760"/>
            <a:ext cx="27432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What the LLM reads</a:t>
            </a:r>
            <a:endParaRPr lang="en-US" sz="1800" dirty="0">
              <a:latin typeface="Times New Roman" panose="02020603050405020304" pitchFamily="18" charset="0"/>
              <a:cs typeface="Times New Roman" panose="02020603050405020304" pitchFamily="18" charset="0"/>
            </a:endParaRPr>
          </a:p>
        </p:txBody>
      </p:sp>
      <p:sp>
        <p:nvSpPr>
          <p:cNvPr id="10" name="Text 7"/>
          <p:cNvSpPr txBox="1"/>
          <p:nvPr/>
        </p:nvSpPr>
        <p:spPr>
          <a:xfrm>
            <a:off x="8778240" y="2011680"/>
            <a:ext cx="2743200" cy="137160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description · inputSchema · outputSchema · annotations</a:t>
            </a:r>
            <a:endParaRPr lang="en-US" sz="1400" dirty="0">
              <a:latin typeface="Times New Roman" panose="02020603050405020304" pitchFamily="18" charset="0"/>
              <a:cs typeface="Times New Roman" panose="02020603050405020304" pitchFamily="18" charset="0"/>
            </a:endParaRPr>
          </a:p>
        </p:txBody>
      </p:sp>
      <p:sp>
        <p:nvSpPr>
          <p:cNvPr id="11" name="Shape 8"/>
          <p:cNvSpPr/>
          <p:nvPr/>
        </p:nvSpPr>
        <p:spPr>
          <a:xfrm>
            <a:off x="8595360" y="3794760"/>
            <a:ext cx="3108960" cy="2148840"/>
          </a:xfrm>
          <a:prstGeom prst="roundRect">
            <a:avLst>
              <a:gd name="adj" fmla="val 3404"/>
            </a:avLst>
          </a:prstGeom>
          <a:solidFill>
            <a:srgbClr val="DDF3F1"/>
          </a:solidFill>
          <a:ln w="12700">
            <a:solidFill>
              <a:srgbClr val="DDF3F1"/>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8778240" y="3931920"/>
            <a:ext cx="27432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What only the code does</a:t>
            </a:r>
            <a:endParaRPr lang="en-US" sz="1800" dirty="0">
              <a:latin typeface="Times New Roman" panose="02020603050405020304" pitchFamily="18" charset="0"/>
              <a:cs typeface="Times New Roman" panose="02020603050405020304" pitchFamily="18" charset="0"/>
            </a:endParaRPr>
          </a:p>
        </p:txBody>
      </p:sp>
      <p:sp>
        <p:nvSpPr>
          <p:cNvPr id="13" name="Text 10"/>
          <p:cNvSpPr txBox="1"/>
          <p:nvPr/>
        </p:nvSpPr>
        <p:spPr>
          <a:xfrm>
            <a:off x="8778240" y="4434840"/>
            <a:ext cx="2743200" cy="1371600"/>
          </a:xfrm>
          <a:prstGeom prst="rect">
            <a:avLst/>
          </a:prstGeom>
          <a:noFill/>
          <a:ln/>
        </p:spPr>
        <p:txBody>
          <a:bodyPr wrap="square" lIns="0" tIns="0" rIns="0" bIns="0" rtlCol="0" anchor="t"/>
          <a:lstStyle/>
          <a:p>
            <a:pPr marL="0" indent="0">
              <a:buNone/>
            </a:pPr>
            <a:r>
              <a:rPr lang="en-US" sz="1400" dirty="0">
                <a:solidFill>
                  <a:srgbClr val="1F2937"/>
                </a:solidFill>
                <a:latin typeface="Times New Roman" panose="02020603050405020304" pitchFamily="18" charset="0"/>
                <a:cs typeface="Times New Roman" panose="02020603050405020304" pitchFamily="18" charset="0"/>
              </a:rPr>
              <a:t>Find the student, compute the GPA, return structured data — exact every time</a:t>
            </a:r>
            <a:endParaRPr lang="en-US" sz="14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35</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6 · CODE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Example 2b — parameter sets for one tool</a:t>
            </a:r>
            <a:endParaRPr lang="en-US" sz="3000" dirty="0">
              <a:latin typeface="Times New Roman" panose="02020603050405020304" pitchFamily="18" charset="0"/>
              <a:cs typeface="Times New Roman" panose="02020603050405020304" pitchFamily="18" charset="0"/>
            </a:endParaRPr>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47120" cy="3968496"/>
        </p:xfrm>
        <a:graphic>
          <a:graphicData uri="http://schemas.openxmlformats.org/drawingml/2006/table">
            <a:tbl>
              <a:tblPr/>
              <a:tblGrid>
                <a:gridCol w="4572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566928">
                <a:tc>
                  <a:txBody>
                    <a:bodyPr/>
                    <a:lstStyle/>
                    <a:p>
                      <a:pPr marL="0" indent="0">
                        <a:buNone/>
                      </a:pPr>
                      <a:r>
                        <a:rPr lang="en-US" sz="1300" b="1" dirty="0">
                          <a:solidFill>
                            <a:srgbClr val="FFFFFF"/>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Arguments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Result (real output, example S2)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Who handled it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dirty="0">
                          <a:solidFill>
                            <a:srgbClr val="1F2937"/>
                          </a:solidFill>
                        </a:rPr>
                        <a:t>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student_id: "2201001"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gpa 3.28 · Very good · 18 credits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handler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dirty="0">
                          <a:solidFill>
                            <a:srgbClr val="1F2937"/>
                          </a:solidFill>
                        </a:rPr>
                        <a:t>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student_id: "2201001", semester: "2024-1"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gpa 3.25 · Very good · 8 credits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handler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student_id: "2201010"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gpa 2.06 · Average (retakes: best attempt)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handler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dirty="0">
                          <a:solidFill>
                            <a:srgbClr val="1F2937"/>
                          </a:solidFill>
                        </a:rPr>
                        <a:t>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student_id: "9999999"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C53030"/>
                          </a:solidFill>
                        </a:rPr>
                        <a:t>isError: No student with student_id "9999999". Use search_students…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handler → isError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buNone/>
                      </a:pPr>
                      <a:r>
                        <a:rPr lang="en-US" sz="1300" dirty="0">
                          <a:solidFill>
                            <a:srgbClr val="1F2937"/>
                          </a:solidFill>
                        </a:rPr>
                        <a:t>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student_id: "2201001", semester: "2024"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C53030"/>
                          </a:solidFill>
                        </a:rPr>
                        <a:t>isError: Semester must look like 2024-1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SDK (inputSchema)</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dirty="0">
                          <a:solidFill>
                            <a:srgbClr val="1F2937"/>
                          </a:solidFill>
                        </a:rPr>
                        <a:t>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student_id: 2201001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C53030"/>
                          </a:solidFill>
                        </a:rPr>
                        <a:t>isError: expected string, received number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SDK (inputSchema)</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6" name="Text 2"/>
          <p:cNvSpPr txBox="1"/>
          <p:nvPr/>
        </p:nvSpPr>
        <p:spPr>
          <a:xfrm>
            <a:off x="457200" y="5577840"/>
            <a:ext cx="11247120" cy="548640"/>
          </a:xfrm>
          <a:prstGeom prst="rect">
            <a:avLst/>
          </a:prstGeom>
          <a:noFill/>
          <a:ln/>
        </p:spPr>
        <p:txBody>
          <a:bodyPr wrap="square" lIns="0" tIns="0" rIns="0" bIns="0" rtlCol="0" anchor="ctr"/>
          <a:lstStyle/>
          <a:p>
            <a:pPr marL="0" indent="0">
              <a:buNone/>
            </a:pPr>
            <a:r>
              <a:rPr lang="en-US" sz="1500" b="1" dirty="0">
                <a:solidFill>
                  <a:srgbClr val="1F2937"/>
                </a:solidFill>
                <a:latin typeface="Times New Roman" panose="02020603050405020304" pitchFamily="18" charset="0"/>
                <a:cs typeface="Times New Roman" panose="02020603050405020304" pitchFamily="18" charset="0"/>
              </a:rPr>
              <a:t>Rule: </a:t>
            </a:r>
            <a:r>
              <a:rPr lang="en-US" sz="1500" dirty="0">
                <a:solidFill>
                  <a:srgbClr val="1F2937"/>
                </a:solidFill>
                <a:latin typeface="Times New Roman" panose="02020603050405020304" pitchFamily="18" charset="0"/>
                <a:cs typeface="Times New Roman" panose="02020603050405020304" pitchFamily="18" charset="0"/>
              </a:rPr>
              <a:t>tool problems come back as a result with isError (the LLM can retry); an unknown tool name throws ProtocolError -32602.</a:t>
            </a:r>
            <a:endParaRPr lang="en-US" sz="15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36</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6 · CODE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Example 3 — a resource template and a prompt</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325880"/>
            <a:ext cx="6675120" cy="301752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417320"/>
            <a:ext cx="6400800" cy="2834640"/>
          </a:xfrm>
          <a:prstGeom prst="rect">
            <a:avLst/>
          </a:prstGeom>
          <a:noFill/>
          <a:ln/>
        </p:spPr>
        <p:txBody>
          <a:bodyPr wrap="square" lIns="0" tIns="0" rIns="0" bIns="0" rtlCol="0" anchor="t"/>
          <a:lstStyle/>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server.registerResource('student-profile',</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new ResourceTemplate('academic://students/{student_id}',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list: undefined,</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complete: { student_id: v =&gt; ids.filter(i =&gt; i.startsWith(v))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 title: 'Student profile', mimeType: 'application/json'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async (uri, { student_id }) =&gt;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const s = data.students.get(String(student_id));</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if (!s) throw new ResourceNotFoundError(uri.href, 'Unknown');</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return { contents: [{ uri: uri.href,</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text: JSON.stringify(profile) }]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a:t>
            </a:r>
            <a:endParaRPr lang="en-US" sz="1100" dirty="0">
              <a:latin typeface="Times New Roman" panose="02020603050405020304" pitchFamily="18" charset="0"/>
              <a:cs typeface="Times New Roman" panose="02020603050405020304" pitchFamily="18" charset="0"/>
            </a:endParaRPr>
          </a:p>
        </p:txBody>
      </p:sp>
      <p:sp>
        <p:nvSpPr>
          <p:cNvPr id="7" name="Shape 4"/>
          <p:cNvSpPr/>
          <p:nvPr/>
        </p:nvSpPr>
        <p:spPr>
          <a:xfrm>
            <a:off x="457200" y="4526280"/>
            <a:ext cx="6675120" cy="150876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594360" y="4617720"/>
            <a:ext cx="6400800" cy="1325880"/>
          </a:xfrm>
          <a:prstGeom prst="rect">
            <a:avLst/>
          </a:prstGeom>
          <a:noFill/>
          <a:ln/>
        </p:spPr>
        <p:txBody>
          <a:bodyPr wrap="square" lIns="0" tIns="0" rIns="0" bIns="0" rtlCol="0" anchor="t"/>
          <a:lstStyle/>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server.registerPrompt('class_report',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argsSchema: z.object({</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class_id: completable(z.string(), v =&gt; match(v)) })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 class_id }) =&gt; ({ messages: [{ role: 'user', content: {</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solidFill>
                  <a:srgbClr val="24292F"/>
                </a:solidFill>
                <a:latin typeface="Times New Roman" panose="02020603050405020304" pitchFamily="18" charset="0"/>
                <a:ea typeface="Courier New" pitchFamily="34" charset="-122"/>
                <a:cs typeface="Times New Roman" panose="02020603050405020304" pitchFamily="18" charset="0"/>
              </a:rPr>
              <a:t>    type: 'text', text: `Write a report for ${class_id}…` } }] }));</a:t>
            </a:r>
            <a:endParaRPr lang="en-US" sz="1100" dirty="0">
              <a:latin typeface="Times New Roman" panose="02020603050405020304" pitchFamily="18" charset="0"/>
              <a:cs typeface="Times New Roman" panose="02020603050405020304" pitchFamily="18" charset="0"/>
            </a:endParaRPr>
          </a:p>
        </p:txBody>
      </p:sp>
      <p:sp>
        <p:nvSpPr>
          <p:cNvPr id="10" name="Shape 7"/>
          <p:cNvSpPr/>
          <p:nvPr/>
        </p:nvSpPr>
        <p:spPr>
          <a:xfrm>
            <a:off x="7406640" y="1371600"/>
            <a:ext cx="4297680" cy="4663440"/>
          </a:xfrm>
          <a:prstGeom prst="roundRect">
            <a:avLst>
              <a:gd name="adj" fmla="val 1702"/>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1" name="Text 8"/>
          <p:cNvSpPr txBox="1"/>
          <p:nvPr/>
        </p:nvSpPr>
        <p:spPr>
          <a:xfrm>
            <a:off x="7589520" y="1508760"/>
            <a:ext cx="393192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Real results (S4, S5)</a:t>
            </a:r>
            <a:endParaRPr lang="en-US" sz="1800" dirty="0">
              <a:latin typeface="Times New Roman" panose="02020603050405020304" pitchFamily="18" charset="0"/>
              <a:cs typeface="Times New Roman" panose="02020603050405020304" pitchFamily="18" charset="0"/>
            </a:endParaRPr>
          </a:p>
        </p:txBody>
      </p:sp>
      <p:sp>
        <p:nvSpPr>
          <p:cNvPr id="12" name="Text 9"/>
          <p:cNvSpPr txBox="1"/>
          <p:nvPr/>
        </p:nvSpPr>
        <p:spPr>
          <a:xfrm>
            <a:off x="7589520" y="2011680"/>
            <a:ext cx="3931920" cy="3886200"/>
          </a:xfrm>
          <a:prstGeom prst="rect">
            <a:avLst/>
          </a:prstGeom>
          <a:noFill/>
          <a:ln/>
        </p:spPr>
        <p:txBody>
          <a:bodyPr wrap="square" lIns="0" tIns="0" rIns="0" bIns="0" rtlCol="0" anchor="t"/>
          <a:lstStyle/>
          <a:p>
            <a:pPr marL="0" indent="0">
              <a:buNone/>
            </a:pPr>
            <a:r>
              <a:rPr lang="en-US" sz="1300" dirty="0">
                <a:solidFill>
                  <a:srgbClr val="1F2937"/>
                </a:solidFill>
                <a:latin typeface="Times New Roman" panose="02020603050405020304" pitchFamily="18" charset="0"/>
                <a:cs typeface="Times New Roman" panose="02020603050405020304" pitchFamily="18" charset="0"/>
              </a:rPr>
              <a:t>readResource academic://students/2201010</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 Trần Đức Phúc, IT01, GPA 2.06 Average</a:t>
            </a:r>
            <a:endParaRPr lang="en-US" sz="1300" dirty="0">
              <a:latin typeface="Times New Roman" panose="02020603050405020304" pitchFamily="18" charset="0"/>
              <a:cs typeface="Times New Roman" panose="02020603050405020304" pitchFamily="18" charset="0"/>
            </a:endParaRPr>
          </a:p>
          <a:p>
            <a:pPr marL="0" indent="0">
              <a:buNone/>
            </a:pP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readResource …/students/9999999</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 ProtocolError -32602</a:t>
            </a:r>
            <a:endParaRPr lang="en-US" sz="1300" dirty="0">
              <a:latin typeface="Times New Roman" panose="02020603050405020304" pitchFamily="18" charset="0"/>
              <a:cs typeface="Times New Roman" panose="02020603050405020304" pitchFamily="18" charset="0"/>
            </a:endParaRPr>
          </a:p>
          <a:p>
            <a:pPr marL="0" indent="0">
              <a:buNone/>
            </a:pP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getPrompt class_report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 ProtocolError -32602 (missing class_id)</a:t>
            </a:r>
            <a:endParaRPr lang="en-US" sz="1300" dirty="0">
              <a:latin typeface="Times New Roman" panose="02020603050405020304" pitchFamily="18" charset="0"/>
              <a:cs typeface="Times New Roman" panose="02020603050405020304" pitchFamily="18" charset="0"/>
            </a:endParaRPr>
          </a:p>
          <a:p>
            <a:pPr marL="0" indent="0">
              <a:buNone/>
            </a:pP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complete class_id = "B"</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1F2937"/>
                </a:solidFill>
                <a:latin typeface="Times New Roman" panose="02020603050405020304" pitchFamily="18" charset="0"/>
                <a:cs typeface="Times New Roman" panose="02020603050405020304" pitchFamily="18" charset="0"/>
              </a:rPr>
              <a:t>→ ["BA01", "BA02"]</a:t>
            </a:r>
            <a:endParaRPr lang="en-US" sz="13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37</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6 · CODE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Example 4 — the client side: connect and call</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325880"/>
            <a:ext cx="7315200" cy="457200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417320"/>
            <a:ext cx="7040880" cy="4389120"/>
          </a:xfrm>
          <a:prstGeom prst="rect">
            <a:avLst/>
          </a:prstGeom>
          <a:noFill/>
          <a:ln/>
        </p:spPr>
        <p:txBody>
          <a:bodyPr wrap="square" lIns="0" tIns="0" rIns="0" bIns="0" rtlCol="0" anchor="t"/>
          <a:lstStyle/>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import { Client } from '@modelcontextprotocol/client';</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import { StdioClientTransport } from '@modelcontextprotocol/client/stdio';</a:t>
            </a:r>
            <a:endParaRPr lang="en-US" sz="1200" dirty="0">
              <a:latin typeface="Times New Roman" panose="02020603050405020304" pitchFamily="18" charset="0"/>
              <a:cs typeface="Times New Roman" panose="02020603050405020304" pitchFamily="18" charset="0"/>
            </a:endParaRPr>
          </a:p>
          <a:p>
            <a:pPr marL="0" indent="0">
              <a:buNone/>
            </a:pP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const client = new Client(</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 name: 'mcp-academic-host', version: '1.0.0'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 capabilities: { elicitation: { form: {} }, sampling: {}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versionNegotiation: { mode: 'auto' } });</a:t>
            </a:r>
            <a:endParaRPr lang="en-US" sz="1200" dirty="0">
              <a:latin typeface="Times New Roman" panose="02020603050405020304" pitchFamily="18" charset="0"/>
              <a:cs typeface="Times New Roman" panose="02020603050405020304" pitchFamily="18" charset="0"/>
            </a:endParaRPr>
          </a:p>
          <a:p>
            <a:pPr marL="0" indent="0">
              <a:buNone/>
            </a:pP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await client.connect(new StdioClientTransport({</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command: 'node',</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args: ['--import', 'tsx', 'src/server/academic/main.ts'] }));</a:t>
            </a:r>
            <a:endParaRPr lang="en-US" sz="1200" dirty="0">
              <a:latin typeface="Times New Roman" panose="02020603050405020304" pitchFamily="18" charset="0"/>
              <a:cs typeface="Times New Roman" panose="02020603050405020304" pitchFamily="18" charset="0"/>
            </a:endParaRPr>
          </a:p>
          <a:p>
            <a:pPr marL="0" indent="0">
              <a:buNone/>
            </a:pP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const { tools } = await client.listTools();  // 10 tools → LLM</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const result = await client.callTool({</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name: 'calculate_gpa', arguments: { student_id: '2201010' } });</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result.structuredContent</a:t>
            </a:r>
            <a:endParaRPr lang="en-US" sz="1200" dirty="0">
              <a:latin typeface="Times New Roman" panose="02020603050405020304" pitchFamily="18" charset="0"/>
              <a:cs typeface="Times New Roman" panose="02020603050405020304" pitchFamily="18" charset="0"/>
            </a:endParaRPr>
          </a:p>
          <a:p>
            <a:pPr marL="0" indent="0">
              <a:buNone/>
            </a:pPr>
            <a:r>
              <a:rPr lang="en-US" sz="1200" dirty="0">
                <a:solidFill>
                  <a:srgbClr val="24292F"/>
                </a:solidFill>
                <a:latin typeface="Times New Roman" panose="02020603050405020304" pitchFamily="18" charset="0"/>
                <a:ea typeface="Courier New" pitchFamily="34" charset="-122"/>
                <a:cs typeface="Times New Roman" panose="02020603050405020304" pitchFamily="18" charset="0"/>
              </a:rPr>
              <a:t>//   → { gpa: 2.06, classification: 'Average', ... }</a:t>
            </a:r>
            <a:endParaRPr lang="en-US" sz="1200" dirty="0">
              <a:latin typeface="Times New Roman" panose="02020603050405020304" pitchFamily="18" charset="0"/>
              <a:cs typeface="Times New Roman" panose="02020603050405020304" pitchFamily="18" charset="0"/>
            </a:endParaRPr>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046720" y="1371600"/>
          <a:ext cx="3657600" cy="1353312"/>
        </p:xfrm>
        <a:graphic>
          <a:graphicData uri="http://schemas.openxmlformats.org/drawingml/2006/table">
            <a:tbl>
              <a:tblPr/>
              <a:tblGrid>
                <a:gridCol w="16459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0">
                <a:tc>
                  <a:txBody>
                    <a:bodyPr/>
                    <a:lstStyle/>
                    <a:p>
                      <a:pPr marL="0" indent="0">
                        <a:buNone/>
                      </a:pPr>
                      <a:r>
                        <a:rPr lang="en-US" sz="1200" b="1" dirty="0">
                          <a:solidFill>
                            <a:srgbClr val="FFFFFF"/>
                          </a:solidFill>
                        </a:rPr>
                        <a:t>versionNegotiation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Era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rPr>
                        <a:t>Requests to connect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937"/>
                          </a:solidFill>
                        </a:rPr>
                        <a:t>(default)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2025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 mode: 'auto' }</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200" dirty="0">
                          <a:solidFill>
                            <a:srgbClr val="1F2937"/>
                          </a:solidFill>
                        </a:rPr>
                        <a:t>2026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rPr>
                        <a:t>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937"/>
                          </a:solidFill>
                        </a:rPr>
                        <a:t>auto + prior result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2026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rPr>
                        <a:t>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Text 5"/>
          <p:cNvSpPr txBox="1"/>
          <p:nvPr/>
        </p:nvSpPr>
        <p:spPr>
          <a:xfrm>
            <a:off x="8046720" y="3108960"/>
            <a:ext cx="3657600" cy="274320"/>
          </a:xfrm>
          <a:prstGeom prst="rect">
            <a:avLst/>
          </a:prstGeom>
          <a:noFill/>
          <a:ln/>
        </p:spPr>
        <p:txBody>
          <a:bodyPr wrap="square" lIns="0" tIns="0" rIns="0" bIns="0" rtlCol="0" anchor="ctr"/>
          <a:lstStyle/>
          <a:p>
            <a:pPr marL="0" indent="0">
              <a:buNone/>
            </a:pPr>
            <a:r>
              <a:rPr lang="en-US" sz="1100" i="1" dirty="0">
                <a:solidFill>
                  <a:srgbClr val="5B6475"/>
                </a:solidFill>
                <a:latin typeface="Times New Roman" panose="02020603050405020304" pitchFamily="18" charset="0"/>
                <a:cs typeface="Times New Roman" panose="02020603050405020304" pitchFamily="18" charset="0"/>
              </a:rPr>
              <a:t>Measured in example C1</a:t>
            </a:r>
            <a:endParaRPr lang="en-US" sz="11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38</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REQUIREMENT 6 · CODE</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Try it yourself</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371600"/>
            <a:ext cx="11247120" cy="246888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463040"/>
            <a:ext cx="10972800" cy="2286000"/>
          </a:xfrm>
          <a:prstGeom prst="rect">
            <a:avLst/>
          </a:prstGeom>
          <a:noFill/>
          <a:ln/>
        </p:spPr>
        <p:txBody>
          <a:bodyPr wrap="square" lIns="0" tIns="0" rIns="0" bIns="0" rtlCol="0" anchor="t"/>
          <a:lstStyle/>
          <a:p>
            <a:pPr marL="0" indent="0">
              <a:buNone/>
            </a:pPr>
            <a:r>
              <a:rPr lang="en-US" sz="1500" dirty="0">
                <a:solidFill>
                  <a:srgbClr val="24292F"/>
                </a:solidFill>
                <a:latin typeface="Times New Roman" panose="02020603050405020304" pitchFamily="18" charset="0"/>
                <a:ea typeface="Courier New" pitchFamily="34" charset="-122"/>
                <a:cs typeface="Times New Roman" panose="02020603050405020304" pitchFamily="18" charset="0"/>
              </a:rPr>
              <a:t>git clone https://github.com/HaHiepThanh/mcp-ts.git</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24292F"/>
                </a:solidFill>
                <a:latin typeface="Times New Roman" panose="02020603050405020304" pitchFamily="18" charset="0"/>
                <a:ea typeface="Courier New" pitchFamily="34" charset="-122"/>
                <a:cs typeface="Times New Roman" panose="02020603050405020304" pitchFamily="18" charset="0"/>
              </a:rPr>
              <a:t>cd mcp-ts/mcp-academic</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24292F"/>
                </a:solidFill>
                <a:latin typeface="Times New Roman" panose="02020603050405020304" pitchFamily="18" charset="0"/>
                <a:ea typeface="Courier New" pitchFamily="34" charset="-122"/>
                <a:cs typeface="Times New Roman" panose="02020603050405020304" pitchFamily="18" charset="0"/>
              </a:rPr>
              <a:t>npm install</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24292F"/>
                </a:solidFill>
                <a:latin typeface="Times New Roman" panose="02020603050405020304" pitchFamily="18" charset="0"/>
                <a:ea typeface="Courier New" pitchFamily="34" charset="-122"/>
                <a:cs typeface="Times New Roman" panose="02020603050405020304" pitchFamily="18" charset="0"/>
              </a:rPr>
              <a:t>npm run examples        # 13 SDK examples, no LLM needed → 13/13 passed</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24292F"/>
                </a:solidFill>
                <a:latin typeface="Times New Roman" panose="02020603050405020304" pitchFamily="18" charset="0"/>
                <a:ea typeface="Courier New" pitchFamily="34" charset="-122"/>
                <a:cs typeface="Times New Roman" panose="02020603050405020304" pitchFamily="18" charset="0"/>
              </a:rPr>
              <a:t>npm run chat            # chat with Gemini (needs GEMINI_API_KEY in .env)</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24292F"/>
                </a:solidFill>
                <a:latin typeface="Times New Roman" panose="02020603050405020304" pitchFamily="18" charset="0"/>
                <a:ea typeface="Courier New" pitchFamily="34" charset="-122"/>
                <a:cs typeface="Times New Roman" panose="02020603050405020304" pitchFamily="18" charset="0"/>
              </a:rPr>
              <a:t>npm run chat -- --config config/host.qwen.json   # local Qwen via Ollama</a:t>
            </a:r>
            <a:endParaRPr lang="en-US" sz="1500" dirty="0">
              <a:latin typeface="Times New Roman" panose="02020603050405020304" pitchFamily="18" charset="0"/>
              <a:cs typeface="Times New Roman" panose="02020603050405020304" pitchFamily="18" charset="0"/>
            </a:endParaRPr>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4206240"/>
          <a:ext cx="11247120" cy="1182624"/>
        </p:xfrm>
        <a:graphic>
          <a:graphicData uri="http://schemas.openxmlformats.org/drawingml/2006/table">
            <a:tbl>
              <a:tblPr/>
              <a:tblGrid>
                <a:gridCol w="2194560">
                  <a:extLst>
                    <a:ext uri="{9D8B030D-6E8A-4147-A177-3AD203B41FA5}">
                      <a16:colId xmlns:a16="http://schemas.microsoft.com/office/drawing/2014/main" val="20000"/>
                    </a:ext>
                  </a:extLst>
                </a:gridCol>
                <a:gridCol w="9052560">
                  <a:extLst>
                    <a:ext uri="{9D8B030D-6E8A-4147-A177-3AD203B41FA5}">
                      <a16:colId xmlns:a16="http://schemas.microsoft.com/office/drawing/2014/main" val="20001"/>
                    </a:ext>
                  </a:extLst>
                </a:gridCol>
              </a:tblGrid>
              <a:tr h="0">
                <a:tc>
                  <a:txBody>
                    <a:bodyPr/>
                    <a:lstStyle/>
                    <a:p>
                      <a:pPr marL="0" indent="0">
                        <a:buNone/>
                      </a:pPr>
                      <a:r>
                        <a:rPr lang="en-US" sz="1400" b="1" dirty="0">
                          <a:solidFill>
                            <a:srgbClr val="FFFFFF"/>
                          </a:solidFill>
                        </a:rPr>
                        <a:t>Example</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rPr>
                        <a:t>Shows</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1F2937"/>
                          </a:solidFill>
                        </a:rPr>
                        <a:t>S1–S8 (server)</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400" dirty="0">
                          <a:solidFill>
                            <a:srgbClr val="1F2937"/>
                          </a:solidFill>
                        </a:rPr>
                        <a:t>McpServer · registerTool · tool lifecycle · resources · prompts · progress/cancel · elicitation/sampling · transports</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1F2937"/>
                          </a:solidFill>
                        </a:rPr>
                        <a:t>C1–C5 (client)</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400" dirty="0">
                          <a:solidFill>
                            <a:srgbClr val="1F2937"/>
                          </a:solidFill>
                        </a:rPr>
                        <a:t>connect options · timeouts &amp; errors · subscriptions · caching · wire trace</a:t>
                      </a:r>
                      <a:endParaRPr lang="en-US" sz="14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39</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2980198" y="1797076"/>
            <a:ext cx="2743200" cy="1097280"/>
          </a:xfrm>
          <a:prstGeom prst="rect">
            <a:avLst/>
          </a:prstGeom>
          <a:noFill/>
          <a:ln/>
        </p:spPr>
        <p:txBody>
          <a:bodyPr wrap="square" lIns="0" tIns="0" rIns="0" bIns="0" rtlCol="0" anchor="ctr"/>
          <a:lstStyle/>
          <a:p>
            <a:pPr marL="0" indent="0">
              <a:buNone/>
            </a:pPr>
            <a:r>
              <a:rPr lang="en-US" sz="72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a:t>
            </a:r>
          </a:p>
        </p:txBody>
      </p:sp>
      <p:sp>
        <p:nvSpPr>
          <p:cNvPr id="3" name="Text 1"/>
          <p:cNvSpPr txBox="1"/>
          <p:nvPr/>
        </p:nvSpPr>
        <p:spPr>
          <a:xfrm>
            <a:off x="2980198" y="3429000"/>
            <a:ext cx="10515600" cy="822960"/>
          </a:xfrm>
          <a:prstGeom prst="rect">
            <a:avLst/>
          </a:prstGeom>
          <a:noFill/>
          <a:ln/>
        </p:spPr>
        <p:txBody>
          <a:bodyPr wrap="square" lIns="0" tIns="0" rIns="0" bIns="0" rtlCol="0" anchor="ctr"/>
          <a:lstStyle/>
          <a:p>
            <a:pPr marL="0" indent="0">
              <a:buNone/>
            </a:pPr>
            <a:r>
              <a:rPr lang="en-US" sz="40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Demo &amp; results</a:t>
            </a:r>
          </a:p>
        </p:txBody>
      </p:sp>
      <p:sp>
        <p:nvSpPr>
          <p:cNvPr id="4" name="Text 2"/>
          <p:cNvSpPr txBox="1"/>
          <p:nvPr/>
        </p:nvSpPr>
        <p:spPr>
          <a:xfrm>
            <a:off x="2980198" y="4297680"/>
            <a:ext cx="10515600" cy="548640"/>
          </a:xfrm>
          <a:prstGeom prst="rect">
            <a:avLst/>
          </a:prstGeom>
          <a:noFill/>
          <a:ln/>
        </p:spPr>
        <p:txBody>
          <a:bodyPr wrap="square" lIns="0" tIns="0" rIns="0" bIns="0" rtlCol="0" anchor="ctr"/>
          <a:lstStyle/>
          <a:p>
            <a:pPr marL="0" indent="0">
              <a:buNone/>
            </a:pPr>
            <a:r>
              <a:rPr lang="en-US" sz="18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Times New Roman" panose="02020603050405020304" pitchFamily="18" charset="0"/>
                <a:cs typeface="Times New Roman" panose="02020603050405020304" pitchFamily="18" charset="0"/>
              </a:rPr>
              <a:t>Same servers · two hosts · two LLMs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DEMO</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Configuration is all a host needs</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371600"/>
            <a:ext cx="5486400" cy="420624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594360" y="1463040"/>
            <a:ext cx="5212080" cy="4023360"/>
          </a:xfrm>
          <a:prstGeom prst="rect">
            <a:avLst/>
          </a:prstGeom>
          <a:noFill/>
          <a:ln/>
        </p:spPr>
        <p:txBody>
          <a:bodyPr wrap="square" lIns="0" tIns="0" rIns="0" bIns="0" rtlCol="0" anchor="t"/>
          <a:lstStyle/>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config/host.json — our chat host</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"llm": { "provider": "gemini",</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"model": "gemini-3.5-flash-lite"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"mcpServers":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"academic": { "command": "node",</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"args": ["--import", "tsx",</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"src/server/academic/main.ts"]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"utility": { ...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"agent": { "maxToolRounds": 8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300" dirty="0">
              <a:latin typeface="Times New Roman" panose="02020603050405020304" pitchFamily="18" charset="0"/>
              <a:cs typeface="Times New Roman" panose="02020603050405020304" pitchFamily="18" charset="0"/>
            </a:endParaRPr>
          </a:p>
        </p:txBody>
      </p:sp>
      <p:sp>
        <p:nvSpPr>
          <p:cNvPr id="7" name="Shape 4"/>
          <p:cNvSpPr/>
          <p:nvPr/>
        </p:nvSpPr>
        <p:spPr>
          <a:xfrm>
            <a:off x="6217920" y="1371600"/>
            <a:ext cx="5486400" cy="4206240"/>
          </a:xfrm>
          <a:prstGeom prst="rect">
            <a:avLst/>
          </a:prstGeom>
          <a:solidFill>
            <a:srgbClr val="F6F8FA"/>
          </a:solidFill>
          <a:ln w="12700">
            <a:solidFill>
              <a:srgbClr val="D0D7DE"/>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5"/>
          <p:cNvSpPr txBox="1"/>
          <p:nvPr/>
        </p:nvSpPr>
        <p:spPr>
          <a:xfrm>
            <a:off x="6355080" y="1463040"/>
            <a:ext cx="5212080" cy="4023360"/>
          </a:xfrm>
          <a:prstGeom prst="rect">
            <a:avLst/>
          </a:prstGeom>
          <a:noFill/>
          <a:ln/>
        </p:spPr>
        <p:txBody>
          <a:bodyPr wrap="square" lIns="0" tIns="0" rIns="0" bIns="0" rtlCol="0" anchor="t"/>
          <a:lstStyle/>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.vscode/mcp.json — VS Code Copilot</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"servers":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"academic": { "type": "stdio",</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"command": "node",</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"args": ["--import", "tsx",</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"src/server/academic/main.ts"],</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"cwd": "${workspaceFolder}/mcp-academic"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"utility": { ...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  }</a:t>
            </a:r>
            <a:endParaRPr lang="en-US" sz="1300" dirty="0">
              <a:latin typeface="Times New Roman" panose="02020603050405020304" pitchFamily="18" charset="0"/>
              <a:cs typeface="Times New Roman" panose="02020603050405020304" pitchFamily="18" charset="0"/>
            </a:endParaRPr>
          </a:p>
          <a:p>
            <a:pPr marL="0" indent="0">
              <a:buNone/>
            </a:pPr>
            <a:r>
              <a:rPr lang="en-US" sz="1300" dirty="0">
                <a:solidFill>
                  <a:srgbClr val="24292F"/>
                </a:solidFill>
                <a:latin typeface="Times New Roman" panose="02020603050405020304" pitchFamily="18" charset="0"/>
                <a:ea typeface="Courier New" pitchFamily="34" charset="-122"/>
                <a:cs typeface="Times New Roman" panose="02020603050405020304" pitchFamily="18" charset="0"/>
              </a:rPr>
              <a:t>}</a:t>
            </a:r>
            <a:endParaRPr lang="en-US" sz="1300" dirty="0">
              <a:latin typeface="Times New Roman" panose="02020603050405020304" pitchFamily="18" charset="0"/>
              <a:cs typeface="Times New Roman" panose="02020603050405020304" pitchFamily="18" charset="0"/>
            </a:endParaRPr>
          </a:p>
        </p:txBody>
      </p:sp>
      <p:sp>
        <p:nvSpPr>
          <p:cNvPr id="9" name="Text 6"/>
          <p:cNvSpPr txBox="1"/>
          <p:nvPr/>
        </p:nvSpPr>
        <p:spPr>
          <a:xfrm>
            <a:off x="457200" y="5897880"/>
            <a:ext cx="11247120" cy="365760"/>
          </a:xfrm>
          <a:prstGeom prst="rect">
            <a:avLst/>
          </a:prstGeom>
          <a:noFill/>
          <a:ln/>
        </p:spPr>
        <p:txBody>
          <a:bodyPr wrap="square" lIns="0" tIns="0" rIns="0" bIns="0" rtlCol="0" anchor="ctr"/>
          <a:lstStyle/>
          <a:p>
            <a:pPr marL="0" indent="0">
              <a:buNone/>
            </a:pPr>
            <a:r>
              <a:rPr lang="en-US" sz="1500" b="1" dirty="0">
                <a:solidFill>
                  <a:srgbClr val="1F2937"/>
                </a:solidFill>
                <a:latin typeface="Times New Roman" panose="02020603050405020304" pitchFamily="18" charset="0"/>
                <a:cs typeface="Times New Roman" panose="02020603050405020304" pitchFamily="18" charset="0"/>
              </a:rPr>
              <a:t>Swap the LLM: config/host.qwen.json changes only the "llm" block → Qwen3 4B on Ollama.</a:t>
            </a:r>
            <a:endParaRPr lang="en-US" sz="15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41</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DEMO</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Live demo plan</a:t>
            </a:r>
            <a:endParaRPr lang="en-US" sz="3000" dirty="0">
              <a:latin typeface="Times New Roman" panose="02020603050405020304" pitchFamily="18" charset="0"/>
              <a:cs typeface="Times New Roman" panose="02020603050405020304" pitchFamily="18" charset="0"/>
            </a:endParaRPr>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47120" cy="3520440"/>
        </p:xfrm>
        <a:graphic>
          <a:graphicData uri="http://schemas.openxmlformats.org/drawingml/2006/table">
            <a:tbl>
              <a:tblPr/>
              <a:tblGrid>
                <a:gridCol w="45720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Type this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Point out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00" dirty="0">
                          <a:solidFill>
                            <a:srgbClr val="1F2937"/>
                          </a:solidFill>
                        </a:rPr>
                        <a:t>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/tools</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13 tools from two independent servers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00" dirty="0">
                          <a:solidFill>
                            <a:srgbClr val="1F2937"/>
                          </a:solidFill>
                        </a:rPr>
                        <a:t>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What is the cumulative GPA of student 2201010?</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model chooses calculate_gpa → 2.06 Average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buNone/>
                      </a:pPr>
                      <a:r>
                        <a:rPr lang="en-US" sz="1300" dirty="0">
                          <a:solidFill>
                            <a:srgbClr val="1F2937"/>
                          </a:solidFill>
                        </a:rPr>
                        <a:t>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What grades did Hải get in semester 2024-1?</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name only → search_students → get_transcript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00" dirty="0">
                          <a:solidFill>
                            <a:srgbClr val="1F2937"/>
                          </a:solidFill>
                        </a:rPr>
                        <a:t>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Change the final score of 2201005 in CS202, 2025-1, to 8.</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elicitation: server asks us to confirm</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buNone/>
                      </a:pPr>
                      <a:r>
                        <a:rPr lang="en-US" sz="1300" dirty="0">
                          <a:solidFill>
                            <a:srgbClr val="1F2937"/>
                          </a:solidFill>
                        </a:rPr>
                        <a:t>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200" dirty="0">
                          <a:solidFill>
                            <a:srgbClr val="1F2937"/>
                          </a:solidFill>
                          <a:latin typeface="Courier New" pitchFamily="34" charset="0"/>
                          <a:ea typeface="Courier New" pitchFamily="34" charset="-122"/>
                          <a:cs typeface="Courier New" pitchFamily="34" charset="-120"/>
                        </a:rPr>
                        <a:t>Write a performance report for class IT01 and save it.</a:t>
                      </a:r>
                      <a:endParaRPr lang="en-US" sz="1200" dirty="0">
                        <a:latin typeface="Courier New" charset="0"/>
                        <a:ea typeface="Courier New" charset="0"/>
                        <a:cs typeface="Courier New" charset="0"/>
                      </a:endParaRPr>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tcPr>
                </a:tc>
                <a:tc>
                  <a:txBody>
                    <a:bodyPr/>
                    <a:lstStyle/>
                    <a:p>
                      <a:pPr marL="0" indent="0">
                        <a:buNone/>
                      </a:pPr>
                      <a:r>
                        <a:rPr lang="en-US" sz="1300" dirty="0">
                          <a:solidFill>
                            <a:srgbClr val="1F2937"/>
                          </a:solidFill>
                        </a:rPr>
                        <a:t>two servers combined; file saved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300" dirty="0">
                          <a:solidFill>
                            <a:srgbClr val="1F2937"/>
                          </a:solidFill>
                        </a:rPr>
                        <a:t>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VS Code → Agent mode → ask a ranking question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same servers, another host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42</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rPr>
              <a:t>DEMO</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rPr>
              <a:t>Demo screenshots (backup if the live demo fails)</a:t>
            </a:r>
            <a:endParaRPr lang="en-US" sz="3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t>43</a:t>
            </a:fld>
            <a:endParaRPr lang="en-US"/>
          </a:p>
        </p:txBody>
      </p:sp>
      <p:pic>
        <p:nvPicPr>
          <p:cNvPr id="4" name="Picture 3">
            <a:extLst>
              <a:ext uri="{FF2B5EF4-FFF2-40B4-BE49-F238E27FC236}">
                <a16:creationId xmlns:a16="http://schemas.microsoft.com/office/drawing/2014/main" id="{98F479DA-859C-7F6D-4CBE-DE844076BD9A}"/>
              </a:ext>
            </a:extLst>
          </p:cNvPr>
          <p:cNvPicPr>
            <a:picLocks noChangeAspect="1"/>
          </p:cNvPicPr>
          <p:nvPr/>
        </p:nvPicPr>
        <p:blipFill>
          <a:blip r:embed="rId3"/>
          <a:stretch>
            <a:fillRect/>
          </a:stretch>
        </p:blipFill>
        <p:spPr>
          <a:xfrm>
            <a:off x="457200" y="1586230"/>
            <a:ext cx="5516881" cy="4051300"/>
          </a:xfrm>
          <a:prstGeom prst="rect">
            <a:avLst/>
          </a:prstGeom>
        </p:spPr>
      </p:pic>
      <p:pic>
        <p:nvPicPr>
          <p:cNvPr id="9" name="Picture 8">
            <a:extLst>
              <a:ext uri="{FF2B5EF4-FFF2-40B4-BE49-F238E27FC236}">
                <a16:creationId xmlns:a16="http://schemas.microsoft.com/office/drawing/2014/main" id="{140EF61E-21C5-36FC-97C4-BDD1083F0613}"/>
              </a:ext>
            </a:extLst>
          </p:cNvPr>
          <p:cNvPicPr>
            <a:picLocks noChangeAspect="1"/>
          </p:cNvPicPr>
          <p:nvPr/>
        </p:nvPicPr>
        <p:blipFill>
          <a:blip r:embed="rId4"/>
          <a:stretch>
            <a:fillRect/>
          </a:stretch>
        </p:blipFill>
        <p:spPr>
          <a:xfrm>
            <a:off x="7079700" y="1188720"/>
            <a:ext cx="4360460" cy="540779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RESULTS</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Results: two LLMs, same servers</a:t>
            </a:r>
            <a:endParaRPr lang="en-US" sz="3000" dirty="0">
              <a:latin typeface="Times New Roman" panose="02020603050405020304" pitchFamily="18" charset="0"/>
              <a:cs typeface="Times New Roman" panose="02020603050405020304" pitchFamily="18" charset="0"/>
            </a:endParaRPr>
          </a:p>
        </p:txBody>
      </p:sp>
      <p:graphicFrame>
        <p:nvGraphicFramePr>
          <p:cNvPr id="5" name="Chart 0"/>
          <p:cNvGraphicFramePr/>
          <p:nvPr>
            <p:extLst>
              <p:ext uri="{D42A27DB-BD31-4B8C-83A1-F6EECF244321}">
                <p14:modId xmlns:p14="http://schemas.microsoft.com/office/powerpoint/2010/main" val="4271937290"/>
              </p:ext>
            </p:extLst>
          </p:nvPr>
        </p:nvGraphicFramePr>
        <p:xfrm>
          <a:off x="457200" y="1371600"/>
          <a:ext cx="6035040" cy="4389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5" name="Table 0"/>
          <p:cNvGraphicFramePr>
            <a:graphicFrameLocks noGrp="1"/>
          </p:cNvGraphicFramePr>
          <p:nvPr>
            <p:extLst>
              <p:ext uri="{D42A27DB-BD31-4B8C-83A1-F6EECF244321}">
                <p14:modId xmlns:p14="http://schemas.microsoft.com/office/powerpoint/2010/main" val="1848415259"/>
              </p:ext>
            </p:extLst>
          </p:nvPr>
        </p:nvGraphicFramePr>
        <p:xfrm>
          <a:off x="6766560" y="1371600"/>
          <a:ext cx="4937760" cy="1231392"/>
        </p:xfrm>
        <a:graphic>
          <a:graphicData uri="http://schemas.openxmlformats.org/drawingml/2006/table">
            <a:tbl>
              <a:tblPr/>
              <a:tblGrid>
                <a:gridCol w="21945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0">
                <a:tc>
                  <a:txBody>
                    <a:bodyPr/>
                    <a:lstStyle/>
                    <a:p>
                      <a:pPr marL="0" indent="0">
                        <a:buNone/>
                      </a:pPr>
                      <a:r>
                        <a:rPr lang="en-US" sz="1300" b="1" dirty="0">
                          <a:solidFill>
                            <a:srgbClr val="FFFFFF"/>
                          </a:solidFill>
                        </a:rPr>
                        <a:t>Model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Accuracy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rPr>
                        <a:t>Output tokens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937"/>
                          </a:solidFill>
                        </a:rPr>
                        <a:t>Gemini 3.5 Flash-Lite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100 % (22/22)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127</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F2937"/>
                          </a:solidFill>
                        </a:rPr>
                        <a:t>Qwen3 4B Instruct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100 % (22/22)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marL="0" indent="0">
                        <a:buNone/>
                      </a:pPr>
                      <a:r>
                        <a:rPr lang="en-US" sz="1300" dirty="0">
                          <a:solidFill>
                            <a:srgbClr val="1F2937"/>
                          </a:solidFill>
                        </a:rPr>
                        <a:t>109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F2937"/>
                          </a:solidFill>
                        </a:rPr>
                        <a:t>Qwen3 4B Thinking</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100 % (22/22)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marL="0" indent="0">
                        <a:buNone/>
                      </a:pPr>
                      <a:r>
                        <a:rPr lang="en-US" sz="1300" dirty="0">
                          <a:solidFill>
                            <a:srgbClr val="1F2937"/>
                          </a:solidFill>
                        </a:rPr>
                        <a:t>1468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2"/>
          <p:cNvSpPr/>
          <p:nvPr/>
        </p:nvSpPr>
        <p:spPr>
          <a:xfrm>
            <a:off x="6766560" y="3291840"/>
            <a:ext cx="4937760" cy="2468880"/>
          </a:xfrm>
          <a:prstGeom prst="roundRect">
            <a:avLst>
              <a:gd name="adj" fmla="val 296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8" name="Text 3"/>
          <p:cNvSpPr txBox="1"/>
          <p:nvPr/>
        </p:nvSpPr>
        <p:spPr>
          <a:xfrm>
            <a:off x="6949440" y="3429000"/>
            <a:ext cx="45720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Where the time goes</a:t>
            </a:r>
            <a:endParaRPr lang="en-US" sz="1800" dirty="0">
              <a:latin typeface="Times New Roman" panose="02020603050405020304" pitchFamily="18" charset="0"/>
              <a:cs typeface="Times New Roman" panose="02020603050405020304" pitchFamily="18" charset="0"/>
            </a:endParaRPr>
          </a:p>
        </p:txBody>
      </p:sp>
      <p:sp>
        <p:nvSpPr>
          <p:cNvPr id="9" name="Text 4"/>
          <p:cNvSpPr txBox="1"/>
          <p:nvPr/>
        </p:nvSpPr>
        <p:spPr>
          <a:xfrm>
            <a:off x="6949440" y="3931920"/>
            <a:ext cx="4572000" cy="1691640"/>
          </a:xfrm>
          <a:prstGeom prst="rect">
            <a:avLst/>
          </a:prstGeom>
          <a:noFill/>
          <a:ln/>
        </p:spPr>
        <p:txBody>
          <a:bodyPr wrap="square" lIns="0" tIns="0" rIns="0" bIns="0" rtlCol="0" anchor="t"/>
          <a:lstStyle/>
          <a:p>
            <a:pPr marL="0" indent="0">
              <a:buNone/>
            </a:pPr>
            <a:r>
              <a:rPr lang="en-US" sz="1500" dirty="0">
                <a:solidFill>
                  <a:srgbClr val="1F2937"/>
                </a:solidFill>
                <a:latin typeface="Times New Roman" panose="02020603050405020304" pitchFamily="18" charset="0"/>
                <a:cs typeface="Times New Roman" panose="02020603050405020304" pitchFamily="18" charset="0"/>
              </a:rPr>
              <a:t>LLM ≈ 99.3 % of a turn</a:t>
            </a: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MCP tool calls ≈ 0.7 % (2–40 ms)</a:t>
            </a:r>
            <a:endParaRPr lang="en-US" sz="1500" dirty="0">
              <a:latin typeface="Times New Roman" panose="02020603050405020304" pitchFamily="18" charset="0"/>
              <a:cs typeface="Times New Roman" panose="02020603050405020304" pitchFamily="18" charset="0"/>
            </a:endParaRPr>
          </a:p>
          <a:p>
            <a:pPr marL="0" indent="0">
              <a:buNone/>
            </a:pPr>
            <a:endParaRPr lang="en-US" sz="1500" dirty="0">
              <a:latin typeface="Times New Roman" panose="02020603050405020304" pitchFamily="18" charset="0"/>
              <a:cs typeface="Times New Roman" panose="02020603050405020304" pitchFamily="18" charset="0"/>
            </a:endParaRPr>
          </a:p>
          <a:p>
            <a:pPr marL="0" indent="0">
              <a:buNone/>
            </a:pPr>
            <a:r>
              <a:rPr lang="en-US" sz="1500" dirty="0">
                <a:solidFill>
                  <a:srgbClr val="1F2937"/>
                </a:solidFill>
                <a:latin typeface="Times New Roman" panose="02020603050405020304" pitchFamily="18" charset="0"/>
                <a:cs typeface="Times New Roman" panose="02020603050405020304" pitchFamily="18" charset="0"/>
              </a:rPr>
              <a:t>11 questions × 2 runs · answers checked against the tools · docs/model-comparison.md</a:t>
            </a:r>
            <a:endParaRPr lang="en-US" sz="15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44</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marL="0" indent="0">
              <a:buNone/>
            </a:pPr>
            <a:r>
              <a:rPr lang="en-US" sz="1200" b="1" kern="0" spc="200" dirty="0">
                <a:solidFill>
                  <a:srgbClr val="0F8B8D"/>
                </a:solidFill>
                <a:latin typeface="Times New Roman" panose="02020603050405020304" pitchFamily="18" charset="0"/>
                <a:cs typeface="Times New Roman" panose="02020603050405020304" pitchFamily="18" charset="0"/>
              </a:rPr>
              <a:t>RESULTS</a:t>
            </a:r>
            <a:endParaRPr lang="en-US" sz="1200" dirty="0">
              <a:latin typeface="Times New Roman" panose="02020603050405020304" pitchFamily="18" charset="0"/>
              <a:cs typeface="Times New Roman" panose="02020603050405020304" pitchFamily="18" charset="0"/>
            </a:endParaRPr>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marL="0" indent="0">
              <a:buNone/>
            </a:pPr>
            <a:r>
              <a:rPr lang="en-US" sz="3000" b="1" dirty="0">
                <a:solidFill>
                  <a:srgbClr val="1F2937"/>
                </a:solidFill>
                <a:latin typeface="Times New Roman" panose="02020603050405020304" pitchFamily="18" charset="0"/>
                <a:cs typeface="Times New Roman" panose="02020603050405020304" pitchFamily="18" charset="0"/>
              </a:rPr>
              <a:t>Lessons learned</a:t>
            </a:r>
            <a:endParaRPr lang="en-US" sz="3000" dirty="0">
              <a:latin typeface="Times New Roman" panose="02020603050405020304" pitchFamily="18" charset="0"/>
              <a:cs typeface="Times New Roman" panose="02020603050405020304" pitchFamily="18" charset="0"/>
            </a:endParaRPr>
          </a:p>
        </p:txBody>
      </p:sp>
      <p:sp>
        <p:nvSpPr>
          <p:cNvPr id="5" name="Shape 2"/>
          <p:cNvSpPr/>
          <p:nvPr/>
        </p:nvSpPr>
        <p:spPr>
          <a:xfrm>
            <a:off x="457200" y="1463040"/>
            <a:ext cx="3566160" cy="3108960"/>
          </a:xfrm>
          <a:prstGeom prst="roundRect">
            <a:avLst>
              <a:gd name="adj" fmla="val 235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6" name="Text 3"/>
          <p:cNvSpPr txBox="1"/>
          <p:nvPr/>
        </p:nvSpPr>
        <p:spPr>
          <a:xfrm>
            <a:off x="640080" y="160020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Tool design &gt; model size</a:t>
            </a:r>
            <a:endParaRPr lang="en-US" sz="1800" dirty="0">
              <a:latin typeface="Times New Roman" panose="02020603050405020304" pitchFamily="18" charset="0"/>
              <a:cs typeface="Times New Roman" panose="02020603050405020304" pitchFamily="18" charset="0"/>
            </a:endParaRPr>
          </a:p>
        </p:txBody>
      </p:sp>
      <p:sp>
        <p:nvSpPr>
          <p:cNvPr id="7" name="Text 4"/>
          <p:cNvSpPr txBox="1"/>
          <p:nvPr/>
        </p:nvSpPr>
        <p:spPr>
          <a:xfrm>
            <a:off x="640080" y="2103120"/>
            <a:ext cx="3200400" cy="2331720"/>
          </a:xfrm>
          <a:prstGeom prst="rect">
            <a:avLst/>
          </a:prstGeom>
          <a:noFill/>
          <a:ln/>
        </p:spPr>
        <p:txBody>
          <a:bodyPr wrap="square" lIns="0" tIns="0" rIns="0" bIns="0" rtlCol="0" anchor="t"/>
          <a:lstStyle/>
          <a:p>
            <a:pPr marL="0" indent="0">
              <a:buNone/>
            </a:pPr>
            <a:r>
              <a:rPr lang="en-US" sz="1800" dirty="0">
                <a:solidFill>
                  <a:srgbClr val="1F2937"/>
                </a:solidFill>
                <a:latin typeface="Times New Roman" panose="02020603050405020304" pitchFamily="18" charset="0"/>
                <a:cs typeface="Times New Roman" panose="02020603050405020304" pitchFamily="18" charset="0"/>
              </a:rPr>
              <a:t>Clear names, descriptions and Zod schemas let a 4B local model reach 100 %. Errors returned as isError let the model fix itself.</a:t>
            </a:r>
            <a:endParaRPr lang="en-US" sz="1800" dirty="0">
              <a:latin typeface="Times New Roman" panose="02020603050405020304" pitchFamily="18" charset="0"/>
              <a:cs typeface="Times New Roman" panose="02020603050405020304" pitchFamily="18" charset="0"/>
            </a:endParaRPr>
          </a:p>
        </p:txBody>
      </p:sp>
      <p:sp>
        <p:nvSpPr>
          <p:cNvPr id="8" name="Shape 5"/>
          <p:cNvSpPr/>
          <p:nvPr/>
        </p:nvSpPr>
        <p:spPr>
          <a:xfrm>
            <a:off x="4297680" y="1463040"/>
            <a:ext cx="3566160" cy="3108960"/>
          </a:xfrm>
          <a:prstGeom prst="roundRect">
            <a:avLst>
              <a:gd name="adj" fmla="val 235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9" name="Text 6"/>
          <p:cNvSpPr txBox="1"/>
          <p:nvPr/>
        </p:nvSpPr>
        <p:spPr>
          <a:xfrm>
            <a:off x="4480560" y="160020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Humans must confirm writes</a:t>
            </a:r>
            <a:endParaRPr lang="en-US" sz="1800" dirty="0">
              <a:latin typeface="Times New Roman" panose="02020603050405020304" pitchFamily="18" charset="0"/>
              <a:cs typeface="Times New Roman" panose="02020603050405020304" pitchFamily="18" charset="0"/>
            </a:endParaRPr>
          </a:p>
        </p:txBody>
      </p:sp>
      <p:sp>
        <p:nvSpPr>
          <p:cNvPr id="10" name="Text 7"/>
          <p:cNvSpPr txBox="1"/>
          <p:nvPr/>
        </p:nvSpPr>
        <p:spPr>
          <a:xfrm>
            <a:off x="4480560" y="2103120"/>
            <a:ext cx="3200400" cy="2331720"/>
          </a:xfrm>
          <a:prstGeom prst="rect">
            <a:avLst/>
          </a:prstGeom>
          <a:noFill/>
          <a:ln/>
        </p:spPr>
        <p:txBody>
          <a:bodyPr wrap="square" lIns="0" tIns="0" rIns="0" bIns="0" rtlCol="0" anchor="t"/>
          <a:lstStyle/>
          <a:p>
            <a:pPr marL="0" indent="0">
              <a:buNone/>
            </a:pPr>
            <a:r>
              <a:rPr lang="en-US" sz="1600" dirty="0">
                <a:solidFill>
                  <a:srgbClr val="1F2937"/>
                </a:solidFill>
                <a:latin typeface="Times New Roman" panose="02020603050405020304" pitchFamily="18" charset="0"/>
                <a:cs typeface="Times New Roman" panose="02020603050405020304" pitchFamily="18" charset="0"/>
              </a:rPr>
              <a:t>Elicitation caught the LLM inventing process_score: 0 on update_grade. Destructive tools must always ask.</a:t>
            </a:r>
            <a:endParaRPr lang="en-US" sz="1600" dirty="0">
              <a:latin typeface="Times New Roman" panose="02020603050405020304" pitchFamily="18" charset="0"/>
              <a:cs typeface="Times New Roman" panose="02020603050405020304" pitchFamily="18" charset="0"/>
            </a:endParaRPr>
          </a:p>
        </p:txBody>
      </p:sp>
      <p:sp>
        <p:nvSpPr>
          <p:cNvPr id="11" name="Shape 8"/>
          <p:cNvSpPr/>
          <p:nvPr/>
        </p:nvSpPr>
        <p:spPr>
          <a:xfrm>
            <a:off x="8138160" y="1463040"/>
            <a:ext cx="3566160" cy="3108960"/>
          </a:xfrm>
          <a:prstGeom prst="roundRect">
            <a:avLst>
              <a:gd name="adj" fmla="val 2353"/>
            </a:avLst>
          </a:prstGeom>
          <a:solidFill>
            <a:srgbClr val="EEF2F6"/>
          </a:solidFill>
          <a:ln w="12700">
            <a:solidFill>
              <a:srgbClr val="EEF2F6"/>
            </a:solidFill>
            <a:prstDash val="solid"/>
          </a:ln>
        </p:spPr>
        <p:txBody>
          <a:bodyPr/>
          <a:lstStyle/>
          <a:p>
            <a:endParaRPr lang="en-VN">
              <a:latin typeface="Times New Roman" panose="02020603050405020304" pitchFamily="18" charset="0"/>
              <a:cs typeface="Times New Roman" panose="02020603050405020304" pitchFamily="18" charset="0"/>
            </a:endParaRPr>
          </a:p>
        </p:txBody>
      </p:sp>
      <p:sp>
        <p:nvSpPr>
          <p:cNvPr id="12" name="Text 9"/>
          <p:cNvSpPr txBox="1"/>
          <p:nvPr/>
        </p:nvSpPr>
        <p:spPr>
          <a:xfrm>
            <a:off x="8321040" y="1600200"/>
            <a:ext cx="3200400" cy="457200"/>
          </a:xfrm>
          <a:prstGeom prst="rect">
            <a:avLst/>
          </a:prstGeom>
          <a:noFill/>
          <a:ln/>
        </p:spPr>
        <p:txBody>
          <a:bodyPr wrap="square" lIns="0" tIns="0" rIns="0" bIns="0" rtlCol="0" anchor="t"/>
          <a:lstStyle/>
          <a:p>
            <a:pPr marL="0" indent="0">
              <a:buNone/>
            </a:pPr>
            <a:r>
              <a:rPr lang="en-US" sz="1800" b="1" dirty="0">
                <a:solidFill>
                  <a:srgbClr val="0F8B8D"/>
                </a:solidFill>
                <a:latin typeface="Times New Roman" panose="02020603050405020304" pitchFamily="18" charset="0"/>
                <a:cs typeface="Times New Roman" panose="02020603050405020304" pitchFamily="18" charset="0"/>
              </a:rPr>
              <a:t>Thinking ≠ better here</a:t>
            </a:r>
            <a:endParaRPr lang="en-US" sz="1800" dirty="0">
              <a:latin typeface="Times New Roman" panose="02020603050405020304" pitchFamily="18" charset="0"/>
              <a:cs typeface="Times New Roman" panose="02020603050405020304" pitchFamily="18" charset="0"/>
            </a:endParaRPr>
          </a:p>
        </p:txBody>
      </p:sp>
      <p:sp>
        <p:nvSpPr>
          <p:cNvPr id="13" name="Text 10"/>
          <p:cNvSpPr txBox="1"/>
          <p:nvPr/>
        </p:nvSpPr>
        <p:spPr>
          <a:xfrm>
            <a:off x="8321040" y="2103120"/>
            <a:ext cx="3200400" cy="2331720"/>
          </a:xfrm>
          <a:prstGeom prst="rect">
            <a:avLst/>
          </a:prstGeom>
          <a:noFill/>
          <a:ln/>
        </p:spPr>
        <p:txBody>
          <a:bodyPr wrap="square" lIns="0" tIns="0" rIns="0" bIns="0" rtlCol="0" anchor="t"/>
          <a:lstStyle/>
          <a:p>
            <a:pPr marL="0" indent="0">
              <a:buNone/>
            </a:pPr>
            <a:r>
              <a:rPr lang="en-US" sz="1600" dirty="0">
                <a:solidFill>
                  <a:srgbClr val="1F2937"/>
                </a:solidFill>
                <a:latin typeface="Times New Roman" panose="02020603050405020304" pitchFamily="18" charset="0"/>
                <a:cs typeface="Times New Roman" panose="02020603050405020304" pitchFamily="18" charset="0"/>
              </a:rPr>
              <a:t>Qwen thinking: same accuracy, 10× slower, 13× more tokens. Free Gemini quotas were the real limit — bound and log every run.</a:t>
            </a:r>
            <a:endParaRPr lang="en-US" sz="1600" dirty="0">
              <a:latin typeface="Times New Roman" panose="02020603050405020304" pitchFamily="18" charset="0"/>
              <a:cs typeface="Times New Roman" panose="02020603050405020304" pitchFamily="18" charset="0"/>
            </a:endParaRPr>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475"/>
                </a:solidFill>
              </a:defRPr>
            </a:lvl1pPr>
          </a:lstStyle>
          <a:p>
            <a:pPr algn="r"/>
            <a:fld id="{F7021451-1387-4CA6-816F-3879F97B5CBC}" type="slidenum">
              <a:rPr lang="en-US" b="0">
                <a:latin typeface="Times New Roman" panose="02020603050405020304" pitchFamily="18" charset="0"/>
                <a:cs typeface="Times New Roman" panose="02020603050405020304" pitchFamily="18" charset="0"/>
              </a:rPr>
              <a:t>45</a:t>
            </a:fld>
            <a:endParaRPr 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Times New Roman" panose="02020603050405020304" pitchFamily="18" charset="0"/>
                <a:cs typeface="Times New Roman" panose="02020603050405020304" pitchFamily="18" charset="0"/>
              </a:rPr>
              <a:t>Summary</a:t>
            </a:r>
            <a:endParaRPr lang="en-US" sz="4000" dirty="0">
              <a:latin typeface="Times New Roman" panose="02020603050405020304" pitchFamily="18" charset="0"/>
              <a:cs typeface="Times New Roman" panose="02020603050405020304" pitchFamily="18" charset="0"/>
            </a:endParaRPr>
          </a:p>
        </p:txBody>
      </p:sp>
      <p:sp>
        <p:nvSpPr>
          <p:cNvPr id="3" name="Text 1"/>
          <p:cNvSpPr txBox="1"/>
          <p:nvPr/>
        </p:nvSpPr>
        <p:spPr>
          <a:xfrm>
            <a:off x="731520" y="1737360"/>
            <a:ext cx="2651760" cy="1097280"/>
          </a:xfrm>
          <a:prstGeom prst="rect">
            <a:avLst/>
          </a:prstGeom>
          <a:noFill/>
          <a:ln/>
        </p:spPr>
        <p:txBody>
          <a:bodyPr wrap="square" lIns="0" tIns="0" rIns="0" bIns="0" rtlCol="0" anchor="ctr"/>
          <a:lstStyle/>
          <a:p>
            <a:pPr marL="0" indent="0">
              <a:buNone/>
            </a:pPr>
            <a:r>
              <a:rPr lang="en-US" sz="3000" b="1" dirty="0">
                <a:solidFill>
                  <a:srgbClr val="0F8B8D"/>
                </a:solidFill>
                <a:latin typeface="Times New Roman" panose="02020603050405020304" pitchFamily="18" charset="0"/>
                <a:cs typeface="Times New Roman" panose="02020603050405020304" pitchFamily="18" charset="0"/>
              </a:rPr>
              <a:t>THINK</a:t>
            </a:r>
            <a:endParaRPr lang="en-US" sz="3000" dirty="0">
              <a:latin typeface="Times New Roman" panose="02020603050405020304" pitchFamily="18" charset="0"/>
              <a:cs typeface="Times New Roman" panose="02020603050405020304" pitchFamily="18" charset="0"/>
            </a:endParaRPr>
          </a:p>
          <a:p>
            <a:pPr marL="0" indent="0">
              <a:buNone/>
            </a:pPr>
            <a:r>
              <a:rPr lang="en-US" sz="1800" dirty="0">
                <a:solidFill>
                  <a:srgbClr val="C9D3E6"/>
                </a:solidFill>
                <a:latin typeface="Times New Roman" panose="02020603050405020304" pitchFamily="18" charset="0"/>
                <a:cs typeface="Times New Roman" panose="02020603050405020304" pitchFamily="18" charset="0"/>
              </a:rPr>
              <a:t>LLM</a:t>
            </a:r>
            <a:endParaRPr lang="en-US" sz="3000" dirty="0">
              <a:latin typeface="Times New Roman" panose="02020603050405020304" pitchFamily="18" charset="0"/>
              <a:cs typeface="Times New Roman" panose="02020603050405020304" pitchFamily="18" charset="0"/>
            </a:endParaRPr>
          </a:p>
        </p:txBody>
      </p:sp>
      <p:sp>
        <p:nvSpPr>
          <p:cNvPr id="4" name="Text 2"/>
          <p:cNvSpPr txBox="1"/>
          <p:nvPr/>
        </p:nvSpPr>
        <p:spPr>
          <a:xfrm>
            <a:off x="3520440" y="1737360"/>
            <a:ext cx="2651760" cy="1097280"/>
          </a:xfrm>
          <a:prstGeom prst="rect">
            <a:avLst/>
          </a:prstGeom>
          <a:noFill/>
          <a:ln/>
        </p:spPr>
        <p:txBody>
          <a:bodyPr wrap="square" lIns="0" tIns="0" rIns="0" bIns="0" rtlCol="0" anchor="ctr"/>
          <a:lstStyle/>
          <a:p>
            <a:pPr marL="0" indent="0">
              <a:buNone/>
            </a:pPr>
            <a:r>
              <a:rPr lang="en-US" sz="3000" b="1" dirty="0">
                <a:solidFill>
                  <a:srgbClr val="0F8B8D"/>
                </a:solidFill>
                <a:latin typeface="Times New Roman" panose="02020603050405020304" pitchFamily="18" charset="0"/>
                <a:cs typeface="Times New Roman" panose="02020603050405020304" pitchFamily="18" charset="0"/>
              </a:rPr>
              <a:t>KNOW</a:t>
            </a:r>
            <a:endParaRPr lang="en-US" sz="3000" dirty="0">
              <a:latin typeface="Times New Roman" panose="02020603050405020304" pitchFamily="18" charset="0"/>
              <a:cs typeface="Times New Roman" panose="02020603050405020304" pitchFamily="18" charset="0"/>
            </a:endParaRPr>
          </a:p>
          <a:p>
            <a:pPr marL="0" indent="0">
              <a:buNone/>
            </a:pPr>
            <a:r>
              <a:rPr lang="en-US" sz="1800" dirty="0">
                <a:solidFill>
                  <a:srgbClr val="C9D3E6"/>
                </a:solidFill>
                <a:latin typeface="Times New Roman" panose="02020603050405020304" pitchFamily="18" charset="0"/>
                <a:cs typeface="Times New Roman" panose="02020603050405020304" pitchFamily="18" charset="0"/>
              </a:rPr>
              <a:t>Data</a:t>
            </a:r>
            <a:endParaRPr lang="en-US" sz="3000" dirty="0">
              <a:latin typeface="Times New Roman" panose="02020603050405020304" pitchFamily="18" charset="0"/>
              <a:cs typeface="Times New Roman" panose="02020603050405020304" pitchFamily="18" charset="0"/>
            </a:endParaRPr>
          </a:p>
        </p:txBody>
      </p:sp>
      <p:sp>
        <p:nvSpPr>
          <p:cNvPr id="5" name="Text 3"/>
          <p:cNvSpPr txBox="1"/>
          <p:nvPr/>
        </p:nvSpPr>
        <p:spPr>
          <a:xfrm>
            <a:off x="6309360" y="1737360"/>
            <a:ext cx="2651760" cy="1097280"/>
          </a:xfrm>
          <a:prstGeom prst="rect">
            <a:avLst/>
          </a:prstGeom>
          <a:noFill/>
          <a:ln/>
        </p:spPr>
        <p:txBody>
          <a:bodyPr wrap="square" lIns="0" tIns="0" rIns="0" bIns="0" rtlCol="0" anchor="ctr"/>
          <a:lstStyle/>
          <a:p>
            <a:pPr marL="0" indent="0">
              <a:buNone/>
            </a:pPr>
            <a:r>
              <a:rPr lang="en-US" sz="3000" b="1" dirty="0">
                <a:solidFill>
                  <a:srgbClr val="0F8B8D"/>
                </a:solidFill>
                <a:latin typeface="Times New Roman" panose="02020603050405020304" pitchFamily="18" charset="0"/>
                <a:cs typeface="Times New Roman" panose="02020603050405020304" pitchFamily="18" charset="0"/>
              </a:rPr>
              <a:t>ACT</a:t>
            </a:r>
            <a:endParaRPr lang="en-US" sz="3000" dirty="0">
              <a:latin typeface="Times New Roman" panose="02020603050405020304" pitchFamily="18" charset="0"/>
              <a:cs typeface="Times New Roman" panose="02020603050405020304" pitchFamily="18" charset="0"/>
            </a:endParaRPr>
          </a:p>
          <a:p>
            <a:pPr marL="0" indent="0">
              <a:buNone/>
            </a:pPr>
            <a:r>
              <a:rPr lang="en-US" sz="1800" dirty="0">
                <a:solidFill>
                  <a:srgbClr val="C9D3E6"/>
                </a:solidFill>
                <a:latin typeface="Times New Roman" panose="02020603050405020304" pitchFamily="18" charset="0"/>
                <a:cs typeface="Times New Roman" panose="02020603050405020304" pitchFamily="18" charset="0"/>
              </a:rPr>
              <a:t>Tools</a:t>
            </a:r>
            <a:endParaRPr lang="en-US" sz="3000" dirty="0">
              <a:latin typeface="Times New Roman" panose="02020603050405020304" pitchFamily="18" charset="0"/>
              <a:cs typeface="Times New Roman" panose="02020603050405020304" pitchFamily="18" charset="0"/>
            </a:endParaRPr>
          </a:p>
        </p:txBody>
      </p:sp>
      <p:sp>
        <p:nvSpPr>
          <p:cNvPr id="6" name="Text 4"/>
          <p:cNvSpPr txBox="1"/>
          <p:nvPr/>
        </p:nvSpPr>
        <p:spPr>
          <a:xfrm>
            <a:off x="9098280" y="1737360"/>
            <a:ext cx="2651760" cy="1097280"/>
          </a:xfrm>
          <a:prstGeom prst="rect">
            <a:avLst/>
          </a:prstGeom>
          <a:noFill/>
          <a:ln/>
        </p:spPr>
        <p:txBody>
          <a:bodyPr wrap="square" lIns="0" tIns="0" rIns="0" bIns="0" rtlCol="0" anchor="ctr"/>
          <a:lstStyle/>
          <a:p>
            <a:pPr marL="0" indent="0">
              <a:buNone/>
            </a:pPr>
            <a:r>
              <a:rPr lang="en-US" sz="3000" b="1" dirty="0">
                <a:solidFill>
                  <a:srgbClr val="E07A1F"/>
                </a:solidFill>
                <a:latin typeface="Times New Roman" panose="02020603050405020304" pitchFamily="18" charset="0"/>
                <a:cs typeface="Times New Roman" panose="02020603050405020304" pitchFamily="18" charset="0"/>
              </a:rPr>
              <a:t>CONNECT</a:t>
            </a:r>
            <a:endParaRPr lang="en-US" sz="3000" dirty="0">
              <a:latin typeface="Times New Roman" panose="02020603050405020304" pitchFamily="18" charset="0"/>
              <a:cs typeface="Times New Roman" panose="02020603050405020304" pitchFamily="18" charset="0"/>
            </a:endParaRPr>
          </a:p>
          <a:p>
            <a:pPr marL="0" indent="0">
              <a:buNone/>
            </a:pPr>
            <a:r>
              <a:rPr lang="en-US" sz="1800" dirty="0">
                <a:solidFill>
                  <a:srgbClr val="C9D3E6"/>
                </a:solidFill>
                <a:latin typeface="Times New Roman" panose="02020603050405020304" pitchFamily="18" charset="0"/>
                <a:cs typeface="Times New Roman" panose="02020603050405020304" pitchFamily="18" charset="0"/>
              </a:rPr>
              <a:t>MCP</a:t>
            </a:r>
            <a:endParaRPr lang="en-US" sz="3000" dirty="0">
              <a:latin typeface="Times New Roman" panose="02020603050405020304" pitchFamily="18" charset="0"/>
              <a:cs typeface="Times New Roman" panose="02020603050405020304" pitchFamily="18" charset="0"/>
            </a:endParaRPr>
          </a:p>
        </p:txBody>
      </p:sp>
      <p:sp>
        <p:nvSpPr>
          <p:cNvPr id="7" name="Text 5"/>
          <p:cNvSpPr txBox="1"/>
          <p:nvPr/>
        </p:nvSpPr>
        <p:spPr>
          <a:xfrm>
            <a:off x="731520" y="3108960"/>
            <a:ext cx="10698480" cy="1280160"/>
          </a:xfrm>
          <a:prstGeom prst="rect">
            <a:avLst/>
          </a:prstGeom>
          <a:noFill/>
          <a:ln/>
        </p:spPr>
        <p:txBody>
          <a:bodyPr wrap="square" lIns="0" tIns="0" rIns="0" bIns="0" rtlCol="0" anchor="ctr"/>
          <a:lstStyle/>
          <a:p>
            <a:pPr marL="0" indent="0">
              <a:buNone/>
            </a:pPr>
            <a:r>
              <a:rPr lang="en-US" sz="1800" dirty="0">
                <a:solidFill>
                  <a:srgbClr val="FFFFFF"/>
                </a:solidFill>
                <a:latin typeface="Times New Roman" panose="02020603050405020304" pitchFamily="18" charset="0"/>
                <a:cs typeface="Times New Roman" panose="02020603050405020304" pitchFamily="18" charset="0"/>
              </a:rPr>
              <a:t>MCP separates what data and tools exist (servers) from who reasons (hosts + LLMs). The TypeScript SDK v2 gives a small API, two protocol eras and two transports — we used it to build 2 servers that work unchanged with 2 hosts and 2 LLMs.</a:t>
            </a:r>
            <a:endParaRPr lang="en-US" sz="1800" dirty="0">
              <a:latin typeface="Times New Roman" panose="02020603050405020304" pitchFamily="18" charset="0"/>
              <a:cs typeface="Times New Roman" panose="02020603050405020304" pitchFamily="18" charset="0"/>
            </a:endParaRPr>
          </a:p>
        </p:txBody>
      </p:sp>
      <p:sp>
        <p:nvSpPr>
          <p:cNvPr id="8" name="Text 6"/>
          <p:cNvSpPr txBox="1"/>
          <p:nvPr/>
        </p:nvSpPr>
        <p:spPr>
          <a:xfrm>
            <a:off x="731520" y="4572000"/>
            <a:ext cx="5486400" cy="731520"/>
          </a:xfrm>
          <a:prstGeom prst="rect">
            <a:avLst/>
          </a:prstGeom>
          <a:noFill/>
          <a:ln/>
        </p:spPr>
        <p:txBody>
          <a:bodyPr wrap="square" lIns="0" tIns="0" rIns="0" bIns="0" rtlCol="0" anchor="ctr"/>
          <a:lstStyle/>
          <a:p>
            <a:pPr marL="0" indent="0">
              <a:buNone/>
            </a:pPr>
            <a:r>
              <a:rPr lang="en-US" sz="3200" b="1" dirty="0">
                <a:solidFill>
                  <a:srgbClr val="FFFFFF"/>
                </a:solidFill>
                <a:latin typeface="Times New Roman" panose="02020603050405020304" pitchFamily="18" charset="0"/>
                <a:cs typeface="Times New Roman" panose="02020603050405020304" pitchFamily="18" charset="0"/>
              </a:rPr>
              <a:t>Questions?</a:t>
            </a:r>
            <a:endParaRPr lang="en-US" sz="3200" dirty="0">
              <a:latin typeface="Times New Roman" panose="02020603050405020304" pitchFamily="18" charset="0"/>
              <a:cs typeface="Times New Roman" panose="02020603050405020304" pitchFamily="18" charset="0"/>
            </a:endParaRPr>
          </a:p>
        </p:txBody>
      </p:sp>
      <p:sp>
        <p:nvSpPr>
          <p:cNvPr id="9" name="Text 7"/>
          <p:cNvSpPr txBox="1"/>
          <p:nvPr/>
        </p:nvSpPr>
        <p:spPr>
          <a:xfrm>
            <a:off x="731520" y="5486400"/>
            <a:ext cx="10698480" cy="548640"/>
          </a:xfrm>
          <a:prstGeom prst="rect">
            <a:avLst/>
          </a:prstGeom>
          <a:noFill/>
          <a:ln/>
        </p:spPr>
        <p:txBody>
          <a:bodyPr wrap="square" lIns="0" tIns="0" rIns="0" bIns="0" rtlCol="0" anchor="ctr"/>
          <a:lstStyle/>
          <a:p>
            <a:pPr marL="0" indent="0">
              <a:buNone/>
            </a:pPr>
            <a:r>
              <a:rPr lang="en-US" sz="1300" dirty="0">
                <a:solidFill>
                  <a:srgbClr val="C9D3E6"/>
                </a:solidFill>
                <a:latin typeface="Times New Roman" panose="02020603050405020304" pitchFamily="18" charset="0"/>
                <a:cs typeface="Times New Roman" panose="02020603050405020304" pitchFamily="18" charset="0"/>
              </a:rPr>
              <a:t>modelcontextprotocol.io/specification/2026-07-28 · github.com/modelcontextprotocol/typescript-sdk · our code: github.com/HaHiepThanh/mcp-ts</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TM02892315[[fn=Wisp]]</Template>
  <TotalTime>105</TotalTime>
  <Words>7699</Words>
  <Application>Microsoft Macintosh PowerPoint</Application>
  <PresentationFormat>Widescreen</PresentationFormat>
  <Paragraphs>977</Paragraphs>
  <Slides>46</Slides>
  <Notes>46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Century Gothic</vt:lpstr>
      <vt:lpstr>Courier New</vt:lpstr>
      <vt:lpstr>Times New Roman</vt:lpstr>
      <vt:lpstr>Wingdings 3</vt:lpstr>
      <vt:lpstr>Wisp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MCP.2502 - MCP TypeScript SDK - Phase 1</dc:title>
  <dc:subject>PptxGenJS Presentation</dc:subject>
  <dc:creator>PptxGenJS</dc:creator>
  <cp:lastModifiedBy>Thanh Hà</cp:lastModifiedBy>
  <cp:revision>7</cp:revision>
  <dcterms:created xsi:type="dcterms:W3CDTF">2026-10-16T13:52:08Z</dcterms:created>
  <dcterms:modified xsi:type="dcterms:W3CDTF">2026-10-19T09:32:10Z</dcterms:modified>
</cp:coreProperties>
</file>