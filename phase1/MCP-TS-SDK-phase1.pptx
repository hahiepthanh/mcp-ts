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harts/chart1.xml" ContentType="application/vnd.openxmlformats-officedocument.drawingml.chart+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6" d="100"/>
          <a:sy n="126" d="100"/>
        </p:scale>
        <p:origin x="232"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F2937"/>
                </a:solidFill>
                <a:latin typeface="Arial"/>
              </a:defRPr>
            </a:pPr>
            <a:r>
              <a:rPr lang="en-US" sz="1400" b="0" i="0" u="none" strike="noStrike">
                <a:solidFill>
                  <a:srgbClr val="1F2937"/>
                </a:solidFill>
                <a:latin typeface="Arial"/>
              </a:rPr>
              <a:t>Median time per turn (s)</a:t>
            </a:r>
          </a:p>
        </c:rich>
      </c:tx>
      <c:overlay val="0"/>
    </c:title>
    <c:autoTitleDeleted val="0"/>
    <c:plotArea>
      <c:layout/>
      <c:barChart>
        <c:barDir val="bar"/>
        <c:grouping val="clustered"/>
        <c:varyColors val="0"/>
        <c:ser>
          <c:idx val="0"/>
          <c:order val="0"/>
          <c:tx>
            <c:strRef>
              <c:f>Sheet1!$B$1</c:f>
              <c:strCache>
                <c:ptCount val="1"/>
                <c:pt idx="0">
                  <c:v>Median seconds per turn</c:v>
                </c:pt>
              </c:strCache>
            </c:strRef>
          </c:tx>
          <c:spPr>
            <a:solidFill>
              <a:srgbClr val="0F8B8D"/>
            </a:solidFill>
            <a:effectLst/>
          </c:spPr>
          <c:invertIfNegative val="0"/>
          <c:dLbls>
            <c:numFmt formatCode="0.0" sourceLinked="0"/>
            <c:spPr>
              <a:noFill/>
              <a:ln>
                <a:noFill/>
              </a:ln>
              <a:effectLst/>
            </c:spPr>
            <c:txPr>
              <a:bodyPr/>
              <a:lstStyle/>
              <a:p>
                <a:pPr>
                  <a:defRPr sz="1200" b="0" i="0" u="none" strike="noStrike">
                    <a:solidFill>
                      <a:srgbClr val="000000"/>
                    </a:solidFill>
                    <a:latin typeface="Arial"/>
                  </a:defRPr>
                </a:pPr>
                <a:endParaRPr lang="en-VN"/>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Gemini 3.5 Flash-Lite (cloud)</c:v>
                </c:pt>
                <c:pt idx="1">
                  <c:v>Qwen3 4B Instruct (local)</c:v>
                </c:pt>
                <c:pt idx="2">
                  <c:v>Qwen3 4B Thinking (local)</c:v>
                </c:pt>
              </c:strCache>
            </c:strRef>
          </c:cat>
          <c:val>
            <c:numRef>
              <c:f>Sheet1!$B$2:$B$4</c:f>
              <c:numCache>
                <c:formatCode>General</c:formatCode>
                <c:ptCount val="3"/>
                <c:pt idx="0">
                  <c:v>2.7</c:v>
                </c:pt>
                <c:pt idx="1">
                  <c:v>2.1</c:v>
                </c:pt>
                <c:pt idx="2">
                  <c:v>24.4</c:v>
                </c:pt>
              </c:numCache>
            </c:numRef>
          </c:val>
          <c:extLst>
            <c:ext xmlns:c16="http://schemas.microsoft.com/office/drawing/2014/chart" uri="{C3380CC4-5D6E-409C-BE32-E72D297353CC}">
              <c16:uniqueId val="{00000000-D174-8F41-A513-59AF7E2653B3}"/>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B6475"/>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t"/>
        <c:majorGridlines>
          <c:spPr>
            <a:ln w="6350" cap="flat">
              <a:solidFill>
                <a:srgbClr val="E5E7EB"/>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6475"/>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45060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We are group MCP.2502. Our topic is the Model Context Protocol and its TypeScript SDK. We did not only study the SDK: we built a real system with it — an academic records assistant — and today we show both the theory and the code.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follow the six points the lecturer asked for. First some background so everyone can follow, then the problem, the algorithms and flowcharts, the libraries, the input and output of every method, and code examples you can copy. We finish with a live demo and our results.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our project, a short background in four ideas: LLM, data, tools, and MCP.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LLM is a model trained on huge amounts of text. It reads our text as tokens and predicts the next token again and again — that is how it writes an answer. It is very good at language, but it only knows what was in its training data.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an LLM alone has three limits. It does not know private data, like our university grades. It does not know live data, like today's date. And it cannot act — it cannot save a file or change a record. Worse, if you ask anyway, it may invent a number. So it needs data and tools from outside.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give the LLM two things. Data, so it knows. And tools, so it can act. Together with the LLM that thinks, we get THINK, KNOW, ACT. Note one important thing: a tool is normal code. The number comes from code, not from the model.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tool calling in five steps with a real example. The user asks for a GPA. The model does not answer directly — it replies "please call calculate_gpa with this student ID". The application runs the function, gets 2.06, and gives it back. Only then does the model write the answer. The key point: the model only requests the call; the application executes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problem MCP solves. Imagine M AI applications — Claude, VS Code, our own chat app — and N data sources. Without a standard, every application writes its own connector to every source. Three apps and four sources already means twelve connectors, each written and maintained separately.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 — the Model Context Protocol — is an open standard, like USB-C for AI. Each data source is wrapped once as an MCP server. Each application implements one MCP client. Then any app can use any server. Twelve connectors become seven pieces. This is exactly what we proved: the same server works in our app and in VS Code without changing one line.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roles. The host is the application the user talks to; it owns the LLM. Inside the host there is one client per server connection. A server exposes tools, resources and prompts. In our project the host is our chat app or VS Code, and we have two servers: academic and utility.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server offers three kinds of things, and the difference is who is in control. Tools are chosen by the model — like calculate_gpa. Resources are data the application or the user attaches — like a student profile. Prompts are templates the user picks, like a slash command. We implemented all three.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the hood every message is JSON-RPC 2.0: a request with an id, a response with the same id, or a notification without one. The SDK supports two protocol versions. The 2025 version starts with an initialize handshake — two messages. The new 2026 version needs only one discover request, or zero if the client remembers the server. Messages travel over stdio, where the host starts the server as a child process, or over HTTP.</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requirement one: our problem.</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problem: staff and students want to ask about grades in plain language — "what is the GPA of this student", "how did class IT01 do". The grades live in CSV files the LLM has never seen. So we build MCP servers over the data. We set three hard requirements: numbers must be exact, any change to a grade needs a human to confirm, and we must be able to swap the LLM without touching the servers.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data is generated with a fixed seed so everyone gets the same files: 40 students, 10 courses, 261 grade rows across 4 classes. We deliberately put 7 broken rows inside — a score of 11.5, a missing score, an unknown student and so on — to prove the server validates its input. All 7 are caught.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business rules the server must follow. The course total is 40 percent process score plus 60 percent final score. The total maps to a letter A to F and a 4-point value. GPA is weighted by credits, and for a retaken course the cumulative GPA keeps the best attempt. Important: every threshold is in config/grading.json, not hard-coded.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our whole system. To show MCP really decouples things, we built two of everything: two MCP servers, two hosts, two LLMs — one in the cloud and one running locally — and two transports. Every combination works with the same server code.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Requirements two and three: the algorithms and their flowcharts. We have three: the tool-calling loop in the host, the GPA calculation in the server, and data loading with validation.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algorithm, implemented in our host. One: send the question plus the definitions of all 13 tools to the LLM. Two: the LLM answers with text or with tool calls. Three: for each call, the host finds the right server. Four: the server runs it and returns a result. Five: the result goes back to the LLM. Six: repeat until the LLM gives a text answer, with a limit on rounds so it can never loop forever. If a tool returns an error, we send the error back so the model can fix its own call.</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algorithm as a flowchart. Follow the main path down: question, call the LLM, check for tool calls, check the round limit, execute the calls, send the results back — and the loop on the left returns to the LLM. The two exits on the right are the normal answer and the safety stop.</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run of the loop. We asked: write a performance report for class IT01 and save it. The model used three rounds and four tool calls on two different servers. The servers never talk to each other — the LLM combines them. Total time 5.7 seconds.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flowchart is the domain algorithm in the academic server. Compute the course total, convert it to a letter and a point, choose semester or cumulative scope — cumulative keeps the best attempt — then the credit-weighted average and the classification. On the right, our hand-checked example: student 2201010 has 37 quality points over 18 credits, which is 2.06, Average.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flowchart: how data gets in. The server parses each CSV file and checks every row. Bad rows — missing IDs, unknown students, scores outside 0 to 10, duplicates — go to an issues list that anyone can read as a resource. Only valid rows reach the in-memory tables used by the tools. If update_grade changes a grade, subscribers get a notification.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algorithms that make MCP different from simple function calling. Elicitation: before update_grade changes anything, the server stops and asks the user to accept or decline. This caught a real mistake — the model filled a process score of zero that nobody asked for. Sampling: generate_student_feedback has no API key; it asks the host's LLM to write the text. The SDK supports both protocol eras — the 2025 one where the server pushes a request, and the 2026 one where the tool returns "input required" and the client retries.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Requirement four: the libraries.</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all our runtime libraries. The core is the MCP TypeScript SDK version 2, split into a server package, a client package and a Node adapter. Zod declares the types of tool inputs and outputs. The Google GenAI SDK talks to Gemini, and the OpenAI SDK talks to Qwen through Ollama's OpenAI-compatible API. tsx runs TypeScript directly without a build step.</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version 2? Version 1 was a single package called @modelcontextprotocol/sdk. Version 2 splits server and client into separate packages, implements the newest specification 2026-07-28, and still serves older 2025 clients. Every server is created by a factory that the SDK calls per connection, and it tells the factory which protocol era the caller speaks.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Requirement five: the input and output of every method. First the SDK methods, then our 13 tools. The full reference with every option is in docs/method-reference.md in our repository.</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server-side methods. new McpServer takes the server name and options. registerTool takes a name, a config with the schemas, and a handler — and the handler returns content, structured content, or an error flag. Resources and prompts follow the same pattern. serveStdio and createMcpHandler take the factory and serve it.</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client side, used by our host. new Client takes the client info and options, including how to negotiate the protocol version. connect takes a transport. listTools returns the tool definitions we hand to the LLM, and callTool returns the result. Note the difference: a tool problem comes back as a result with isError, so the LLM can recover; an unknown tool throws a protocol error.</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ten academic tools with inputs and outputs. Most are read-only. Two are special: update_grade changes data, so it always asks for confirmation, and generate_student_feedback uses sampling. The last three are generic: list, describe and query any table, so the model can answer questions we did not write a dedicated tool for.</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utility server is small on purpose: the current time and semester, score conversion, and saving a report file — which asks before overwriting. Then our five resources and two prompts. The two servers know nothing about each other; the LLM combines them.</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Requirement six: code examples that other groups can follow. All of them are in our repository and run with one command.</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Creating a server takes a few lines. Write a factory that builds an McpServer and registers tools, resources and prompts. Then pass the factory to serveStdio, or to createMcpHandler for HTTP. The SDK calls the factory for each connection and tells it the protocol era.</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real tool. The top part is what the LLM reads: the description and the input and output schemas. The bottom part is the handler, normal code the LLM never sees. That is why the number is always correct: the model only chooses the tool and fills student_id; the code computes the GPA.</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tool, different parameter sets — this is what the lecturer asked for. Valid input gives a result. A semester narrows the scope. An unknown student reaches our handler, which returns isError, so the LLM can read it and fix the call. A bad semester format or a wrong type never reaches our code: the SDK rejects it using the Zod schema. All results here are real output from npm run examples.</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resource template: one URI pattern serves every student, and the complete function suggests IDs as the user types. If the student does not exist we throw ResourceNotFoundError, and the client gets protocol error -32602. Below, a prompt: the user picks class_report, gives a class ID with autocompletion, and gets a ready-made message for the LLM.</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the client — this is how our host and VS Code talk to a server. Create a Client, choose a transport — here stdio starts the server as a child process — connect, list the tools, and call one. With version negotiation set to auto, the client tries the 2026 protocol first and falls back to 2025.</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want to follow along: clone our repository, install, and run npm run examples. You do not need any API key for this — it runs all 13 SDK examples and prints the real input and output. For chat, you need either a free Gemini key or Ollama with Qwen.</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see it working.</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demo, one important slide. Left is the config of our own chat app; right is the config of VS Code. Same command lines, same servers. Connecting a new host is only configuration — no code change. And switching the LLM from Gemini to Qwen is one line in the config.</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plan. In the terminal: list the tools, ask for a GPA, ask by name so the model chains two tools, change a grade to show the confirmation, and write and save a class report using both servers. Then the same servers inside VS Code. If the network fails we switch to the backup video.</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screenshots are our backup in case the live demo has a problem. Left: the terminal answering the GPA question with the tool call visible. Right: VS Code using the same server.</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benchmarked the models on 11 questions, twice each, with the correct answers taken from the tools themselves. All three configurations scored 100 percent. The local Qwen instruct model was the fastest at 2.1 seconds per turn. The thinking version was just as accurate but more than ten times slower. And note: the LLM takes about 99 percent of the time — MCP tool calls take only milliseconds.</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lessons. First, tool design matters more than model size: a small 4-billion-parameter local model was perfect because our tool names, descriptions and schemas are clear. Second, human-in-the-loop is not decoration — it caught a real model mistake. Third, a thinking model is ten times slower with no gain on tool tasks, and free cloud quotas were our real bottleneck.</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summarise: the LLM thinks, data lets it know, tools let it act, and MCP connects them. MCP separates the data and tools from whoever does the reasoning. With the TypeScript SDK version 2 we built two servers that work unchanged with two hosts and two LLMs. Thank you — we are happy to take your questions.</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6446520"/>
            <a:ext cx="7315200" cy="274320"/>
          </a:xfrm>
          <a:prstGeom prst="rect">
            <a:avLst/>
          </a:prstGeom>
          <a:noFill/>
          <a:ln/>
        </p:spPr>
        <p:txBody>
          <a:bodyPr wrap="square" rtlCol="0" anchor="ctr"/>
          <a:lstStyle/>
          <a:p>
            <a:pPr marL="0" indent="0">
              <a:buNone/>
            </a:pPr>
            <a:r>
              <a:rPr lang="en-US" sz="1000" dirty="0">
                <a:solidFill>
                  <a:srgbClr val="5B6475"/>
                </a:solidFill>
              </a:rPr>
              <a:t>MCP.2502 · MCP TypeScript SDK · Phase 1</a:t>
            </a:r>
            <a:endParaRPr lang="en-US" sz="10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F2A44"/>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188720"/>
            <a:ext cx="10058400" cy="365760"/>
          </a:xfrm>
          <a:prstGeom prst="rect">
            <a:avLst/>
          </a:prstGeom>
          <a:noFill/>
          <a:ln/>
        </p:spPr>
        <p:txBody>
          <a:bodyPr wrap="square" lIns="0" tIns="0" rIns="0" bIns="0" rtlCol="0" anchor="ctr"/>
          <a:lstStyle/>
          <a:p>
            <a:pPr marL="0" indent="0">
              <a:buNone/>
            </a:pPr>
            <a:r>
              <a:rPr lang="en-US" sz="1600" b="1" kern="0" spc="300" dirty="0">
                <a:solidFill>
                  <a:srgbClr val="0F8B8D"/>
                </a:solidFill>
              </a:rPr>
              <a:t>MCP.2502 · PHASE 1</a:t>
            </a:r>
            <a:endParaRPr lang="en-US" sz="1600" dirty="0"/>
          </a:p>
        </p:txBody>
      </p:sp>
      <p:sp>
        <p:nvSpPr>
          <p:cNvPr id="3" name="Text 1"/>
          <p:cNvSpPr txBox="1"/>
          <p:nvPr/>
        </p:nvSpPr>
        <p:spPr>
          <a:xfrm>
            <a:off x="731520" y="1645920"/>
            <a:ext cx="10515600" cy="1737360"/>
          </a:xfrm>
          <a:prstGeom prst="rect">
            <a:avLst/>
          </a:prstGeom>
          <a:noFill/>
          <a:ln/>
        </p:spPr>
        <p:txBody>
          <a:bodyPr wrap="square" lIns="0" tIns="0" rIns="0" bIns="0" rtlCol="0" anchor="ctr"/>
          <a:lstStyle/>
          <a:p>
            <a:pPr marL="0" indent="0">
              <a:buNone/>
            </a:pPr>
            <a:r>
              <a:rPr lang="en-US" sz="4800" b="1" dirty="0">
                <a:solidFill>
                  <a:srgbClr val="FFFFFF"/>
                </a:solidFill>
              </a:rPr>
              <a:t>Model Context Protocol</a:t>
            </a:r>
            <a:endParaRPr lang="en-US" sz="4800" dirty="0"/>
          </a:p>
          <a:p>
            <a:pPr marL="0" indent="0">
              <a:buNone/>
            </a:pPr>
            <a:r>
              <a:rPr lang="en-US" sz="4800" b="1" dirty="0">
                <a:solidFill>
                  <a:srgbClr val="FFFFFF"/>
                </a:solidFill>
              </a:rPr>
              <a:t>with the TypeScript SDK</a:t>
            </a:r>
            <a:endParaRPr lang="en-US" sz="4800" dirty="0"/>
          </a:p>
        </p:txBody>
      </p:sp>
      <p:sp>
        <p:nvSpPr>
          <p:cNvPr id="4" name="Text 2"/>
          <p:cNvSpPr txBox="1"/>
          <p:nvPr/>
        </p:nvSpPr>
        <p:spPr>
          <a:xfrm>
            <a:off x="731520" y="3474720"/>
            <a:ext cx="10515600" cy="457200"/>
          </a:xfrm>
          <a:prstGeom prst="rect">
            <a:avLst/>
          </a:prstGeom>
          <a:noFill/>
          <a:ln/>
        </p:spPr>
        <p:txBody>
          <a:bodyPr wrap="square" lIns="0" tIns="0" rIns="0" bIns="0" rtlCol="0" anchor="ctr"/>
          <a:lstStyle/>
          <a:p>
            <a:pPr marL="0" indent="0">
              <a:buNone/>
            </a:pPr>
            <a:r>
              <a:rPr lang="en-US" sz="2000" dirty="0">
                <a:solidFill>
                  <a:srgbClr val="C9D3E6"/>
                </a:solidFill>
              </a:rPr>
              <a:t>Case study: an academic records assistant — 2 MCP servers · 2 hosts · 2 LLMs</a:t>
            </a:r>
            <a:endParaRPr lang="en-US" sz="2000" dirty="0"/>
          </a:p>
        </p:txBody>
      </p:sp>
      <p:sp>
        <p:nvSpPr>
          <p:cNvPr id="5" name="Shape 3"/>
          <p:cNvSpPr/>
          <p:nvPr/>
        </p:nvSpPr>
        <p:spPr>
          <a:xfrm>
            <a:off x="731520" y="4389120"/>
            <a:ext cx="10698480" cy="1463040"/>
          </a:xfrm>
          <a:prstGeom prst="rect">
            <a:avLst/>
          </a:prstGeom>
          <a:solidFill>
            <a:srgbClr val="FFF4E6"/>
          </a:solidFill>
          <a:ln w="25400">
            <a:solidFill>
              <a:srgbClr val="D9480F"/>
            </a:solidFill>
            <a:prstDash val="dash"/>
          </a:ln>
        </p:spPr>
        <p:txBody>
          <a:bodyPr/>
          <a:lstStyle/>
          <a:p>
            <a:endParaRPr lang="en-VN"/>
          </a:p>
        </p:txBody>
      </p:sp>
      <p:sp>
        <p:nvSpPr>
          <p:cNvPr id="6" name="Text 4"/>
          <p:cNvSpPr txBox="1"/>
          <p:nvPr/>
        </p:nvSpPr>
        <p:spPr>
          <a:xfrm>
            <a:off x="914400" y="4389120"/>
            <a:ext cx="10332720" cy="1463040"/>
          </a:xfrm>
          <a:prstGeom prst="rect">
            <a:avLst/>
          </a:prstGeom>
          <a:noFill/>
          <a:ln/>
        </p:spPr>
        <p:txBody>
          <a:bodyPr wrap="square" lIns="0" tIns="0" rIns="0" bIns="0" rtlCol="0" anchor="ctr"/>
          <a:lstStyle/>
          <a:p>
            <a:pPr marL="0" indent="0">
              <a:buNone/>
            </a:pPr>
            <a:r>
              <a:rPr lang="en-US" sz="1600" b="1" dirty="0">
                <a:solidFill>
                  <a:srgbClr val="D9480F"/>
                </a:solidFill>
              </a:rPr>
              <a:t>TODO (Thanh): </a:t>
            </a:r>
            <a:r>
              <a:rPr lang="en-US" sz="1600" dirty="0">
                <a:solidFill>
                  <a:srgbClr val="D9480F"/>
                </a:solidFill>
              </a:rPr>
              <a:t>full names of the 6 members · class 2631 · lecturer · presentation date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548640"/>
            <a:ext cx="11247120" cy="640080"/>
          </a:xfrm>
          <a:prstGeom prst="rect">
            <a:avLst/>
          </a:prstGeom>
          <a:noFill/>
          <a:ln/>
        </p:spPr>
        <p:txBody>
          <a:bodyPr wrap="square" lIns="0" tIns="0" rIns="0" bIns="0" rtlCol="0" anchor="ctr"/>
          <a:lstStyle/>
          <a:p>
            <a:pPr marL="0" indent="0">
              <a:buNone/>
            </a:pPr>
            <a:r>
              <a:rPr lang="en-US" sz="3000" b="1" dirty="0">
                <a:solidFill>
                  <a:srgbClr val="1F2937"/>
                </a:solidFill>
              </a:rPr>
              <a:t>Agenda</a:t>
            </a:r>
            <a:endParaRPr lang="en-US" sz="3000" dirty="0"/>
          </a:p>
        </p:txBody>
      </p:sp>
      <p:sp>
        <p:nvSpPr>
          <p:cNvPr id="4" name="Shape 1"/>
          <p:cNvSpPr/>
          <p:nvPr/>
        </p:nvSpPr>
        <p:spPr>
          <a:xfrm>
            <a:off x="457200" y="1463040"/>
            <a:ext cx="777240" cy="777240"/>
          </a:xfrm>
          <a:prstGeom prst="ellipse">
            <a:avLst/>
          </a:prstGeom>
          <a:solidFill>
            <a:srgbClr val="0F8B8D"/>
          </a:solidFill>
          <a:ln w="12700">
            <a:solidFill>
              <a:srgbClr val="FFFFFF"/>
            </a:solidFill>
            <a:prstDash val="solid"/>
          </a:ln>
        </p:spPr>
        <p:txBody>
          <a:bodyPr/>
          <a:lstStyle/>
          <a:p>
            <a:endParaRPr lang="en-VN"/>
          </a:p>
        </p:txBody>
      </p:sp>
      <p:sp>
        <p:nvSpPr>
          <p:cNvPr id="5" name="Text 2"/>
          <p:cNvSpPr txBox="1"/>
          <p:nvPr/>
        </p:nvSpPr>
        <p:spPr>
          <a:xfrm>
            <a:off x="457200" y="1463040"/>
            <a:ext cx="777240" cy="777240"/>
          </a:xfrm>
          <a:prstGeom prst="rect">
            <a:avLst/>
          </a:prstGeom>
          <a:noFill/>
          <a:ln/>
        </p:spPr>
        <p:txBody>
          <a:bodyPr wrap="square" lIns="0" tIns="0" rIns="0" bIns="0" rtlCol="0" anchor="ctr"/>
          <a:lstStyle/>
          <a:p>
            <a:pPr marL="0" indent="0" algn="ctr">
              <a:buNone/>
            </a:pPr>
            <a:r>
              <a:rPr lang="en-US" sz="1800" b="1" dirty="0">
                <a:solidFill>
                  <a:srgbClr val="FFFFFF"/>
                </a:solidFill>
              </a:rPr>
              <a:t>0</a:t>
            </a:r>
            <a:endParaRPr lang="en-US" sz="1800" dirty="0"/>
          </a:p>
        </p:txBody>
      </p:sp>
      <p:sp>
        <p:nvSpPr>
          <p:cNvPr id="6" name="Text 3"/>
          <p:cNvSpPr txBox="1"/>
          <p:nvPr/>
        </p:nvSpPr>
        <p:spPr>
          <a:xfrm>
            <a:off x="1417320" y="1417320"/>
            <a:ext cx="4572000" cy="868680"/>
          </a:xfrm>
          <a:prstGeom prst="rect">
            <a:avLst/>
          </a:prstGeom>
          <a:noFill/>
          <a:ln/>
        </p:spPr>
        <p:txBody>
          <a:bodyPr wrap="square" lIns="0" tIns="0" rIns="0" bIns="0" rtlCol="0" anchor="ctr"/>
          <a:lstStyle/>
          <a:p>
            <a:pPr marL="0" indent="0">
              <a:buNone/>
            </a:pPr>
            <a:r>
              <a:rPr lang="en-US" sz="2000" b="1" dirty="0">
                <a:solidFill>
                  <a:srgbClr val="1F2937"/>
                </a:solidFill>
              </a:rPr>
              <a:t>Background</a:t>
            </a:r>
            <a:endParaRPr lang="en-US" sz="2000" dirty="0"/>
          </a:p>
          <a:p>
            <a:pPr marL="0" indent="0">
              <a:buNone/>
            </a:pPr>
            <a:r>
              <a:rPr lang="en-US" sz="1400" dirty="0">
                <a:solidFill>
                  <a:srgbClr val="5B6475"/>
                </a:solidFill>
              </a:rPr>
              <a:t>LLM, data, tools, and why MCP exists</a:t>
            </a:r>
            <a:endParaRPr lang="en-US" sz="2000" dirty="0"/>
          </a:p>
        </p:txBody>
      </p:sp>
      <p:sp>
        <p:nvSpPr>
          <p:cNvPr id="7" name="Shape 4"/>
          <p:cNvSpPr/>
          <p:nvPr/>
        </p:nvSpPr>
        <p:spPr>
          <a:xfrm>
            <a:off x="457200" y="2651760"/>
            <a:ext cx="777240" cy="777240"/>
          </a:xfrm>
          <a:prstGeom prst="ellipse">
            <a:avLst/>
          </a:prstGeom>
          <a:solidFill>
            <a:srgbClr val="0F8B8D"/>
          </a:solidFill>
          <a:ln w="12700">
            <a:solidFill>
              <a:srgbClr val="FFFFFF"/>
            </a:solidFill>
            <a:prstDash val="solid"/>
          </a:ln>
        </p:spPr>
        <p:txBody>
          <a:bodyPr/>
          <a:lstStyle/>
          <a:p>
            <a:endParaRPr lang="en-VN"/>
          </a:p>
        </p:txBody>
      </p:sp>
      <p:sp>
        <p:nvSpPr>
          <p:cNvPr id="8" name="Text 5"/>
          <p:cNvSpPr txBox="1"/>
          <p:nvPr/>
        </p:nvSpPr>
        <p:spPr>
          <a:xfrm>
            <a:off x="457200" y="2651760"/>
            <a:ext cx="777240" cy="777240"/>
          </a:xfrm>
          <a:prstGeom prst="rect">
            <a:avLst/>
          </a:prstGeom>
          <a:noFill/>
          <a:ln/>
        </p:spPr>
        <p:txBody>
          <a:bodyPr wrap="square" lIns="0" tIns="0" rIns="0" bIns="0" rtlCol="0" anchor="ctr"/>
          <a:lstStyle/>
          <a:p>
            <a:pPr marL="0" indent="0" algn="ctr">
              <a:buNone/>
            </a:pPr>
            <a:r>
              <a:rPr lang="en-US" sz="1800" b="1" dirty="0">
                <a:solidFill>
                  <a:srgbClr val="FFFFFF"/>
                </a:solidFill>
              </a:rPr>
              <a:t>1</a:t>
            </a:r>
            <a:endParaRPr lang="en-US" sz="1800" dirty="0"/>
          </a:p>
        </p:txBody>
      </p:sp>
      <p:sp>
        <p:nvSpPr>
          <p:cNvPr id="9" name="Text 6"/>
          <p:cNvSpPr txBox="1"/>
          <p:nvPr/>
        </p:nvSpPr>
        <p:spPr>
          <a:xfrm>
            <a:off x="1417320" y="2606040"/>
            <a:ext cx="4572000" cy="868680"/>
          </a:xfrm>
          <a:prstGeom prst="rect">
            <a:avLst/>
          </a:prstGeom>
          <a:noFill/>
          <a:ln/>
        </p:spPr>
        <p:txBody>
          <a:bodyPr wrap="square" lIns="0" tIns="0" rIns="0" bIns="0" rtlCol="0" anchor="ctr"/>
          <a:lstStyle/>
          <a:p>
            <a:pPr marL="0" indent="0">
              <a:buNone/>
            </a:pPr>
            <a:r>
              <a:rPr lang="en-US" sz="2000" b="1" dirty="0">
                <a:solidFill>
                  <a:srgbClr val="1F2937"/>
                </a:solidFill>
              </a:rPr>
              <a:t>Problem description</a:t>
            </a:r>
            <a:endParaRPr lang="en-US" sz="2000" dirty="0"/>
          </a:p>
          <a:p>
            <a:pPr marL="0" indent="0">
              <a:buNone/>
            </a:pPr>
            <a:r>
              <a:rPr lang="en-US" sz="1400" dirty="0">
                <a:solidFill>
                  <a:srgbClr val="5B6475"/>
                </a:solidFill>
              </a:rPr>
              <a:t>Our academic records case study</a:t>
            </a:r>
            <a:endParaRPr lang="en-US" sz="2000" dirty="0"/>
          </a:p>
        </p:txBody>
      </p:sp>
      <p:sp>
        <p:nvSpPr>
          <p:cNvPr id="10" name="Shape 7"/>
          <p:cNvSpPr/>
          <p:nvPr/>
        </p:nvSpPr>
        <p:spPr>
          <a:xfrm>
            <a:off x="457200" y="3840480"/>
            <a:ext cx="777240" cy="777240"/>
          </a:xfrm>
          <a:prstGeom prst="ellipse">
            <a:avLst/>
          </a:prstGeom>
          <a:solidFill>
            <a:srgbClr val="0F8B8D"/>
          </a:solidFill>
          <a:ln w="12700">
            <a:solidFill>
              <a:srgbClr val="FFFFFF"/>
            </a:solidFill>
            <a:prstDash val="solid"/>
          </a:ln>
        </p:spPr>
        <p:txBody>
          <a:bodyPr/>
          <a:lstStyle/>
          <a:p>
            <a:endParaRPr lang="en-VN"/>
          </a:p>
        </p:txBody>
      </p:sp>
      <p:sp>
        <p:nvSpPr>
          <p:cNvPr id="11" name="Text 8"/>
          <p:cNvSpPr txBox="1"/>
          <p:nvPr/>
        </p:nvSpPr>
        <p:spPr>
          <a:xfrm>
            <a:off x="457200" y="3840480"/>
            <a:ext cx="777240" cy="777240"/>
          </a:xfrm>
          <a:prstGeom prst="rect">
            <a:avLst/>
          </a:prstGeom>
          <a:noFill/>
          <a:ln/>
        </p:spPr>
        <p:txBody>
          <a:bodyPr wrap="square" lIns="0" tIns="0" rIns="0" bIns="0" rtlCol="0" anchor="ctr"/>
          <a:lstStyle/>
          <a:p>
            <a:pPr marL="0" indent="0" algn="ctr">
              <a:buNone/>
            </a:pPr>
            <a:r>
              <a:rPr lang="en-US" sz="1800" b="1" dirty="0">
                <a:solidFill>
                  <a:srgbClr val="FFFFFF"/>
                </a:solidFill>
              </a:rPr>
              <a:t>2–3</a:t>
            </a:r>
            <a:endParaRPr lang="en-US" sz="1800" dirty="0"/>
          </a:p>
        </p:txBody>
      </p:sp>
      <p:sp>
        <p:nvSpPr>
          <p:cNvPr id="12" name="Text 9"/>
          <p:cNvSpPr txBox="1"/>
          <p:nvPr/>
        </p:nvSpPr>
        <p:spPr>
          <a:xfrm>
            <a:off x="1417320" y="3794760"/>
            <a:ext cx="4572000" cy="868680"/>
          </a:xfrm>
          <a:prstGeom prst="rect">
            <a:avLst/>
          </a:prstGeom>
          <a:noFill/>
          <a:ln/>
        </p:spPr>
        <p:txBody>
          <a:bodyPr wrap="square" lIns="0" tIns="0" rIns="0" bIns="0" rtlCol="0" anchor="ctr"/>
          <a:lstStyle/>
          <a:p>
            <a:pPr marL="0" indent="0">
              <a:buNone/>
            </a:pPr>
            <a:r>
              <a:rPr lang="en-US" sz="2000" b="1" dirty="0">
                <a:solidFill>
                  <a:srgbClr val="1F2937"/>
                </a:solidFill>
              </a:rPr>
              <a:t>Algorithms &amp; flowcharts</a:t>
            </a:r>
            <a:endParaRPr lang="en-US" sz="2000" dirty="0"/>
          </a:p>
          <a:p>
            <a:pPr marL="0" indent="0">
              <a:buNone/>
            </a:pPr>
            <a:r>
              <a:rPr lang="en-US" sz="1400" dirty="0">
                <a:solidFill>
                  <a:srgbClr val="5B6475"/>
                </a:solidFill>
              </a:rPr>
              <a:t>Tool-calling loop · GPA · data validation</a:t>
            </a:r>
            <a:endParaRPr lang="en-US" sz="2000" dirty="0"/>
          </a:p>
        </p:txBody>
      </p:sp>
      <p:sp>
        <p:nvSpPr>
          <p:cNvPr id="13" name="Shape 10"/>
          <p:cNvSpPr/>
          <p:nvPr/>
        </p:nvSpPr>
        <p:spPr>
          <a:xfrm>
            <a:off x="457200" y="5029200"/>
            <a:ext cx="777240" cy="777240"/>
          </a:xfrm>
          <a:prstGeom prst="ellipse">
            <a:avLst/>
          </a:prstGeom>
          <a:solidFill>
            <a:srgbClr val="0F8B8D"/>
          </a:solidFill>
          <a:ln w="12700">
            <a:solidFill>
              <a:srgbClr val="FFFFFF"/>
            </a:solidFill>
            <a:prstDash val="solid"/>
          </a:ln>
        </p:spPr>
        <p:txBody>
          <a:bodyPr/>
          <a:lstStyle/>
          <a:p>
            <a:endParaRPr lang="en-VN"/>
          </a:p>
        </p:txBody>
      </p:sp>
      <p:sp>
        <p:nvSpPr>
          <p:cNvPr id="14" name="Text 11"/>
          <p:cNvSpPr txBox="1"/>
          <p:nvPr/>
        </p:nvSpPr>
        <p:spPr>
          <a:xfrm>
            <a:off x="457200" y="5029200"/>
            <a:ext cx="777240" cy="777240"/>
          </a:xfrm>
          <a:prstGeom prst="rect">
            <a:avLst/>
          </a:prstGeom>
          <a:noFill/>
          <a:ln/>
        </p:spPr>
        <p:txBody>
          <a:bodyPr wrap="square" lIns="0" tIns="0" rIns="0" bIns="0" rtlCol="0" anchor="ctr"/>
          <a:lstStyle/>
          <a:p>
            <a:pPr marL="0" indent="0" algn="ctr">
              <a:buNone/>
            </a:pPr>
            <a:r>
              <a:rPr lang="en-US" sz="1800" b="1" dirty="0">
                <a:solidFill>
                  <a:srgbClr val="FFFFFF"/>
                </a:solidFill>
              </a:rPr>
              <a:t>4</a:t>
            </a:r>
            <a:endParaRPr lang="en-US" sz="1800" dirty="0"/>
          </a:p>
        </p:txBody>
      </p:sp>
      <p:sp>
        <p:nvSpPr>
          <p:cNvPr id="15" name="Text 12"/>
          <p:cNvSpPr txBox="1"/>
          <p:nvPr/>
        </p:nvSpPr>
        <p:spPr>
          <a:xfrm>
            <a:off x="1417320" y="4983480"/>
            <a:ext cx="4572000" cy="868680"/>
          </a:xfrm>
          <a:prstGeom prst="rect">
            <a:avLst/>
          </a:prstGeom>
          <a:noFill/>
          <a:ln/>
        </p:spPr>
        <p:txBody>
          <a:bodyPr wrap="square" lIns="0" tIns="0" rIns="0" bIns="0" rtlCol="0" anchor="ctr"/>
          <a:lstStyle/>
          <a:p>
            <a:pPr marL="0" indent="0">
              <a:buNone/>
            </a:pPr>
            <a:r>
              <a:rPr lang="en-US" sz="2000" b="1" dirty="0">
                <a:solidFill>
                  <a:srgbClr val="1F2937"/>
                </a:solidFill>
              </a:rPr>
              <a:t>Libraries</a:t>
            </a:r>
            <a:endParaRPr lang="en-US" sz="2000" dirty="0"/>
          </a:p>
          <a:p>
            <a:pPr marL="0" indent="0">
              <a:buNone/>
            </a:pPr>
            <a:r>
              <a:rPr lang="en-US" sz="1400" dirty="0">
                <a:solidFill>
                  <a:srgbClr val="5B6475"/>
                </a:solidFill>
              </a:rPr>
              <a:t>MCP TypeScript SDK v2 and friends</a:t>
            </a:r>
            <a:endParaRPr lang="en-US" sz="2000" dirty="0"/>
          </a:p>
        </p:txBody>
      </p:sp>
      <p:sp>
        <p:nvSpPr>
          <p:cNvPr id="16" name="Shape 13"/>
          <p:cNvSpPr/>
          <p:nvPr/>
        </p:nvSpPr>
        <p:spPr>
          <a:xfrm>
            <a:off x="6217920" y="1463040"/>
            <a:ext cx="777240" cy="777240"/>
          </a:xfrm>
          <a:prstGeom prst="ellipse">
            <a:avLst/>
          </a:prstGeom>
          <a:solidFill>
            <a:srgbClr val="0F8B8D"/>
          </a:solidFill>
          <a:ln w="12700">
            <a:solidFill>
              <a:srgbClr val="FFFFFF"/>
            </a:solidFill>
            <a:prstDash val="solid"/>
          </a:ln>
        </p:spPr>
        <p:txBody>
          <a:bodyPr/>
          <a:lstStyle/>
          <a:p>
            <a:endParaRPr lang="en-VN"/>
          </a:p>
        </p:txBody>
      </p:sp>
      <p:sp>
        <p:nvSpPr>
          <p:cNvPr id="17" name="Text 14"/>
          <p:cNvSpPr txBox="1"/>
          <p:nvPr/>
        </p:nvSpPr>
        <p:spPr>
          <a:xfrm>
            <a:off x="6217920" y="1463040"/>
            <a:ext cx="777240" cy="777240"/>
          </a:xfrm>
          <a:prstGeom prst="rect">
            <a:avLst/>
          </a:prstGeom>
          <a:noFill/>
          <a:ln/>
        </p:spPr>
        <p:txBody>
          <a:bodyPr wrap="square" lIns="0" tIns="0" rIns="0" bIns="0" rtlCol="0" anchor="ctr"/>
          <a:lstStyle/>
          <a:p>
            <a:pPr marL="0" indent="0" algn="ctr">
              <a:buNone/>
            </a:pPr>
            <a:r>
              <a:rPr lang="en-US" sz="1800" b="1" dirty="0">
                <a:solidFill>
                  <a:srgbClr val="FFFFFF"/>
                </a:solidFill>
              </a:rPr>
              <a:t>5</a:t>
            </a:r>
            <a:endParaRPr lang="en-US" sz="1800" dirty="0"/>
          </a:p>
        </p:txBody>
      </p:sp>
      <p:sp>
        <p:nvSpPr>
          <p:cNvPr id="18" name="Text 15"/>
          <p:cNvSpPr txBox="1"/>
          <p:nvPr/>
        </p:nvSpPr>
        <p:spPr>
          <a:xfrm>
            <a:off x="7178040" y="1417320"/>
            <a:ext cx="4572000" cy="868680"/>
          </a:xfrm>
          <a:prstGeom prst="rect">
            <a:avLst/>
          </a:prstGeom>
          <a:noFill/>
          <a:ln/>
        </p:spPr>
        <p:txBody>
          <a:bodyPr wrap="square" lIns="0" tIns="0" rIns="0" bIns="0" rtlCol="0" anchor="ctr"/>
          <a:lstStyle/>
          <a:p>
            <a:pPr marL="0" indent="0">
              <a:buNone/>
            </a:pPr>
            <a:r>
              <a:rPr lang="en-US" sz="2000" b="1" dirty="0">
                <a:solidFill>
                  <a:srgbClr val="1F2937"/>
                </a:solidFill>
              </a:rPr>
              <a:t>Input / Output</a:t>
            </a:r>
            <a:endParaRPr lang="en-US" sz="2000" dirty="0"/>
          </a:p>
          <a:p>
            <a:pPr marL="0" indent="0">
              <a:buNone/>
            </a:pPr>
            <a:r>
              <a:rPr lang="en-US" sz="1400" dirty="0">
                <a:solidFill>
                  <a:srgbClr val="5B6475"/>
                </a:solidFill>
              </a:rPr>
              <a:t>Every SDK method and all 13 tools</a:t>
            </a:r>
            <a:endParaRPr lang="en-US" sz="2000" dirty="0"/>
          </a:p>
        </p:txBody>
      </p:sp>
      <p:sp>
        <p:nvSpPr>
          <p:cNvPr id="19" name="Shape 16"/>
          <p:cNvSpPr/>
          <p:nvPr/>
        </p:nvSpPr>
        <p:spPr>
          <a:xfrm>
            <a:off x="6217920" y="2651760"/>
            <a:ext cx="777240" cy="777240"/>
          </a:xfrm>
          <a:prstGeom prst="ellipse">
            <a:avLst/>
          </a:prstGeom>
          <a:solidFill>
            <a:srgbClr val="0F8B8D"/>
          </a:solidFill>
          <a:ln w="12700">
            <a:solidFill>
              <a:srgbClr val="FFFFFF"/>
            </a:solidFill>
            <a:prstDash val="solid"/>
          </a:ln>
        </p:spPr>
        <p:txBody>
          <a:bodyPr/>
          <a:lstStyle/>
          <a:p>
            <a:endParaRPr lang="en-VN"/>
          </a:p>
        </p:txBody>
      </p:sp>
      <p:sp>
        <p:nvSpPr>
          <p:cNvPr id="20" name="Text 17"/>
          <p:cNvSpPr txBox="1"/>
          <p:nvPr/>
        </p:nvSpPr>
        <p:spPr>
          <a:xfrm>
            <a:off x="6217920" y="2651760"/>
            <a:ext cx="777240" cy="777240"/>
          </a:xfrm>
          <a:prstGeom prst="rect">
            <a:avLst/>
          </a:prstGeom>
          <a:noFill/>
          <a:ln/>
        </p:spPr>
        <p:txBody>
          <a:bodyPr wrap="square" lIns="0" tIns="0" rIns="0" bIns="0" rtlCol="0" anchor="ctr"/>
          <a:lstStyle/>
          <a:p>
            <a:pPr marL="0" indent="0" algn="ctr">
              <a:buNone/>
            </a:pPr>
            <a:r>
              <a:rPr lang="en-US" sz="1800" b="1" dirty="0">
                <a:solidFill>
                  <a:srgbClr val="FFFFFF"/>
                </a:solidFill>
              </a:rPr>
              <a:t>6</a:t>
            </a:r>
            <a:endParaRPr lang="en-US" sz="1800" dirty="0"/>
          </a:p>
        </p:txBody>
      </p:sp>
      <p:sp>
        <p:nvSpPr>
          <p:cNvPr id="21" name="Text 18"/>
          <p:cNvSpPr txBox="1"/>
          <p:nvPr/>
        </p:nvSpPr>
        <p:spPr>
          <a:xfrm>
            <a:off x="7178040" y="2606040"/>
            <a:ext cx="4572000" cy="868680"/>
          </a:xfrm>
          <a:prstGeom prst="rect">
            <a:avLst/>
          </a:prstGeom>
          <a:noFill/>
          <a:ln/>
        </p:spPr>
        <p:txBody>
          <a:bodyPr wrap="square" lIns="0" tIns="0" rIns="0" bIns="0" rtlCol="0" anchor="ctr"/>
          <a:lstStyle/>
          <a:p>
            <a:pPr marL="0" indent="0">
              <a:buNone/>
            </a:pPr>
            <a:r>
              <a:rPr lang="en-US" sz="2000" b="1" dirty="0">
                <a:solidFill>
                  <a:srgbClr val="1F2937"/>
                </a:solidFill>
              </a:rPr>
              <a:t>Code examples</a:t>
            </a:r>
            <a:endParaRPr lang="en-US" sz="2000" dirty="0"/>
          </a:p>
          <a:p>
            <a:pPr marL="0" indent="0">
              <a:buNone/>
            </a:pPr>
            <a:r>
              <a:rPr lang="en-US" sz="1400" dirty="0">
                <a:solidFill>
                  <a:srgbClr val="5B6475"/>
                </a:solidFill>
              </a:rPr>
              <a:t>Copy-ready examples with parameter sets</a:t>
            </a:r>
            <a:endParaRPr lang="en-US" sz="2000" dirty="0"/>
          </a:p>
        </p:txBody>
      </p:sp>
      <p:sp>
        <p:nvSpPr>
          <p:cNvPr id="22" name="Shape 19"/>
          <p:cNvSpPr/>
          <p:nvPr/>
        </p:nvSpPr>
        <p:spPr>
          <a:xfrm>
            <a:off x="6217920" y="3840480"/>
            <a:ext cx="777240" cy="777240"/>
          </a:xfrm>
          <a:prstGeom prst="ellipse">
            <a:avLst/>
          </a:prstGeom>
          <a:solidFill>
            <a:srgbClr val="E07A1F"/>
          </a:solidFill>
          <a:ln w="12700">
            <a:solidFill>
              <a:srgbClr val="FFFFFF"/>
            </a:solidFill>
            <a:prstDash val="solid"/>
          </a:ln>
        </p:spPr>
        <p:txBody>
          <a:bodyPr/>
          <a:lstStyle/>
          <a:p>
            <a:endParaRPr lang="en-VN"/>
          </a:p>
        </p:txBody>
      </p:sp>
      <p:sp>
        <p:nvSpPr>
          <p:cNvPr id="23" name="Text 20"/>
          <p:cNvSpPr txBox="1"/>
          <p:nvPr/>
        </p:nvSpPr>
        <p:spPr>
          <a:xfrm>
            <a:off x="6217920" y="3840480"/>
            <a:ext cx="777240" cy="777240"/>
          </a:xfrm>
          <a:prstGeom prst="rect">
            <a:avLst/>
          </a:prstGeom>
          <a:noFill/>
          <a:ln/>
        </p:spPr>
        <p:txBody>
          <a:bodyPr wrap="square" lIns="0" tIns="0" rIns="0" bIns="0" rtlCol="0" anchor="ctr"/>
          <a:lstStyle/>
          <a:p>
            <a:pPr marL="0" indent="0" algn="ctr">
              <a:buNone/>
            </a:pPr>
            <a:r>
              <a:rPr lang="en-US" sz="1800" b="1" dirty="0">
                <a:solidFill>
                  <a:srgbClr val="FFFFFF"/>
                </a:solidFill>
              </a:rPr>
              <a:t>▶</a:t>
            </a:r>
            <a:endParaRPr lang="en-US" sz="1800" dirty="0"/>
          </a:p>
        </p:txBody>
      </p:sp>
      <p:sp>
        <p:nvSpPr>
          <p:cNvPr id="24" name="Text 21"/>
          <p:cNvSpPr txBox="1"/>
          <p:nvPr/>
        </p:nvSpPr>
        <p:spPr>
          <a:xfrm>
            <a:off x="7178040" y="3794760"/>
            <a:ext cx="4572000" cy="868680"/>
          </a:xfrm>
          <a:prstGeom prst="rect">
            <a:avLst/>
          </a:prstGeom>
          <a:noFill/>
          <a:ln/>
        </p:spPr>
        <p:txBody>
          <a:bodyPr wrap="square" lIns="0" tIns="0" rIns="0" bIns="0" rtlCol="0" anchor="ctr"/>
          <a:lstStyle/>
          <a:p>
            <a:pPr marL="0" indent="0">
              <a:buNone/>
            </a:pPr>
            <a:r>
              <a:rPr lang="en-US" sz="2000" b="1" dirty="0">
                <a:solidFill>
                  <a:srgbClr val="1F2937"/>
                </a:solidFill>
              </a:rPr>
              <a:t>Demo &amp; results</a:t>
            </a:r>
            <a:endParaRPr lang="en-US" sz="2000" dirty="0"/>
          </a:p>
          <a:p>
            <a:pPr marL="0" indent="0">
              <a:buNone/>
            </a:pPr>
            <a:r>
              <a:rPr lang="en-US" sz="1400" dirty="0">
                <a:solidFill>
                  <a:srgbClr val="5B6475"/>
                </a:solidFill>
              </a:rPr>
              <a:t>Live demo, 2 LLMs compared, lessons</a:t>
            </a:r>
            <a:endParaRPr lang="en-US" sz="20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731520" y="1828800"/>
            <a:ext cx="2743200" cy="1097280"/>
          </a:xfrm>
          <a:prstGeom prst="rect">
            <a:avLst/>
          </a:prstGeom>
          <a:noFill/>
          <a:ln/>
        </p:spPr>
        <p:txBody>
          <a:bodyPr wrap="square" lIns="0" tIns="0" rIns="0" bIns="0" rtlCol="0" anchor="ctr"/>
          <a:lstStyle/>
          <a:p>
            <a:pPr marL="0" indent="0">
              <a:buNone/>
            </a:pPr>
            <a:r>
              <a:rPr lang="en-US" sz="7200" b="1" dirty="0">
                <a:solidFill>
                  <a:srgbClr val="0F8B8D"/>
                </a:solidFill>
              </a:rPr>
              <a:t>0</a:t>
            </a:r>
            <a:endParaRPr lang="en-US" sz="7200" dirty="0"/>
          </a:p>
        </p:txBody>
      </p:sp>
      <p:sp>
        <p:nvSpPr>
          <p:cNvPr id="3" name="Text 1"/>
          <p:cNvSpPr txBox="1"/>
          <p:nvPr/>
        </p:nvSpPr>
        <p:spPr>
          <a:xfrm>
            <a:off x="731520" y="2926080"/>
            <a:ext cx="10515600" cy="822960"/>
          </a:xfrm>
          <a:prstGeom prst="rect">
            <a:avLst/>
          </a:prstGeom>
          <a:noFill/>
          <a:ln/>
        </p:spPr>
        <p:txBody>
          <a:bodyPr wrap="square" lIns="0" tIns="0" rIns="0" bIns="0" rtlCol="0" anchor="ctr"/>
          <a:lstStyle/>
          <a:p>
            <a:pPr marL="0" indent="0">
              <a:buNone/>
            </a:pPr>
            <a:r>
              <a:rPr lang="en-US" sz="4000" b="1" dirty="0">
                <a:solidFill>
                  <a:srgbClr val="FFFFFF"/>
                </a:solidFill>
              </a:rPr>
              <a:t>Background</a:t>
            </a:r>
            <a:endParaRPr lang="en-US" sz="4000" dirty="0"/>
          </a:p>
        </p:txBody>
      </p:sp>
      <p:sp>
        <p:nvSpPr>
          <p:cNvPr id="4" name="Text 2"/>
          <p:cNvSpPr txBox="1"/>
          <p:nvPr/>
        </p:nvSpPr>
        <p:spPr>
          <a:xfrm>
            <a:off x="731520" y="3794760"/>
            <a:ext cx="10515600" cy="548640"/>
          </a:xfrm>
          <a:prstGeom prst="rect">
            <a:avLst/>
          </a:prstGeom>
          <a:noFill/>
          <a:ln/>
        </p:spPr>
        <p:txBody>
          <a:bodyPr wrap="square" lIns="0" tIns="0" rIns="0" bIns="0" rtlCol="0" anchor="ctr"/>
          <a:lstStyle/>
          <a:p>
            <a:pPr marL="0" indent="0">
              <a:buNone/>
            </a:pPr>
            <a:r>
              <a:rPr lang="en-US" sz="1800" dirty="0">
                <a:solidFill>
                  <a:srgbClr val="C9D3E6"/>
                </a:solidFill>
              </a:rPr>
              <a:t>LLM · Data · Tool · MCP</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marL="0" indent="0">
              <a:buNone/>
            </a:pPr>
            <a:r>
              <a:rPr lang="en-US" sz="1200" b="1" kern="0" spc="200" dirty="0">
                <a:solidFill>
                  <a:srgbClr val="0F8B8D"/>
                </a:solidFill>
              </a:rPr>
              <a:t>BACKGROUND</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marL="0" indent="0">
              <a:buNone/>
            </a:pPr>
            <a:r>
              <a:rPr lang="en-US" sz="3000" b="1" dirty="0">
                <a:solidFill>
                  <a:srgbClr val="1F2937"/>
                </a:solidFill>
              </a:rPr>
              <a:t>What is a Large Language Model?</a:t>
            </a:r>
            <a:endParaRPr lang="en-US" sz="3000" dirty="0"/>
          </a:p>
        </p:txBody>
      </p:sp>
      <p:sp>
        <p:nvSpPr>
          <p:cNvPr id="5" name="Shape 2"/>
          <p:cNvSpPr/>
          <p:nvPr/>
        </p:nvSpPr>
        <p:spPr>
          <a:xfrm>
            <a:off x="548640" y="1645920"/>
            <a:ext cx="1828800" cy="1005840"/>
          </a:xfrm>
          <a:prstGeom prst="roundRect">
            <a:avLst>
              <a:gd name="adj" fmla="val 9091"/>
            </a:avLst>
          </a:prstGeom>
          <a:solidFill>
            <a:srgbClr val="EEF2F6"/>
          </a:solidFill>
          <a:ln w="12700">
            <a:solidFill>
              <a:srgbClr val="EEF2F6"/>
            </a:solidFill>
            <a:prstDash val="solid"/>
          </a:ln>
        </p:spPr>
        <p:txBody>
          <a:bodyPr/>
          <a:lstStyle/>
          <a:p>
            <a:endParaRPr lang="en-VN"/>
          </a:p>
        </p:txBody>
      </p:sp>
      <p:sp>
        <p:nvSpPr>
          <p:cNvPr id="6" name="Text 3"/>
          <p:cNvSpPr txBox="1"/>
          <p:nvPr/>
        </p:nvSpPr>
        <p:spPr>
          <a:xfrm>
            <a:off x="548640" y="1645920"/>
            <a:ext cx="1828800" cy="1005840"/>
          </a:xfrm>
          <a:prstGeom prst="rect">
            <a:avLst/>
          </a:prstGeom>
          <a:noFill/>
          <a:ln/>
        </p:spPr>
        <p:txBody>
          <a:bodyPr wrap="square" lIns="0" tIns="0" rIns="0" bIns="0" rtlCol="0" anchor="ctr"/>
          <a:lstStyle/>
          <a:p>
            <a:pPr marL="0" indent="0" algn="ctr">
              <a:buNone/>
            </a:pPr>
            <a:r>
              <a:rPr lang="en-US" sz="1600" b="1" dirty="0">
                <a:solidFill>
                  <a:srgbClr val="1F2937"/>
                </a:solidFill>
              </a:rPr>
              <a:t>Your text</a:t>
            </a:r>
            <a:endParaRPr lang="en-US" sz="1600" dirty="0"/>
          </a:p>
        </p:txBody>
      </p:sp>
      <p:sp>
        <p:nvSpPr>
          <p:cNvPr id="7" name="Shape 4"/>
          <p:cNvSpPr/>
          <p:nvPr/>
        </p:nvSpPr>
        <p:spPr>
          <a:xfrm>
            <a:off x="2423160" y="2148840"/>
            <a:ext cx="365760" cy="0"/>
          </a:xfrm>
          <a:prstGeom prst="line">
            <a:avLst/>
          </a:prstGeom>
          <a:noFill/>
          <a:ln w="19050">
            <a:solidFill>
              <a:srgbClr val="8A94A6"/>
            </a:solidFill>
            <a:prstDash val="solid"/>
            <a:tailEnd type="triangle"/>
          </a:ln>
        </p:spPr>
        <p:txBody>
          <a:bodyPr/>
          <a:lstStyle/>
          <a:p>
            <a:endParaRPr lang="en-VN"/>
          </a:p>
        </p:txBody>
      </p:sp>
      <p:sp>
        <p:nvSpPr>
          <p:cNvPr id="8" name="Shape 5"/>
          <p:cNvSpPr/>
          <p:nvPr/>
        </p:nvSpPr>
        <p:spPr>
          <a:xfrm>
            <a:off x="2834640" y="1645920"/>
            <a:ext cx="1828800" cy="1005840"/>
          </a:xfrm>
          <a:prstGeom prst="roundRect">
            <a:avLst>
              <a:gd name="adj" fmla="val 9091"/>
            </a:avLst>
          </a:prstGeom>
          <a:solidFill>
            <a:srgbClr val="EEF2F6"/>
          </a:solidFill>
          <a:ln w="12700">
            <a:solidFill>
              <a:srgbClr val="EEF2F6"/>
            </a:solidFill>
            <a:prstDash val="solid"/>
          </a:ln>
        </p:spPr>
        <p:txBody>
          <a:bodyPr/>
          <a:lstStyle/>
          <a:p>
            <a:endParaRPr lang="en-VN"/>
          </a:p>
        </p:txBody>
      </p:sp>
      <p:sp>
        <p:nvSpPr>
          <p:cNvPr id="9" name="Text 6"/>
          <p:cNvSpPr txBox="1"/>
          <p:nvPr/>
        </p:nvSpPr>
        <p:spPr>
          <a:xfrm>
            <a:off x="2834640" y="1645920"/>
            <a:ext cx="1828800" cy="1005840"/>
          </a:xfrm>
          <a:prstGeom prst="rect">
            <a:avLst/>
          </a:prstGeom>
          <a:noFill/>
          <a:ln/>
        </p:spPr>
        <p:txBody>
          <a:bodyPr wrap="square" lIns="0" tIns="0" rIns="0" bIns="0" rtlCol="0" anchor="ctr"/>
          <a:lstStyle/>
          <a:p>
            <a:pPr marL="0" indent="0" algn="ctr">
              <a:buNone/>
            </a:pPr>
            <a:r>
              <a:rPr lang="en-US" sz="1600" b="1" dirty="0">
                <a:solidFill>
                  <a:srgbClr val="1F2937"/>
                </a:solidFill>
              </a:rPr>
              <a:t>Tokens</a:t>
            </a:r>
            <a:endParaRPr lang="en-US" sz="1600" dirty="0"/>
          </a:p>
        </p:txBody>
      </p:sp>
      <p:sp>
        <p:nvSpPr>
          <p:cNvPr id="10" name="Shape 7"/>
          <p:cNvSpPr/>
          <p:nvPr/>
        </p:nvSpPr>
        <p:spPr>
          <a:xfrm>
            <a:off x="4709160" y="2148840"/>
            <a:ext cx="365760" cy="0"/>
          </a:xfrm>
          <a:prstGeom prst="line">
            <a:avLst/>
          </a:prstGeom>
          <a:noFill/>
          <a:ln w="19050">
            <a:solidFill>
              <a:srgbClr val="8A94A6"/>
            </a:solidFill>
            <a:prstDash val="solid"/>
            <a:tailEnd type="triangle"/>
          </a:ln>
        </p:spPr>
        <p:txBody>
          <a:bodyPr/>
          <a:lstStyle/>
          <a:p>
            <a:endParaRPr lang="en-VN"/>
          </a:p>
        </p:txBody>
      </p:sp>
      <p:sp>
        <p:nvSpPr>
          <p:cNvPr id="11" name="Shape 8"/>
          <p:cNvSpPr/>
          <p:nvPr/>
        </p:nvSpPr>
        <p:spPr>
          <a:xfrm>
            <a:off x="5120640" y="1645920"/>
            <a:ext cx="1828800" cy="1005840"/>
          </a:xfrm>
          <a:prstGeom prst="roundRect">
            <a:avLst>
              <a:gd name="adj" fmla="val 9091"/>
            </a:avLst>
          </a:prstGeom>
          <a:solidFill>
            <a:srgbClr val="0F8B8D"/>
          </a:solidFill>
          <a:ln w="12700">
            <a:solidFill>
              <a:srgbClr val="0F8B8D"/>
            </a:solidFill>
            <a:prstDash val="solid"/>
          </a:ln>
        </p:spPr>
        <p:txBody>
          <a:bodyPr/>
          <a:lstStyle/>
          <a:p>
            <a:endParaRPr lang="en-VN"/>
          </a:p>
        </p:txBody>
      </p:sp>
      <p:sp>
        <p:nvSpPr>
          <p:cNvPr id="12" name="Text 9"/>
          <p:cNvSpPr txBox="1"/>
          <p:nvPr/>
        </p:nvSpPr>
        <p:spPr>
          <a:xfrm>
            <a:off x="5120640" y="1645920"/>
            <a:ext cx="1828800" cy="1005840"/>
          </a:xfrm>
          <a:prstGeom prst="rect">
            <a:avLst/>
          </a:prstGeom>
          <a:noFill/>
          <a:ln/>
        </p:spPr>
        <p:txBody>
          <a:bodyPr wrap="square" lIns="0" tIns="0" rIns="0" bIns="0" rtlCol="0" anchor="ctr"/>
          <a:lstStyle/>
          <a:p>
            <a:pPr marL="0" indent="0" algn="ctr">
              <a:buNone/>
            </a:pPr>
            <a:r>
              <a:rPr lang="en-US" sz="1600" b="1" dirty="0">
                <a:solidFill>
                  <a:srgbClr val="FFFFFF"/>
                </a:solidFill>
              </a:rPr>
              <a:t>Transformer</a:t>
            </a:r>
            <a:endParaRPr lang="en-US" sz="1600" dirty="0"/>
          </a:p>
          <a:p>
            <a:pPr marL="0" indent="0" algn="ctr">
              <a:buNone/>
            </a:pPr>
            <a:r>
              <a:rPr lang="en-US" sz="1600" b="1" dirty="0">
                <a:solidFill>
                  <a:srgbClr val="FFFFFF"/>
                </a:solidFill>
              </a:rPr>
              <a:t>(attention)</a:t>
            </a:r>
            <a:endParaRPr lang="en-US" sz="1600" dirty="0"/>
          </a:p>
        </p:txBody>
      </p:sp>
      <p:sp>
        <p:nvSpPr>
          <p:cNvPr id="13" name="Shape 10"/>
          <p:cNvSpPr/>
          <p:nvPr/>
        </p:nvSpPr>
        <p:spPr>
          <a:xfrm>
            <a:off x="6995160" y="2148840"/>
            <a:ext cx="365760" cy="0"/>
          </a:xfrm>
          <a:prstGeom prst="line">
            <a:avLst/>
          </a:prstGeom>
          <a:noFill/>
          <a:ln w="19050">
            <a:solidFill>
              <a:srgbClr val="8A94A6"/>
            </a:solidFill>
            <a:prstDash val="solid"/>
            <a:tailEnd type="triangle"/>
          </a:ln>
        </p:spPr>
        <p:txBody>
          <a:bodyPr/>
          <a:lstStyle/>
          <a:p>
            <a:endParaRPr lang="en-VN"/>
          </a:p>
        </p:txBody>
      </p:sp>
      <p:sp>
        <p:nvSpPr>
          <p:cNvPr id="14" name="Shape 11"/>
          <p:cNvSpPr/>
          <p:nvPr/>
        </p:nvSpPr>
        <p:spPr>
          <a:xfrm>
            <a:off x="7406640" y="1645920"/>
            <a:ext cx="1828800" cy="1005840"/>
          </a:xfrm>
          <a:prstGeom prst="roundRect">
            <a:avLst>
              <a:gd name="adj" fmla="val 9091"/>
            </a:avLst>
          </a:prstGeom>
          <a:solidFill>
            <a:srgbClr val="EEF2F6"/>
          </a:solidFill>
          <a:ln w="12700">
            <a:solidFill>
              <a:srgbClr val="EEF2F6"/>
            </a:solidFill>
            <a:prstDash val="solid"/>
          </a:ln>
        </p:spPr>
        <p:txBody>
          <a:bodyPr/>
          <a:lstStyle/>
          <a:p>
            <a:endParaRPr lang="en-VN"/>
          </a:p>
        </p:txBody>
      </p:sp>
      <p:sp>
        <p:nvSpPr>
          <p:cNvPr id="15" name="Text 12"/>
          <p:cNvSpPr txBox="1"/>
          <p:nvPr/>
        </p:nvSpPr>
        <p:spPr>
          <a:xfrm>
            <a:off x="7406640" y="1645920"/>
            <a:ext cx="1828800" cy="1005840"/>
          </a:xfrm>
          <a:prstGeom prst="rect">
            <a:avLst/>
          </a:prstGeom>
          <a:noFill/>
          <a:ln/>
        </p:spPr>
        <p:txBody>
          <a:bodyPr wrap="square" lIns="0" tIns="0" rIns="0" bIns="0" rtlCol="0" anchor="ctr"/>
          <a:lstStyle/>
          <a:p>
            <a:pPr marL="0" indent="0" algn="ctr">
              <a:buNone/>
            </a:pPr>
            <a:r>
              <a:rPr lang="en-US" sz="1600" b="1" dirty="0">
                <a:solidFill>
                  <a:srgbClr val="1F2937"/>
                </a:solidFill>
              </a:rPr>
              <a:t>Next token</a:t>
            </a:r>
            <a:endParaRPr lang="en-US" sz="1600" dirty="0"/>
          </a:p>
          <a:p>
            <a:pPr marL="0" indent="0" algn="ctr">
              <a:buNone/>
            </a:pPr>
            <a:r>
              <a:rPr lang="en-US" sz="1600" b="1" dirty="0">
                <a:solidFill>
                  <a:srgbClr val="1F2937"/>
                </a:solidFill>
              </a:rPr>
              <a:t>(repeat)</a:t>
            </a:r>
            <a:endParaRPr lang="en-US" sz="1600" dirty="0"/>
          </a:p>
        </p:txBody>
      </p:sp>
      <p:sp>
        <p:nvSpPr>
          <p:cNvPr id="16" name="Shape 13"/>
          <p:cNvSpPr/>
          <p:nvPr/>
        </p:nvSpPr>
        <p:spPr>
          <a:xfrm>
            <a:off x="9281160" y="2148840"/>
            <a:ext cx="365760" cy="0"/>
          </a:xfrm>
          <a:prstGeom prst="line">
            <a:avLst/>
          </a:prstGeom>
          <a:noFill/>
          <a:ln w="19050">
            <a:solidFill>
              <a:srgbClr val="8A94A6"/>
            </a:solidFill>
            <a:prstDash val="solid"/>
            <a:tailEnd type="triangle"/>
          </a:ln>
        </p:spPr>
        <p:txBody>
          <a:bodyPr/>
          <a:lstStyle/>
          <a:p>
            <a:endParaRPr lang="en-VN"/>
          </a:p>
        </p:txBody>
      </p:sp>
      <p:sp>
        <p:nvSpPr>
          <p:cNvPr id="17" name="Shape 14"/>
          <p:cNvSpPr/>
          <p:nvPr/>
        </p:nvSpPr>
        <p:spPr>
          <a:xfrm>
            <a:off x="9692640" y="1645920"/>
            <a:ext cx="1828800" cy="1005840"/>
          </a:xfrm>
          <a:prstGeom prst="roundRect">
            <a:avLst>
              <a:gd name="adj" fmla="val 9091"/>
            </a:avLst>
          </a:prstGeom>
          <a:solidFill>
            <a:srgbClr val="EEF2F6"/>
          </a:solidFill>
          <a:ln w="12700">
            <a:solidFill>
              <a:srgbClr val="EEF2F6"/>
            </a:solidFill>
            <a:prstDash val="solid"/>
          </a:ln>
        </p:spPr>
        <p:txBody>
          <a:bodyPr/>
          <a:lstStyle/>
          <a:p>
            <a:endParaRPr lang="en-VN"/>
          </a:p>
        </p:txBody>
      </p:sp>
      <p:sp>
        <p:nvSpPr>
          <p:cNvPr id="18" name="Text 15"/>
          <p:cNvSpPr txBox="1"/>
          <p:nvPr/>
        </p:nvSpPr>
        <p:spPr>
          <a:xfrm>
            <a:off x="9692640" y="1645920"/>
            <a:ext cx="1828800" cy="1005840"/>
          </a:xfrm>
          <a:prstGeom prst="rect">
            <a:avLst/>
          </a:prstGeom>
          <a:noFill/>
          <a:ln/>
        </p:spPr>
        <p:txBody>
          <a:bodyPr wrap="square" lIns="0" tIns="0" rIns="0" bIns="0" rtlCol="0" anchor="ctr"/>
          <a:lstStyle/>
          <a:p>
            <a:pPr marL="0" indent="0" algn="ctr">
              <a:buNone/>
            </a:pPr>
            <a:r>
              <a:rPr lang="en-US" sz="1600" b="1" dirty="0">
                <a:solidFill>
                  <a:srgbClr val="1F2937"/>
                </a:solidFill>
              </a:rPr>
              <a:t>Answer</a:t>
            </a:r>
            <a:endParaRPr lang="en-US" sz="1600" dirty="0"/>
          </a:p>
        </p:txBody>
      </p:sp>
      <p:sp>
        <p:nvSpPr>
          <p:cNvPr id="19" name="Shape 16"/>
          <p:cNvSpPr/>
          <p:nvPr/>
        </p:nvSpPr>
        <p:spPr>
          <a:xfrm>
            <a:off x="548640" y="3200400"/>
            <a:ext cx="3520440" cy="1828800"/>
          </a:xfrm>
          <a:prstGeom prst="roundRect">
            <a:avLst>
              <a:gd name="adj" fmla="val 4000"/>
            </a:avLst>
          </a:prstGeom>
          <a:solidFill>
            <a:srgbClr val="EEF2F6"/>
          </a:solidFill>
          <a:ln w="12700">
            <a:solidFill>
              <a:srgbClr val="EEF2F6"/>
            </a:solidFill>
            <a:prstDash val="solid"/>
          </a:ln>
        </p:spPr>
        <p:txBody>
          <a:bodyPr/>
          <a:lstStyle/>
          <a:p>
            <a:endParaRPr lang="en-VN"/>
          </a:p>
        </p:txBody>
      </p:sp>
      <p:sp>
        <p:nvSpPr>
          <p:cNvPr id="20" name="Text 17"/>
          <p:cNvSpPr txBox="1"/>
          <p:nvPr/>
        </p:nvSpPr>
        <p:spPr>
          <a:xfrm>
            <a:off x="731520" y="3337560"/>
            <a:ext cx="3154680" cy="457200"/>
          </a:xfrm>
          <a:prstGeom prst="rect">
            <a:avLst/>
          </a:prstGeom>
          <a:noFill/>
          <a:ln/>
        </p:spPr>
        <p:txBody>
          <a:bodyPr wrap="square" lIns="0" tIns="0" rIns="0" bIns="0" rtlCol="0" anchor="t"/>
          <a:lstStyle/>
          <a:p>
            <a:pPr marL="0" indent="0">
              <a:buNone/>
            </a:pPr>
            <a:r>
              <a:rPr lang="en-US" sz="1800" b="1" dirty="0">
                <a:solidFill>
                  <a:srgbClr val="0F8B8D"/>
                </a:solidFill>
              </a:rPr>
              <a:t>Understands</a:t>
            </a:r>
            <a:endParaRPr lang="en-US" sz="1800" dirty="0"/>
          </a:p>
        </p:txBody>
      </p:sp>
      <p:sp>
        <p:nvSpPr>
          <p:cNvPr id="21" name="Text 18"/>
          <p:cNvSpPr txBox="1"/>
          <p:nvPr/>
        </p:nvSpPr>
        <p:spPr>
          <a:xfrm>
            <a:off x="731520" y="3840480"/>
            <a:ext cx="3154680" cy="1051560"/>
          </a:xfrm>
          <a:prstGeom prst="rect">
            <a:avLst/>
          </a:prstGeom>
          <a:noFill/>
          <a:ln/>
        </p:spPr>
        <p:txBody>
          <a:bodyPr wrap="square" lIns="0" tIns="0" rIns="0" bIns="0" rtlCol="0" anchor="t"/>
          <a:lstStyle/>
          <a:p>
            <a:pPr marL="0" indent="0">
              <a:buNone/>
            </a:pPr>
            <a:r>
              <a:rPr lang="en-US" sz="1400" dirty="0">
                <a:solidFill>
                  <a:srgbClr val="1F2937"/>
                </a:solidFill>
              </a:rPr>
              <a:t>Questions in natural language, in English or Vietnamese</a:t>
            </a:r>
            <a:endParaRPr lang="en-US" sz="1400" dirty="0"/>
          </a:p>
        </p:txBody>
      </p:sp>
      <p:sp>
        <p:nvSpPr>
          <p:cNvPr id="22" name="Shape 19"/>
          <p:cNvSpPr/>
          <p:nvPr/>
        </p:nvSpPr>
        <p:spPr>
          <a:xfrm>
            <a:off x="4343400" y="3200400"/>
            <a:ext cx="3520440" cy="1828800"/>
          </a:xfrm>
          <a:prstGeom prst="roundRect">
            <a:avLst>
              <a:gd name="adj" fmla="val 4000"/>
            </a:avLst>
          </a:prstGeom>
          <a:solidFill>
            <a:srgbClr val="EEF2F6"/>
          </a:solidFill>
          <a:ln w="12700">
            <a:solidFill>
              <a:srgbClr val="EEF2F6"/>
            </a:solidFill>
            <a:prstDash val="solid"/>
          </a:ln>
        </p:spPr>
        <p:txBody>
          <a:bodyPr/>
          <a:lstStyle/>
          <a:p>
            <a:endParaRPr lang="en-VN"/>
          </a:p>
        </p:txBody>
      </p:sp>
      <p:sp>
        <p:nvSpPr>
          <p:cNvPr id="23" name="Text 20"/>
          <p:cNvSpPr txBox="1"/>
          <p:nvPr/>
        </p:nvSpPr>
        <p:spPr>
          <a:xfrm>
            <a:off x="4526280" y="3337560"/>
            <a:ext cx="3154680" cy="457200"/>
          </a:xfrm>
          <a:prstGeom prst="rect">
            <a:avLst/>
          </a:prstGeom>
          <a:noFill/>
          <a:ln/>
        </p:spPr>
        <p:txBody>
          <a:bodyPr wrap="square" lIns="0" tIns="0" rIns="0" bIns="0" rtlCol="0" anchor="t"/>
          <a:lstStyle/>
          <a:p>
            <a:pPr marL="0" indent="0">
              <a:buNone/>
            </a:pPr>
            <a:r>
              <a:rPr lang="en-US" sz="1800" b="1" dirty="0">
                <a:solidFill>
                  <a:srgbClr val="0F8B8D"/>
                </a:solidFill>
              </a:rPr>
              <a:t>Generates</a:t>
            </a:r>
            <a:endParaRPr lang="en-US" sz="1800" dirty="0"/>
          </a:p>
        </p:txBody>
      </p:sp>
      <p:sp>
        <p:nvSpPr>
          <p:cNvPr id="24" name="Text 21"/>
          <p:cNvSpPr txBox="1"/>
          <p:nvPr/>
        </p:nvSpPr>
        <p:spPr>
          <a:xfrm>
            <a:off x="4526280" y="3840480"/>
            <a:ext cx="3154680" cy="1051560"/>
          </a:xfrm>
          <a:prstGeom prst="rect">
            <a:avLst/>
          </a:prstGeom>
          <a:noFill/>
          <a:ln/>
        </p:spPr>
        <p:txBody>
          <a:bodyPr wrap="square" lIns="0" tIns="0" rIns="0" bIns="0" rtlCol="0" anchor="t"/>
          <a:lstStyle/>
          <a:p>
            <a:pPr marL="0" indent="0">
              <a:buNone/>
            </a:pPr>
            <a:r>
              <a:rPr lang="en-US" sz="1400" dirty="0">
                <a:solidFill>
                  <a:srgbClr val="1F2937"/>
                </a:solidFill>
              </a:rPr>
              <a:t>Answers, summaries, translations, code</a:t>
            </a:r>
            <a:endParaRPr lang="en-US" sz="1400" dirty="0"/>
          </a:p>
        </p:txBody>
      </p:sp>
      <p:sp>
        <p:nvSpPr>
          <p:cNvPr id="25" name="Shape 22"/>
          <p:cNvSpPr/>
          <p:nvPr/>
        </p:nvSpPr>
        <p:spPr>
          <a:xfrm>
            <a:off x="8138160" y="3200400"/>
            <a:ext cx="3520440" cy="1828800"/>
          </a:xfrm>
          <a:prstGeom prst="roundRect">
            <a:avLst>
              <a:gd name="adj" fmla="val 4000"/>
            </a:avLst>
          </a:prstGeom>
          <a:solidFill>
            <a:srgbClr val="EEF2F6"/>
          </a:solidFill>
          <a:ln w="12700">
            <a:solidFill>
              <a:srgbClr val="EEF2F6"/>
            </a:solidFill>
            <a:prstDash val="solid"/>
          </a:ln>
        </p:spPr>
        <p:txBody>
          <a:bodyPr/>
          <a:lstStyle/>
          <a:p>
            <a:endParaRPr lang="en-VN"/>
          </a:p>
        </p:txBody>
      </p:sp>
      <p:sp>
        <p:nvSpPr>
          <p:cNvPr id="26" name="Text 23"/>
          <p:cNvSpPr txBox="1"/>
          <p:nvPr/>
        </p:nvSpPr>
        <p:spPr>
          <a:xfrm>
            <a:off x="8321040" y="3337560"/>
            <a:ext cx="3154680" cy="457200"/>
          </a:xfrm>
          <a:prstGeom prst="rect">
            <a:avLst/>
          </a:prstGeom>
          <a:noFill/>
          <a:ln/>
        </p:spPr>
        <p:txBody>
          <a:bodyPr wrap="square" lIns="0" tIns="0" rIns="0" bIns="0" rtlCol="0" anchor="t"/>
          <a:lstStyle/>
          <a:p>
            <a:pPr marL="0" indent="0">
              <a:buNone/>
            </a:pPr>
            <a:r>
              <a:rPr lang="en-US" sz="1800" b="1" dirty="0">
                <a:solidFill>
                  <a:srgbClr val="0F8B8D"/>
                </a:solidFill>
              </a:rPr>
              <a:t>Decides</a:t>
            </a:r>
            <a:endParaRPr lang="en-US" sz="1800" dirty="0"/>
          </a:p>
        </p:txBody>
      </p:sp>
      <p:sp>
        <p:nvSpPr>
          <p:cNvPr id="27" name="Text 24"/>
          <p:cNvSpPr txBox="1"/>
          <p:nvPr/>
        </p:nvSpPr>
        <p:spPr>
          <a:xfrm>
            <a:off x="8321040" y="3840480"/>
            <a:ext cx="3154680" cy="1051560"/>
          </a:xfrm>
          <a:prstGeom prst="rect">
            <a:avLst/>
          </a:prstGeom>
          <a:noFill/>
          <a:ln/>
        </p:spPr>
        <p:txBody>
          <a:bodyPr wrap="square" lIns="0" tIns="0" rIns="0" bIns="0" rtlCol="0" anchor="t"/>
          <a:lstStyle/>
          <a:p>
            <a:pPr marL="0" indent="0">
              <a:buNone/>
            </a:pPr>
            <a:r>
              <a:rPr lang="en-US" sz="1400" dirty="0">
                <a:solidFill>
                  <a:srgbClr val="1F2937"/>
                </a:solidFill>
              </a:rPr>
              <a:t>In an agent, the LLM is the "brain" that plans which action to take next</a:t>
            </a:r>
            <a:endParaRPr lang="en-US" sz="1400" dirty="0"/>
          </a:p>
        </p:txBody>
      </p:sp>
      <p:sp>
        <p:nvSpPr>
          <p:cNvPr id="4"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marL="0" indent="0">
              <a:buNone/>
            </a:pPr>
            <a:r>
              <a:rPr lang="en-US" sz="1200" b="1" kern="0" spc="200" dirty="0">
                <a:solidFill>
                  <a:srgbClr val="0F8B8D"/>
                </a:solidFill>
              </a:rPr>
              <a:t>BACKGROUND</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marL="0" indent="0">
              <a:buNone/>
            </a:pPr>
            <a:r>
              <a:rPr lang="en-US" sz="3000" b="1" dirty="0">
                <a:solidFill>
                  <a:srgbClr val="1F2937"/>
                </a:solidFill>
              </a:rPr>
              <a:t>What a standalone LLM cannot do</a:t>
            </a:r>
            <a:endParaRPr lang="en-US" sz="3000" dirty="0"/>
          </a:p>
        </p:txBody>
      </p:sp>
      <p:sp>
        <p:nvSpPr>
          <p:cNvPr id="5" name="Shape 2"/>
          <p:cNvSpPr/>
          <p:nvPr/>
        </p:nvSpPr>
        <p:spPr>
          <a:xfrm>
            <a:off x="457200" y="1463040"/>
            <a:ext cx="3566160" cy="2194560"/>
          </a:xfrm>
          <a:prstGeom prst="roundRect">
            <a:avLst>
              <a:gd name="adj" fmla="val 3333"/>
            </a:avLst>
          </a:prstGeom>
          <a:solidFill>
            <a:srgbClr val="EEF2F6"/>
          </a:solidFill>
          <a:ln w="12700">
            <a:solidFill>
              <a:srgbClr val="EEF2F6"/>
            </a:solidFill>
            <a:prstDash val="solid"/>
          </a:ln>
        </p:spPr>
        <p:txBody>
          <a:bodyPr/>
          <a:lstStyle/>
          <a:p>
            <a:endParaRPr lang="en-VN"/>
          </a:p>
        </p:txBody>
      </p:sp>
      <p:sp>
        <p:nvSpPr>
          <p:cNvPr id="6" name="Text 3"/>
          <p:cNvSpPr txBox="1"/>
          <p:nvPr/>
        </p:nvSpPr>
        <p:spPr>
          <a:xfrm>
            <a:off x="640080" y="1600200"/>
            <a:ext cx="3200400" cy="457200"/>
          </a:xfrm>
          <a:prstGeom prst="rect">
            <a:avLst/>
          </a:prstGeom>
          <a:noFill/>
          <a:ln/>
        </p:spPr>
        <p:txBody>
          <a:bodyPr wrap="square" lIns="0" tIns="0" rIns="0" bIns="0" rtlCol="0" anchor="t"/>
          <a:lstStyle/>
          <a:p>
            <a:pPr marL="0" indent="0">
              <a:buNone/>
            </a:pPr>
            <a:r>
              <a:rPr lang="en-US" sz="1800" b="1" dirty="0">
                <a:solidFill>
                  <a:srgbClr val="0F8B8D"/>
                </a:solidFill>
              </a:rPr>
              <a:t>No private data</a:t>
            </a:r>
            <a:endParaRPr lang="en-US" sz="1800" dirty="0"/>
          </a:p>
        </p:txBody>
      </p:sp>
      <p:sp>
        <p:nvSpPr>
          <p:cNvPr id="7" name="Text 4"/>
          <p:cNvSpPr txBox="1"/>
          <p:nvPr/>
        </p:nvSpPr>
        <p:spPr>
          <a:xfrm>
            <a:off x="640080" y="2103120"/>
            <a:ext cx="3200400" cy="1417320"/>
          </a:xfrm>
          <a:prstGeom prst="rect">
            <a:avLst/>
          </a:prstGeom>
          <a:noFill/>
          <a:ln/>
        </p:spPr>
        <p:txBody>
          <a:bodyPr wrap="square" lIns="0" tIns="0" rIns="0" bIns="0" rtlCol="0" anchor="t"/>
          <a:lstStyle/>
          <a:p>
            <a:pPr marL="0" indent="0">
              <a:buNone/>
            </a:pPr>
            <a:r>
              <a:rPr lang="en-US" sz="1400" dirty="0">
                <a:solidFill>
                  <a:srgbClr val="1F2937"/>
                </a:solidFill>
              </a:rPr>
              <a:t>It has never seen our student grade files</a:t>
            </a:r>
            <a:endParaRPr lang="en-US" sz="1400" dirty="0"/>
          </a:p>
        </p:txBody>
      </p:sp>
      <p:sp>
        <p:nvSpPr>
          <p:cNvPr id="8" name="Shape 5"/>
          <p:cNvSpPr/>
          <p:nvPr/>
        </p:nvSpPr>
        <p:spPr>
          <a:xfrm>
            <a:off x="4297680" y="1463040"/>
            <a:ext cx="3566160" cy="2194560"/>
          </a:xfrm>
          <a:prstGeom prst="roundRect">
            <a:avLst>
              <a:gd name="adj" fmla="val 3333"/>
            </a:avLst>
          </a:prstGeom>
          <a:solidFill>
            <a:srgbClr val="EEF2F6"/>
          </a:solidFill>
          <a:ln w="12700">
            <a:solidFill>
              <a:srgbClr val="EEF2F6"/>
            </a:solidFill>
            <a:prstDash val="solid"/>
          </a:ln>
        </p:spPr>
        <p:txBody>
          <a:bodyPr/>
          <a:lstStyle/>
          <a:p>
            <a:endParaRPr lang="en-VN"/>
          </a:p>
        </p:txBody>
      </p:sp>
      <p:sp>
        <p:nvSpPr>
          <p:cNvPr id="9" name="Text 6"/>
          <p:cNvSpPr txBox="1"/>
          <p:nvPr/>
        </p:nvSpPr>
        <p:spPr>
          <a:xfrm>
            <a:off x="4480560" y="1600200"/>
            <a:ext cx="3200400" cy="457200"/>
          </a:xfrm>
          <a:prstGeom prst="rect">
            <a:avLst/>
          </a:prstGeom>
          <a:noFill/>
          <a:ln/>
        </p:spPr>
        <p:txBody>
          <a:bodyPr wrap="square" lIns="0" tIns="0" rIns="0" bIns="0" rtlCol="0" anchor="t"/>
          <a:lstStyle/>
          <a:p>
            <a:pPr marL="0" indent="0">
              <a:buNone/>
            </a:pPr>
            <a:r>
              <a:rPr lang="en-US" sz="1800" b="1" dirty="0">
                <a:solidFill>
                  <a:srgbClr val="0F8B8D"/>
                </a:solidFill>
              </a:rPr>
              <a:t>No live data</a:t>
            </a:r>
            <a:endParaRPr lang="en-US" sz="1800" dirty="0"/>
          </a:p>
        </p:txBody>
      </p:sp>
      <p:sp>
        <p:nvSpPr>
          <p:cNvPr id="10" name="Text 7"/>
          <p:cNvSpPr txBox="1"/>
          <p:nvPr/>
        </p:nvSpPr>
        <p:spPr>
          <a:xfrm>
            <a:off x="4480560" y="2103120"/>
            <a:ext cx="3200400" cy="1417320"/>
          </a:xfrm>
          <a:prstGeom prst="rect">
            <a:avLst/>
          </a:prstGeom>
          <a:noFill/>
          <a:ln/>
        </p:spPr>
        <p:txBody>
          <a:bodyPr wrap="square" lIns="0" tIns="0" rIns="0" bIns="0" rtlCol="0" anchor="t"/>
          <a:lstStyle/>
          <a:p>
            <a:pPr marL="0" indent="0">
              <a:buNone/>
            </a:pPr>
            <a:r>
              <a:rPr lang="en-US" sz="1400" dirty="0">
                <a:solidFill>
                  <a:srgbClr val="1F2937"/>
                </a:solidFill>
              </a:rPr>
              <a:t>Its knowledge stops at its training date</a:t>
            </a:r>
            <a:endParaRPr lang="en-US" sz="1400" dirty="0"/>
          </a:p>
        </p:txBody>
      </p:sp>
      <p:sp>
        <p:nvSpPr>
          <p:cNvPr id="11" name="Shape 8"/>
          <p:cNvSpPr/>
          <p:nvPr/>
        </p:nvSpPr>
        <p:spPr>
          <a:xfrm>
            <a:off x="8138160" y="1463040"/>
            <a:ext cx="3566160" cy="2194560"/>
          </a:xfrm>
          <a:prstGeom prst="roundRect">
            <a:avLst>
              <a:gd name="adj" fmla="val 3333"/>
            </a:avLst>
          </a:prstGeom>
          <a:solidFill>
            <a:srgbClr val="EEF2F6"/>
          </a:solidFill>
          <a:ln w="12700">
            <a:solidFill>
              <a:srgbClr val="EEF2F6"/>
            </a:solidFill>
            <a:prstDash val="solid"/>
          </a:ln>
        </p:spPr>
        <p:txBody>
          <a:bodyPr/>
          <a:lstStyle/>
          <a:p>
            <a:endParaRPr lang="en-VN"/>
          </a:p>
        </p:txBody>
      </p:sp>
      <p:sp>
        <p:nvSpPr>
          <p:cNvPr id="12" name="Text 9"/>
          <p:cNvSpPr txBox="1"/>
          <p:nvPr/>
        </p:nvSpPr>
        <p:spPr>
          <a:xfrm>
            <a:off x="8321040" y="1600200"/>
            <a:ext cx="3200400" cy="457200"/>
          </a:xfrm>
          <a:prstGeom prst="rect">
            <a:avLst/>
          </a:prstGeom>
          <a:noFill/>
          <a:ln/>
        </p:spPr>
        <p:txBody>
          <a:bodyPr wrap="square" lIns="0" tIns="0" rIns="0" bIns="0" rtlCol="0" anchor="t"/>
          <a:lstStyle/>
          <a:p>
            <a:pPr marL="0" indent="0">
              <a:buNone/>
            </a:pPr>
            <a:r>
              <a:rPr lang="en-US" sz="1800" b="1" dirty="0">
                <a:solidFill>
                  <a:srgbClr val="0F8B8D"/>
                </a:solidFill>
              </a:rPr>
              <a:t>Cannot act</a:t>
            </a:r>
            <a:endParaRPr lang="en-US" sz="1800" dirty="0"/>
          </a:p>
        </p:txBody>
      </p:sp>
      <p:sp>
        <p:nvSpPr>
          <p:cNvPr id="13" name="Text 10"/>
          <p:cNvSpPr txBox="1"/>
          <p:nvPr/>
        </p:nvSpPr>
        <p:spPr>
          <a:xfrm>
            <a:off x="8321040" y="2103120"/>
            <a:ext cx="3200400" cy="1417320"/>
          </a:xfrm>
          <a:prstGeom prst="rect">
            <a:avLst/>
          </a:prstGeom>
          <a:noFill/>
          <a:ln/>
        </p:spPr>
        <p:txBody>
          <a:bodyPr wrap="square" lIns="0" tIns="0" rIns="0" bIns="0" rtlCol="0" anchor="t"/>
          <a:lstStyle/>
          <a:p>
            <a:pPr marL="0" indent="0">
              <a:buNone/>
            </a:pPr>
            <a:r>
              <a:rPr lang="en-US" sz="1400" dirty="0">
                <a:solidFill>
                  <a:srgbClr val="1F2937"/>
                </a:solidFill>
              </a:rPr>
              <a:t>It cannot save a report or update a grade by itself</a:t>
            </a:r>
            <a:endParaRPr lang="en-US" sz="1400" dirty="0"/>
          </a:p>
        </p:txBody>
      </p:sp>
      <p:sp>
        <p:nvSpPr>
          <p:cNvPr id="14" name="Shape 11"/>
          <p:cNvSpPr/>
          <p:nvPr/>
        </p:nvSpPr>
        <p:spPr>
          <a:xfrm>
            <a:off x="457200" y="4114800"/>
            <a:ext cx="11247120" cy="1645920"/>
          </a:xfrm>
          <a:prstGeom prst="roundRect">
            <a:avLst>
              <a:gd name="adj" fmla="val 4444"/>
            </a:avLst>
          </a:prstGeom>
          <a:solidFill>
            <a:srgbClr val="FDECEC"/>
          </a:solidFill>
          <a:ln w="12700">
            <a:solidFill>
              <a:srgbClr val="FDECEC"/>
            </a:solidFill>
            <a:prstDash val="solid"/>
          </a:ln>
        </p:spPr>
        <p:txBody>
          <a:bodyPr/>
          <a:lstStyle/>
          <a:p>
            <a:endParaRPr lang="en-VN"/>
          </a:p>
        </p:txBody>
      </p:sp>
      <p:sp>
        <p:nvSpPr>
          <p:cNvPr id="15" name="Text 12"/>
          <p:cNvSpPr txBox="1"/>
          <p:nvPr/>
        </p:nvSpPr>
        <p:spPr>
          <a:xfrm>
            <a:off x="731520" y="4114800"/>
            <a:ext cx="10698480" cy="1645920"/>
          </a:xfrm>
          <a:prstGeom prst="rect">
            <a:avLst/>
          </a:prstGeom>
          <a:noFill/>
          <a:ln/>
        </p:spPr>
        <p:txBody>
          <a:bodyPr wrap="square" lIns="0" tIns="0" rIns="0" bIns="0" rtlCol="0" anchor="ctr"/>
          <a:lstStyle/>
          <a:p>
            <a:pPr marL="0" indent="0">
              <a:buNone/>
            </a:pPr>
            <a:r>
              <a:rPr lang="en-US" sz="2000" b="1" dirty="0">
                <a:solidFill>
                  <a:srgbClr val="1F2937"/>
                </a:solidFill>
              </a:rPr>
              <a:t>Ask: </a:t>
            </a:r>
            <a:r>
              <a:rPr lang="en-US" sz="2000" i="1" dirty="0">
                <a:solidFill>
                  <a:srgbClr val="1F2937"/>
                </a:solidFill>
              </a:rPr>
              <a:t>"What is the GPA of student 2201010?"</a:t>
            </a:r>
            <a:endParaRPr lang="en-US" sz="2000" dirty="0"/>
          </a:p>
          <a:p>
            <a:pPr marL="0" indent="0">
              <a:buNone/>
            </a:pPr>
            <a:r>
              <a:rPr lang="en-US" sz="2000" dirty="0">
                <a:solidFill>
                  <a:srgbClr val="1F2937"/>
                </a:solidFill>
              </a:rPr>
              <a:t>Without data, an LLM either refuses or </a:t>
            </a:r>
            <a:r>
              <a:rPr lang="en-US" sz="2000" b="1" dirty="0">
                <a:solidFill>
                  <a:srgbClr val="C53030"/>
                </a:solidFill>
              </a:rPr>
              <a:t>invents a plausible number</a:t>
            </a:r>
            <a:r>
              <a:rPr lang="en-US" sz="2000" dirty="0">
                <a:solidFill>
                  <a:srgbClr val="1F2937"/>
                </a:solidFill>
              </a:rPr>
              <a:t> — unacceptable for grades.</a:t>
            </a:r>
            <a:endParaRPr lang="en-US" sz="20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marL="0" indent="0">
              <a:buNone/>
            </a:pPr>
            <a:r>
              <a:rPr lang="en-US" sz="1200" b="1" kern="0" spc="200" dirty="0">
                <a:solidFill>
                  <a:srgbClr val="0F8B8D"/>
                </a:solidFill>
              </a:rPr>
              <a:t>BACKGROUND</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marL="0" indent="0">
              <a:buNone/>
            </a:pPr>
            <a:r>
              <a:rPr lang="en-US" sz="3000" b="1" dirty="0">
                <a:solidFill>
                  <a:srgbClr val="1F2937"/>
                </a:solidFill>
              </a:rPr>
              <a:t>Data and tools fill the gap</a:t>
            </a:r>
            <a:endParaRPr lang="en-US" sz="3000" dirty="0"/>
          </a:p>
        </p:txBody>
      </p:sp>
      <p:sp>
        <p:nvSpPr>
          <p:cNvPr id="5" name="Shape 2"/>
          <p:cNvSpPr/>
          <p:nvPr/>
        </p:nvSpPr>
        <p:spPr>
          <a:xfrm>
            <a:off x="457200" y="1463040"/>
            <a:ext cx="3566160" cy="3840480"/>
          </a:xfrm>
          <a:prstGeom prst="roundRect">
            <a:avLst>
              <a:gd name="adj" fmla="val 2564"/>
            </a:avLst>
          </a:prstGeom>
          <a:solidFill>
            <a:srgbClr val="1F2A44"/>
          </a:solidFill>
          <a:ln w="12700">
            <a:solidFill>
              <a:srgbClr val="1F2A44"/>
            </a:solidFill>
            <a:prstDash val="solid"/>
          </a:ln>
        </p:spPr>
        <p:txBody>
          <a:bodyPr/>
          <a:lstStyle/>
          <a:p>
            <a:endParaRPr lang="en-VN"/>
          </a:p>
        </p:txBody>
      </p:sp>
      <p:sp>
        <p:nvSpPr>
          <p:cNvPr id="6" name="Text 3"/>
          <p:cNvSpPr txBox="1"/>
          <p:nvPr/>
        </p:nvSpPr>
        <p:spPr>
          <a:xfrm>
            <a:off x="457200" y="1737360"/>
            <a:ext cx="3566160" cy="822960"/>
          </a:xfrm>
          <a:prstGeom prst="rect">
            <a:avLst/>
          </a:prstGeom>
          <a:noFill/>
          <a:ln/>
        </p:spPr>
        <p:txBody>
          <a:bodyPr wrap="square" lIns="0" tIns="0" rIns="0" bIns="0" rtlCol="0" anchor="ctr"/>
          <a:lstStyle/>
          <a:p>
            <a:pPr marL="0" indent="0" algn="ctr">
              <a:buNone/>
            </a:pPr>
            <a:r>
              <a:rPr lang="en-US" sz="4000" b="1" dirty="0">
                <a:solidFill>
                  <a:srgbClr val="FFFFFF"/>
                </a:solidFill>
              </a:rPr>
              <a:t>THINK</a:t>
            </a:r>
            <a:endParaRPr lang="en-US" sz="4000" dirty="0"/>
          </a:p>
        </p:txBody>
      </p:sp>
      <p:sp>
        <p:nvSpPr>
          <p:cNvPr id="7" name="Text 4"/>
          <p:cNvSpPr txBox="1"/>
          <p:nvPr/>
        </p:nvSpPr>
        <p:spPr>
          <a:xfrm>
            <a:off x="457200" y="2606040"/>
            <a:ext cx="3566160" cy="457200"/>
          </a:xfrm>
          <a:prstGeom prst="rect">
            <a:avLst/>
          </a:prstGeom>
          <a:noFill/>
          <a:ln/>
        </p:spPr>
        <p:txBody>
          <a:bodyPr wrap="square" lIns="0" tIns="0" rIns="0" bIns="0" rtlCol="0" anchor="ctr"/>
          <a:lstStyle/>
          <a:p>
            <a:pPr marL="0" indent="0" algn="ctr">
              <a:buNone/>
            </a:pPr>
            <a:r>
              <a:rPr lang="en-US" sz="2200" b="1" dirty="0">
                <a:solidFill>
                  <a:srgbClr val="FFFFFF"/>
                </a:solidFill>
              </a:rPr>
              <a:t>LLM</a:t>
            </a:r>
            <a:endParaRPr lang="en-US" sz="2200" dirty="0"/>
          </a:p>
        </p:txBody>
      </p:sp>
      <p:sp>
        <p:nvSpPr>
          <p:cNvPr id="8" name="Text 5"/>
          <p:cNvSpPr txBox="1"/>
          <p:nvPr/>
        </p:nvSpPr>
        <p:spPr>
          <a:xfrm>
            <a:off x="731520" y="3246120"/>
            <a:ext cx="3017520" cy="1737360"/>
          </a:xfrm>
          <a:prstGeom prst="rect">
            <a:avLst/>
          </a:prstGeom>
          <a:noFill/>
          <a:ln/>
        </p:spPr>
        <p:txBody>
          <a:bodyPr wrap="square" lIns="0" tIns="0" rIns="0" bIns="0" rtlCol="0" anchor="t"/>
          <a:lstStyle/>
          <a:p>
            <a:pPr marL="0" indent="0" algn="ctr">
              <a:buNone/>
            </a:pPr>
            <a:r>
              <a:rPr lang="en-US" sz="1600" dirty="0">
                <a:solidFill>
                  <a:srgbClr val="FFFFFF"/>
                </a:solidFill>
              </a:rPr>
              <a:t>Understands the question and decides what to do</a:t>
            </a:r>
            <a:endParaRPr lang="en-US" sz="1600" dirty="0"/>
          </a:p>
        </p:txBody>
      </p:sp>
      <p:sp>
        <p:nvSpPr>
          <p:cNvPr id="9" name="Shape 6"/>
          <p:cNvSpPr/>
          <p:nvPr/>
        </p:nvSpPr>
        <p:spPr>
          <a:xfrm>
            <a:off x="4297680" y="1463040"/>
            <a:ext cx="3566160" cy="3840480"/>
          </a:xfrm>
          <a:prstGeom prst="roundRect">
            <a:avLst>
              <a:gd name="adj" fmla="val 2564"/>
            </a:avLst>
          </a:prstGeom>
          <a:solidFill>
            <a:srgbClr val="0F8B8D"/>
          </a:solidFill>
          <a:ln w="12700">
            <a:solidFill>
              <a:srgbClr val="0F8B8D"/>
            </a:solidFill>
            <a:prstDash val="solid"/>
          </a:ln>
        </p:spPr>
        <p:txBody>
          <a:bodyPr/>
          <a:lstStyle/>
          <a:p>
            <a:endParaRPr lang="en-VN"/>
          </a:p>
        </p:txBody>
      </p:sp>
      <p:sp>
        <p:nvSpPr>
          <p:cNvPr id="10" name="Text 7"/>
          <p:cNvSpPr txBox="1"/>
          <p:nvPr/>
        </p:nvSpPr>
        <p:spPr>
          <a:xfrm>
            <a:off x="4297680" y="1737360"/>
            <a:ext cx="3566160" cy="822960"/>
          </a:xfrm>
          <a:prstGeom prst="rect">
            <a:avLst/>
          </a:prstGeom>
          <a:noFill/>
          <a:ln/>
        </p:spPr>
        <p:txBody>
          <a:bodyPr wrap="square" lIns="0" tIns="0" rIns="0" bIns="0" rtlCol="0" anchor="ctr"/>
          <a:lstStyle/>
          <a:p>
            <a:pPr marL="0" indent="0" algn="ctr">
              <a:buNone/>
            </a:pPr>
            <a:r>
              <a:rPr lang="en-US" sz="4000" b="1" dirty="0">
                <a:solidFill>
                  <a:srgbClr val="FFFFFF"/>
                </a:solidFill>
              </a:rPr>
              <a:t>KNOW</a:t>
            </a:r>
            <a:endParaRPr lang="en-US" sz="4000" dirty="0"/>
          </a:p>
        </p:txBody>
      </p:sp>
      <p:sp>
        <p:nvSpPr>
          <p:cNvPr id="11" name="Text 8"/>
          <p:cNvSpPr txBox="1"/>
          <p:nvPr/>
        </p:nvSpPr>
        <p:spPr>
          <a:xfrm>
            <a:off x="4297680" y="2606040"/>
            <a:ext cx="3566160" cy="457200"/>
          </a:xfrm>
          <a:prstGeom prst="rect">
            <a:avLst/>
          </a:prstGeom>
          <a:noFill/>
          <a:ln/>
        </p:spPr>
        <p:txBody>
          <a:bodyPr wrap="square" lIns="0" tIns="0" rIns="0" bIns="0" rtlCol="0" anchor="ctr"/>
          <a:lstStyle/>
          <a:p>
            <a:pPr marL="0" indent="0" algn="ctr">
              <a:buNone/>
            </a:pPr>
            <a:r>
              <a:rPr lang="en-US" sz="2200" b="1" dirty="0">
                <a:solidFill>
                  <a:srgbClr val="FFFFFF"/>
                </a:solidFill>
              </a:rPr>
              <a:t>Data</a:t>
            </a:r>
            <a:endParaRPr lang="en-US" sz="2200" dirty="0"/>
          </a:p>
        </p:txBody>
      </p:sp>
      <p:sp>
        <p:nvSpPr>
          <p:cNvPr id="12" name="Text 9"/>
          <p:cNvSpPr txBox="1"/>
          <p:nvPr/>
        </p:nvSpPr>
        <p:spPr>
          <a:xfrm>
            <a:off x="4572000" y="3246120"/>
            <a:ext cx="3017520" cy="1737360"/>
          </a:xfrm>
          <a:prstGeom prst="rect">
            <a:avLst/>
          </a:prstGeom>
          <a:noFill/>
          <a:ln/>
        </p:spPr>
        <p:txBody>
          <a:bodyPr wrap="square" lIns="0" tIns="0" rIns="0" bIns="0" rtlCol="0" anchor="t"/>
          <a:lstStyle/>
          <a:p>
            <a:pPr marL="0" indent="0" algn="ctr">
              <a:buNone/>
            </a:pPr>
            <a:r>
              <a:rPr lang="en-US" sz="1600" dirty="0">
                <a:solidFill>
                  <a:srgbClr val="FFFFFF"/>
                </a:solidFill>
              </a:rPr>
              <a:t>Files, databases, APIs — e.g. our grade CSV files</a:t>
            </a:r>
            <a:endParaRPr lang="en-US" sz="1600" dirty="0"/>
          </a:p>
        </p:txBody>
      </p:sp>
      <p:sp>
        <p:nvSpPr>
          <p:cNvPr id="13" name="Shape 10"/>
          <p:cNvSpPr/>
          <p:nvPr/>
        </p:nvSpPr>
        <p:spPr>
          <a:xfrm>
            <a:off x="8138160" y="1463040"/>
            <a:ext cx="3566160" cy="3840480"/>
          </a:xfrm>
          <a:prstGeom prst="roundRect">
            <a:avLst>
              <a:gd name="adj" fmla="val 2564"/>
            </a:avLst>
          </a:prstGeom>
          <a:solidFill>
            <a:srgbClr val="E07A1F"/>
          </a:solidFill>
          <a:ln w="12700">
            <a:solidFill>
              <a:srgbClr val="E07A1F"/>
            </a:solidFill>
            <a:prstDash val="solid"/>
          </a:ln>
        </p:spPr>
        <p:txBody>
          <a:bodyPr/>
          <a:lstStyle/>
          <a:p>
            <a:endParaRPr lang="en-VN"/>
          </a:p>
        </p:txBody>
      </p:sp>
      <p:sp>
        <p:nvSpPr>
          <p:cNvPr id="14" name="Text 11"/>
          <p:cNvSpPr txBox="1"/>
          <p:nvPr/>
        </p:nvSpPr>
        <p:spPr>
          <a:xfrm>
            <a:off x="8138160" y="1737360"/>
            <a:ext cx="3566160" cy="822960"/>
          </a:xfrm>
          <a:prstGeom prst="rect">
            <a:avLst/>
          </a:prstGeom>
          <a:noFill/>
          <a:ln/>
        </p:spPr>
        <p:txBody>
          <a:bodyPr wrap="square" lIns="0" tIns="0" rIns="0" bIns="0" rtlCol="0" anchor="ctr"/>
          <a:lstStyle/>
          <a:p>
            <a:pPr marL="0" indent="0" algn="ctr">
              <a:buNone/>
            </a:pPr>
            <a:r>
              <a:rPr lang="en-US" sz="4000" b="1" dirty="0">
                <a:solidFill>
                  <a:srgbClr val="FFFFFF"/>
                </a:solidFill>
              </a:rPr>
              <a:t>ACT</a:t>
            </a:r>
            <a:endParaRPr lang="en-US" sz="4000" dirty="0"/>
          </a:p>
        </p:txBody>
      </p:sp>
      <p:sp>
        <p:nvSpPr>
          <p:cNvPr id="15" name="Text 12"/>
          <p:cNvSpPr txBox="1"/>
          <p:nvPr/>
        </p:nvSpPr>
        <p:spPr>
          <a:xfrm>
            <a:off x="8138160" y="2606040"/>
            <a:ext cx="3566160" cy="457200"/>
          </a:xfrm>
          <a:prstGeom prst="rect">
            <a:avLst/>
          </a:prstGeom>
          <a:noFill/>
          <a:ln/>
        </p:spPr>
        <p:txBody>
          <a:bodyPr wrap="square" lIns="0" tIns="0" rIns="0" bIns="0" rtlCol="0" anchor="ctr"/>
          <a:lstStyle/>
          <a:p>
            <a:pPr marL="0" indent="0" algn="ctr">
              <a:buNone/>
            </a:pPr>
            <a:r>
              <a:rPr lang="en-US" sz="2200" b="1" dirty="0">
                <a:solidFill>
                  <a:srgbClr val="FFFFFF"/>
                </a:solidFill>
              </a:rPr>
              <a:t>Tool</a:t>
            </a:r>
            <a:endParaRPr lang="en-US" sz="2200" dirty="0"/>
          </a:p>
        </p:txBody>
      </p:sp>
      <p:sp>
        <p:nvSpPr>
          <p:cNvPr id="16" name="Text 13"/>
          <p:cNvSpPr txBox="1"/>
          <p:nvPr/>
        </p:nvSpPr>
        <p:spPr>
          <a:xfrm>
            <a:off x="8412480" y="3246120"/>
            <a:ext cx="3017520" cy="1737360"/>
          </a:xfrm>
          <a:prstGeom prst="rect">
            <a:avLst/>
          </a:prstGeom>
          <a:noFill/>
          <a:ln/>
        </p:spPr>
        <p:txBody>
          <a:bodyPr wrap="square" lIns="0" tIns="0" rIns="0" bIns="0" rtlCol="0" anchor="t"/>
          <a:lstStyle/>
          <a:p>
            <a:pPr marL="0" indent="0" algn="ctr">
              <a:buNone/>
            </a:pPr>
            <a:r>
              <a:rPr lang="en-US" sz="1600" dirty="0">
                <a:solidFill>
                  <a:srgbClr val="FFFFFF"/>
                </a:solidFill>
              </a:rPr>
              <a:t>A function the AI can call — e.g. calculate_gpa(student_id)</a:t>
            </a:r>
            <a:endParaRPr lang="en-US" sz="1600" dirty="0"/>
          </a:p>
        </p:txBody>
      </p:sp>
      <p:sp>
        <p:nvSpPr>
          <p:cNvPr id="17" name="Text 14"/>
          <p:cNvSpPr txBox="1"/>
          <p:nvPr/>
        </p:nvSpPr>
        <p:spPr>
          <a:xfrm>
            <a:off x="457200" y="5577840"/>
            <a:ext cx="11247120" cy="457200"/>
          </a:xfrm>
          <a:prstGeom prst="rect">
            <a:avLst/>
          </a:prstGeom>
          <a:noFill/>
          <a:ln/>
        </p:spPr>
        <p:txBody>
          <a:bodyPr wrap="square" lIns="0" tIns="0" rIns="0" bIns="0" rtlCol="0" anchor="ctr"/>
          <a:lstStyle/>
          <a:p>
            <a:pPr marL="0" indent="0">
              <a:buNone/>
            </a:pPr>
            <a:r>
              <a:rPr lang="en-US" sz="1800" b="1" dirty="0">
                <a:solidFill>
                  <a:srgbClr val="1F2937"/>
                </a:solidFill>
              </a:rPr>
              <a:t>A tool is ordinary code: the LLM picks it, the code computes the answer.</a:t>
            </a:r>
            <a:endParaRPr lang="en-US" sz="18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marL="0" indent="0">
              <a:buNone/>
            </a:pPr>
            <a:r>
              <a:rPr lang="en-US" sz="1200" b="1" kern="0" spc="200" dirty="0">
                <a:solidFill>
                  <a:srgbClr val="0F8B8D"/>
                </a:solidFill>
              </a:rPr>
              <a:t>BACKGROUND</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marL="0" indent="0">
              <a:buNone/>
            </a:pPr>
            <a:r>
              <a:rPr lang="en-US" sz="3000" b="1" dirty="0">
                <a:solidFill>
                  <a:srgbClr val="1F2937"/>
                </a:solidFill>
              </a:rPr>
              <a:t>How an LLM calls a tool</a:t>
            </a:r>
            <a:endParaRPr lang="en-US" sz="3000" dirty="0"/>
          </a:p>
        </p:txBody>
      </p:sp>
      <p:sp>
        <p:nvSpPr>
          <p:cNvPr id="5" name="Shape 2"/>
          <p:cNvSpPr/>
          <p:nvPr/>
        </p:nvSpPr>
        <p:spPr>
          <a:xfrm>
            <a:off x="1143000" y="1554480"/>
            <a:ext cx="640080" cy="640080"/>
          </a:xfrm>
          <a:prstGeom prst="ellipse">
            <a:avLst/>
          </a:prstGeom>
          <a:solidFill>
            <a:srgbClr val="0F8B8D"/>
          </a:solidFill>
          <a:ln w="12700">
            <a:solidFill>
              <a:srgbClr val="0F8B8D"/>
            </a:solidFill>
            <a:prstDash val="solid"/>
          </a:ln>
        </p:spPr>
        <p:txBody>
          <a:bodyPr/>
          <a:lstStyle/>
          <a:p>
            <a:endParaRPr lang="en-VN"/>
          </a:p>
        </p:txBody>
      </p:sp>
      <p:sp>
        <p:nvSpPr>
          <p:cNvPr id="6" name="Text 3"/>
          <p:cNvSpPr txBox="1"/>
          <p:nvPr/>
        </p:nvSpPr>
        <p:spPr>
          <a:xfrm>
            <a:off x="1143000" y="1554480"/>
            <a:ext cx="640080" cy="640080"/>
          </a:xfrm>
          <a:prstGeom prst="rect">
            <a:avLst/>
          </a:prstGeom>
          <a:noFill/>
          <a:ln/>
        </p:spPr>
        <p:txBody>
          <a:bodyPr wrap="square" lIns="0" tIns="0" rIns="0" bIns="0" rtlCol="0" anchor="ctr"/>
          <a:lstStyle/>
          <a:p>
            <a:pPr marL="0" indent="0" algn="ctr">
              <a:buNone/>
            </a:pPr>
            <a:r>
              <a:rPr lang="en-US" sz="1800" b="1" dirty="0">
                <a:solidFill>
                  <a:srgbClr val="FFFFFF"/>
                </a:solidFill>
              </a:rPr>
              <a:t>1</a:t>
            </a:r>
            <a:endParaRPr lang="en-US" sz="1800" dirty="0"/>
          </a:p>
        </p:txBody>
      </p:sp>
      <p:sp>
        <p:nvSpPr>
          <p:cNvPr id="7" name="Shape 4"/>
          <p:cNvSpPr/>
          <p:nvPr/>
        </p:nvSpPr>
        <p:spPr>
          <a:xfrm>
            <a:off x="1874520" y="1874520"/>
            <a:ext cx="1463040" cy="0"/>
          </a:xfrm>
          <a:prstGeom prst="line">
            <a:avLst/>
          </a:prstGeom>
          <a:noFill/>
          <a:ln w="19050">
            <a:solidFill>
              <a:srgbClr val="8A94A6"/>
            </a:solidFill>
            <a:prstDash val="solid"/>
            <a:tailEnd type="triangle"/>
          </a:ln>
        </p:spPr>
        <p:txBody>
          <a:bodyPr/>
          <a:lstStyle/>
          <a:p>
            <a:endParaRPr lang="en-VN"/>
          </a:p>
        </p:txBody>
      </p:sp>
      <p:sp>
        <p:nvSpPr>
          <p:cNvPr id="8" name="Text 5"/>
          <p:cNvSpPr txBox="1"/>
          <p:nvPr/>
        </p:nvSpPr>
        <p:spPr>
          <a:xfrm>
            <a:off x="457200" y="2377440"/>
            <a:ext cx="2011680" cy="411480"/>
          </a:xfrm>
          <a:prstGeom prst="rect">
            <a:avLst/>
          </a:prstGeom>
          <a:noFill/>
          <a:ln/>
        </p:spPr>
        <p:txBody>
          <a:bodyPr wrap="square" lIns="0" tIns="0" rIns="0" bIns="0" rtlCol="0" anchor="ctr"/>
          <a:lstStyle/>
          <a:p>
            <a:pPr marL="0" indent="0" algn="ctr">
              <a:buNone/>
            </a:pPr>
            <a:r>
              <a:rPr lang="en-US" sz="1800" b="1" dirty="0">
                <a:solidFill>
                  <a:srgbClr val="1F2937"/>
                </a:solidFill>
              </a:rPr>
              <a:t>Ask</a:t>
            </a:r>
            <a:endParaRPr lang="en-US" sz="1800" dirty="0"/>
          </a:p>
        </p:txBody>
      </p:sp>
      <p:sp>
        <p:nvSpPr>
          <p:cNvPr id="9" name="Text 6"/>
          <p:cNvSpPr txBox="1"/>
          <p:nvPr/>
        </p:nvSpPr>
        <p:spPr>
          <a:xfrm>
            <a:off x="457200" y="2834640"/>
            <a:ext cx="2011680" cy="1188720"/>
          </a:xfrm>
          <a:prstGeom prst="rect">
            <a:avLst/>
          </a:prstGeom>
          <a:noFill/>
          <a:ln/>
        </p:spPr>
        <p:txBody>
          <a:bodyPr wrap="square" lIns="0" tIns="0" rIns="0" bIns="0" rtlCol="0" anchor="t"/>
          <a:lstStyle/>
          <a:p>
            <a:pPr marL="0" indent="0" algn="ctr">
              <a:buNone/>
            </a:pPr>
            <a:r>
              <a:rPr lang="en-US" sz="1300" dirty="0">
                <a:solidFill>
                  <a:srgbClr val="5B6475"/>
                </a:solidFill>
              </a:rPr>
              <a:t>"GPA of student 2201010?"</a:t>
            </a:r>
            <a:endParaRPr lang="en-US" sz="1300" dirty="0"/>
          </a:p>
        </p:txBody>
      </p:sp>
      <p:sp>
        <p:nvSpPr>
          <p:cNvPr id="10" name="Shape 7"/>
          <p:cNvSpPr/>
          <p:nvPr/>
        </p:nvSpPr>
        <p:spPr>
          <a:xfrm>
            <a:off x="3429000" y="1554480"/>
            <a:ext cx="640080" cy="640080"/>
          </a:xfrm>
          <a:prstGeom prst="ellipse">
            <a:avLst/>
          </a:prstGeom>
          <a:solidFill>
            <a:srgbClr val="0F8B8D"/>
          </a:solidFill>
          <a:ln w="12700">
            <a:solidFill>
              <a:srgbClr val="0F8B8D"/>
            </a:solidFill>
            <a:prstDash val="solid"/>
          </a:ln>
        </p:spPr>
        <p:txBody>
          <a:bodyPr/>
          <a:lstStyle/>
          <a:p>
            <a:endParaRPr lang="en-VN"/>
          </a:p>
        </p:txBody>
      </p:sp>
      <p:sp>
        <p:nvSpPr>
          <p:cNvPr id="11" name="Text 8"/>
          <p:cNvSpPr txBox="1"/>
          <p:nvPr/>
        </p:nvSpPr>
        <p:spPr>
          <a:xfrm>
            <a:off x="3429000" y="1554480"/>
            <a:ext cx="640080" cy="640080"/>
          </a:xfrm>
          <a:prstGeom prst="rect">
            <a:avLst/>
          </a:prstGeom>
          <a:noFill/>
          <a:ln/>
        </p:spPr>
        <p:txBody>
          <a:bodyPr wrap="square" lIns="0" tIns="0" rIns="0" bIns="0" rtlCol="0" anchor="ctr"/>
          <a:lstStyle/>
          <a:p>
            <a:pPr marL="0" indent="0" algn="ctr">
              <a:buNone/>
            </a:pPr>
            <a:r>
              <a:rPr lang="en-US" sz="1800" b="1" dirty="0">
                <a:solidFill>
                  <a:srgbClr val="FFFFFF"/>
                </a:solidFill>
              </a:rPr>
              <a:t>2</a:t>
            </a:r>
            <a:endParaRPr lang="en-US" sz="1800" dirty="0"/>
          </a:p>
        </p:txBody>
      </p:sp>
      <p:sp>
        <p:nvSpPr>
          <p:cNvPr id="12" name="Shape 9"/>
          <p:cNvSpPr/>
          <p:nvPr/>
        </p:nvSpPr>
        <p:spPr>
          <a:xfrm>
            <a:off x="4160520" y="1874520"/>
            <a:ext cx="1463040" cy="0"/>
          </a:xfrm>
          <a:prstGeom prst="line">
            <a:avLst/>
          </a:prstGeom>
          <a:noFill/>
          <a:ln w="19050">
            <a:solidFill>
              <a:srgbClr val="8A94A6"/>
            </a:solidFill>
            <a:prstDash val="solid"/>
            <a:tailEnd type="triangle"/>
          </a:ln>
        </p:spPr>
        <p:txBody>
          <a:bodyPr/>
          <a:lstStyle/>
          <a:p>
            <a:endParaRPr lang="en-VN"/>
          </a:p>
        </p:txBody>
      </p:sp>
      <p:sp>
        <p:nvSpPr>
          <p:cNvPr id="13" name="Text 10"/>
          <p:cNvSpPr txBox="1"/>
          <p:nvPr/>
        </p:nvSpPr>
        <p:spPr>
          <a:xfrm>
            <a:off x="2743200" y="2377440"/>
            <a:ext cx="2011680" cy="411480"/>
          </a:xfrm>
          <a:prstGeom prst="rect">
            <a:avLst/>
          </a:prstGeom>
          <a:noFill/>
          <a:ln/>
        </p:spPr>
        <p:txBody>
          <a:bodyPr wrap="square" lIns="0" tIns="0" rIns="0" bIns="0" rtlCol="0" anchor="ctr"/>
          <a:lstStyle/>
          <a:p>
            <a:pPr marL="0" indent="0" algn="ctr">
              <a:buNone/>
            </a:pPr>
            <a:r>
              <a:rPr lang="en-US" sz="1800" b="1" dirty="0">
                <a:solidFill>
                  <a:srgbClr val="1F2937"/>
                </a:solidFill>
              </a:rPr>
              <a:t>Decide</a:t>
            </a:r>
            <a:endParaRPr lang="en-US" sz="1800" dirty="0"/>
          </a:p>
        </p:txBody>
      </p:sp>
      <p:sp>
        <p:nvSpPr>
          <p:cNvPr id="14" name="Text 11"/>
          <p:cNvSpPr txBox="1"/>
          <p:nvPr/>
        </p:nvSpPr>
        <p:spPr>
          <a:xfrm>
            <a:off x="2743200" y="2834640"/>
            <a:ext cx="2011680" cy="1188720"/>
          </a:xfrm>
          <a:prstGeom prst="rect">
            <a:avLst/>
          </a:prstGeom>
          <a:noFill/>
          <a:ln/>
        </p:spPr>
        <p:txBody>
          <a:bodyPr wrap="square" lIns="0" tIns="0" rIns="0" bIns="0" rtlCol="0" anchor="t"/>
          <a:lstStyle/>
          <a:p>
            <a:pPr marL="0" indent="0" algn="ctr">
              <a:buNone/>
            </a:pPr>
            <a:r>
              <a:rPr lang="en-US" sz="1300" dirty="0">
                <a:solidFill>
                  <a:srgbClr val="5B6475"/>
                </a:solidFill>
              </a:rPr>
              <a:t>LLM: call calculate_gpa</a:t>
            </a:r>
            <a:endParaRPr lang="en-US" sz="1300" dirty="0"/>
          </a:p>
          <a:p>
            <a:pPr marL="0" indent="0" algn="ctr">
              <a:buNone/>
            </a:pPr>
            <a:r>
              <a:rPr lang="en-US" sz="1300" dirty="0">
                <a:solidFill>
                  <a:srgbClr val="5B6475"/>
                </a:solidFill>
              </a:rPr>
              <a:t>{student_id: "2201010"}</a:t>
            </a:r>
            <a:endParaRPr lang="en-US" sz="1300" dirty="0"/>
          </a:p>
        </p:txBody>
      </p:sp>
      <p:sp>
        <p:nvSpPr>
          <p:cNvPr id="15" name="Shape 12"/>
          <p:cNvSpPr/>
          <p:nvPr/>
        </p:nvSpPr>
        <p:spPr>
          <a:xfrm>
            <a:off x="5715000" y="1554480"/>
            <a:ext cx="640080" cy="640080"/>
          </a:xfrm>
          <a:prstGeom prst="ellipse">
            <a:avLst/>
          </a:prstGeom>
          <a:solidFill>
            <a:srgbClr val="0F8B8D"/>
          </a:solidFill>
          <a:ln w="12700">
            <a:solidFill>
              <a:srgbClr val="0F8B8D"/>
            </a:solidFill>
            <a:prstDash val="solid"/>
          </a:ln>
        </p:spPr>
        <p:txBody>
          <a:bodyPr/>
          <a:lstStyle/>
          <a:p>
            <a:endParaRPr lang="en-VN"/>
          </a:p>
        </p:txBody>
      </p:sp>
      <p:sp>
        <p:nvSpPr>
          <p:cNvPr id="16" name="Text 13"/>
          <p:cNvSpPr txBox="1"/>
          <p:nvPr/>
        </p:nvSpPr>
        <p:spPr>
          <a:xfrm>
            <a:off x="5715000" y="1554480"/>
            <a:ext cx="640080" cy="640080"/>
          </a:xfrm>
          <a:prstGeom prst="rect">
            <a:avLst/>
          </a:prstGeom>
          <a:noFill/>
          <a:ln/>
        </p:spPr>
        <p:txBody>
          <a:bodyPr wrap="square" lIns="0" tIns="0" rIns="0" bIns="0" rtlCol="0" anchor="ctr"/>
          <a:lstStyle/>
          <a:p>
            <a:pPr marL="0" indent="0" algn="ctr">
              <a:buNone/>
            </a:pPr>
            <a:r>
              <a:rPr lang="en-US" sz="1800" b="1" dirty="0">
                <a:solidFill>
                  <a:srgbClr val="FFFFFF"/>
                </a:solidFill>
              </a:rPr>
              <a:t>3</a:t>
            </a:r>
            <a:endParaRPr lang="en-US" sz="1800" dirty="0"/>
          </a:p>
        </p:txBody>
      </p:sp>
      <p:sp>
        <p:nvSpPr>
          <p:cNvPr id="17" name="Shape 14"/>
          <p:cNvSpPr/>
          <p:nvPr/>
        </p:nvSpPr>
        <p:spPr>
          <a:xfrm>
            <a:off x="6446520" y="1874520"/>
            <a:ext cx="1463040" cy="0"/>
          </a:xfrm>
          <a:prstGeom prst="line">
            <a:avLst/>
          </a:prstGeom>
          <a:noFill/>
          <a:ln w="19050">
            <a:solidFill>
              <a:srgbClr val="8A94A6"/>
            </a:solidFill>
            <a:prstDash val="solid"/>
            <a:tailEnd type="triangle"/>
          </a:ln>
        </p:spPr>
        <p:txBody>
          <a:bodyPr/>
          <a:lstStyle/>
          <a:p>
            <a:endParaRPr lang="en-VN"/>
          </a:p>
        </p:txBody>
      </p:sp>
      <p:sp>
        <p:nvSpPr>
          <p:cNvPr id="18" name="Text 15"/>
          <p:cNvSpPr txBox="1"/>
          <p:nvPr/>
        </p:nvSpPr>
        <p:spPr>
          <a:xfrm>
            <a:off x="5029200" y="2377440"/>
            <a:ext cx="2011680" cy="411480"/>
          </a:xfrm>
          <a:prstGeom prst="rect">
            <a:avLst/>
          </a:prstGeom>
          <a:noFill/>
          <a:ln/>
        </p:spPr>
        <p:txBody>
          <a:bodyPr wrap="square" lIns="0" tIns="0" rIns="0" bIns="0" rtlCol="0" anchor="ctr"/>
          <a:lstStyle/>
          <a:p>
            <a:pPr marL="0" indent="0" algn="ctr">
              <a:buNone/>
            </a:pPr>
            <a:r>
              <a:rPr lang="en-US" sz="1800" b="1" dirty="0">
                <a:solidFill>
                  <a:srgbClr val="1F2937"/>
                </a:solidFill>
              </a:rPr>
              <a:t>Execute</a:t>
            </a:r>
            <a:endParaRPr lang="en-US" sz="1800" dirty="0"/>
          </a:p>
        </p:txBody>
      </p:sp>
      <p:sp>
        <p:nvSpPr>
          <p:cNvPr id="19" name="Text 16"/>
          <p:cNvSpPr txBox="1"/>
          <p:nvPr/>
        </p:nvSpPr>
        <p:spPr>
          <a:xfrm>
            <a:off x="5029200" y="2834640"/>
            <a:ext cx="2011680" cy="1188720"/>
          </a:xfrm>
          <a:prstGeom prst="rect">
            <a:avLst/>
          </a:prstGeom>
          <a:noFill/>
          <a:ln/>
        </p:spPr>
        <p:txBody>
          <a:bodyPr wrap="square" lIns="0" tIns="0" rIns="0" bIns="0" rtlCol="0" anchor="t"/>
          <a:lstStyle/>
          <a:p>
            <a:pPr marL="0" indent="0" algn="ctr">
              <a:buNone/>
            </a:pPr>
            <a:r>
              <a:rPr lang="en-US" sz="1300" dirty="0">
                <a:solidFill>
                  <a:srgbClr val="5B6475"/>
                </a:solidFill>
              </a:rPr>
              <a:t>The app runs the function</a:t>
            </a:r>
            <a:endParaRPr lang="en-US" sz="1300" dirty="0"/>
          </a:p>
        </p:txBody>
      </p:sp>
      <p:sp>
        <p:nvSpPr>
          <p:cNvPr id="20" name="Shape 17"/>
          <p:cNvSpPr/>
          <p:nvPr/>
        </p:nvSpPr>
        <p:spPr>
          <a:xfrm>
            <a:off x="8001000" y="1554480"/>
            <a:ext cx="640080" cy="640080"/>
          </a:xfrm>
          <a:prstGeom prst="ellipse">
            <a:avLst/>
          </a:prstGeom>
          <a:solidFill>
            <a:srgbClr val="0F8B8D"/>
          </a:solidFill>
          <a:ln w="12700">
            <a:solidFill>
              <a:srgbClr val="0F8B8D"/>
            </a:solidFill>
            <a:prstDash val="solid"/>
          </a:ln>
        </p:spPr>
        <p:txBody>
          <a:bodyPr/>
          <a:lstStyle/>
          <a:p>
            <a:endParaRPr lang="en-VN"/>
          </a:p>
        </p:txBody>
      </p:sp>
      <p:sp>
        <p:nvSpPr>
          <p:cNvPr id="21" name="Text 18"/>
          <p:cNvSpPr txBox="1"/>
          <p:nvPr/>
        </p:nvSpPr>
        <p:spPr>
          <a:xfrm>
            <a:off x="8001000" y="1554480"/>
            <a:ext cx="640080" cy="640080"/>
          </a:xfrm>
          <a:prstGeom prst="rect">
            <a:avLst/>
          </a:prstGeom>
          <a:noFill/>
          <a:ln/>
        </p:spPr>
        <p:txBody>
          <a:bodyPr wrap="square" lIns="0" tIns="0" rIns="0" bIns="0" rtlCol="0" anchor="ctr"/>
          <a:lstStyle/>
          <a:p>
            <a:pPr marL="0" indent="0" algn="ctr">
              <a:buNone/>
            </a:pPr>
            <a:r>
              <a:rPr lang="en-US" sz="1800" b="1" dirty="0">
                <a:solidFill>
                  <a:srgbClr val="FFFFFF"/>
                </a:solidFill>
              </a:rPr>
              <a:t>4</a:t>
            </a:r>
            <a:endParaRPr lang="en-US" sz="1800" dirty="0"/>
          </a:p>
        </p:txBody>
      </p:sp>
      <p:sp>
        <p:nvSpPr>
          <p:cNvPr id="22" name="Shape 19"/>
          <p:cNvSpPr/>
          <p:nvPr/>
        </p:nvSpPr>
        <p:spPr>
          <a:xfrm>
            <a:off x="8732520" y="1874520"/>
            <a:ext cx="1463040" cy="0"/>
          </a:xfrm>
          <a:prstGeom prst="line">
            <a:avLst/>
          </a:prstGeom>
          <a:noFill/>
          <a:ln w="19050">
            <a:solidFill>
              <a:srgbClr val="8A94A6"/>
            </a:solidFill>
            <a:prstDash val="solid"/>
            <a:tailEnd type="triangle"/>
          </a:ln>
        </p:spPr>
        <p:txBody>
          <a:bodyPr/>
          <a:lstStyle/>
          <a:p>
            <a:endParaRPr lang="en-VN"/>
          </a:p>
        </p:txBody>
      </p:sp>
      <p:sp>
        <p:nvSpPr>
          <p:cNvPr id="23" name="Text 20"/>
          <p:cNvSpPr txBox="1"/>
          <p:nvPr/>
        </p:nvSpPr>
        <p:spPr>
          <a:xfrm>
            <a:off x="7315200" y="2377440"/>
            <a:ext cx="2011680" cy="411480"/>
          </a:xfrm>
          <a:prstGeom prst="rect">
            <a:avLst/>
          </a:prstGeom>
          <a:noFill/>
          <a:ln/>
        </p:spPr>
        <p:txBody>
          <a:bodyPr wrap="square" lIns="0" tIns="0" rIns="0" bIns="0" rtlCol="0" anchor="ctr"/>
          <a:lstStyle/>
          <a:p>
            <a:pPr marL="0" indent="0" algn="ctr">
              <a:buNone/>
            </a:pPr>
            <a:r>
              <a:rPr lang="en-US" sz="1800" b="1" dirty="0">
                <a:solidFill>
                  <a:srgbClr val="1F2937"/>
                </a:solidFill>
              </a:rPr>
              <a:t>Result</a:t>
            </a:r>
            <a:endParaRPr lang="en-US" sz="1800" dirty="0"/>
          </a:p>
        </p:txBody>
      </p:sp>
      <p:sp>
        <p:nvSpPr>
          <p:cNvPr id="24" name="Text 21"/>
          <p:cNvSpPr txBox="1"/>
          <p:nvPr/>
        </p:nvSpPr>
        <p:spPr>
          <a:xfrm>
            <a:off x="7315200" y="2834640"/>
            <a:ext cx="2011680" cy="1188720"/>
          </a:xfrm>
          <a:prstGeom prst="rect">
            <a:avLst/>
          </a:prstGeom>
          <a:noFill/>
          <a:ln/>
        </p:spPr>
        <p:txBody>
          <a:bodyPr wrap="square" lIns="0" tIns="0" rIns="0" bIns="0" rtlCol="0" anchor="t"/>
          <a:lstStyle/>
          <a:p>
            <a:pPr marL="0" indent="0" algn="ctr">
              <a:buNone/>
            </a:pPr>
            <a:r>
              <a:rPr lang="en-US" sz="1300" dirty="0">
                <a:solidFill>
                  <a:srgbClr val="5B6475"/>
                </a:solidFill>
              </a:rPr>
              <a:t>{gpa: 2.06,</a:t>
            </a:r>
            <a:endParaRPr lang="en-US" sz="1300" dirty="0"/>
          </a:p>
          <a:p>
            <a:pPr marL="0" indent="0" algn="ctr">
              <a:buNone/>
            </a:pPr>
            <a:r>
              <a:rPr lang="en-US" sz="1300" dirty="0">
                <a:solidFill>
                  <a:srgbClr val="5B6475"/>
                </a:solidFill>
              </a:rPr>
              <a:t>classification: "Average"}</a:t>
            </a:r>
            <a:endParaRPr lang="en-US" sz="1300" dirty="0"/>
          </a:p>
        </p:txBody>
      </p:sp>
      <p:sp>
        <p:nvSpPr>
          <p:cNvPr id="25" name="Shape 22"/>
          <p:cNvSpPr/>
          <p:nvPr/>
        </p:nvSpPr>
        <p:spPr>
          <a:xfrm>
            <a:off x="10287000" y="1554480"/>
            <a:ext cx="640080" cy="640080"/>
          </a:xfrm>
          <a:prstGeom prst="ellipse">
            <a:avLst/>
          </a:prstGeom>
          <a:solidFill>
            <a:srgbClr val="0F8B8D"/>
          </a:solidFill>
          <a:ln w="12700">
            <a:solidFill>
              <a:srgbClr val="0F8B8D"/>
            </a:solidFill>
            <a:prstDash val="solid"/>
          </a:ln>
        </p:spPr>
        <p:txBody>
          <a:bodyPr/>
          <a:lstStyle/>
          <a:p>
            <a:endParaRPr lang="en-VN"/>
          </a:p>
        </p:txBody>
      </p:sp>
      <p:sp>
        <p:nvSpPr>
          <p:cNvPr id="26" name="Text 23"/>
          <p:cNvSpPr txBox="1"/>
          <p:nvPr/>
        </p:nvSpPr>
        <p:spPr>
          <a:xfrm>
            <a:off x="10287000" y="1554480"/>
            <a:ext cx="640080" cy="640080"/>
          </a:xfrm>
          <a:prstGeom prst="rect">
            <a:avLst/>
          </a:prstGeom>
          <a:noFill/>
          <a:ln/>
        </p:spPr>
        <p:txBody>
          <a:bodyPr wrap="square" lIns="0" tIns="0" rIns="0" bIns="0" rtlCol="0" anchor="ctr"/>
          <a:lstStyle/>
          <a:p>
            <a:pPr marL="0" indent="0" algn="ctr">
              <a:buNone/>
            </a:pPr>
            <a:r>
              <a:rPr lang="en-US" sz="1800" b="1" dirty="0">
                <a:solidFill>
                  <a:srgbClr val="FFFFFF"/>
                </a:solidFill>
              </a:rPr>
              <a:t>5</a:t>
            </a:r>
            <a:endParaRPr lang="en-US" sz="1800" dirty="0"/>
          </a:p>
        </p:txBody>
      </p:sp>
      <p:sp>
        <p:nvSpPr>
          <p:cNvPr id="27" name="Text 24"/>
          <p:cNvSpPr txBox="1"/>
          <p:nvPr/>
        </p:nvSpPr>
        <p:spPr>
          <a:xfrm>
            <a:off x="9601200" y="2377440"/>
            <a:ext cx="2011680" cy="411480"/>
          </a:xfrm>
          <a:prstGeom prst="rect">
            <a:avLst/>
          </a:prstGeom>
          <a:noFill/>
          <a:ln/>
        </p:spPr>
        <p:txBody>
          <a:bodyPr wrap="square" lIns="0" tIns="0" rIns="0" bIns="0" rtlCol="0" anchor="ctr"/>
          <a:lstStyle/>
          <a:p>
            <a:pPr marL="0" indent="0" algn="ctr">
              <a:buNone/>
            </a:pPr>
            <a:r>
              <a:rPr lang="en-US" sz="1800" b="1" dirty="0">
                <a:solidFill>
                  <a:srgbClr val="1F2937"/>
                </a:solidFill>
              </a:rPr>
              <a:t>Answer</a:t>
            </a:r>
            <a:endParaRPr lang="en-US" sz="1800" dirty="0"/>
          </a:p>
        </p:txBody>
      </p:sp>
      <p:sp>
        <p:nvSpPr>
          <p:cNvPr id="28" name="Text 25"/>
          <p:cNvSpPr txBox="1"/>
          <p:nvPr/>
        </p:nvSpPr>
        <p:spPr>
          <a:xfrm>
            <a:off x="9601200" y="2834640"/>
            <a:ext cx="2011680" cy="1188720"/>
          </a:xfrm>
          <a:prstGeom prst="rect">
            <a:avLst/>
          </a:prstGeom>
          <a:noFill/>
          <a:ln/>
        </p:spPr>
        <p:txBody>
          <a:bodyPr wrap="square" lIns="0" tIns="0" rIns="0" bIns="0" rtlCol="0" anchor="t"/>
          <a:lstStyle/>
          <a:p>
            <a:pPr marL="0" indent="0" algn="ctr">
              <a:buNone/>
            </a:pPr>
            <a:r>
              <a:rPr lang="en-US" sz="1300" dirty="0">
                <a:solidFill>
                  <a:srgbClr val="5B6475"/>
                </a:solidFill>
              </a:rPr>
              <a:t>"GPA is 2.06 — Average"</a:t>
            </a:r>
            <a:endParaRPr lang="en-US" sz="1300" dirty="0"/>
          </a:p>
        </p:txBody>
      </p:sp>
      <p:sp>
        <p:nvSpPr>
          <p:cNvPr id="29" name="Shape 26"/>
          <p:cNvSpPr/>
          <p:nvPr/>
        </p:nvSpPr>
        <p:spPr>
          <a:xfrm>
            <a:off x="457200" y="4480560"/>
            <a:ext cx="11247120" cy="1280160"/>
          </a:xfrm>
          <a:prstGeom prst="roundRect">
            <a:avLst>
              <a:gd name="adj" fmla="val 5714"/>
            </a:avLst>
          </a:prstGeom>
          <a:solidFill>
            <a:srgbClr val="EEF2F6"/>
          </a:solidFill>
          <a:ln w="12700">
            <a:solidFill>
              <a:srgbClr val="EEF2F6"/>
            </a:solidFill>
            <a:prstDash val="solid"/>
          </a:ln>
        </p:spPr>
        <p:txBody>
          <a:bodyPr/>
          <a:lstStyle/>
          <a:p>
            <a:endParaRPr lang="en-VN"/>
          </a:p>
        </p:txBody>
      </p:sp>
      <p:sp>
        <p:nvSpPr>
          <p:cNvPr id="30" name="Text 27"/>
          <p:cNvSpPr txBox="1"/>
          <p:nvPr/>
        </p:nvSpPr>
        <p:spPr>
          <a:xfrm>
            <a:off x="731520" y="4480560"/>
            <a:ext cx="10698480" cy="1280160"/>
          </a:xfrm>
          <a:prstGeom prst="rect">
            <a:avLst/>
          </a:prstGeom>
          <a:noFill/>
          <a:ln/>
        </p:spPr>
        <p:txBody>
          <a:bodyPr wrap="square" lIns="0" tIns="0" rIns="0" bIns="0" rtlCol="0" anchor="ctr"/>
          <a:lstStyle/>
          <a:p>
            <a:pPr marL="0" indent="0">
              <a:buNone/>
            </a:pPr>
            <a:r>
              <a:rPr lang="en-US" sz="1800" b="1" dirty="0">
                <a:solidFill>
                  <a:srgbClr val="0F8B8D"/>
                </a:solidFill>
              </a:rPr>
              <a:t>Security rule: </a:t>
            </a:r>
            <a:r>
              <a:rPr lang="en-US" sz="1800" dirty="0">
                <a:solidFill>
                  <a:srgbClr val="1F2937"/>
                </a:solidFill>
              </a:rPr>
              <a:t>the LLM only </a:t>
            </a:r>
            <a:r>
              <a:rPr lang="en-US" sz="1800" b="1" dirty="0">
                <a:solidFill>
                  <a:srgbClr val="1F2937"/>
                </a:solidFill>
              </a:rPr>
              <a:t>requests</a:t>
            </a:r>
            <a:r>
              <a:rPr lang="en-US" sz="1800" dirty="0">
                <a:solidFill>
                  <a:srgbClr val="1F2937"/>
                </a:solidFill>
              </a:rPr>
              <a:t> a tool call. The application (the host) decides whether to run it — and can ask the user first.</a:t>
            </a:r>
            <a:endParaRPr lang="en-US" sz="1800" dirty="0"/>
          </a:p>
        </p:txBody>
      </p:sp>
      <p:sp>
        <p:nvSpPr>
          <p:cNvPr id="4"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marL="0" indent="0">
              <a:buNone/>
            </a:pPr>
            <a:r>
              <a:rPr lang="en-US" sz="1200" b="1" kern="0" spc="200" dirty="0">
                <a:solidFill>
                  <a:srgbClr val="0F8B8D"/>
                </a:solidFill>
              </a:rPr>
              <a:t>BACKGROUND · WHY MCP</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marL="0" indent="0">
              <a:buNone/>
            </a:pPr>
            <a:r>
              <a:rPr lang="en-US" sz="3000" b="1" dirty="0">
                <a:solidFill>
                  <a:srgbClr val="1F2937"/>
                </a:solidFill>
              </a:rPr>
              <a:t>The problem: M × N integrations</a:t>
            </a:r>
            <a:endParaRPr lang="en-US" sz="3000" dirty="0"/>
          </a:p>
        </p:txBody>
      </p:sp>
      <p:sp>
        <p:nvSpPr>
          <p:cNvPr id="5" name="Shape 2"/>
          <p:cNvSpPr/>
          <p:nvPr/>
        </p:nvSpPr>
        <p:spPr>
          <a:xfrm>
            <a:off x="548640" y="1737360"/>
            <a:ext cx="2377440" cy="731520"/>
          </a:xfrm>
          <a:prstGeom prst="roundRect">
            <a:avLst>
              <a:gd name="adj" fmla="val 12500"/>
            </a:avLst>
          </a:prstGeom>
          <a:solidFill>
            <a:srgbClr val="1F2A44"/>
          </a:solidFill>
          <a:ln w="12700">
            <a:solidFill>
              <a:srgbClr val="1F2A44"/>
            </a:solidFill>
            <a:prstDash val="solid"/>
          </a:ln>
        </p:spPr>
        <p:txBody>
          <a:bodyPr/>
          <a:lstStyle/>
          <a:p>
            <a:endParaRPr lang="en-VN"/>
          </a:p>
        </p:txBody>
      </p:sp>
      <p:sp>
        <p:nvSpPr>
          <p:cNvPr id="6" name="Text 3"/>
          <p:cNvSpPr txBox="1"/>
          <p:nvPr/>
        </p:nvSpPr>
        <p:spPr>
          <a:xfrm>
            <a:off x="548640" y="1737360"/>
            <a:ext cx="2377440" cy="731520"/>
          </a:xfrm>
          <a:prstGeom prst="rect">
            <a:avLst/>
          </a:prstGeom>
          <a:noFill/>
          <a:ln/>
        </p:spPr>
        <p:txBody>
          <a:bodyPr wrap="square" lIns="0" tIns="0" rIns="0" bIns="0" rtlCol="0" anchor="ctr"/>
          <a:lstStyle/>
          <a:p>
            <a:pPr marL="0" indent="0" algn="ctr">
              <a:buNone/>
            </a:pPr>
            <a:r>
              <a:rPr lang="en-US" sz="1500" b="1" dirty="0">
                <a:solidFill>
                  <a:srgbClr val="FFFFFF"/>
                </a:solidFill>
              </a:rPr>
              <a:t>Claude Desktop</a:t>
            </a:r>
            <a:endParaRPr lang="en-US" sz="1500" dirty="0"/>
          </a:p>
        </p:txBody>
      </p:sp>
      <p:sp>
        <p:nvSpPr>
          <p:cNvPr id="7" name="Shape 4"/>
          <p:cNvSpPr/>
          <p:nvPr/>
        </p:nvSpPr>
        <p:spPr>
          <a:xfrm>
            <a:off x="548640" y="3108960"/>
            <a:ext cx="2377440" cy="731520"/>
          </a:xfrm>
          <a:prstGeom prst="roundRect">
            <a:avLst>
              <a:gd name="adj" fmla="val 12500"/>
            </a:avLst>
          </a:prstGeom>
          <a:solidFill>
            <a:srgbClr val="1F2A44"/>
          </a:solidFill>
          <a:ln w="12700">
            <a:solidFill>
              <a:srgbClr val="1F2A44"/>
            </a:solidFill>
            <a:prstDash val="solid"/>
          </a:ln>
        </p:spPr>
        <p:txBody>
          <a:bodyPr/>
          <a:lstStyle/>
          <a:p>
            <a:endParaRPr lang="en-VN"/>
          </a:p>
        </p:txBody>
      </p:sp>
      <p:sp>
        <p:nvSpPr>
          <p:cNvPr id="8" name="Text 5"/>
          <p:cNvSpPr txBox="1"/>
          <p:nvPr/>
        </p:nvSpPr>
        <p:spPr>
          <a:xfrm>
            <a:off x="548640" y="3108960"/>
            <a:ext cx="2377440" cy="731520"/>
          </a:xfrm>
          <a:prstGeom prst="rect">
            <a:avLst/>
          </a:prstGeom>
          <a:noFill/>
          <a:ln/>
        </p:spPr>
        <p:txBody>
          <a:bodyPr wrap="square" lIns="0" tIns="0" rIns="0" bIns="0" rtlCol="0" anchor="ctr"/>
          <a:lstStyle/>
          <a:p>
            <a:pPr marL="0" indent="0" algn="ctr">
              <a:buNone/>
            </a:pPr>
            <a:r>
              <a:rPr lang="en-US" sz="1500" b="1" dirty="0">
                <a:solidFill>
                  <a:srgbClr val="FFFFFF"/>
                </a:solidFill>
              </a:rPr>
              <a:t>VS Code Copilot</a:t>
            </a:r>
            <a:endParaRPr lang="en-US" sz="1500" dirty="0"/>
          </a:p>
        </p:txBody>
      </p:sp>
      <p:sp>
        <p:nvSpPr>
          <p:cNvPr id="9" name="Shape 6"/>
          <p:cNvSpPr/>
          <p:nvPr/>
        </p:nvSpPr>
        <p:spPr>
          <a:xfrm>
            <a:off x="548640" y="4480560"/>
            <a:ext cx="2377440" cy="731520"/>
          </a:xfrm>
          <a:prstGeom prst="roundRect">
            <a:avLst>
              <a:gd name="adj" fmla="val 12500"/>
            </a:avLst>
          </a:prstGeom>
          <a:solidFill>
            <a:srgbClr val="1F2A44"/>
          </a:solidFill>
          <a:ln w="12700">
            <a:solidFill>
              <a:srgbClr val="1F2A44"/>
            </a:solidFill>
            <a:prstDash val="solid"/>
          </a:ln>
        </p:spPr>
        <p:txBody>
          <a:bodyPr/>
          <a:lstStyle/>
          <a:p>
            <a:endParaRPr lang="en-VN"/>
          </a:p>
        </p:txBody>
      </p:sp>
      <p:sp>
        <p:nvSpPr>
          <p:cNvPr id="10" name="Text 7"/>
          <p:cNvSpPr txBox="1"/>
          <p:nvPr/>
        </p:nvSpPr>
        <p:spPr>
          <a:xfrm>
            <a:off x="548640" y="4480560"/>
            <a:ext cx="2377440" cy="731520"/>
          </a:xfrm>
          <a:prstGeom prst="rect">
            <a:avLst/>
          </a:prstGeom>
          <a:noFill/>
          <a:ln/>
        </p:spPr>
        <p:txBody>
          <a:bodyPr wrap="square" lIns="0" tIns="0" rIns="0" bIns="0" rtlCol="0" anchor="ctr"/>
          <a:lstStyle/>
          <a:p>
            <a:pPr marL="0" indent="0" algn="ctr">
              <a:buNone/>
            </a:pPr>
            <a:r>
              <a:rPr lang="en-US" sz="1500" b="1" dirty="0">
                <a:solidFill>
                  <a:srgbClr val="FFFFFF"/>
                </a:solidFill>
              </a:rPr>
              <a:t>Our chat app</a:t>
            </a:r>
            <a:endParaRPr lang="en-US" sz="1500" dirty="0"/>
          </a:p>
        </p:txBody>
      </p:sp>
      <p:sp>
        <p:nvSpPr>
          <p:cNvPr id="11" name="Shape 8"/>
          <p:cNvSpPr/>
          <p:nvPr/>
        </p:nvSpPr>
        <p:spPr>
          <a:xfrm>
            <a:off x="5120640" y="1737360"/>
            <a:ext cx="2194560" cy="731520"/>
          </a:xfrm>
          <a:prstGeom prst="roundRect">
            <a:avLst>
              <a:gd name="adj" fmla="val 12500"/>
            </a:avLst>
          </a:prstGeom>
          <a:solidFill>
            <a:srgbClr val="0F8B8D"/>
          </a:solidFill>
          <a:ln w="12700">
            <a:solidFill>
              <a:srgbClr val="0F8B8D"/>
            </a:solidFill>
            <a:prstDash val="solid"/>
          </a:ln>
        </p:spPr>
        <p:txBody>
          <a:bodyPr/>
          <a:lstStyle/>
          <a:p>
            <a:endParaRPr lang="en-VN"/>
          </a:p>
        </p:txBody>
      </p:sp>
      <p:sp>
        <p:nvSpPr>
          <p:cNvPr id="12" name="Text 9"/>
          <p:cNvSpPr txBox="1"/>
          <p:nvPr/>
        </p:nvSpPr>
        <p:spPr>
          <a:xfrm>
            <a:off x="5120640" y="1737360"/>
            <a:ext cx="2194560" cy="731520"/>
          </a:xfrm>
          <a:prstGeom prst="rect">
            <a:avLst/>
          </a:prstGeom>
          <a:noFill/>
          <a:ln/>
        </p:spPr>
        <p:txBody>
          <a:bodyPr wrap="square" lIns="0" tIns="0" rIns="0" bIns="0" rtlCol="0" anchor="ctr"/>
          <a:lstStyle/>
          <a:p>
            <a:pPr marL="0" indent="0" algn="ctr">
              <a:buNone/>
            </a:pPr>
            <a:r>
              <a:rPr lang="en-US" sz="1500" b="1" dirty="0">
                <a:solidFill>
                  <a:srgbClr val="FFFFFF"/>
                </a:solidFill>
              </a:rPr>
              <a:t>Grades DB</a:t>
            </a:r>
            <a:endParaRPr lang="en-US" sz="1500" dirty="0"/>
          </a:p>
        </p:txBody>
      </p:sp>
      <p:sp>
        <p:nvSpPr>
          <p:cNvPr id="13" name="Shape 10"/>
          <p:cNvSpPr/>
          <p:nvPr/>
        </p:nvSpPr>
        <p:spPr>
          <a:xfrm>
            <a:off x="5120640" y="2880360"/>
            <a:ext cx="2194560" cy="731520"/>
          </a:xfrm>
          <a:prstGeom prst="roundRect">
            <a:avLst>
              <a:gd name="adj" fmla="val 12500"/>
            </a:avLst>
          </a:prstGeom>
          <a:solidFill>
            <a:srgbClr val="0F8B8D"/>
          </a:solidFill>
          <a:ln w="12700">
            <a:solidFill>
              <a:srgbClr val="0F8B8D"/>
            </a:solidFill>
            <a:prstDash val="solid"/>
          </a:ln>
        </p:spPr>
        <p:txBody>
          <a:bodyPr/>
          <a:lstStyle/>
          <a:p>
            <a:endParaRPr lang="en-VN"/>
          </a:p>
        </p:txBody>
      </p:sp>
      <p:sp>
        <p:nvSpPr>
          <p:cNvPr id="14" name="Text 11"/>
          <p:cNvSpPr txBox="1"/>
          <p:nvPr/>
        </p:nvSpPr>
        <p:spPr>
          <a:xfrm>
            <a:off x="5120640" y="2880360"/>
            <a:ext cx="2194560" cy="731520"/>
          </a:xfrm>
          <a:prstGeom prst="rect">
            <a:avLst/>
          </a:prstGeom>
          <a:noFill/>
          <a:ln/>
        </p:spPr>
        <p:txBody>
          <a:bodyPr wrap="square" lIns="0" tIns="0" rIns="0" bIns="0" rtlCol="0" anchor="ctr"/>
          <a:lstStyle/>
          <a:p>
            <a:pPr marL="0" indent="0" algn="ctr">
              <a:buNone/>
            </a:pPr>
            <a:r>
              <a:rPr lang="en-US" sz="1500" b="1" dirty="0">
                <a:solidFill>
                  <a:srgbClr val="FFFFFF"/>
                </a:solidFill>
              </a:rPr>
              <a:t>Google Drive</a:t>
            </a:r>
            <a:endParaRPr lang="en-US" sz="1500" dirty="0"/>
          </a:p>
        </p:txBody>
      </p:sp>
      <p:sp>
        <p:nvSpPr>
          <p:cNvPr id="15" name="Shape 12"/>
          <p:cNvSpPr/>
          <p:nvPr/>
        </p:nvSpPr>
        <p:spPr>
          <a:xfrm>
            <a:off x="5120640" y="4023360"/>
            <a:ext cx="2194560" cy="731520"/>
          </a:xfrm>
          <a:prstGeom prst="roundRect">
            <a:avLst>
              <a:gd name="adj" fmla="val 12500"/>
            </a:avLst>
          </a:prstGeom>
          <a:solidFill>
            <a:srgbClr val="0F8B8D"/>
          </a:solidFill>
          <a:ln w="12700">
            <a:solidFill>
              <a:srgbClr val="0F8B8D"/>
            </a:solidFill>
            <a:prstDash val="solid"/>
          </a:ln>
        </p:spPr>
        <p:txBody>
          <a:bodyPr/>
          <a:lstStyle/>
          <a:p>
            <a:endParaRPr lang="en-VN"/>
          </a:p>
        </p:txBody>
      </p:sp>
      <p:sp>
        <p:nvSpPr>
          <p:cNvPr id="16" name="Text 13"/>
          <p:cNvSpPr txBox="1"/>
          <p:nvPr/>
        </p:nvSpPr>
        <p:spPr>
          <a:xfrm>
            <a:off x="5120640" y="4023360"/>
            <a:ext cx="2194560" cy="731520"/>
          </a:xfrm>
          <a:prstGeom prst="rect">
            <a:avLst/>
          </a:prstGeom>
          <a:noFill/>
          <a:ln/>
        </p:spPr>
        <p:txBody>
          <a:bodyPr wrap="square" lIns="0" tIns="0" rIns="0" bIns="0" rtlCol="0" anchor="ctr"/>
          <a:lstStyle/>
          <a:p>
            <a:pPr marL="0" indent="0" algn="ctr">
              <a:buNone/>
            </a:pPr>
            <a:r>
              <a:rPr lang="en-US" sz="1500" b="1" dirty="0">
                <a:solidFill>
                  <a:srgbClr val="FFFFFF"/>
                </a:solidFill>
              </a:rPr>
              <a:t>GitHub</a:t>
            </a:r>
            <a:endParaRPr lang="en-US" sz="1500" dirty="0"/>
          </a:p>
        </p:txBody>
      </p:sp>
      <p:sp>
        <p:nvSpPr>
          <p:cNvPr id="17" name="Shape 14"/>
          <p:cNvSpPr/>
          <p:nvPr/>
        </p:nvSpPr>
        <p:spPr>
          <a:xfrm>
            <a:off x="5120640" y="5166360"/>
            <a:ext cx="2194560" cy="731520"/>
          </a:xfrm>
          <a:prstGeom prst="roundRect">
            <a:avLst>
              <a:gd name="adj" fmla="val 12500"/>
            </a:avLst>
          </a:prstGeom>
          <a:solidFill>
            <a:srgbClr val="0F8B8D"/>
          </a:solidFill>
          <a:ln w="12700">
            <a:solidFill>
              <a:srgbClr val="0F8B8D"/>
            </a:solidFill>
            <a:prstDash val="solid"/>
          </a:ln>
        </p:spPr>
        <p:txBody>
          <a:bodyPr/>
          <a:lstStyle/>
          <a:p>
            <a:endParaRPr lang="en-VN"/>
          </a:p>
        </p:txBody>
      </p:sp>
      <p:sp>
        <p:nvSpPr>
          <p:cNvPr id="18" name="Text 15"/>
          <p:cNvSpPr txBox="1"/>
          <p:nvPr/>
        </p:nvSpPr>
        <p:spPr>
          <a:xfrm>
            <a:off x="5120640" y="5166360"/>
            <a:ext cx="2194560" cy="731520"/>
          </a:xfrm>
          <a:prstGeom prst="rect">
            <a:avLst/>
          </a:prstGeom>
          <a:noFill/>
          <a:ln/>
        </p:spPr>
        <p:txBody>
          <a:bodyPr wrap="square" lIns="0" tIns="0" rIns="0" bIns="0" rtlCol="0" anchor="ctr"/>
          <a:lstStyle/>
          <a:p>
            <a:pPr marL="0" indent="0" algn="ctr">
              <a:buNone/>
            </a:pPr>
            <a:r>
              <a:rPr lang="en-US" sz="1500" b="1" dirty="0">
                <a:solidFill>
                  <a:srgbClr val="FFFFFF"/>
                </a:solidFill>
              </a:rPr>
              <a:t>Cloud API</a:t>
            </a:r>
            <a:endParaRPr lang="en-US" sz="1500" dirty="0"/>
          </a:p>
        </p:txBody>
      </p:sp>
      <p:sp>
        <p:nvSpPr>
          <p:cNvPr id="19" name="Shape 16"/>
          <p:cNvSpPr/>
          <p:nvPr/>
        </p:nvSpPr>
        <p:spPr>
          <a:xfrm>
            <a:off x="2926080" y="2103120"/>
            <a:ext cx="2194560" cy="0"/>
          </a:xfrm>
          <a:prstGeom prst="line">
            <a:avLst/>
          </a:prstGeom>
          <a:noFill/>
          <a:ln w="19050">
            <a:solidFill>
              <a:srgbClr val="8A94A6"/>
            </a:solidFill>
            <a:prstDash val="solid"/>
          </a:ln>
        </p:spPr>
        <p:txBody>
          <a:bodyPr/>
          <a:lstStyle/>
          <a:p>
            <a:endParaRPr lang="en-VN"/>
          </a:p>
        </p:txBody>
      </p:sp>
      <p:sp>
        <p:nvSpPr>
          <p:cNvPr id="20" name="Shape 17"/>
          <p:cNvSpPr/>
          <p:nvPr/>
        </p:nvSpPr>
        <p:spPr>
          <a:xfrm>
            <a:off x="2926080" y="2103120"/>
            <a:ext cx="2194560" cy="1143000"/>
          </a:xfrm>
          <a:prstGeom prst="line">
            <a:avLst/>
          </a:prstGeom>
          <a:noFill/>
          <a:ln w="19050">
            <a:solidFill>
              <a:srgbClr val="8A94A6"/>
            </a:solidFill>
            <a:prstDash val="solid"/>
          </a:ln>
        </p:spPr>
        <p:txBody>
          <a:bodyPr/>
          <a:lstStyle/>
          <a:p>
            <a:endParaRPr lang="en-VN"/>
          </a:p>
        </p:txBody>
      </p:sp>
      <p:sp>
        <p:nvSpPr>
          <p:cNvPr id="21" name="Shape 18"/>
          <p:cNvSpPr/>
          <p:nvPr/>
        </p:nvSpPr>
        <p:spPr>
          <a:xfrm>
            <a:off x="2926080" y="2103120"/>
            <a:ext cx="2194560" cy="2286000"/>
          </a:xfrm>
          <a:prstGeom prst="line">
            <a:avLst/>
          </a:prstGeom>
          <a:noFill/>
          <a:ln w="19050">
            <a:solidFill>
              <a:srgbClr val="8A94A6"/>
            </a:solidFill>
            <a:prstDash val="solid"/>
          </a:ln>
        </p:spPr>
        <p:txBody>
          <a:bodyPr/>
          <a:lstStyle/>
          <a:p>
            <a:endParaRPr lang="en-VN"/>
          </a:p>
        </p:txBody>
      </p:sp>
      <p:sp>
        <p:nvSpPr>
          <p:cNvPr id="22" name="Shape 19"/>
          <p:cNvSpPr/>
          <p:nvPr/>
        </p:nvSpPr>
        <p:spPr>
          <a:xfrm>
            <a:off x="2926080" y="2103120"/>
            <a:ext cx="2194560" cy="3429000"/>
          </a:xfrm>
          <a:prstGeom prst="line">
            <a:avLst/>
          </a:prstGeom>
          <a:noFill/>
          <a:ln w="19050">
            <a:solidFill>
              <a:srgbClr val="8A94A6"/>
            </a:solidFill>
            <a:prstDash val="solid"/>
          </a:ln>
        </p:spPr>
        <p:txBody>
          <a:bodyPr/>
          <a:lstStyle/>
          <a:p>
            <a:endParaRPr lang="en-VN"/>
          </a:p>
        </p:txBody>
      </p:sp>
      <p:sp>
        <p:nvSpPr>
          <p:cNvPr id="23" name="Shape 20"/>
          <p:cNvSpPr/>
          <p:nvPr/>
        </p:nvSpPr>
        <p:spPr>
          <a:xfrm flipV="1">
            <a:off x="2926080" y="2103120"/>
            <a:ext cx="2194560" cy="1371600"/>
          </a:xfrm>
          <a:prstGeom prst="line">
            <a:avLst/>
          </a:prstGeom>
          <a:noFill/>
          <a:ln w="19050">
            <a:solidFill>
              <a:srgbClr val="8A94A6"/>
            </a:solidFill>
            <a:prstDash val="solid"/>
          </a:ln>
        </p:spPr>
        <p:txBody>
          <a:bodyPr/>
          <a:lstStyle/>
          <a:p>
            <a:endParaRPr lang="en-VN"/>
          </a:p>
        </p:txBody>
      </p:sp>
      <p:sp>
        <p:nvSpPr>
          <p:cNvPr id="24" name="Shape 21"/>
          <p:cNvSpPr/>
          <p:nvPr/>
        </p:nvSpPr>
        <p:spPr>
          <a:xfrm flipV="1">
            <a:off x="2926080" y="3246120"/>
            <a:ext cx="2194560" cy="228600"/>
          </a:xfrm>
          <a:prstGeom prst="line">
            <a:avLst/>
          </a:prstGeom>
          <a:noFill/>
          <a:ln w="19050">
            <a:solidFill>
              <a:srgbClr val="8A94A6"/>
            </a:solidFill>
            <a:prstDash val="solid"/>
          </a:ln>
        </p:spPr>
        <p:txBody>
          <a:bodyPr/>
          <a:lstStyle/>
          <a:p>
            <a:endParaRPr lang="en-VN"/>
          </a:p>
        </p:txBody>
      </p:sp>
      <p:sp>
        <p:nvSpPr>
          <p:cNvPr id="25" name="Shape 22"/>
          <p:cNvSpPr/>
          <p:nvPr/>
        </p:nvSpPr>
        <p:spPr>
          <a:xfrm>
            <a:off x="2926080" y="3474720"/>
            <a:ext cx="2194560" cy="914400"/>
          </a:xfrm>
          <a:prstGeom prst="line">
            <a:avLst/>
          </a:prstGeom>
          <a:noFill/>
          <a:ln w="19050">
            <a:solidFill>
              <a:srgbClr val="8A94A6"/>
            </a:solidFill>
            <a:prstDash val="solid"/>
          </a:ln>
        </p:spPr>
        <p:txBody>
          <a:bodyPr/>
          <a:lstStyle/>
          <a:p>
            <a:endParaRPr lang="en-VN"/>
          </a:p>
        </p:txBody>
      </p:sp>
      <p:sp>
        <p:nvSpPr>
          <p:cNvPr id="26" name="Shape 23"/>
          <p:cNvSpPr/>
          <p:nvPr/>
        </p:nvSpPr>
        <p:spPr>
          <a:xfrm>
            <a:off x="2926080" y="3474720"/>
            <a:ext cx="2194560" cy="2057400"/>
          </a:xfrm>
          <a:prstGeom prst="line">
            <a:avLst/>
          </a:prstGeom>
          <a:noFill/>
          <a:ln w="19050">
            <a:solidFill>
              <a:srgbClr val="8A94A6"/>
            </a:solidFill>
            <a:prstDash val="solid"/>
          </a:ln>
        </p:spPr>
        <p:txBody>
          <a:bodyPr/>
          <a:lstStyle/>
          <a:p>
            <a:endParaRPr lang="en-VN"/>
          </a:p>
        </p:txBody>
      </p:sp>
      <p:sp>
        <p:nvSpPr>
          <p:cNvPr id="27" name="Shape 24"/>
          <p:cNvSpPr/>
          <p:nvPr/>
        </p:nvSpPr>
        <p:spPr>
          <a:xfrm flipV="1">
            <a:off x="2926080" y="2103120"/>
            <a:ext cx="2194560" cy="2743200"/>
          </a:xfrm>
          <a:prstGeom prst="line">
            <a:avLst/>
          </a:prstGeom>
          <a:noFill/>
          <a:ln w="19050">
            <a:solidFill>
              <a:srgbClr val="8A94A6"/>
            </a:solidFill>
            <a:prstDash val="solid"/>
          </a:ln>
        </p:spPr>
        <p:txBody>
          <a:bodyPr/>
          <a:lstStyle/>
          <a:p>
            <a:endParaRPr lang="en-VN"/>
          </a:p>
        </p:txBody>
      </p:sp>
      <p:sp>
        <p:nvSpPr>
          <p:cNvPr id="28" name="Shape 25"/>
          <p:cNvSpPr/>
          <p:nvPr/>
        </p:nvSpPr>
        <p:spPr>
          <a:xfrm flipV="1">
            <a:off x="2926080" y="3246120"/>
            <a:ext cx="2194560" cy="1600200"/>
          </a:xfrm>
          <a:prstGeom prst="line">
            <a:avLst/>
          </a:prstGeom>
          <a:noFill/>
          <a:ln w="19050">
            <a:solidFill>
              <a:srgbClr val="8A94A6"/>
            </a:solidFill>
            <a:prstDash val="solid"/>
          </a:ln>
        </p:spPr>
        <p:txBody>
          <a:bodyPr/>
          <a:lstStyle/>
          <a:p>
            <a:endParaRPr lang="en-VN"/>
          </a:p>
        </p:txBody>
      </p:sp>
      <p:sp>
        <p:nvSpPr>
          <p:cNvPr id="29" name="Shape 26"/>
          <p:cNvSpPr/>
          <p:nvPr/>
        </p:nvSpPr>
        <p:spPr>
          <a:xfrm flipV="1">
            <a:off x="2926080" y="4389120"/>
            <a:ext cx="2194560" cy="457200"/>
          </a:xfrm>
          <a:prstGeom prst="line">
            <a:avLst/>
          </a:prstGeom>
          <a:noFill/>
          <a:ln w="19050">
            <a:solidFill>
              <a:srgbClr val="8A94A6"/>
            </a:solidFill>
            <a:prstDash val="solid"/>
          </a:ln>
        </p:spPr>
        <p:txBody>
          <a:bodyPr/>
          <a:lstStyle/>
          <a:p>
            <a:endParaRPr lang="en-VN"/>
          </a:p>
        </p:txBody>
      </p:sp>
      <p:sp>
        <p:nvSpPr>
          <p:cNvPr id="30" name="Shape 27"/>
          <p:cNvSpPr/>
          <p:nvPr/>
        </p:nvSpPr>
        <p:spPr>
          <a:xfrm>
            <a:off x="2926080" y="4846320"/>
            <a:ext cx="2194560" cy="685800"/>
          </a:xfrm>
          <a:prstGeom prst="line">
            <a:avLst/>
          </a:prstGeom>
          <a:noFill/>
          <a:ln w="19050">
            <a:solidFill>
              <a:srgbClr val="8A94A6"/>
            </a:solidFill>
            <a:prstDash val="solid"/>
          </a:ln>
        </p:spPr>
        <p:txBody>
          <a:bodyPr/>
          <a:lstStyle/>
          <a:p>
            <a:endParaRPr lang="en-VN"/>
          </a:p>
        </p:txBody>
      </p:sp>
      <p:sp>
        <p:nvSpPr>
          <p:cNvPr id="31" name="Text 28"/>
          <p:cNvSpPr txBox="1"/>
          <p:nvPr/>
        </p:nvSpPr>
        <p:spPr>
          <a:xfrm>
            <a:off x="7955280" y="2011680"/>
            <a:ext cx="3749040" cy="1097280"/>
          </a:xfrm>
          <a:prstGeom prst="rect">
            <a:avLst/>
          </a:prstGeom>
          <a:noFill/>
          <a:ln/>
        </p:spPr>
        <p:txBody>
          <a:bodyPr wrap="square" lIns="0" tIns="0" rIns="0" bIns="0" rtlCol="0" anchor="ctr"/>
          <a:lstStyle/>
          <a:p>
            <a:pPr marL="0" indent="0">
              <a:buNone/>
            </a:pPr>
            <a:r>
              <a:rPr lang="en-US" sz="5400" b="1" dirty="0">
                <a:solidFill>
                  <a:srgbClr val="C53030"/>
                </a:solidFill>
              </a:rPr>
              <a:t>3 × 4 = 12</a:t>
            </a:r>
            <a:endParaRPr lang="en-US" sz="5400" dirty="0"/>
          </a:p>
        </p:txBody>
      </p:sp>
      <p:sp>
        <p:nvSpPr>
          <p:cNvPr id="32" name="Text 29"/>
          <p:cNvSpPr txBox="1"/>
          <p:nvPr/>
        </p:nvSpPr>
        <p:spPr>
          <a:xfrm>
            <a:off x="7955280" y="3200400"/>
            <a:ext cx="3749040" cy="1645920"/>
          </a:xfrm>
          <a:prstGeom prst="rect">
            <a:avLst/>
          </a:prstGeom>
          <a:noFill/>
          <a:ln/>
        </p:spPr>
        <p:txBody>
          <a:bodyPr wrap="square" lIns="0" tIns="0" rIns="0" bIns="0" rtlCol="0" anchor="t"/>
          <a:lstStyle/>
          <a:p>
            <a:pPr marL="0" indent="0">
              <a:buNone/>
            </a:pPr>
            <a:r>
              <a:rPr lang="en-US" sz="1800" dirty="0">
                <a:solidFill>
                  <a:srgbClr val="1F2937"/>
                </a:solidFill>
              </a:rPr>
              <a:t>custom connectors — every app re-implements every source, and every change breaks them again</a:t>
            </a:r>
            <a:endParaRPr lang="en-US" sz="1800" dirty="0"/>
          </a:p>
        </p:txBody>
      </p:sp>
      <p:sp>
        <p:nvSpPr>
          <p:cNvPr id="4"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marL="0" indent="0">
              <a:buNone/>
            </a:pPr>
            <a:r>
              <a:rPr lang="en-US" sz="1200" b="1" kern="0" spc="200" dirty="0">
                <a:solidFill>
                  <a:srgbClr val="0F8B8D"/>
                </a:solidFill>
              </a:rPr>
              <a:t>BACKGROUND · WHY MCP</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marL="0" indent="0">
              <a:buNone/>
            </a:pPr>
            <a:r>
              <a:rPr lang="en-US" sz="3000" b="1" dirty="0">
                <a:solidFill>
                  <a:srgbClr val="1F2937"/>
                </a:solidFill>
              </a:rPr>
              <a:t>MCP: one standard, M + N</a:t>
            </a:r>
            <a:endParaRPr lang="en-US" sz="3000" dirty="0"/>
          </a:p>
        </p:txBody>
      </p:sp>
      <p:sp>
        <p:nvSpPr>
          <p:cNvPr id="5" name="Shape 2"/>
          <p:cNvSpPr/>
          <p:nvPr/>
        </p:nvSpPr>
        <p:spPr>
          <a:xfrm>
            <a:off x="548640" y="1737360"/>
            <a:ext cx="2377440" cy="731520"/>
          </a:xfrm>
          <a:prstGeom prst="roundRect">
            <a:avLst>
              <a:gd name="adj" fmla="val 12500"/>
            </a:avLst>
          </a:prstGeom>
          <a:solidFill>
            <a:srgbClr val="1F2A44"/>
          </a:solidFill>
          <a:ln w="12700">
            <a:solidFill>
              <a:srgbClr val="1F2A44"/>
            </a:solidFill>
            <a:prstDash val="solid"/>
          </a:ln>
        </p:spPr>
        <p:txBody>
          <a:bodyPr/>
          <a:lstStyle/>
          <a:p>
            <a:endParaRPr lang="en-VN"/>
          </a:p>
        </p:txBody>
      </p:sp>
      <p:sp>
        <p:nvSpPr>
          <p:cNvPr id="6" name="Text 3"/>
          <p:cNvSpPr txBox="1"/>
          <p:nvPr/>
        </p:nvSpPr>
        <p:spPr>
          <a:xfrm>
            <a:off x="548640" y="1737360"/>
            <a:ext cx="2377440" cy="731520"/>
          </a:xfrm>
          <a:prstGeom prst="rect">
            <a:avLst/>
          </a:prstGeom>
          <a:noFill/>
          <a:ln/>
        </p:spPr>
        <p:txBody>
          <a:bodyPr wrap="square" lIns="0" tIns="0" rIns="0" bIns="0" rtlCol="0" anchor="ctr"/>
          <a:lstStyle/>
          <a:p>
            <a:pPr marL="0" indent="0" algn="ctr">
              <a:buNone/>
            </a:pPr>
            <a:r>
              <a:rPr lang="en-US" sz="1500" b="1" dirty="0">
                <a:solidFill>
                  <a:srgbClr val="FFFFFF"/>
                </a:solidFill>
              </a:rPr>
              <a:t>Claude Desktop</a:t>
            </a:r>
            <a:endParaRPr lang="en-US" sz="1500" dirty="0"/>
          </a:p>
        </p:txBody>
      </p:sp>
      <p:sp>
        <p:nvSpPr>
          <p:cNvPr id="7" name="Shape 4"/>
          <p:cNvSpPr/>
          <p:nvPr/>
        </p:nvSpPr>
        <p:spPr>
          <a:xfrm>
            <a:off x="548640" y="3108960"/>
            <a:ext cx="2377440" cy="731520"/>
          </a:xfrm>
          <a:prstGeom prst="roundRect">
            <a:avLst>
              <a:gd name="adj" fmla="val 12500"/>
            </a:avLst>
          </a:prstGeom>
          <a:solidFill>
            <a:srgbClr val="1F2A44"/>
          </a:solidFill>
          <a:ln w="12700">
            <a:solidFill>
              <a:srgbClr val="1F2A44"/>
            </a:solidFill>
            <a:prstDash val="solid"/>
          </a:ln>
        </p:spPr>
        <p:txBody>
          <a:bodyPr/>
          <a:lstStyle/>
          <a:p>
            <a:endParaRPr lang="en-VN"/>
          </a:p>
        </p:txBody>
      </p:sp>
      <p:sp>
        <p:nvSpPr>
          <p:cNvPr id="8" name="Text 5"/>
          <p:cNvSpPr txBox="1"/>
          <p:nvPr/>
        </p:nvSpPr>
        <p:spPr>
          <a:xfrm>
            <a:off x="548640" y="3108960"/>
            <a:ext cx="2377440" cy="731520"/>
          </a:xfrm>
          <a:prstGeom prst="rect">
            <a:avLst/>
          </a:prstGeom>
          <a:noFill/>
          <a:ln/>
        </p:spPr>
        <p:txBody>
          <a:bodyPr wrap="square" lIns="0" tIns="0" rIns="0" bIns="0" rtlCol="0" anchor="ctr"/>
          <a:lstStyle/>
          <a:p>
            <a:pPr marL="0" indent="0" algn="ctr">
              <a:buNone/>
            </a:pPr>
            <a:r>
              <a:rPr lang="en-US" sz="1500" b="1" dirty="0">
                <a:solidFill>
                  <a:srgbClr val="FFFFFF"/>
                </a:solidFill>
              </a:rPr>
              <a:t>VS Code Copilot</a:t>
            </a:r>
            <a:endParaRPr lang="en-US" sz="1500" dirty="0"/>
          </a:p>
        </p:txBody>
      </p:sp>
      <p:sp>
        <p:nvSpPr>
          <p:cNvPr id="9" name="Shape 6"/>
          <p:cNvSpPr/>
          <p:nvPr/>
        </p:nvSpPr>
        <p:spPr>
          <a:xfrm>
            <a:off x="548640" y="4480560"/>
            <a:ext cx="2377440" cy="731520"/>
          </a:xfrm>
          <a:prstGeom prst="roundRect">
            <a:avLst>
              <a:gd name="adj" fmla="val 12500"/>
            </a:avLst>
          </a:prstGeom>
          <a:solidFill>
            <a:srgbClr val="1F2A44"/>
          </a:solidFill>
          <a:ln w="12700">
            <a:solidFill>
              <a:srgbClr val="1F2A44"/>
            </a:solidFill>
            <a:prstDash val="solid"/>
          </a:ln>
        </p:spPr>
        <p:txBody>
          <a:bodyPr/>
          <a:lstStyle/>
          <a:p>
            <a:endParaRPr lang="en-VN"/>
          </a:p>
        </p:txBody>
      </p:sp>
      <p:sp>
        <p:nvSpPr>
          <p:cNvPr id="10" name="Text 7"/>
          <p:cNvSpPr txBox="1"/>
          <p:nvPr/>
        </p:nvSpPr>
        <p:spPr>
          <a:xfrm>
            <a:off x="548640" y="4480560"/>
            <a:ext cx="2377440" cy="731520"/>
          </a:xfrm>
          <a:prstGeom prst="rect">
            <a:avLst/>
          </a:prstGeom>
          <a:noFill/>
          <a:ln/>
        </p:spPr>
        <p:txBody>
          <a:bodyPr wrap="square" lIns="0" tIns="0" rIns="0" bIns="0" rtlCol="0" anchor="ctr"/>
          <a:lstStyle/>
          <a:p>
            <a:pPr marL="0" indent="0" algn="ctr">
              <a:buNone/>
            </a:pPr>
            <a:r>
              <a:rPr lang="en-US" sz="1500" b="1" dirty="0">
                <a:solidFill>
                  <a:srgbClr val="FFFFFF"/>
                </a:solidFill>
              </a:rPr>
              <a:t>Our chat app</a:t>
            </a:r>
            <a:endParaRPr lang="en-US" sz="1500" dirty="0"/>
          </a:p>
        </p:txBody>
      </p:sp>
      <p:sp>
        <p:nvSpPr>
          <p:cNvPr id="11" name="Shape 8"/>
          <p:cNvSpPr/>
          <p:nvPr/>
        </p:nvSpPr>
        <p:spPr>
          <a:xfrm>
            <a:off x="5120640" y="1737360"/>
            <a:ext cx="2194560" cy="731520"/>
          </a:xfrm>
          <a:prstGeom prst="roundRect">
            <a:avLst>
              <a:gd name="adj" fmla="val 12500"/>
            </a:avLst>
          </a:prstGeom>
          <a:solidFill>
            <a:srgbClr val="0F8B8D"/>
          </a:solidFill>
          <a:ln w="12700">
            <a:solidFill>
              <a:srgbClr val="0F8B8D"/>
            </a:solidFill>
            <a:prstDash val="solid"/>
          </a:ln>
        </p:spPr>
        <p:txBody>
          <a:bodyPr/>
          <a:lstStyle/>
          <a:p>
            <a:endParaRPr lang="en-VN"/>
          </a:p>
        </p:txBody>
      </p:sp>
      <p:sp>
        <p:nvSpPr>
          <p:cNvPr id="12" name="Text 9"/>
          <p:cNvSpPr txBox="1"/>
          <p:nvPr/>
        </p:nvSpPr>
        <p:spPr>
          <a:xfrm>
            <a:off x="5120640" y="1737360"/>
            <a:ext cx="2194560" cy="731520"/>
          </a:xfrm>
          <a:prstGeom prst="rect">
            <a:avLst/>
          </a:prstGeom>
          <a:noFill/>
          <a:ln/>
        </p:spPr>
        <p:txBody>
          <a:bodyPr wrap="square" lIns="0" tIns="0" rIns="0" bIns="0" rtlCol="0" anchor="ctr"/>
          <a:lstStyle/>
          <a:p>
            <a:pPr marL="0" indent="0" algn="ctr">
              <a:buNone/>
            </a:pPr>
            <a:r>
              <a:rPr lang="en-US" sz="1500" b="1" dirty="0">
                <a:solidFill>
                  <a:srgbClr val="FFFFFF"/>
                </a:solidFill>
              </a:rPr>
              <a:t>Grades DB</a:t>
            </a:r>
            <a:endParaRPr lang="en-US" sz="1500" dirty="0"/>
          </a:p>
        </p:txBody>
      </p:sp>
      <p:sp>
        <p:nvSpPr>
          <p:cNvPr id="13" name="Shape 10"/>
          <p:cNvSpPr/>
          <p:nvPr/>
        </p:nvSpPr>
        <p:spPr>
          <a:xfrm>
            <a:off x="5120640" y="2880360"/>
            <a:ext cx="2194560" cy="731520"/>
          </a:xfrm>
          <a:prstGeom prst="roundRect">
            <a:avLst>
              <a:gd name="adj" fmla="val 12500"/>
            </a:avLst>
          </a:prstGeom>
          <a:solidFill>
            <a:srgbClr val="0F8B8D"/>
          </a:solidFill>
          <a:ln w="12700">
            <a:solidFill>
              <a:srgbClr val="0F8B8D"/>
            </a:solidFill>
            <a:prstDash val="solid"/>
          </a:ln>
        </p:spPr>
        <p:txBody>
          <a:bodyPr/>
          <a:lstStyle/>
          <a:p>
            <a:endParaRPr lang="en-VN"/>
          </a:p>
        </p:txBody>
      </p:sp>
      <p:sp>
        <p:nvSpPr>
          <p:cNvPr id="14" name="Text 11"/>
          <p:cNvSpPr txBox="1"/>
          <p:nvPr/>
        </p:nvSpPr>
        <p:spPr>
          <a:xfrm>
            <a:off x="5120640" y="2880360"/>
            <a:ext cx="2194560" cy="731520"/>
          </a:xfrm>
          <a:prstGeom prst="rect">
            <a:avLst/>
          </a:prstGeom>
          <a:noFill/>
          <a:ln/>
        </p:spPr>
        <p:txBody>
          <a:bodyPr wrap="square" lIns="0" tIns="0" rIns="0" bIns="0" rtlCol="0" anchor="ctr"/>
          <a:lstStyle/>
          <a:p>
            <a:pPr marL="0" indent="0" algn="ctr">
              <a:buNone/>
            </a:pPr>
            <a:r>
              <a:rPr lang="en-US" sz="1500" b="1" dirty="0">
                <a:solidFill>
                  <a:srgbClr val="FFFFFF"/>
                </a:solidFill>
              </a:rPr>
              <a:t>Google Drive</a:t>
            </a:r>
            <a:endParaRPr lang="en-US" sz="1500" dirty="0"/>
          </a:p>
        </p:txBody>
      </p:sp>
      <p:sp>
        <p:nvSpPr>
          <p:cNvPr id="15" name="Shape 12"/>
          <p:cNvSpPr/>
          <p:nvPr/>
        </p:nvSpPr>
        <p:spPr>
          <a:xfrm>
            <a:off x="5120640" y="4023360"/>
            <a:ext cx="2194560" cy="731520"/>
          </a:xfrm>
          <a:prstGeom prst="roundRect">
            <a:avLst>
              <a:gd name="adj" fmla="val 12500"/>
            </a:avLst>
          </a:prstGeom>
          <a:solidFill>
            <a:srgbClr val="0F8B8D"/>
          </a:solidFill>
          <a:ln w="12700">
            <a:solidFill>
              <a:srgbClr val="0F8B8D"/>
            </a:solidFill>
            <a:prstDash val="solid"/>
          </a:ln>
        </p:spPr>
        <p:txBody>
          <a:bodyPr/>
          <a:lstStyle/>
          <a:p>
            <a:endParaRPr lang="en-VN"/>
          </a:p>
        </p:txBody>
      </p:sp>
      <p:sp>
        <p:nvSpPr>
          <p:cNvPr id="16" name="Text 13"/>
          <p:cNvSpPr txBox="1"/>
          <p:nvPr/>
        </p:nvSpPr>
        <p:spPr>
          <a:xfrm>
            <a:off x="5120640" y="4023360"/>
            <a:ext cx="2194560" cy="731520"/>
          </a:xfrm>
          <a:prstGeom prst="rect">
            <a:avLst/>
          </a:prstGeom>
          <a:noFill/>
          <a:ln/>
        </p:spPr>
        <p:txBody>
          <a:bodyPr wrap="square" lIns="0" tIns="0" rIns="0" bIns="0" rtlCol="0" anchor="ctr"/>
          <a:lstStyle/>
          <a:p>
            <a:pPr marL="0" indent="0" algn="ctr">
              <a:buNone/>
            </a:pPr>
            <a:r>
              <a:rPr lang="en-US" sz="1500" b="1" dirty="0">
                <a:solidFill>
                  <a:srgbClr val="FFFFFF"/>
                </a:solidFill>
              </a:rPr>
              <a:t>GitHub</a:t>
            </a:r>
            <a:endParaRPr lang="en-US" sz="1500" dirty="0"/>
          </a:p>
        </p:txBody>
      </p:sp>
      <p:sp>
        <p:nvSpPr>
          <p:cNvPr id="17" name="Shape 14"/>
          <p:cNvSpPr/>
          <p:nvPr/>
        </p:nvSpPr>
        <p:spPr>
          <a:xfrm>
            <a:off x="5120640" y="5166360"/>
            <a:ext cx="2194560" cy="731520"/>
          </a:xfrm>
          <a:prstGeom prst="roundRect">
            <a:avLst>
              <a:gd name="adj" fmla="val 12500"/>
            </a:avLst>
          </a:prstGeom>
          <a:solidFill>
            <a:srgbClr val="0F8B8D"/>
          </a:solidFill>
          <a:ln w="12700">
            <a:solidFill>
              <a:srgbClr val="0F8B8D"/>
            </a:solidFill>
            <a:prstDash val="solid"/>
          </a:ln>
        </p:spPr>
        <p:txBody>
          <a:bodyPr/>
          <a:lstStyle/>
          <a:p>
            <a:endParaRPr lang="en-VN"/>
          </a:p>
        </p:txBody>
      </p:sp>
      <p:sp>
        <p:nvSpPr>
          <p:cNvPr id="18" name="Text 15"/>
          <p:cNvSpPr txBox="1"/>
          <p:nvPr/>
        </p:nvSpPr>
        <p:spPr>
          <a:xfrm>
            <a:off x="5120640" y="5166360"/>
            <a:ext cx="2194560" cy="731520"/>
          </a:xfrm>
          <a:prstGeom prst="rect">
            <a:avLst/>
          </a:prstGeom>
          <a:noFill/>
          <a:ln/>
        </p:spPr>
        <p:txBody>
          <a:bodyPr wrap="square" lIns="0" tIns="0" rIns="0" bIns="0" rtlCol="0" anchor="ctr"/>
          <a:lstStyle/>
          <a:p>
            <a:pPr marL="0" indent="0" algn="ctr">
              <a:buNone/>
            </a:pPr>
            <a:r>
              <a:rPr lang="en-US" sz="1500" b="1" dirty="0">
                <a:solidFill>
                  <a:srgbClr val="FFFFFF"/>
                </a:solidFill>
              </a:rPr>
              <a:t>Cloud API</a:t>
            </a:r>
            <a:endParaRPr lang="en-US" sz="1500" dirty="0"/>
          </a:p>
        </p:txBody>
      </p:sp>
      <p:sp>
        <p:nvSpPr>
          <p:cNvPr id="19" name="Shape 16"/>
          <p:cNvSpPr/>
          <p:nvPr/>
        </p:nvSpPr>
        <p:spPr>
          <a:xfrm>
            <a:off x="3429000" y="3063240"/>
            <a:ext cx="1188720" cy="1188720"/>
          </a:xfrm>
          <a:prstGeom prst="ellipse">
            <a:avLst/>
          </a:prstGeom>
          <a:solidFill>
            <a:srgbClr val="E07A1F"/>
          </a:solidFill>
          <a:ln w="12700">
            <a:solidFill>
              <a:srgbClr val="E07A1F"/>
            </a:solidFill>
            <a:prstDash val="solid"/>
          </a:ln>
        </p:spPr>
        <p:txBody>
          <a:bodyPr/>
          <a:lstStyle/>
          <a:p>
            <a:endParaRPr lang="en-VN"/>
          </a:p>
        </p:txBody>
      </p:sp>
      <p:sp>
        <p:nvSpPr>
          <p:cNvPr id="20" name="Text 17"/>
          <p:cNvSpPr txBox="1"/>
          <p:nvPr/>
        </p:nvSpPr>
        <p:spPr>
          <a:xfrm>
            <a:off x="3429000" y="3063240"/>
            <a:ext cx="1188720" cy="1188720"/>
          </a:xfrm>
          <a:prstGeom prst="rect">
            <a:avLst/>
          </a:prstGeom>
          <a:noFill/>
          <a:ln/>
        </p:spPr>
        <p:txBody>
          <a:bodyPr wrap="square" lIns="0" tIns="0" rIns="0" bIns="0" rtlCol="0" anchor="ctr"/>
          <a:lstStyle/>
          <a:p>
            <a:pPr marL="0" indent="0" algn="ctr">
              <a:buNone/>
            </a:pPr>
            <a:r>
              <a:rPr lang="en-US" sz="1800" b="1" dirty="0">
                <a:solidFill>
                  <a:srgbClr val="FFFFFF"/>
                </a:solidFill>
              </a:rPr>
              <a:t>MCP</a:t>
            </a:r>
            <a:endParaRPr lang="en-US" sz="1800" dirty="0"/>
          </a:p>
        </p:txBody>
      </p:sp>
      <p:sp>
        <p:nvSpPr>
          <p:cNvPr id="21" name="Shape 18"/>
          <p:cNvSpPr/>
          <p:nvPr/>
        </p:nvSpPr>
        <p:spPr>
          <a:xfrm>
            <a:off x="2926080" y="2103120"/>
            <a:ext cx="502920" cy="1554480"/>
          </a:xfrm>
          <a:prstGeom prst="line">
            <a:avLst/>
          </a:prstGeom>
          <a:noFill/>
          <a:ln w="19050">
            <a:solidFill>
              <a:srgbClr val="8A94A6"/>
            </a:solidFill>
            <a:prstDash val="solid"/>
          </a:ln>
        </p:spPr>
        <p:txBody>
          <a:bodyPr/>
          <a:lstStyle/>
          <a:p>
            <a:endParaRPr lang="en-VN"/>
          </a:p>
        </p:txBody>
      </p:sp>
      <p:sp>
        <p:nvSpPr>
          <p:cNvPr id="22" name="Shape 19"/>
          <p:cNvSpPr/>
          <p:nvPr/>
        </p:nvSpPr>
        <p:spPr>
          <a:xfrm>
            <a:off x="2926080" y="3474720"/>
            <a:ext cx="502920" cy="182880"/>
          </a:xfrm>
          <a:prstGeom prst="line">
            <a:avLst/>
          </a:prstGeom>
          <a:noFill/>
          <a:ln w="19050">
            <a:solidFill>
              <a:srgbClr val="8A94A6"/>
            </a:solidFill>
            <a:prstDash val="solid"/>
          </a:ln>
        </p:spPr>
        <p:txBody>
          <a:bodyPr/>
          <a:lstStyle/>
          <a:p>
            <a:endParaRPr lang="en-VN"/>
          </a:p>
        </p:txBody>
      </p:sp>
      <p:sp>
        <p:nvSpPr>
          <p:cNvPr id="23" name="Shape 20"/>
          <p:cNvSpPr/>
          <p:nvPr/>
        </p:nvSpPr>
        <p:spPr>
          <a:xfrm flipV="1">
            <a:off x="2926080" y="3657600"/>
            <a:ext cx="502920" cy="1188720"/>
          </a:xfrm>
          <a:prstGeom prst="line">
            <a:avLst/>
          </a:prstGeom>
          <a:noFill/>
          <a:ln w="19050">
            <a:solidFill>
              <a:srgbClr val="8A94A6"/>
            </a:solidFill>
            <a:prstDash val="solid"/>
          </a:ln>
        </p:spPr>
        <p:txBody>
          <a:bodyPr/>
          <a:lstStyle/>
          <a:p>
            <a:endParaRPr lang="en-VN"/>
          </a:p>
        </p:txBody>
      </p:sp>
      <p:sp>
        <p:nvSpPr>
          <p:cNvPr id="24" name="Shape 21"/>
          <p:cNvSpPr/>
          <p:nvPr/>
        </p:nvSpPr>
        <p:spPr>
          <a:xfrm flipV="1">
            <a:off x="4617720" y="2103120"/>
            <a:ext cx="502920" cy="1554480"/>
          </a:xfrm>
          <a:prstGeom prst="line">
            <a:avLst/>
          </a:prstGeom>
          <a:noFill/>
          <a:ln w="19050">
            <a:solidFill>
              <a:srgbClr val="8A94A6"/>
            </a:solidFill>
            <a:prstDash val="solid"/>
          </a:ln>
        </p:spPr>
        <p:txBody>
          <a:bodyPr/>
          <a:lstStyle/>
          <a:p>
            <a:endParaRPr lang="en-VN"/>
          </a:p>
        </p:txBody>
      </p:sp>
      <p:sp>
        <p:nvSpPr>
          <p:cNvPr id="25" name="Shape 22"/>
          <p:cNvSpPr/>
          <p:nvPr/>
        </p:nvSpPr>
        <p:spPr>
          <a:xfrm flipV="1">
            <a:off x="4617720" y="3246120"/>
            <a:ext cx="502920" cy="411480"/>
          </a:xfrm>
          <a:prstGeom prst="line">
            <a:avLst/>
          </a:prstGeom>
          <a:noFill/>
          <a:ln w="19050">
            <a:solidFill>
              <a:srgbClr val="8A94A6"/>
            </a:solidFill>
            <a:prstDash val="solid"/>
          </a:ln>
        </p:spPr>
        <p:txBody>
          <a:bodyPr/>
          <a:lstStyle/>
          <a:p>
            <a:endParaRPr lang="en-VN"/>
          </a:p>
        </p:txBody>
      </p:sp>
      <p:sp>
        <p:nvSpPr>
          <p:cNvPr id="26" name="Shape 23"/>
          <p:cNvSpPr/>
          <p:nvPr/>
        </p:nvSpPr>
        <p:spPr>
          <a:xfrm>
            <a:off x="4617720" y="3657600"/>
            <a:ext cx="502920" cy="731520"/>
          </a:xfrm>
          <a:prstGeom prst="line">
            <a:avLst/>
          </a:prstGeom>
          <a:noFill/>
          <a:ln w="19050">
            <a:solidFill>
              <a:srgbClr val="8A94A6"/>
            </a:solidFill>
            <a:prstDash val="solid"/>
          </a:ln>
        </p:spPr>
        <p:txBody>
          <a:bodyPr/>
          <a:lstStyle/>
          <a:p>
            <a:endParaRPr lang="en-VN"/>
          </a:p>
        </p:txBody>
      </p:sp>
      <p:sp>
        <p:nvSpPr>
          <p:cNvPr id="27" name="Shape 24"/>
          <p:cNvSpPr/>
          <p:nvPr/>
        </p:nvSpPr>
        <p:spPr>
          <a:xfrm>
            <a:off x="4617720" y="3657600"/>
            <a:ext cx="502920" cy="1874520"/>
          </a:xfrm>
          <a:prstGeom prst="line">
            <a:avLst/>
          </a:prstGeom>
          <a:noFill/>
          <a:ln w="19050">
            <a:solidFill>
              <a:srgbClr val="8A94A6"/>
            </a:solidFill>
            <a:prstDash val="solid"/>
          </a:ln>
        </p:spPr>
        <p:txBody>
          <a:bodyPr/>
          <a:lstStyle/>
          <a:p>
            <a:endParaRPr lang="en-VN"/>
          </a:p>
        </p:txBody>
      </p:sp>
      <p:sp>
        <p:nvSpPr>
          <p:cNvPr id="28" name="Text 25"/>
          <p:cNvSpPr txBox="1"/>
          <p:nvPr/>
        </p:nvSpPr>
        <p:spPr>
          <a:xfrm>
            <a:off x="7955280" y="2011680"/>
            <a:ext cx="3749040" cy="1097280"/>
          </a:xfrm>
          <a:prstGeom prst="rect">
            <a:avLst/>
          </a:prstGeom>
          <a:noFill/>
          <a:ln/>
        </p:spPr>
        <p:txBody>
          <a:bodyPr wrap="square" lIns="0" tIns="0" rIns="0" bIns="0" rtlCol="0" anchor="ctr"/>
          <a:lstStyle/>
          <a:p>
            <a:pPr marL="0" indent="0">
              <a:buNone/>
            </a:pPr>
            <a:r>
              <a:rPr lang="en-US" sz="5400" b="1" dirty="0">
                <a:solidFill>
                  <a:srgbClr val="2F855A"/>
                </a:solidFill>
              </a:rPr>
              <a:t>3 + 4 = 7</a:t>
            </a:r>
            <a:endParaRPr lang="en-US" sz="5400" dirty="0"/>
          </a:p>
        </p:txBody>
      </p:sp>
      <p:sp>
        <p:nvSpPr>
          <p:cNvPr id="29" name="Text 26"/>
          <p:cNvSpPr txBox="1"/>
          <p:nvPr/>
        </p:nvSpPr>
        <p:spPr>
          <a:xfrm>
            <a:off x="7955280" y="3200400"/>
            <a:ext cx="3749040" cy="1645920"/>
          </a:xfrm>
          <a:prstGeom prst="rect">
            <a:avLst/>
          </a:prstGeom>
          <a:noFill/>
          <a:ln/>
        </p:spPr>
        <p:txBody>
          <a:bodyPr wrap="square" lIns="0" tIns="0" rIns="0" bIns="0" rtlCol="0" anchor="t"/>
          <a:lstStyle/>
          <a:p>
            <a:pPr marL="0" indent="0">
              <a:buNone/>
            </a:pPr>
            <a:r>
              <a:rPr lang="en-US" sz="1800" dirty="0">
                <a:solidFill>
                  <a:srgbClr val="1F2937"/>
                </a:solidFill>
              </a:rPr>
              <a:t>Each source is wrapped once as an MCP server; each app needs one MCP client. "USB-C for AI".</a:t>
            </a:r>
            <a:endParaRPr lang="en-US" sz="1800" dirty="0"/>
          </a:p>
        </p:txBody>
      </p:sp>
      <p:sp>
        <p:nvSpPr>
          <p:cNvPr id="4"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marL="0" indent="0">
              <a:buNone/>
            </a:pPr>
            <a:r>
              <a:rPr lang="en-US" sz="1200" b="1" kern="0" spc="200" dirty="0">
                <a:solidFill>
                  <a:srgbClr val="0F8B8D"/>
                </a:solidFill>
              </a:rPr>
              <a:t>MCP ARCHITECTURE</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marL="0" indent="0">
              <a:buNone/>
            </a:pPr>
            <a:r>
              <a:rPr lang="en-US" sz="3000" b="1" dirty="0">
                <a:solidFill>
                  <a:srgbClr val="1F2937"/>
                </a:solidFill>
              </a:rPr>
              <a:t>Roles: Host · Client · Server</a:t>
            </a:r>
            <a:endParaRPr lang="en-US" sz="3000" dirty="0"/>
          </a:p>
        </p:txBody>
      </p:sp>
      <p:sp>
        <p:nvSpPr>
          <p:cNvPr id="5" name="Shape 2"/>
          <p:cNvSpPr/>
          <p:nvPr/>
        </p:nvSpPr>
        <p:spPr>
          <a:xfrm>
            <a:off x="457200" y="1463040"/>
            <a:ext cx="5120640" cy="4480560"/>
          </a:xfrm>
          <a:prstGeom prst="roundRect">
            <a:avLst>
              <a:gd name="adj" fmla="val 1633"/>
            </a:avLst>
          </a:prstGeom>
          <a:solidFill>
            <a:srgbClr val="EEF2F6"/>
          </a:solidFill>
          <a:ln w="12700">
            <a:solidFill>
              <a:srgbClr val="8A94A6"/>
            </a:solidFill>
            <a:prstDash val="dash"/>
          </a:ln>
        </p:spPr>
        <p:txBody>
          <a:bodyPr/>
          <a:lstStyle/>
          <a:p>
            <a:endParaRPr lang="en-VN"/>
          </a:p>
        </p:txBody>
      </p:sp>
      <p:sp>
        <p:nvSpPr>
          <p:cNvPr id="6" name="Text 3"/>
          <p:cNvSpPr txBox="1"/>
          <p:nvPr/>
        </p:nvSpPr>
        <p:spPr>
          <a:xfrm>
            <a:off x="640080" y="1554480"/>
            <a:ext cx="4754880" cy="365760"/>
          </a:xfrm>
          <a:prstGeom prst="rect">
            <a:avLst/>
          </a:prstGeom>
          <a:noFill/>
          <a:ln/>
        </p:spPr>
        <p:txBody>
          <a:bodyPr wrap="square" lIns="0" tIns="0" rIns="0" bIns="0" rtlCol="0" anchor="ctr"/>
          <a:lstStyle/>
          <a:p>
            <a:pPr marL="0" indent="0">
              <a:buNone/>
            </a:pPr>
            <a:r>
              <a:rPr lang="en-US" sz="1500" b="1" dirty="0">
                <a:solidFill>
                  <a:srgbClr val="1F2937"/>
                </a:solidFill>
              </a:rPr>
              <a:t>HOST — our chat app / VS Code</a:t>
            </a:r>
            <a:endParaRPr lang="en-US" sz="1500" dirty="0"/>
          </a:p>
        </p:txBody>
      </p:sp>
      <p:sp>
        <p:nvSpPr>
          <p:cNvPr id="7" name="Shape 4"/>
          <p:cNvSpPr/>
          <p:nvPr/>
        </p:nvSpPr>
        <p:spPr>
          <a:xfrm>
            <a:off x="822960" y="2194560"/>
            <a:ext cx="2011680" cy="1097280"/>
          </a:xfrm>
          <a:prstGeom prst="rect">
            <a:avLst/>
          </a:prstGeom>
          <a:solidFill>
            <a:srgbClr val="DDE7F7"/>
          </a:solidFill>
          <a:ln w="12700">
            <a:solidFill>
              <a:srgbClr val="8A94A6"/>
            </a:solidFill>
            <a:prstDash val="solid"/>
          </a:ln>
        </p:spPr>
        <p:txBody>
          <a:bodyPr/>
          <a:lstStyle/>
          <a:p>
            <a:endParaRPr lang="en-VN"/>
          </a:p>
        </p:txBody>
      </p:sp>
      <p:sp>
        <p:nvSpPr>
          <p:cNvPr id="8" name="Text 5"/>
          <p:cNvSpPr txBox="1"/>
          <p:nvPr/>
        </p:nvSpPr>
        <p:spPr>
          <a:xfrm>
            <a:off x="896112" y="2194560"/>
            <a:ext cx="1865376" cy="1097280"/>
          </a:xfrm>
          <a:prstGeom prst="rect">
            <a:avLst/>
          </a:prstGeom>
          <a:noFill/>
          <a:ln/>
        </p:spPr>
        <p:txBody>
          <a:bodyPr wrap="square" lIns="0" tIns="0" rIns="0" bIns="0" rtlCol="0" anchor="ctr"/>
          <a:lstStyle/>
          <a:p>
            <a:pPr marL="0" indent="0" algn="ctr">
              <a:buNone/>
            </a:pPr>
            <a:r>
              <a:rPr lang="en-US" sz="1300" dirty="0">
                <a:solidFill>
                  <a:srgbClr val="1F2937"/>
                </a:solidFill>
              </a:rPr>
              <a:t>LLM</a:t>
            </a:r>
            <a:endParaRPr lang="en-US" sz="1300" dirty="0"/>
          </a:p>
          <a:p>
            <a:pPr marL="0" indent="0" algn="ctr">
              <a:buNone/>
            </a:pPr>
            <a:r>
              <a:rPr lang="en-US" sz="1300" dirty="0">
                <a:solidFill>
                  <a:srgbClr val="1F2937"/>
                </a:solidFill>
              </a:rPr>
              <a:t>(Gemini or Qwen)</a:t>
            </a:r>
            <a:endParaRPr lang="en-US" sz="1300" dirty="0"/>
          </a:p>
        </p:txBody>
      </p:sp>
      <p:sp>
        <p:nvSpPr>
          <p:cNvPr id="9" name="Shape 6"/>
          <p:cNvSpPr/>
          <p:nvPr/>
        </p:nvSpPr>
        <p:spPr>
          <a:xfrm>
            <a:off x="3200400" y="2194560"/>
            <a:ext cx="2103120" cy="914400"/>
          </a:xfrm>
          <a:prstGeom prst="rect">
            <a:avLst/>
          </a:prstGeom>
          <a:solidFill>
            <a:srgbClr val="FFFFFF"/>
          </a:solidFill>
          <a:ln w="12700">
            <a:solidFill>
              <a:srgbClr val="8A94A6"/>
            </a:solidFill>
            <a:prstDash val="solid"/>
          </a:ln>
        </p:spPr>
        <p:txBody>
          <a:bodyPr/>
          <a:lstStyle/>
          <a:p>
            <a:endParaRPr lang="en-VN"/>
          </a:p>
        </p:txBody>
      </p:sp>
      <p:sp>
        <p:nvSpPr>
          <p:cNvPr id="10" name="Text 7"/>
          <p:cNvSpPr txBox="1"/>
          <p:nvPr/>
        </p:nvSpPr>
        <p:spPr>
          <a:xfrm>
            <a:off x="3273552" y="2194560"/>
            <a:ext cx="1956816" cy="914400"/>
          </a:xfrm>
          <a:prstGeom prst="rect">
            <a:avLst/>
          </a:prstGeom>
          <a:noFill/>
          <a:ln/>
        </p:spPr>
        <p:txBody>
          <a:bodyPr wrap="square" lIns="0" tIns="0" rIns="0" bIns="0" rtlCol="0" anchor="ctr"/>
          <a:lstStyle/>
          <a:p>
            <a:pPr marL="0" indent="0" algn="ctr">
              <a:buNone/>
            </a:pPr>
            <a:r>
              <a:rPr lang="en-US" sz="1300" dirty="0">
                <a:solidFill>
                  <a:srgbClr val="1F2937"/>
                </a:solidFill>
              </a:rPr>
              <a:t>MCP Client #1</a:t>
            </a:r>
            <a:endParaRPr lang="en-US" sz="1300" dirty="0"/>
          </a:p>
        </p:txBody>
      </p:sp>
      <p:sp>
        <p:nvSpPr>
          <p:cNvPr id="11" name="Shape 8"/>
          <p:cNvSpPr/>
          <p:nvPr/>
        </p:nvSpPr>
        <p:spPr>
          <a:xfrm>
            <a:off x="3200400" y="4023360"/>
            <a:ext cx="2103120" cy="914400"/>
          </a:xfrm>
          <a:prstGeom prst="rect">
            <a:avLst/>
          </a:prstGeom>
          <a:solidFill>
            <a:srgbClr val="FFFFFF"/>
          </a:solidFill>
          <a:ln w="12700">
            <a:solidFill>
              <a:srgbClr val="8A94A6"/>
            </a:solidFill>
            <a:prstDash val="solid"/>
          </a:ln>
        </p:spPr>
        <p:txBody>
          <a:bodyPr/>
          <a:lstStyle/>
          <a:p>
            <a:endParaRPr lang="en-VN"/>
          </a:p>
        </p:txBody>
      </p:sp>
      <p:sp>
        <p:nvSpPr>
          <p:cNvPr id="12" name="Text 9"/>
          <p:cNvSpPr txBox="1"/>
          <p:nvPr/>
        </p:nvSpPr>
        <p:spPr>
          <a:xfrm>
            <a:off x="3273552" y="4023360"/>
            <a:ext cx="1956816" cy="914400"/>
          </a:xfrm>
          <a:prstGeom prst="rect">
            <a:avLst/>
          </a:prstGeom>
          <a:noFill/>
          <a:ln/>
        </p:spPr>
        <p:txBody>
          <a:bodyPr wrap="square" lIns="0" tIns="0" rIns="0" bIns="0" rtlCol="0" anchor="ctr"/>
          <a:lstStyle/>
          <a:p>
            <a:pPr marL="0" indent="0" algn="ctr">
              <a:buNone/>
            </a:pPr>
            <a:r>
              <a:rPr lang="en-US" sz="1300" dirty="0">
                <a:solidFill>
                  <a:srgbClr val="1F2937"/>
                </a:solidFill>
              </a:rPr>
              <a:t>MCP Client #2</a:t>
            </a:r>
            <a:endParaRPr lang="en-US" sz="1300" dirty="0"/>
          </a:p>
        </p:txBody>
      </p:sp>
      <p:sp>
        <p:nvSpPr>
          <p:cNvPr id="13" name="Shape 10"/>
          <p:cNvSpPr/>
          <p:nvPr/>
        </p:nvSpPr>
        <p:spPr>
          <a:xfrm>
            <a:off x="2834640" y="2651760"/>
            <a:ext cx="365760" cy="0"/>
          </a:xfrm>
          <a:prstGeom prst="line">
            <a:avLst/>
          </a:prstGeom>
          <a:noFill/>
          <a:ln w="19050">
            <a:solidFill>
              <a:srgbClr val="8A94A6"/>
            </a:solidFill>
            <a:prstDash val="solid"/>
            <a:tailEnd type="triangle"/>
          </a:ln>
        </p:spPr>
        <p:txBody>
          <a:bodyPr/>
          <a:lstStyle/>
          <a:p>
            <a:endParaRPr lang="en-VN"/>
          </a:p>
        </p:txBody>
      </p:sp>
      <p:sp>
        <p:nvSpPr>
          <p:cNvPr id="14" name="Shape 11"/>
          <p:cNvSpPr/>
          <p:nvPr/>
        </p:nvSpPr>
        <p:spPr>
          <a:xfrm>
            <a:off x="1828800" y="3291840"/>
            <a:ext cx="0" cy="1188720"/>
          </a:xfrm>
          <a:prstGeom prst="line">
            <a:avLst/>
          </a:prstGeom>
          <a:noFill/>
          <a:ln w="19050">
            <a:solidFill>
              <a:srgbClr val="8A94A6"/>
            </a:solidFill>
            <a:prstDash val="solid"/>
          </a:ln>
        </p:spPr>
        <p:txBody>
          <a:bodyPr/>
          <a:lstStyle/>
          <a:p>
            <a:endParaRPr lang="en-VN"/>
          </a:p>
        </p:txBody>
      </p:sp>
      <p:sp>
        <p:nvSpPr>
          <p:cNvPr id="15" name="Shape 12"/>
          <p:cNvSpPr/>
          <p:nvPr/>
        </p:nvSpPr>
        <p:spPr>
          <a:xfrm>
            <a:off x="1828800" y="4480560"/>
            <a:ext cx="1371600" cy="0"/>
          </a:xfrm>
          <a:prstGeom prst="line">
            <a:avLst/>
          </a:prstGeom>
          <a:noFill/>
          <a:ln w="19050">
            <a:solidFill>
              <a:srgbClr val="8A94A6"/>
            </a:solidFill>
            <a:prstDash val="solid"/>
            <a:tailEnd type="triangle"/>
          </a:ln>
        </p:spPr>
        <p:txBody>
          <a:bodyPr/>
          <a:lstStyle/>
          <a:p>
            <a:endParaRPr lang="en-VN"/>
          </a:p>
        </p:txBody>
      </p:sp>
      <p:sp>
        <p:nvSpPr>
          <p:cNvPr id="16" name="Text 13"/>
          <p:cNvSpPr txBox="1"/>
          <p:nvPr/>
        </p:nvSpPr>
        <p:spPr>
          <a:xfrm>
            <a:off x="731520" y="5120640"/>
            <a:ext cx="4572000" cy="640080"/>
          </a:xfrm>
          <a:prstGeom prst="rect">
            <a:avLst/>
          </a:prstGeom>
          <a:noFill/>
          <a:ln/>
        </p:spPr>
        <p:txBody>
          <a:bodyPr wrap="square" lIns="0" tIns="0" rIns="0" bIns="0" rtlCol="0" anchor="ctr"/>
          <a:lstStyle/>
          <a:p>
            <a:pPr marL="0" indent="0">
              <a:buNone/>
            </a:pPr>
            <a:r>
              <a:rPr lang="en-US" sz="1300" i="1" dirty="0">
                <a:solidFill>
                  <a:srgbClr val="5B6475"/>
                </a:solidFill>
              </a:rPr>
              <a:t>the host runs the tool-calling loop and executes the calls</a:t>
            </a:r>
            <a:endParaRPr lang="en-US" sz="1300" dirty="0"/>
          </a:p>
        </p:txBody>
      </p:sp>
      <p:sp>
        <p:nvSpPr>
          <p:cNvPr id="17" name="Shape 14"/>
          <p:cNvSpPr/>
          <p:nvPr/>
        </p:nvSpPr>
        <p:spPr>
          <a:xfrm>
            <a:off x="6583680" y="2103120"/>
            <a:ext cx="3291840" cy="1097280"/>
          </a:xfrm>
          <a:prstGeom prst="rect">
            <a:avLst/>
          </a:prstGeom>
          <a:solidFill>
            <a:srgbClr val="DDF3F1"/>
          </a:solidFill>
          <a:ln w="12700">
            <a:solidFill>
              <a:srgbClr val="8A94A6"/>
            </a:solidFill>
            <a:prstDash val="solid"/>
          </a:ln>
        </p:spPr>
        <p:txBody>
          <a:bodyPr/>
          <a:lstStyle/>
          <a:p>
            <a:endParaRPr lang="en-VN"/>
          </a:p>
        </p:txBody>
      </p:sp>
      <p:sp>
        <p:nvSpPr>
          <p:cNvPr id="18" name="Text 15"/>
          <p:cNvSpPr txBox="1"/>
          <p:nvPr/>
        </p:nvSpPr>
        <p:spPr>
          <a:xfrm>
            <a:off x="6656832" y="2103120"/>
            <a:ext cx="3145536" cy="1097280"/>
          </a:xfrm>
          <a:prstGeom prst="rect">
            <a:avLst/>
          </a:prstGeom>
          <a:noFill/>
          <a:ln/>
        </p:spPr>
        <p:txBody>
          <a:bodyPr wrap="square" lIns="0" tIns="0" rIns="0" bIns="0" rtlCol="0" anchor="ctr"/>
          <a:lstStyle/>
          <a:p>
            <a:pPr marL="0" indent="0" algn="ctr">
              <a:buNone/>
            </a:pPr>
            <a:r>
              <a:rPr lang="en-US" sz="1300" dirty="0">
                <a:solidFill>
                  <a:srgbClr val="1F2937"/>
                </a:solidFill>
              </a:rPr>
              <a:t>MCP Server "academic"</a:t>
            </a:r>
            <a:endParaRPr lang="en-US" sz="1300" dirty="0"/>
          </a:p>
          <a:p>
            <a:pPr marL="0" indent="0" algn="ctr">
              <a:buNone/>
            </a:pPr>
            <a:r>
              <a:rPr lang="en-US" sz="1300" dirty="0">
                <a:solidFill>
                  <a:srgbClr val="1F2937"/>
                </a:solidFill>
              </a:rPr>
              <a:t>10 tools · 4 resources · 2 prompts</a:t>
            </a:r>
            <a:endParaRPr lang="en-US" sz="1300" dirty="0"/>
          </a:p>
        </p:txBody>
      </p:sp>
      <p:sp>
        <p:nvSpPr>
          <p:cNvPr id="19" name="Shape 16"/>
          <p:cNvSpPr/>
          <p:nvPr/>
        </p:nvSpPr>
        <p:spPr>
          <a:xfrm>
            <a:off x="6583680" y="3931920"/>
            <a:ext cx="3291840" cy="1097280"/>
          </a:xfrm>
          <a:prstGeom prst="rect">
            <a:avLst/>
          </a:prstGeom>
          <a:solidFill>
            <a:srgbClr val="DDF3F1"/>
          </a:solidFill>
          <a:ln w="12700">
            <a:solidFill>
              <a:srgbClr val="8A94A6"/>
            </a:solidFill>
            <a:prstDash val="solid"/>
          </a:ln>
        </p:spPr>
        <p:txBody>
          <a:bodyPr/>
          <a:lstStyle/>
          <a:p>
            <a:endParaRPr lang="en-VN"/>
          </a:p>
        </p:txBody>
      </p:sp>
      <p:sp>
        <p:nvSpPr>
          <p:cNvPr id="20" name="Text 17"/>
          <p:cNvSpPr txBox="1"/>
          <p:nvPr/>
        </p:nvSpPr>
        <p:spPr>
          <a:xfrm>
            <a:off x="6656832" y="3931920"/>
            <a:ext cx="3145536" cy="1097280"/>
          </a:xfrm>
          <a:prstGeom prst="rect">
            <a:avLst/>
          </a:prstGeom>
          <a:noFill/>
          <a:ln/>
        </p:spPr>
        <p:txBody>
          <a:bodyPr wrap="square" lIns="0" tIns="0" rIns="0" bIns="0" rtlCol="0" anchor="ctr"/>
          <a:lstStyle/>
          <a:p>
            <a:pPr marL="0" indent="0" algn="ctr">
              <a:buNone/>
            </a:pPr>
            <a:r>
              <a:rPr lang="en-US" sz="1300" dirty="0">
                <a:solidFill>
                  <a:srgbClr val="1F2937"/>
                </a:solidFill>
              </a:rPr>
              <a:t>MCP Server "utility"</a:t>
            </a:r>
            <a:endParaRPr lang="en-US" sz="1300" dirty="0"/>
          </a:p>
          <a:p>
            <a:pPr marL="0" indent="0" algn="ctr">
              <a:buNone/>
            </a:pPr>
            <a:r>
              <a:rPr lang="en-US" sz="1300" dirty="0">
                <a:solidFill>
                  <a:srgbClr val="1F2937"/>
                </a:solidFill>
              </a:rPr>
              <a:t>3 tools · 1 resource</a:t>
            </a:r>
            <a:endParaRPr lang="en-US" sz="1300" dirty="0"/>
          </a:p>
        </p:txBody>
      </p:sp>
      <p:sp>
        <p:nvSpPr>
          <p:cNvPr id="21" name="Shape 18"/>
          <p:cNvSpPr/>
          <p:nvPr/>
        </p:nvSpPr>
        <p:spPr>
          <a:xfrm>
            <a:off x="5303520" y="2651760"/>
            <a:ext cx="1280160" cy="0"/>
          </a:xfrm>
          <a:prstGeom prst="line">
            <a:avLst/>
          </a:prstGeom>
          <a:noFill/>
          <a:ln w="19050">
            <a:solidFill>
              <a:srgbClr val="8A94A6"/>
            </a:solidFill>
            <a:prstDash val="solid"/>
            <a:tailEnd type="triangle"/>
          </a:ln>
        </p:spPr>
        <p:txBody>
          <a:bodyPr/>
          <a:lstStyle/>
          <a:p>
            <a:endParaRPr lang="en-VN"/>
          </a:p>
        </p:txBody>
      </p:sp>
      <p:sp>
        <p:nvSpPr>
          <p:cNvPr id="22" name="Shape 19"/>
          <p:cNvSpPr/>
          <p:nvPr/>
        </p:nvSpPr>
        <p:spPr>
          <a:xfrm>
            <a:off x="5303520" y="4480560"/>
            <a:ext cx="1280160" cy="0"/>
          </a:xfrm>
          <a:prstGeom prst="line">
            <a:avLst/>
          </a:prstGeom>
          <a:noFill/>
          <a:ln w="19050">
            <a:solidFill>
              <a:srgbClr val="8A94A6"/>
            </a:solidFill>
            <a:prstDash val="solid"/>
            <a:tailEnd type="triangle"/>
          </a:ln>
        </p:spPr>
        <p:txBody>
          <a:bodyPr/>
          <a:lstStyle/>
          <a:p>
            <a:endParaRPr lang="en-VN"/>
          </a:p>
        </p:txBody>
      </p:sp>
      <p:sp>
        <p:nvSpPr>
          <p:cNvPr id="23" name="Text 20"/>
          <p:cNvSpPr txBox="1"/>
          <p:nvPr/>
        </p:nvSpPr>
        <p:spPr>
          <a:xfrm>
            <a:off x="5349240" y="3246120"/>
            <a:ext cx="1234440" cy="640080"/>
          </a:xfrm>
          <a:prstGeom prst="rect">
            <a:avLst/>
          </a:prstGeom>
          <a:noFill/>
          <a:ln/>
        </p:spPr>
        <p:txBody>
          <a:bodyPr wrap="square" lIns="0" tIns="0" rIns="0" bIns="0" rtlCol="0" anchor="ctr"/>
          <a:lstStyle/>
          <a:p>
            <a:pPr marL="0" indent="0" algn="ctr">
              <a:buNone/>
            </a:pPr>
            <a:r>
              <a:rPr lang="en-US" sz="1100" dirty="0">
                <a:solidFill>
                  <a:srgbClr val="5B6475"/>
                </a:solidFill>
              </a:rPr>
              <a:t>JSON-RPC</a:t>
            </a:r>
            <a:endParaRPr lang="en-US" sz="1100" dirty="0"/>
          </a:p>
          <a:p>
            <a:pPr marL="0" indent="0" algn="ctr">
              <a:buNone/>
            </a:pPr>
            <a:r>
              <a:rPr lang="en-US" sz="1100" dirty="0">
                <a:solidFill>
                  <a:srgbClr val="5B6475"/>
                </a:solidFill>
              </a:rPr>
              <a:t>stdio / HTTP</a:t>
            </a:r>
            <a:endParaRPr lang="en-US" sz="1100" dirty="0"/>
          </a:p>
        </p:txBody>
      </p:sp>
      <p:sp>
        <p:nvSpPr>
          <p:cNvPr id="24" name="Shape 21"/>
          <p:cNvSpPr/>
          <p:nvPr/>
        </p:nvSpPr>
        <p:spPr>
          <a:xfrm>
            <a:off x="10241280" y="2240280"/>
            <a:ext cx="1463040" cy="822960"/>
          </a:xfrm>
          <a:prstGeom prst="rect">
            <a:avLst/>
          </a:prstGeom>
          <a:solidFill>
            <a:srgbClr val="FFFFFF"/>
          </a:solidFill>
          <a:ln w="12700">
            <a:solidFill>
              <a:srgbClr val="8A94A6"/>
            </a:solidFill>
            <a:prstDash val="solid"/>
          </a:ln>
        </p:spPr>
        <p:txBody>
          <a:bodyPr/>
          <a:lstStyle/>
          <a:p>
            <a:endParaRPr lang="en-VN"/>
          </a:p>
        </p:txBody>
      </p:sp>
      <p:sp>
        <p:nvSpPr>
          <p:cNvPr id="25" name="Text 22"/>
          <p:cNvSpPr txBox="1"/>
          <p:nvPr/>
        </p:nvSpPr>
        <p:spPr>
          <a:xfrm>
            <a:off x="10314432" y="2240280"/>
            <a:ext cx="1316736" cy="822960"/>
          </a:xfrm>
          <a:prstGeom prst="rect">
            <a:avLst/>
          </a:prstGeom>
          <a:noFill/>
          <a:ln/>
        </p:spPr>
        <p:txBody>
          <a:bodyPr wrap="square" lIns="0" tIns="0" rIns="0" bIns="0" rtlCol="0" anchor="ctr"/>
          <a:lstStyle/>
          <a:p>
            <a:pPr marL="0" indent="0" algn="ctr">
              <a:buNone/>
            </a:pPr>
            <a:r>
              <a:rPr lang="en-US" sz="1300" dirty="0">
                <a:solidFill>
                  <a:srgbClr val="1F2937"/>
                </a:solidFill>
              </a:rPr>
              <a:t>CSV data</a:t>
            </a:r>
            <a:endParaRPr lang="en-US" sz="1300" dirty="0"/>
          </a:p>
        </p:txBody>
      </p:sp>
      <p:sp>
        <p:nvSpPr>
          <p:cNvPr id="26" name="Shape 23"/>
          <p:cNvSpPr/>
          <p:nvPr/>
        </p:nvSpPr>
        <p:spPr>
          <a:xfrm>
            <a:off x="10241280" y="4069080"/>
            <a:ext cx="1463040" cy="822960"/>
          </a:xfrm>
          <a:prstGeom prst="rect">
            <a:avLst/>
          </a:prstGeom>
          <a:solidFill>
            <a:srgbClr val="FFFFFF"/>
          </a:solidFill>
          <a:ln w="12700">
            <a:solidFill>
              <a:srgbClr val="8A94A6"/>
            </a:solidFill>
            <a:prstDash val="solid"/>
          </a:ln>
        </p:spPr>
        <p:txBody>
          <a:bodyPr/>
          <a:lstStyle/>
          <a:p>
            <a:endParaRPr lang="en-VN"/>
          </a:p>
        </p:txBody>
      </p:sp>
      <p:sp>
        <p:nvSpPr>
          <p:cNvPr id="27" name="Text 24"/>
          <p:cNvSpPr txBox="1"/>
          <p:nvPr/>
        </p:nvSpPr>
        <p:spPr>
          <a:xfrm>
            <a:off x="10314432" y="4069080"/>
            <a:ext cx="1316736" cy="822960"/>
          </a:xfrm>
          <a:prstGeom prst="rect">
            <a:avLst/>
          </a:prstGeom>
          <a:noFill/>
          <a:ln/>
        </p:spPr>
        <p:txBody>
          <a:bodyPr wrap="square" lIns="0" tIns="0" rIns="0" bIns="0" rtlCol="0" anchor="ctr"/>
          <a:lstStyle/>
          <a:p>
            <a:pPr marL="0" indent="0" algn="ctr">
              <a:buNone/>
            </a:pPr>
            <a:r>
              <a:rPr lang="en-US" sz="1300" dirty="0">
                <a:solidFill>
                  <a:srgbClr val="1F2937"/>
                </a:solidFill>
              </a:rPr>
              <a:t>Clock ·</a:t>
            </a:r>
            <a:endParaRPr lang="en-US" sz="1300" dirty="0"/>
          </a:p>
          <a:p>
            <a:pPr marL="0" indent="0" algn="ctr">
              <a:buNone/>
            </a:pPr>
            <a:r>
              <a:rPr lang="en-US" sz="1300" dirty="0">
                <a:solidFill>
                  <a:srgbClr val="1F2937"/>
                </a:solidFill>
              </a:rPr>
              <a:t>report files</a:t>
            </a:r>
            <a:endParaRPr lang="en-US" sz="1300" dirty="0"/>
          </a:p>
        </p:txBody>
      </p:sp>
      <p:sp>
        <p:nvSpPr>
          <p:cNvPr id="28" name="Shape 25"/>
          <p:cNvSpPr/>
          <p:nvPr/>
        </p:nvSpPr>
        <p:spPr>
          <a:xfrm>
            <a:off x="9875520" y="2651760"/>
            <a:ext cx="365760" cy="0"/>
          </a:xfrm>
          <a:prstGeom prst="line">
            <a:avLst/>
          </a:prstGeom>
          <a:noFill/>
          <a:ln w="19050">
            <a:solidFill>
              <a:srgbClr val="8A94A6"/>
            </a:solidFill>
            <a:prstDash val="solid"/>
            <a:tailEnd type="triangle"/>
          </a:ln>
        </p:spPr>
        <p:txBody>
          <a:bodyPr/>
          <a:lstStyle/>
          <a:p>
            <a:endParaRPr lang="en-VN"/>
          </a:p>
        </p:txBody>
      </p:sp>
      <p:sp>
        <p:nvSpPr>
          <p:cNvPr id="29" name="Shape 26"/>
          <p:cNvSpPr/>
          <p:nvPr/>
        </p:nvSpPr>
        <p:spPr>
          <a:xfrm>
            <a:off x="9875520" y="4480560"/>
            <a:ext cx="365760" cy="0"/>
          </a:xfrm>
          <a:prstGeom prst="line">
            <a:avLst/>
          </a:prstGeom>
          <a:noFill/>
          <a:ln w="19050">
            <a:solidFill>
              <a:srgbClr val="8A94A6"/>
            </a:solidFill>
            <a:prstDash val="solid"/>
            <a:tailEnd type="triangle"/>
          </a:ln>
        </p:spPr>
        <p:txBody>
          <a:bodyPr/>
          <a:lstStyle/>
          <a:p>
            <a:endParaRPr lang="en-VN"/>
          </a:p>
        </p:txBody>
      </p:sp>
      <p:sp>
        <p:nvSpPr>
          <p:cNvPr id="4"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marL="0" indent="0">
              <a:buNone/>
            </a:pPr>
            <a:r>
              <a:rPr lang="en-US" sz="1200" b="1" kern="0" spc="200" dirty="0">
                <a:solidFill>
                  <a:srgbClr val="0F8B8D"/>
                </a:solidFill>
              </a:rPr>
              <a:t>MCP ARCHITECTURE</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marL="0" indent="0">
              <a:buNone/>
            </a:pPr>
            <a:r>
              <a:rPr lang="en-US" sz="3000" b="1" dirty="0">
                <a:solidFill>
                  <a:srgbClr val="1F2937"/>
                </a:solidFill>
              </a:rPr>
              <a:t>What a server offers: Tools · Resources · Prompts</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554480"/>
          <a:ext cx="11247120" cy="3291840"/>
        </p:xfrm>
        <a:graphic>
          <a:graphicData uri="http://schemas.openxmlformats.org/drawingml/2006/table">
            <a:tbl>
              <a:tblPr/>
              <a:tblGrid>
                <a:gridCol w="164592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3200400">
                  <a:extLst>
                    <a:ext uri="{9D8B030D-6E8A-4147-A177-3AD203B41FA5}">
                      <a16:colId xmlns:a16="http://schemas.microsoft.com/office/drawing/2014/main" val="20003"/>
                    </a:ext>
                  </a:extLst>
                </a:gridCol>
              </a:tblGrid>
              <a:tr h="822960">
                <a:tc>
                  <a:txBody>
                    <a:bodyPr/>
                    <a:lstStyle/>
                    <a:p>
                      <a:pPr marL="0" indent="0">
                        <a:buNone/>
                      </a:pPr>
                      <a:r>
                        <a:rPr lang="en-US" sz="1600" b="1" dirty="0">
                          <a:solidFill>
                            <a:srgbClr val="FFFFFF"/>
                          </a:solidFill>
                        </a:rPr>
                        <a:t>Primitive</a:t>
                      </a:r>
                      <a:endParaRPr lang="en-US" sz="16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marL="0" indent="0">
                        <a:buNone/>
                      </a:pPr>
                      <a:r>
                        <a:rPr lang="en-US" sz="1600" b="1" dirty="0">
                          <a:solidFill>
                            <a:srgbClr val="FFFFFF"/>
                          </a:solidFill>
                        </a:rPr>
                        <a:t>Who controls it</a:t>
                      </a:r>
                      <a:endParaRPr lang="en-US" sz="16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marL="0" indent="0">
                        <a:buNone/>
                      </a:pPr>
                      <a:r>
                        <a:rPr lang="en-US" sz="1600" b="1" dirty="0">
                          <a:solidFill>
                            <a:srgbClr val="FFFFFF"/>
                          </a:solidFill>
                        </a:rPr>
                        <a:t>What it is</a:t>
                      </a:r>
                      <a:endParaRPr lang="en-US" sz="16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marL="0" indent="0">
                        <a:buNone/>
                      </a:pPr>
                      <a:r>
                        <a:rPr lang="en-US" sz="1600" b="1" dirty="0">
                          <a:solidFill>
                            <a:srgbClr val="FFFFFF"/>
                          </a:solidFill>
                        </a:rPr>
                        <a:t>Our example</a:t>
                      </a:r>
                      <a:endParaRPr lang="en-US" sz="16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822960">
                <a:tc>
                  <a:txBody>
                    <a:bodyPr/>
                    <a:lstStyle/>
                    <a:p>
                      <a:pPr marL="0" indent="0">
                        <a:buNone/>
                      </a:pPr>
                      <a:r>
                        <a:rPr lang="en-US" sz="1600" dirty="0">
                          <a:solidFill>
                            <a:srgbClr val="1F2937"/>
                          </a:solidFill>
                        </a:rPr>
                        <a:t>Tool</a:t>
                      </a:r>
                      <a:endParaRPr lang="en-US" sz="16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600" dirty="0">
                          <a:solidFill>
                            <a:srgbClr val="1F2937"/>
                          </a:solidFill>
                        </a:rPr>
                        <a:t>the MODEL decides to call it</a:t>
                      </a:r>
                      <a:endParaRPr lang="en-US" sz="16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600" dirty="0">
                          <a:solidFill>
                            <a:srgbClr val="1F2937"/>
                          </a:solidFill>
                        </a:rPr>
                        <a:t>A function with typed input and output</a:t>
                      </a:r>
                      <a:endParaRPr lang="en-US" sz="16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calculate_gpa(student_id)</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extLst>
                  <a:ext uri="{0D108BD9-81ED-4DB2-BD59-A6C34878D82A}">
                    <a16:rowId xmlns:a16="http://schemas.microsoft.com/office/drawing/2014/main" val="10001"/>
                  </a:ext>
                </a:extLst>
              </a:tr>
              <a:tr h="822960">
                <a:tc>
                  <a:txBody>
                    <a:bodyPr/>
                    <a:lstStyle/>
                    <a:p>
                      <a:pPr marL="0" indent="0">
                        <a:buNone/>
                      </a:pPr>
                      <a:r>
                        <a:rPr lang="en-US" sz="1600" dirty="0">
                          <a:solidFill>
                            <a:srgbClr val="1F2937"/>
                          </a:solidFill>
                        </a:rPr>
                        <a:t>Resource</a:t>
                      </a:r>
                      <a:endParaRPr lang="en-US" sz="16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marL="0" indent="0">
                        <a:buNone/>
                      </a:pPr>
                      <a:r>
                        <a:rPr lang="en-US" sz="1600" dirty="0">
                          <a:solidFill>
                            <a:srgbClr val="1F2937"/>
                          </a:solidFill>
                        </a:rPr>
                        <a:t>the APP / USER attaches it</a:t>
                      </a:r>
                      <a:endParaRPr lang="en-US" sz="16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marL="0" indent="0">
                        <a:buNone/>
                      </a:pPr>
                      <a:r>
                        <a:rPr lang="en-US" sz="1600" dirty="0">
                          <a:solidFill>
                            <a:srgbClr val="1F2937"/>
                          </a:solidFill>
                        </a:rPr>
                        <a:t>Read-only data addressed by a URI</a:t>
                      </a:r>
                      <a:endParaRPr lang="en-US" sz="16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academic://students/2201010</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extLst>
                  <a:ext uri="{0D108BD9-81ED-4DB2-BD59-A6C34878D82A}">
                    <a16:rowId xmlns:a16="http://schemas.microsoft.com/office/drawing/2014/main" val="10002"/>
                  </a:ext>
                </a:extLst>
              </a:tr>
              <a:tr h="822960">
                <a:tc>
                  <a:txBody>
                    <a:bodyPr/>
                    <a:lstStyle/>
                    <a:p>
                      <a:pPr marL="0" indent="0">
                        <a:buNone/>
                      </a:pPr>
                      <a:r>
                        <a:rPr lang="en-US" sz="1600" dirty="0">
                          <a:solidFill>
                            <a:srgbClr val="1F2937"/>
                          </a:solidFill>
                        </a:rPr>
                        <a:t>Prompt</a:t>
                      </a:r>
                      <a:endParaRPr lang="en-US" sz="16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600" dirty="0">
                          <a:solidFill>
                            <a:srgbClr val="1F2937"/>
                          </a:solidFill>
                        </a:rPr>
                        <a:t>the USER picks it (like /command)</a:t>
                      </a:r>
                      <a:endParaRPr lang="en-US" sz="16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600" dirty="0">
                          <a:solidFill>
                            <a:srgbClr val="1F2937"/>
                          </a:solidFill>
                        </a:rPr>
                        <a:t>A ready-made message template</a:t>
                      </a:r>
                      <a:endParaRPr lang="en-US" sz="16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class_report(class_id)</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Text 2"/>
          <p:cNvSpPr txBox="1"/>
          <p:nvPr/>
        </p:nvSpPr>
        <p:spPr>
          <a:xfrm>
            <a:off x="457200" y="5120640"/>
            <a:ext cx="11247120" cy="731520"/>
          </a:xfrm>
          <a:prstGeom prst="rect">
            <a:avLst/>
          </a:prstGeom>
          <a:noFill/>
          <a:ln/>
        </p:spPr>
        <p:txBody>
          <a:bodyPr wrap="square" lIns="0" tIns="0" rIns="0" bIns="0" rtlCol="0" anchor="ctr"/>
          <a:lstStyle/>
          <a:p>
            <a:pPr marL="0" indent="0">
              <a:buNone/>
            </a:pPr>
            <a:r>
              <a:rPr lang="en-US" sz="1500" dirty="0">
                <a:solidFill>
                  <a:srgbClr val="5B6475"/>
                </a:solidFill>
              </a:rPr>
              <a:t>Advanced features we also use: elicitation (server asks the user to confirm) · sampling (server borrows the host's LLM) · progress · subscriptions</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marL="0" indent="0">
              <a:buNone/>
            </a:pPr>
            <a:r>
              <a:rPr lang="en-US" sz="1200" b="1" kern="0" spc="200" dirty="0">
                <a:solidFill>
                  <a:srgbClr val="0F8B8D"/>
                </a:solidFill>
              </a:rPr>
              <a:t>MCP ARCHITECTURE</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marL="0" indent="0">
              <a:buNone/>
            </a:pPr>
            <a:r>
              <a:rPr lang="en-US" sz="3000" b="1" dirty="0">
                <a:solidFill>
                  <a:srgbClr val="1F2937"/>
                </a:solidFill>
              </a:rPr>
              <a:t>Under the hood: JSON-RPC, two protocol eras, two transports</a:t>
            </a:r>
            <a:endParaRPr lang="en-US" sz="3000" dirty="0"/>
          </a:p>
        </p:txBody>
      </p:sp>
      <p:sp>
        <p:nvSpPr>
          <p:cNvPr id="5" name="Shape 2"/>
          <p:cNvSpPr/>
          <p:nvPr/>
        </p:nvSpPr>
        <p:spPr>
          <a:xfrm>
            <a:off x="457200" y="1463040"/>
            <a:ext cx="5852160" cy="3840480"/>
          </a:xfrm>
          <a:prstGeom prst="rect">
            <a:avLst/>
          </a:prstGeom>
          <a:solidFill>
            <a:srgbClr val="F6F8FA"/>
          </a:solidFill>
          <a:ln w="12700">
            <a:solidFill>
              <a:srgbClr val="D0D7DE"/>
            </a:solidFill>
            <a:prstDash val="solid"/>
          </a:ln>
        </p:spPr>
        <p:txBody>
          <a:bodyPr/>
          <a:lstStyle/>
          <a:p>
            <a:endParaRPr lang="en-VN"/>
          </a:p>
        </p:txBody>
      </p:sp>
      <p:sp>
        <p:nvSpPr>
          <p:cNvPr id="6" name="Text 3"/>
          <p:cNvSpPr txBox="1"/>
          <p:nvPr/>
        </p:nvSpPr>
        <p:spPr>
          <a:xfrm>
            <a:off x="594360" y="1554480"/>
            <a:ext cx="5577840" cy="3657600"/>
          </a:xfrm>
          <a:prstGeom prst="rect">
            <a:avLst/>
          </a:prstGeom>
          <a:noFill/>
          <a:ln/>
        </p:spPr>
        <p:txBody>
          <a:bodyPr wrap="square" lIns="0" tIns="0" rIns="0" bIns="0" rtlCol="0" anchor="t"/>
          <a:lstStyle/>
          <a:p>
            <a:pPr marL="0" indent="0">
              <a:buNone/>
            </a:pPr>
            <a:r>
              <a:rPr lang="en-US" sz="1300" dirty="0">
                <a:solidFill>
                  <a:srgbClr val="24292F"/>
                </a:solidFill>
                <a:latin typeface="Courier New" pitchFamily="34" charset="0"/>
                <a:ea typeface="Courier New" pitchFamily="34" charset="-122"/>
                <a:cs typeface="Courier New" pitchFamily="34" charset="-120"/>
              </a:rPr>
              <a:t>// request</a:t>
            </a:r>
            <a:endParaRPr lang="en-US" sz="1300" dirty="0"/>
          </a:p>
          <a:p>
            <a:pPr marL="0" indent="0">
              <a:buNone/>
            </a:pPr>
            <a:r>
              <a:rPr lang="en-US" sz="1300" dirty="0">
                <a:solidFill>
                  <a:srgbClr val="24292F"/>
                </a:solidFill>
                <a:latin typeface="Courier New" pitchFamily="34" charset="0"/>
                <a:ea typeface="Courier New" pitchFamily="34" charset="-122"/>
                <a:cs typeface="Courier New" pitchFamily="34" charset="-120"/>
              </a:rPr>
              <a:t>{ "jsonrpc": "2.0", "id": 7,</a:t>
            </a:r>
            <a:endParaRPr lang="en-US" sz="1300" dirty="0"/>
          </a:p>
          <a:p>
            <a:pPr marL="0" indent="0">
              <a:buNone/>
            </a:pPr>
            <a:r>
              <a:rPr lang="en-US" sz="1300" dirty="0">
                <a:solidFill>
                  <a:srgbClr val="24292F"/>
                </a:solidFill>
                <a:latin typeface="Courier New" pitchFamily="34" charset="0"/>
                <a:ea typeface="Courier New" pitchFamily="34" charset="-122"/>
                <a:cs typeface="Courier New" pitchFamily="34" charset="-120"/>
              </a:rPr>
              <a:t>  "method": "tools/call",</a:t>
            </a:r>
            <a:endParaRPr lang="en-US" sz="1300" dirty="0"/>
          </a:p>
          <a:p>
            <a:pPr marL="0" indent="0">
              <a:buNone/>
            </a:pPr>
            <a:r>
              <a:rPr lang="en-US" sz="1300" dirty="0">
                <a:solidFill>
                  <a:srgbClr val="24292F"/>
                </a:solidFill>
                <a:latin typeface="Courier New" pitchFamily="34" charset="0"/>
                <a:ea typeface="Courier New" pitchFamily="34" charset="-122"/>
                <a:cs typeface="Courier New" pitchFamily="34" charset="-120"/>
              </a:rPr>
              <a:t>  "params": { "name": "calculate_gpa",</a:t>
            </a:r>
            <a:endParaRPr lang="en-US" sz="1300" dirty="0"/>
          </a:p>
          <a:p>
            <a:pPr marL="0" indent="0">
              <a:buNone/>
            </a:pPr>
            <a:r>
              <a:rPr lang="en-US" sz="1300" dirty="0">
                <a:solidFill>
                  <a:srgbClr val="24292F"/>
                </a:solidFill>
                <a:latin typeface="Courier New" pitchFamily="34" charset="0"/>
                <a:ea typeface="Courier New" pitchFamily="34" charset="-122"/>
                <a:cs typeface="Courier New" pitchFamily="34" charset="-120"/>
              </a:rPr>
              <a:t>    "arguments": { "student_id": "2201010" } } }</a:t>
            </a:r>
            <a:endParaRPr lang="en-US" sz="1300" dirty="0"/>
          </a:p>
          <a:p>
            <a:pPr marL="0" indent="0">
              <a:buNone/>
            </a:pPr>
            <a:endParaRPr lang="en-US" sz="1300" dirty="0"/>
          </a:p>
          <a:p>
            <a:pPr marL="0" indent="0">
              <a:buNone/>
            </a:pPr>
            <a:r>
              <a:rPr lang="en-US" sz="1300" dirty="0">
                <a:solidFill>
                  <a:srgbClr val="24292F"/>
                </a:solidFill>
                <a:latin typeface="Courier New" pitchFamily="34" charset="0"/>
                <a:ea typeface="Courier New" pitchFamily="34" charset="-122"/>
                <a:cs typeface="Courier New" pitchFamily="34" charset="-120"/>
              </a:rPr>
              <a:t>// response (same id)</a:t>
            </a:r>
            <a:endParaRPr lang="en-US" sz="1300" dirty="0"/>
          </a:p>
          <a:p>
            <a:pPr marL="0" indent="0">
              <a:buNone/>
            </a:pPr>
            <a:r>
              <a:rPr lang="en-US" sz="1300" dirty="0">
                <a:solidFill>
                  <a:srgbClr val="24292F"/>
                </a:solidFill>
                <a:latin typeface="Courier New" pitchFamily="34" charset="0"/>
                <a:ea typeface="Courier New" pitchFamily="34" charset="-122"/>
                <a:cs typeface="Courier New" pitchFamily="34" charset="-120"/>
              </a:rPr>
              <a:t>{ "jsonrpc": "2.0", "id": 7,</a:t>
            </a:r>
            <a:endParaRPr lang="en-US" sz="1300" dirty="0"/>
          </a:p>
          <a:p>
            <a:pPr marL="0" indent="0">
              <a:buNone/>
            </a:pPr>
            <a:r>
              <a:rPr lang="en-US" sz="1300" dirty="0">
                <a:solidFill>
                  <a:srgbClr val="24292F"/>
                </a:solidFill>
                <a:latin typeface="Courier New" pitchFamily="34" charset="0"/>
                <a:ea typeface="Courier New" pitchFamily="34" charset="-122"/>
                <a:cs typeface="Courier New" pitchFamily="34" charset="-120"/>
              </a:rPr>
              <a:t>  "result": { "structuredContent":</a:t>
            </a:r>
            <a:endParaRPr lang="en-US" sz="1300" dirty="0"/>
          </a:p>
          <a:p>
            <a:pPr marL="0" indent="0">
              <a:buNone/>
            </a:pPr>
            <a:r>
              <a:rPr lang="en-US" sz="1300" dirty="0">
                <a:solidFill>
                  <a:srgbClr val="24292F"/>
                </a:solidFill>
                <a:latin typeface="Courier New" pitchFamily="34" charset="0"/>
                <a:ea typeface="Courier New" pitchFamily="34" charset="-122"/>
                <a:cs typeface="Courier New" pitchFamily="34" charset="-120"/>
              </a:rPr>
              <a:t>               { "gpa": 2.06, ... } } }</a:t>
            </a:r>
            <a:endParaRPr lang="en-US" sz="1300" dirty="0"/>
          </a:p>
        </p:txBody>
      </p:sp>
      <p:sp>
        <p:nvSpPr>
          <p:cNvPr id="7" name="Text 4"/>
          <p:cNvSpPr txBox="1"/>
          <p:nvPr/>
        </p:nvSpPr>
        <p:spPr>
          <a:xfrm>
            <a:off x="457200" y="5349240"/>
            <a:ext cx="5852160" cy="274320"/>
          </a:xfrm>
          <a:prstGeom prst="rect">
            <a:avLst/>
          </a:prstGeom>
          <a:noFill/>
          <a:ln/>
        </p:spPr>
        <p:txBody>
          <a:bodyPr wrap="square" lIns="0" tIns="0" rIns="0" bIns="0" rtlCol="0" anchor="ctr"/>
          <a:lstStyle/>
          <a:p>
            <a:pPr marL="0" indent="0">
              <a:buNone/>
            </a:pPr>
            <a:r>
              <a:rPr lang="en-US" sz="1100" i="1" dirty="0">
                <a:solidFill>
                  <a:srgbClr val="5B6475"/>
                </a:solidFill>
              </a:rPr>
              <a:t>Real messages: outputs/examples/c5-wire-trace.json</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583680" y="1463040"/>
          <a:ext cx="5120640" cy="1231392"/>
        </p:xfrm>
        <a:graphic>
          <a:graphicData uri="http://schemas.openxmlformats.org/drawingml/2006/table">
            <a:tbl>
              <a:tblPr/>
              <a:tblGrid>
                <a:gridCol w="173736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tblGrid>
              <a:tr h="0">
                <a:tc>
                  <a:txBody>
                    <a:bodyPr/>
                    <a:lstStyle/>
                    <a:p>
                      <a:pPr marL="0" indent="0">
                        <a:buNone/>
                      </a:pP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rPr>
                        <a:t>2025 era</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rPr>
                        <a:t>2026-07-28 era</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0">
                <a:tc>
                  <a:txBody>
                    <a:bodyPr/>
                    <a:lstStyle/>
                    <a:p>
                      <a:pPr marL="0" indent="0">
                        <a:buNone/>
                      </a:pPr>
                      <a:r>
                        <a:rPr lang="en-US" sz="1300" dirty="0">
                          <a:solidFill>
                            <a:srgbClr val="1F2937"/>
                          </a:solidFill>
                        </a:rPr>
                        <a:t>Opens with</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initialize</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server/discover</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pPr marL="0" indent="0">
                        <a:buNone/>
                      </a:pPr>
                      <a:r>
                        <a:rPr lang="en-US" sz="1300" dirty="0">
                          <a:solidFill>
                            <a:srgbClr val="1F2937"/>
                          </a:solidFill>
                        </a:rPr>
                        <a:t>Requests to connect</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marL="0" indent="0">
                        <a:buNone/>
                      </a:pPr>
                      <a:r>
                        <a:rPr lang="en-US" sz="1300" dirty="0">
                          <a:solidFill>
                            <a:srgbClr val="1F2937"/>
                          </a:solidFill>
                        </a:rPr>
                        <a:t>2</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marL="0" indent="0">
                        <a:buNone/>
                      </a:pPr>
                      <a:r>
                        <a:rPr lang="en-US" sz="1300" dirty="0">
                          <a:solidFill>
                            <a:srgbClr val="1F2937"/>
                          </a:solidFill>
                        </a:rPr>
                        <a:t>1 (0 with a cached result)</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0">
                <a:tc>
                  <a:txBody>
                    <a:bodyPr/>
                    <a:lstStyle/>
                    <a:p>
                      <a:pPr marL="0" indent="0">
                        <a:buNone/>
                      </a:pPr>
                      <a:r>
                        <a:rPr lang="en-US" sz="1300" dirty="0">
                          <a:solidFill>
                            <a:srgbClr val="1F2937"/>
                          </a:solidFill>
                        </a:rPr>
                        <a:t>Session</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rPr>
                        <a:t>stateful</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rPr>
                        <a:t>stateless</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graphicFrame>
        <p:nvGraphicFramePr>
          <p:cNvPr id="25" name="Table 1"/>
          <p:cNvGraphicFramePr>
            <a:graphicFrameLocks noGrp="1"/>
          </p:cNvGraphicFramePr>
          <p:nvPr>
            <p:extLst>
              <p:ext uri="{D42A27DB-BD31-4B8C-83A1-F6EECF244321}">
                <p14:modId xmlns:p14="http://schemas.microsoft.com/office/powerpoint/2010/main" val="1579011935"/>
              </p:ext>
            </p:extLst>
          </p:nvPr>
        </p:nvGraphicFramePr>
        <p:xfrm>
          <a:off x="6583680" y="3657600"/>
          <a:ext cx="5120640" cy="1319784"/>
        </p:xfrm>
        <a:graphic>
          <a:graphicData uri="http://schemas.openxmlformats.org/drawingml/2006/table">
            <a:tbl>
              <a:tblPr/>
              <a:tblGrid>
                <a:gridCol w="146304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tblGrid>
              <a:tr h="0">
                <a:tc>
                  <a:txBody>
                    <a:bodyPr/>
                    <a:lstStyle/>
                    <a:p>
                      <a:pPr marL="0" indent="0">
                        <a:buNone/>
                      </a:pPr>
                      <a:r>
                        <a:rPr lang="en-US" sz="1300" b="1" dirty="0">
                          <a:solidFill>
                            <a:srgbClr val="FFFFFF"/>
                          </a:solidFill>
                        </a:rPr>
                        <a:t>Transport</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rPr>
                        <a:t>How</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rPr>
                        <a:t>Connect (measured)</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0">
                <a:tc>
                  <a:txBody>
                    <a:bodyPr/>
                    <a:lstStyle/>
                    <a:p>
                      <a:pPr marL="0" indent="0">
                        <a:buNone/>
                      </a:pPr>
                      <a:r>
                        <a:rPr lang="en-US" sz="1300" dirty="0">
                          <a:solidFill>
                            <a:srgbClr val="1F2937"/>
                          </a:solidFill>
                        </a:rPr>
                        <a:t>stdio</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rPr>
                        <a:t>host starts server as a child process</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rPr>
                        <a:t>≈ 181 ms</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300" dirty="0">
                          <a:solidFill>
                            <a:srgbClr val="1F2937"/>
                          </a:solidFill>
                        </a:rPr>
                        <a:t>Streamable HTTP</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marL="0" indent="0">
                        <a:buNone/>
                      </a:pPr>
                      <a:r>
                        <a:rPr lang="en-US" sz="1300" dirty="0">
                          <a:solidFill>
                            <a:srgbClr val="1F2937"/>
                          </a:solidFill>
                        </a:rPr>
                        <a:t>server runs separately, by URL</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marL="0" indent="0">
                        <a:buNone/>
                      </a:pPr>
                      <a:r>
                        <a:rPr lang="en-US" sz="1300" dirty="0">
                          <a:solidFill>
                            <a:srgbClr val="1F2937"/>
                          </a:solidFill>
                        </a:rPr>
                        <a:t>≈ 6–32 ms</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bl>
          </a:graphicData>
        </a:graphic>
      </p:graphicFrame>
      <p:sp>
        <p:nvSpPr>
          <p:cNvPr id="4"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731520" y="1828800"/>
            <a:ext cx="2743200" cy="1097280"/>
          </a:xfrm>
          <a:prstGeom prst="rect">
            <a:avLst/>
          </a:prstGeom>
          <a:noFill/>
          <a:ln/>
        </p:spPr>
        <p:txBody>
          <a:bodyPr wrap="square" lIns="0" tIns="0" rIns="0" bIns="0" rtlCol="0" anchor="ctr"/>
          <a:lstStyle/>
          <a:p>
            <a:pPr marL="0" indent="0">
              <a:buNone/>
            </a:pPr>
            <a:r>
              <a:rPr lang="en-US" sz="7200" b="1" dirty="0">
                <a:solidFill>
                  <a:srgbClr val="0F8B8D"/>
                </a:solidFill>
              </a:rPr>
              <a:t>1</a:t>
            </a:r>
            <a:endParaRPr lang="en-US" sz="7200" dirty="0"/>
          </a:p>
        </p:txBody>
      </p:sp>
      <p:sp>
        <p:nvSpPr>
          <p:cNvPr id="3" name="Text 1"/>
          <p:cNvSpPr txBox="1"/>
          <p:nvPr/>
        </p:nvSpPr>
        <p:spPr>
          <a:xfrm>
            <a:off x="731520" y="2926080"/>
            <a:ext cx="10515600" cy="822960"/>
          </a:xfrm>
          <a:prstGeom prst="rect">
            <a:avLst/>
          </a:prstGeom>
          <a:noFill/>
          <a:ln/>
        </p:spPr>
        <p:txBody>
          <a:bodyPr wrap="square" lIns="0" tIns="0" rIns="0" bIns="0" rtlCol="0" anchor="ctr"/>
          <a:lstStyle/>
          <a:p>
            <a:pPr marL="0" indent="0">
              <a:buNone/>
            </a:pPr>
            <a:r>
              <a:rPr lang="en-US" sz="4000" b="1" dirty="0">
                <a:solidFill>
                  <a:srgbClr val="FFFFFF"/>
                </a:solidFill>
              </a:rPr>
              <a:t>Problem description</a:t>
            </a:r>
            <a:endParaRPr lang="en-US" sz="4000" dirty="0"/>
          </a:p>
        </p:txBody>
      </p:sp>
      <p:sp>
        <p:nvSpPr>
          <p:cNvPr id="4" name="Text 2"/>
          <p:cNvSpPr txBox="1"/>
          <p:nvPr/>
        </p:nvSpPr>
        <p:spPr>
          <a:xfrm>
            <a:off x="731520" y="3794760"/>
            <a:ext cx="10515600" cy="548640"/>
          </a:xfrm>
          <a:prstGeom prst="rect">
            <a:avLst/>
          </a:prstGeom>
          <a:noFill/>
          <a:ln/>
        </p:spPr>
        <p:txBody>
          <a:bodyPr wrap="square" lIns="0" tIns="0" rIns="0" bIns="0" rtlCol="0" anchor="ctr"/>
          <a:lstStyle/>
          <a:p>
            <a:pPr marL="0" indent="0">
              <a:buNone/>
            </a:pPr>
            <a:r>
              <a:rPr lang="en-US" sz="1800" dirty="0">
                <a:solidFill>
                  <a:srgbClr val="C9D3E6"/>
                </a:solidFill>
              </a:rPr>
              <a:t>An academic records assistant</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marL="0" indent="0">
              <a:buNone/>
            </a:pPr>
            <a:r>
              <a:rPr lang="en-US" sz="1200" b="1" kern="0" spc="200" dirty="0">
                <a:solidFill>
                  <a:srgbClr val="0F8B8D"/>
                </a:solidFill>
              </a:rPr>
              <a:t>REQUIREMENT 1 · PROBLEM</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marL="0" indent="0">
              <a:buNone/>
            </a:pPr>
            <a:r>
              <a:rPr lang="en-US" sz="3000" b="1" dirty="0">
                <a:solidFill>
                  <a:srgbClr val="1F2937"/>
                </a:solidFill>
              </a:rPr>
              <a:t>Our problem: ask about grades in plain English</a:t>
            </a:r>
            <a:endParaRPr lang="en-US" sz="3000" dirty="0"/>
          </a:p>
        </p:txBody>
      </p:sp>
      <p:sp>
        <p:nvSpPr>
          <p:cNvPr id="5" name="Shape 2"/>
          <p:cNvSpPr/>
          <p:nvPr/>
        </p:nvSpPr>
        <p:spPr>
          <a:xfrm>
            <a:off x="457200" y="1463040"/>
            <a:ext cx="11247120" cy="1188720"/>
          </a:xfrm>
          <a:prstGeom prst="roundRect">
            <a:avLst>
              <a:gd name="adj" fmla="val 6154"/>
            </a:avLst>
          </a:prstGeom>
          <a:solidFill>
            <a:srgbClr val="EEF2F6"/>
          </a:solidFill>
          <a:ln w="12700">
            <a:solidFill>
              <a:srgbClr val="EEF2F6"/>
            </a:solidFill>
            <a:prstDash val="solid"/>
          </a:ln>
        </p:spPr>
        <p:txBody>
          <a:bodyPr/>
          <a:lstStyle/>
          <a:p>
            <a:endParaRPr lang="en-VN"/>
          </a:p>
        </p:txBody>
      </p:sp>
      <p:sp>
        <p:nvSpPr>
          <p:cNvPr id="6" name="Text 3"/>
          <p:cNvSpPr txBox="1"/>
          <p:nvPr/>
        </p:nvSpPr>
        <p:spPr>
          <a:xfrm>
            <a:off x="731520" y="1463040"/>
            <a:ext cx="10698480" cy="1188720"/>
          </a:xfrm>
          <a:prstGeom prst="rect">
            <a:avLst/>
          </a:prstGeom>
          <a:noFill/>
          <a:ln/>
        </p:spPr>
        <p:txBody>
          <a:bodyPr wrap="square" lIns="0" tIns="0" rIns="0" bIns="0" rtlCol="0" anchor="ctr"/>
          <a:lstStyle/>
          <a:p>
            <a:pPr marL="0" indent="0">
              <a:buNone/>
            </a:pPr>
            <a:r>
              <a:rPr lang="en-US" sz="1700" b="1" dirty="0">
                <a:solidFill>
                  <a:srgbClr val="0F8B8D"/>
                </a:solidFill>
              </a:rPr>
              <a:t>Example questions: </a:t>
            </a:r>
            <a:r>
              <a:rPr lang="en-US" sz="1700" i="1" dirty="0">
                <a:solidFill>
                  <a:srgbClr val="1F2937"/>
                </a:solidFill>
              </a:rPr>
              <a:t>"What is the cumulative GPA of student 2201010?" · "What grades did Hải get in 2024-1?" · "Write a report for class IT01 and save it."</a:t>
            </a:r>
            <a:endParaRPr lang="en-US" sz="1700" dirty="0"/>
          </a:p>
        </p:txBody>
      </p:sp>
      <p:sp>
        <p:nvSpPr>
          <p:cNvPr id="7" name="Shape 4"/>
          <p:cNvSpPr/>
          <p:nvPr/>
        </p:nvSpPr>
        <p:spPr>
          <a:xfrm>
            <a:off x="457200" y="3017520"/>
            <a:ext cx="3566160" cy="2743200"/>
          </a:xfrm>
          <a:prstGeom prst="roundRect">
            <a:avLst>
              <a:gd name="adj" fmla="val 2667"/>
            </a:avLst>
          </a:prstGeom>
          <a:solidFill>
            <a:srgbClr val="EEF2F6"/>
          </a:solidFill>
          <a:ln w="12700">
            <a:solidFill>
              <a:srgbClr val="EEF2F6"/>
            </a:solidFill>
            <a:prstDash val="solid"/>
          </a:ln>
        </p:spPr>
        <p:txBody>
          <a:bodyPr/>
          <a:lstStyle/>
          <a:p>
            <a:endParaRPr lang="en-VN"/>
          </a:p>
        </p:txBody>
      </p:sp>
      <p:sp>
        <p:nvSpPr>
          <p:cNvPr id="8" name="Text 5"/>
          <p:cNvSpPr txBox="1"/>
          <p:nvPr/>
        </p:nvSpPr>
        <p:spPr>
          <a:xfrm>
            <a:off x="640080" y="3154680"/>
            <a:ext cx="3200400" cy="457200"/>
          </a:xfrm>
          <a:prstGeom prst="rect">
            <a:avLst/>
          </a:prstGeom>
          <a:noFill/>
          <a:ln/>
        </p:spPr>
        <p:txBody>
          <a:bodyPr wrap="square" lIns="0" tIns="0" rIns="0" bIns="0" rtlCol="0" anchor="t"/>
          <a:lstStyle/>
          <a:p>
            <a:pPr marL="0" indent="0">
              <a:buNone/>
            </a:pPr>
            <a:r>
              <a:rPr lang="en-US" sz="1800" b="1" dirty="0">
                <a:solidFill>
                  <a:srgbClr val="0F8B8D"/>
                </a:solidFill>
              </a:rPr>
              <a:t>① Exact numbers</a:t>
            </a:r>
            <a:endParaRPr lang="en-US" sz="1800" dirty="0"/>
          </a:p>
        </p:txBody>
      </p:sp>
      <p:sp>
        <p:nvSpPr>
          <p:cNvPr id="9" name="Text 6"/>
          <p:cNvSpPr txBox="1"/>
          <p:nvPr/>
        </p:nvSpPr>
        <p:spPr>
          <a:xfrm>
            <a:off x="640080" y="3657600"/>
            <a:ext cx="3200400" cy="1965960"/>
          </a:xfrm>
          <a:prstGeom prst="rect">
            <a:avLst/>
          </a:prstGeom>
          <a:noFill/>
          <a:ln/>
        </p:spPr>
        <p:txBody>
          <a:bodyPr wrap="square" lIns="0" tIns="0" rIns="0" bIns="0" rtlCol="0" anchor="t"/>
          <a:lstStyle/>
          <a:p>
            <a:pPr marL="0" indent="0">
              <a:buNone/>
            </a:pPr>
            <a:r>
              <a:rPr lang="en-US" sz="1400" dirty="0">
                <a:solidFill>
                  <a:srgbClr val="1F2937"/>
                </a:solidFill>
              </a:rPr>
              <a:t>GPA and statistics are computed by code in the MCP server — never estimated by the LLM</a:t>
            </a:r>
            <a:endParaRPr lang="en-US" sz="1400" dirty="0"/>
          </a:p>
        </p:txBody>
      </p:sp>
      <p:sp>
        <p:nvSpPr>
          <p:cNvPr id="10" name="Shape 7"/>
          <p:cNvSpPr/>
          <p:nvPr/>
        </p:nvSpPr>
        <p:spPr>
          <a:xfrm>
            <a:off x="4297680" y="3017520"/>
            <a:ext cx="3566160" cy="2743200"/>
          </a:xfrm>
          <a:prstGeom prst="roundRect">
            <a:avLst>
              <a:gd name="adj" fmla="val 2667"/>
            </a:avLst>
          </a:prstGeom>
          <a:solidFill>
            <a:srgbClr val="EEF2F6"/>
          </a:solidFill>
          <a:ln w="12700">
            <a:solidFill>
              <a:srgbClr val="EEF2F6"/>
            </a:solidFill>
            <a:prstDash val="solid"/>
          </a:ln>
        </p:spPr>
        <p:txBody>
          <a:bodyPr/>
          <a:lstStyle/>
          <a:p>
            <a:endParaRPr lang="en-VN"/>
          </a:p>
        </p:txBody>
      </p:sp>
      <p:sp>
        <p:nvSpPr>
          <p:cNvPr id="11" name="Text 8"/>
          <p:cNvSpPr txBox="1"/>
          <p:nvPr/>
        </p:nvSpPr>
        <p:spPr>
          <a:xfrm>
            <a:off x="4480560" y="3154680"/>
            <a:ext cx="3200400" cy="457200"/>
          </a:xfrm>
          <a:prstGeom prst="rect">
            <a:avLst/>
          </a:prstGeom>
          <a:noFill/>
          <a:ln/>
        </p:spPr>
        <p:txBody>
          <a:bodyPr wrap="square" lIns="0" tIns="0" rIns="0" bIns="0" rtlCol="0" anchor="t"/>
          <a:lstStyle/>
          <a:p>
            <a:pPr marL="0" indent="0">
              <a:buNone/>
            </a:pPr>
            <a:r>
              <a:rPr lang="en-US" sz="1800" b="1" dirty="0">
                <a:solidFill>
                  <a:srgbClr val="0F8B8D"/>
                </a:solidFill>
              </a:rPr>
              <a:t>② Human in the loop</a:t>
            </a:r>
            <a:endParaRPr lang="en-US" sz="1800" dirty="0"/>
          </a:p>
        </p:txBody>
      </p:sp>
      <p:sp>
        <p:nvSpPr>
          <p:cNvPr id="12" name="Text 9"/>
          <p:cNvSpPr txBox="1"/>
          <p:nvPr/>
        </p:nvSpPr>
        <p:spPr>
          <a:xfrm>
            <a:off x="4480560" y="3657600"/>
            <a:ext cx="3200400" cy="1965960"/>
          </a:xfrm>
          <a:prstGeom prst="rect">
            <a:avLst/>
          </a:prstGeom>
          <a:noFill/>
          <a:ln/>
        </p:spPr>
        <p:txBody>
          <a:bodyPr wrap="square" lIns="0" tIns="0" rIns="0" bIns="0" rtlCol="0" anchor="t"/>
          <a:lstStyle/>
          <a:p>
            <a:pPr marL="0" indent="0">
              <a:buNone/>
            </a:pPr>
            <a:r>
              <a:rPr lang="en-US" sz="1400" dirty="0">
                <a:solidFill>
                  <a:srgbClr val="1F2937"/>
                </a:solidFill>
              </a:rPr>
              <a:t>Changing a grade or overwriting a report requires the user's confirmation (MCP elicitation)</a:t>
            </a:r>
            <a:endParaRPr lang="en-US" sz="1400" dirty="0"/>
          </a:p>
        </p:txBody>
      </p:sp>
      <p:sp>
        <p:nvSpPr>
          <p:cNvPr id="13" name="Shape 10"/>
          <p:cNvSpPr/>
          <p:nvPr/>
        </p:nvSpPr>
        <p:spPr>
          <a:xfrm>
            <a:off x="8138160" y="3017520"/>
            <a:ext cx="3566160" cy="2743200"/>
          </a:xfrm>
          <a:prstGeom prst="roundRect">
            <a:avLst>
              <a:gd name="adj" fmla="val 2667"/>
            </a:avLst>
          </a:prstGeom>
          <a:solidFill>
            <a:srgbClr val="EEF2F6"/>
          </a:solidFill>
          <a:ln w="12700">
            <a:solidFill>
              <a:srgbClr val="EEF2F6"/>
            </a:solidFill>
            <a:prstDash val="solid"/>
          </a:ln>
        </p:spPr>
        <p:txBody>
          <a:bodyPr/>
          <a:lstStyle/>
          <a:p>
            <a:endParaRPr lang="en-VN"/>
          </a:p>
        </p:txBody>
      </p:sp>
      <p:sp>
        <p:nvSpPr>
          <p:cNvPr id="14" name="Text 11"/>
          <p:cNvSpPr txBox="1"/>
          <p:nvPr/>
        </p:nvSpPr>
        <p:spPr>
          <a:xfrm>
            <a:off x="8321040" y="3154680"/>
            <a:ext cx="3200400" cy="457200"/>
          </a:xfrm>
          <a:prstGeom prst="rect">
            <a:avLst/>
          </a:prstGeom>
          <a:noFill/>
          <a:ln/>
        </p:spPr>
        <p:txBody>
          <a:bodyPr wrap="square" lIns="0" tIns="0" rIns="0" bIns="0" rtlCol="0" anchor="t"/>
          <a:lstStyle/>
          <a:p>
            <a:pPr marL="0" indent="0">
              <a:buNone/>
            </a:pPr>
            <a:r>
              <a:rPr lang="en-US" sz="1800" b="1" dirty="0">
                <a:solidFill>
                  <a:srgbClr val="0F8B8D"/>
                </a:solidFill>
              </a:rPr>
              <a:t>③ Swap anything</a:t>
            </a:r>
            <a:endParaRPr lang="en-US" sz="1800" dirty="0"/>
          </a:p>
        </p:txBody>
      </p:sp>
      <p:sp>
        <p:nvSpPr>
          <p:cNvPr id="15" name="Text 12"/>
          <p:cNvSpPr txBox="1"/>
          <p:nvPr/>
        </p:nvSpPr>
        <p:spPr>
          <a:xfrm>
            <a:off x="8321040" y="3657600"/>
            <a:ext cx="3200400" cy="1965960"/>
          </a:xfrm>
          <a:prstGeom prst="rect">
            <a:avLst/>
          </a:prstGeom>
          <a:noFill/>
          <a:ln/>
        </p:spPr>
        <p:txBody>
          <a:bodyPr wrap="square" lIns="0" tIns="0" rIns="0" bIns="0" rtlCol="0" anchor="t"/>
          <a:lstStyle/>
          <a:p>
            <a:pPr marL="0" indent="0">
              <a:buNone/>
            </a:pPr>
            <a:r>
              <a:rPr lang="en-US" sz="1400" dirty="0">
                <a:solidFill>
                  <a:srgbClr val="1F2937"/>
                </a:solidFill>
              </a:rPr>
              <a:t>Change the LLM (Gemini ↔ Qwen) or the host (CLI ↔ VS Code) by editing a config file only</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marL="0" indent="0">
              <a:buNone/>
            </a:pPr>
            <a:r>
              <a:rPr lang="en-US" sz="1200" b="1" kern="0" spc="200" dirty="0">
                <a:solidFill>
                  <a:srgbClr val="0F8B8D"/>
                </a:solidFill>
              </a:rPr>
              <a:t>REQUIREMENT 1 · PROBLEM</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marL="0" indent="0">
              <a:buNone/>
            </a:pPr>
            <a:r>
              <a:rPr lang="en-US" sz="3000" b="1" dirty="0">
                <a:solidFill>
                  <a:srgbClr val="1F2937"/>
                </a:solidFill>
              </a:rPr>
              <a:t>Our dataset</a:t>
            </a:r>
            <a:endParaRPr lang="en-US" sz="3000" dirty="0"/>
          </a:p>
        </p:txBody>
      </p:sp>
      <p:sp>
        <p:nvSpPr>
          <p:cNvPr id="5" name="Text 2"/>
          <p:cNvSpPr txBox="1"/>
          <p:nvPr/>
        </p:nvSpPr>
        <p:spPr>
          <a:xfrm>
            <a:off x="457200" y="1371600"/>
            <a:ext cx="2651760" cy="914400"/>
          </a:xfrm>
          <a:prstGeom prst="rect">
            <a:avLst/>
          </a:prstGeom>
          <a:noFill/>
          <a:ln/>
        </p:spPr>
        <p:txBody>
          <a:bodyPr wrap="square" lIns="0" tIns="0" rIns="0" bIns="0" rtlCol="0" anchor="ctr"/>
          <a:lstStyle/>
          <a:p>
            <a:pPr marL="0" indent="0">
              <a:buNone/>
            </a:pPr>
            <a:r>
              <a:rPr lang="en-US" sz="5400" b="1" dirty="0">
                <a:solidFill>
                  <a:srgbClr val="0F8B8D"/>
                </a:solidFill>
              </a:rPr>
              <a:t>40</a:t>
            </a:r>
            <a:endParaRPr lang="en-US" sz="5400" dirty="0"/>
          </a:p>
        </p:txBody>
      </p:sp>
      <p:sp>
        <p:nvSpPr>
          <p:cNvPr id="6" name="Text 3"/>
          <p:cNvSpPr txBox="1"/>
          <p:nvPr/>
        </p:nvSpPr>
        <p:spPr>
          <a:xfrm>
            <a:off x="457200" y="2286000"/>
            <a:ext cx="2651760" cy="365760"/>
          </a:xfrm>
          <a:prstGeom prst="rect">
            <a:avLst/>
          </a:prstGeom>
          <a:noFill/>
          <a:ln/>
        </p:spPr>
        <p:txBody>
          <a:bodyPr wrap="square" lIns="0" tIns="0" rIns="0" bIns="0" rtlCol="0" anchor="ctr"/>
          <a:lstStyle/>
          <a:p>
            <a:pPr marL="0" indent="0">
              <a:buNone/>
            </a:pPr>
            <a:r>
              <a:rPr lang="en-US" sz="1600" dirty="0">
                <a:solidFill>
                  <a:srgbClr val="5B6475"/>
                </a:solidFill>
              </a:rPr>
              <a:t>students</a:t>
            </a:r>
            <a:endParaRPr lang="en-US" sz="1600" dirty="0"/>
          </a:p>
        </p:txBody>
      </p:sp>
      <p:sp>
        <p:nvSpPr>
          <p:cNvPr id="7" name="Text 4"/>
          <p:cNvSpPr txBox="1"/>
          <p:nvPr/>
        </p:nvSpPr>
        <p:spPr>
          <a:xfrm>
            <a:off x="3291840" y="1371600"/>
            <a:ext cx="2651760" cy="914400"/>
          </a:xfrm>
          <a:prstGeom prst="rect">
            <a:avLst/>
          </a:prstGeom>
          <a:noFill/>
          <a:ln/>
        </p:spPr>
        <p:txBody>
          <a:bodyPr wrap="square" lIns="0" tIns="0" rIns="0" bIns="0" rtlCol="0" anchor="ctr"/>
          <a:lstStyle/>
          <a:p>
            <a:pPr marL="0" indent="0">
              <a:buNone/>
            </a:pPr>
            <a:r>
              <a:rPr lang="en-US" sz="5400" b="1" dirty="0">
                <a:solidFill>
                  <a:srgbClr val="0F8B8D"/>
                </a:solidFill>
              </a:rPr>
              <a:t>10</a:t>
            </a:r>
            <a:endParaRPr lang="en-US" sz="5400" dirty="0"/>
          </a:p>
        </p:txBody>
      </p:sp>
      <p:sp>
        <p:nvSpPr>
          <p:cNvPr id="8" name="Text 5"/>
          <p:cNvSpPr txBox="1"/>
          <p:nvPr/>
        </p:nvSpPr>
        <p:spPr>
          <a:xfrm>
            <a:off x="3291840" y="2286000"/>
            <a:ext cx="2651760" cy="365760"/>
          </a:xfrm>
          <a:prstGeom prst="rect">
            <a:avLst/>
          </a:prstGeom>
          <a:noFill/>
          <a:ln/>
        </p:spPr>
        <p:txBody>
          <a:bodyPr wrap="square" lIns="0" tIns="0" rIns="0" bIns="0" rtlCol="0" anchor="ctr"/>
          <a:lstStyle/>
          <a:p>
            <a:pPr marL="0" indent="0">
              <a:buNone/>
            </a:pPr>
            <a:r>
              <a:rPr lang="en-US" sz="1600" dirty="0">
                <a:solidFill>
                  <a:srgbClr val="5B6475"/>
                </a:solidFill>
              </a:rPr>
              <a:t>courses</a:t>
            </a:r>
            <a:endParaRPr lang="en-US" sz="1600" dirty="0"/>
          </a:p>
        </p:txBody>
      </p:sp>
      <p:sp>
        <p:nvSpPr>
          <p:cNvPr id="9" name="Text 6"/>
          <p:cNvSpPr txBox="1"/>
          <p:nvPr/>
        </p:nvSpPr>
        <p:spPr>
          <a:xfrm>
            <a:off x="6126480" y="1371600"/>
            <a:ext cx="2651760" cy="914400"/>
          </a:xfrm>
          <a:prstGeom prst="rect">
            <a:avLst/>
          </a:prstGeom>
          <a:noFill/>
          <a:ln/>
        </p:spPr>
        <p:txBody>
          <a:bodyPr wrap="square" lIns="0" tIns="0" rIns="0" bIns="0" rtlCol="0" anchor="ctr"/>
          <a:lstStyle/>
          <a:p>
            <a:pPr marL="0" indent="0">
              <a:buNone/>
            </a:pPr>
            <a:r>
              <a:rPr lang="en-US" sz="5400" b="1" dirty="0">
                <a:solidFill>
                  <a:srgbClr val="0F8B8D"/>
                </a:solidFill>
              </a:rPr>
              <a:t>261</a:t>
            </a:r>
            <a:endParaRPr lang="en-US" sz="5400" dirty="0"/>
          </a:p>
        </p:txBody>
      </p:sp>
      <p:sp>
        <p:nvSpPr>
          <p:cNvPr id="10" name="Text 7"/>
          <p:cNvSpPr txBox="1"/>
          <p:nvPr/>
        </p:nvSpPr>
        <p:spPr>
          <a:xfrm>
            <a:off x="6126480" y="2286000"/>
            <a:ext cx="2651760" cy="365760"/>
          </a:xfrm>
          <a:prstGeom prst="rect">
            <a:avLst/>
          </a:prstGeom>
          <a:noFill/>
          <a:ln/>
        </p:spPr>
        <p:txBody>
          <a:bodyPr wrap="square" lIns="0" tIns="0" rIns="0" bIns="0" rtlCol="0" anchor="ctr"/>
          <a:lstStyle/>
          <a:p>
            <a:pPr marL="0" indent="0">
              <a:buNone/>
            </a:pPr>
            <a:r>
              <a:rPr lang="en-US" sz="1600" dirty="0">
                <a:solidFill>
                  <a:srgbClr val="5B6475"/>
                </a:solidFill>
              </a:rPr>
              <a:t>grade rows</a:t>
            </a:r>
            <a:endParaRPr lang="en-US" sz="1600" dirty="0"/>
          </a:p>
        </p:txBody>
      </p:sp>
      <p:sp>
        <p:nvSpPr>
          <p:cNvPr id="11" name="Text 8"/>
          <p:cNvSpPr txBox="1"/>
          <p:nvPr/>
        </p:nvSpPr>
        <p:spPr>
          <a:xfrm>
            <a:off x="8961120" y="1371600"/>
            <a:ext cx="2651760" cy="914400"/>
          </a:xfrm>
          <a:prstGeom prst="rect">
            <a:avLst/>
          </a:prstGeom>
          <a:noFill/>
          <a:ln/>
        </p:spPr>
        <p:txBody>
          <a:bodyPr wrap="square" lIns="0" tIns="0" rIns="0" bIns="0" rtlCol="0" anchor="ctr"/>
          <a:lstStyle/>
          <a:p>
            <a:pPr marL="0" indent="0">
              <a:buNone/>
            </a:pPr>
            <a:r>
              <a:rPr lang="en-US" sz="5400" b="1" dirty="0">
                <a:solidFill>
                  <a:srgbClr val="0F8B8D"/>
                </a:solidFill>
              </a:rPr>
              <a:t>4</a:t>
            </a:r>
            <a:endParaRPr lang="en-US" sz="5400" dirty="0"/>
          </a:p>
        </p:txBody>
      </p:sp>
      <p:sp>
        <p:nvSpPr>
          <p:cNvPr id="12" name="Text 9"/>
          <p:cNvSpPr txBox="1"/>
          <p:nvPr/>
        </p:nvSpPr>
        <p:spPr>
          <a:xfrm>
            <a:off x="8961120" y="2286000"/>
            <a:ext cx="2651760" cy="365760"/>
          </a:xfrm>
          <a:prstGeom prst="rect">
            <a:avLst/>
          </a:prstGeom>
          <a:noFill/>
          <a:ln/>
        </p:spPr>
        <p:txBody>
          <a:bodyPr wrap="square" lIns="0" tIns="0" rIns="0" bIns="0" rtlCol="0" anchor="ctr"/>
          <a:lstStyle/>
          <a:p>
            <a:pPr marL="0" indent="0">
              <a:buNone/>
            </a:pPr>
            <a:r>
              <a:rPr lang="en-US" sz="1600" dirty="0">
                <a:solidFill>
                  <a:srgbClr val="5B6475"/>
                </a:solidFill>
              </a:rPr>
              <a:t>classes · 2 faculties</a:t>
            </a:r>
            <a:endParaRPr lang="en-US" sz="16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57200" y="2926080"/>
          <a:ext cx="6949440" cy="1429512"/>
        </p:xfrm>
        <a:graphic>
          <a:graphicData uri="http://schemas.openxmlformats.org/drawingml/2006/table">
            <a:tbl>
              <a:tblPr/>
              <a:tblGrid>
                <a:gridCol w="1828800">
                  <a:extLst>
                    <a:ext uri="{9D8B030D-6E8A-4147-A177-3AD203B41FA5}">
                      <a16:colId xmlns:a16="http://schemas.microsoft.com/office/drawing/2014/main" val="20000"/>
                    </a:ext>
                  </a:extLst>
                </a:gridCol>
                <a:gridCol w="5120640">
                  <a:extLst>
                    <a:ext uri="{9D8B030D-6E8A-4147-A177-3AD203B41FA5}">
                      <a16:colId xmlns:a16="http://schemas.microsoft.com/office/drawing/2014/main" val="20001"/>
                    </a:ext>
                  </a:extLst>
                </a:gridCol>
              </a:tblGrid>
              <a:tr h="0">
                <a:tc>
                  <a:txBody>
                    <a:bodyPr/>
                    <a:lstStyle/>
                    <a:p>
                      <a:pPr marL="0" indent="0">
                        <a:buNone/>
                      </a:pPr>
                      <a:r>
                        <a:rPr lang="en-US" sz="1300" b="1" dirty="0">
                          <a:solidFill>
                            <a:srgbClr val="FFFFFF"/>
                          </a:solidFill>
                        </a:rPr>
                        <a:t>File</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rPr>
                        <a:t>Columns (English)</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0">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students.csv</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300" dirty="0">
                          <a:solidFill>
                            <a:srgbClr val="1F2937"/>
                          </a:solidFill>
                        </a:rPr>
                        <a:t>student_id, full_name, gender, date_of_birth, class_id, faculty, enrollment_year, email</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courses.csv</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300" dirty="0">
                          <a:solidFill>
                            <a:srgbClr val="1F2937"/>
                          </a:solidFill>
                        </a:rPr>
                        <a:t>course_id, course_name, credits, faculty</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0">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grades.csv</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300" dirty="0">
                          <a:solidFill>
                            <a:srgbClr val="1F2937"/>
                          </a:solidFill>
                        </a:rPr>
                        <a:t>student_id, course_id, semester, process_score, final_score</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4" name="Shape 10"/>
          <p:cNvSpPr/>
          <p:nvPr/>
        </p:nvSpPr>
        <p:spPr>
          <a:xfrm>
            <a:off x="7680960" y="2926080"/>
            <a:ext cx="4023360" cy="3017520"/>
          </a:xfrm>
          <a:prstGeom prst="roundRect">
            <a:avLst>
              <a:gd name="adj" fmla="val 2424"/>
            </a:avLst>
          </a:prstGeom>
          <a:solidFill>
            <a:srgbClr val="FDECEC"/>
          </a:solidFill>
          <a:ln w="12700">
            <a:solidFill>
              <a:srgbClr val="FDECEC"/>
            </a:solidFill>
            <a:prstDash val="solid"/>
          </a:ln>
        </p:spPr>
        <p:txBody>
          <a:bodyPr/>
          <a:lstStyle/>
          <a:p>
            <a:endParaRPr lang="en-VN"/>
          </a:p>
        </p:txBody>
      </p:sp>
      <p:sp>
        <p:nvSpPr>
          <p:cNvPr id="15" name="Text 11"/>
          <p:cNvSpPr txBox="1"/>
          <p:nvPr/>
        </p:nvSpPr>
        <p:spPr>
          <a:xfrm>
            <a:off x="7863840" y="3063240"/>
            <a:ext cx="3657600" cy="457200"/>
          </a:xfrm>
          <a:prstGeom prst="rect">
            <a:avLst/>
          </a:prstGeom>
          <a:noFill/>
          <a:ln/>
        </p:spPr>
        <p:txBody>
          <a:bodyPr wrap="square" lIns="0" tIns="0" rIns="0" bIns="0" rtlCol="0" anchor="t"/>
          <a:lstStyle/>
          <a:p>
            <a:pPr marL="0" indent="0">
              <a:buNone/>
            </a:pPr>
            <a:r>
              <a:rPr lang="en-US" sz="1800" b="1" dirty="0">
                <a:solidFill>
                  <a:srgbClr val="C53030"/>
                </a:solidFill>
              </a:rPr>
              <a:t>7 deliberately broken rows</a:t>
            </a:r>
            <a:endParaRPr lang="en-US" sz="1800" dirty="0"/>
          </a:p>
        </p:txBody>
      </p:sp>
      <p:sp>
        <p:nvSpPr>
          <p:cNvPr id="4" name="Text 12"/>
          <p:cNvSpPr txBox="1"/>
          <p:nvPr/>
        </p:nvSpPr>
        <p:spPr>
          <a:xfrm>
            <a:off x="7863840" y="3566160"/>
            <a:ext cx="3657600" cy="2240280"/>
          </a:xfrm>
          <a:prstGeom prst="rect">
            <a:avLst/>
          </a:prstGeom>
          <a:noFill/>
          <a:ln/>
        </p:spPr>
        <p:txBody>
          <a:bodyPr wrap="square" lIns="0" tIns="0" rIns="0" bIns="0" rtlCol="0" anchor="t"/>
          <a:lstStyle/>
          <a:p>
            <a:pPr marL="0" indent="0">
              <a:buNone/>
            </a:pPr>
            <a:r>
              <a:rPr lang="en-US" sz="1400" dirty="0">
                <a:solidFill>
                  <a:srgbClr val="1F2937"/>
                </a:solidFill>
              </a:rPr>
              <a:t>score 11.5 (out of range) · missing score · negative score · unknown student · unknown course · duplicate rows</a:t>
            </a:r>
            <a:endParaRPr lang="en-US" sz="1400" dirty="0"/>
          </a:p>
          <a:p>
            <a:pPr marL="0" indent="0">
              <a:buNone/>
            </a:pPr>
            <a:endParaRPr lang="en-US" sz="1400" dirty="0"/>
          </a:p>
          <a:p>
            <a:pPr marL="0" indent="0">
              <a:buNone/>
            </a:pPr>
            <a:r>
              <a:rPr lang="en-US" sz="1400" dirty="0">
                <a:solidFill>
                  <a:srgbClr val="1F2937"/>
                </a:solidFill>
              </a:rPr>
              <a:t>→ all 7 detected, none used in a calculation</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marL="0" indent="0">
              <a:buNone/>
            </a:pPr>
            <a:r>
              <a:rPr lang="en-US" sz="1200" b="1" kern="0" spc="200" dirty="0">
                <a:solidFill>
                  <a:srgbClr val="0F8B8D"/>
                </a:solidFill>
              </a:rPr>
              <a:t>REQUIREMENT 1 · PROBLEM</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marL="0" indent="0">
              <a:buNone/>
            </a:pPr>
            <a:r>
              <a:rPr lang="en-US" sz="3000" b="1" dirty="0">
                <a:solidFill>
                  <a:srgbClr val="1F2937"/>
                </a:solidFill>
              </a:rPr>
              <a:t>Grading rules (university 4-point scale)</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4754880" cy="914400"/>
        </p:xfrm>
        <a:graphic>
          <a:graphicData uri="http://schemas.openxmlformats.org/drawingml/2006/table">
            <a:tbl>
              <a:tblPr/>
              <a:tblGrid>
                <a:gridCol w="182880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502920">
                <a:tc>
                  <a:txBody>
                    <a:bodyPr/>
                    <a:lstStyle/>
                    <a:p>
                      <a:pPr marL="0" indent="0">
                        <a:buNone/>
                      </a:pPr>
                      <a:r>
                        <a:rPr lang="en-US" sz="1600" b="1" dirty="0">
                          <a:solidFill>
                            <a:srgbClr val="FFFFFF"/>
                          </a:solidFill>
                        </a:rPr>
                        <a:t>Total (0–10)</a:t>
                      </a:r>
                      <a:endParaRPr lang="en-US" sz="16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marL="0" indent="0">
                        <a:buNone/>
                      </a:pPr>
                      <a:r>
                        <a:rPr lang="en-US" sz="1600" b="1" dirty="0">
                          <a:solidFill>
                            <a:srgbClr val="FFFFFF"/>
                          </a:solidFill>
                        </a:rPr>
                        <a:t>Letter</a:t>
                      </a:r>
                      <a:endParaRPr lang="en-US" sz="16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marL="0" indent="0">
                        <a:buNone/>
                      </a:pPr>
                      <a:r>
                        <a:rPr lang="en-US" sz="1600" b="1" dirty="0">
                          <a:solidFill>
                            <a:srgbClr val="FFFFFF"/>
                          </a:solidFill>
                        </a:rPr>
                        <a:t>Point</a:t>
                      </a:r>
                      <a:endParaRPr lang="en-US" sz="16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2920">
                <a:tc>
                  <a:txBody>
                    <a:bodyPr/>
                    <a:lstStyle/>
                    <a:p>
                      <a:pPr marL="0" indent="0">
                        <a:buNone/>
                      </a:pPr>
                      <a:r>
                        <a:rPr lang="en-US" sz="1600" dirty="0">
                          <a:solidFill>
                            <a:srgbClr val="1F2937"/>
                          </a:solidFill>
                        </a:rPr>
                        <a:t>8.5 – 10</a:t>
                      </a:r>
                      <a:endParaRPr lang="en-US" sz="16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600" dirty="0">
                          <a:solidFill>
                            <a:srgbClr val="1F2937"/>
                          </a:solidFill>
                        </a:rPr>
                        <a:t>A</a:t>
                      </a:r>
                      <a:endParaRPr lang="en-US" sz="16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600" dirty="0">
                          <a:solidFill>
                            <a:srgbClr val="1F2937"/>
                          </a:solidFill>
                        </a:rPr>
                        <a:t>4</a:t>
                      </a:r>
                      <a:endParaRPr lang="en-US" sz="16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600" dirty="0">
                          <a:solidFill>
                            <a:srgbClr val="1F2937"/>
                          </a:solidFill>
                        </a:rPr>
                        <a:t>7.0 – 8.4</a:t>
                      </a:r>
                      <a:endParaRPr lang="en-US" sz="16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marL="0" indent="0">
                        <a:buNone/>
                      </a:pPr>
                      <a:r>
                        <a:rPr lang="en-US" sz="1600" dirty="0">
                          <a:solidFill>
                            <a:srgbClr val="1F2937"/>
                          </a:solidFill>
                        </a:rPr>
                        <a:t>B</a:t>
                      </a:r>
                      <a:endParaRPr lang="en-US" sz="16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marL="0" indent="0">
                        <a:buNone/>
                      </a:pPr>
                      <a:r>
                        <a:rPr lang="en-US" sz="1600" dirty="0">
                          <a:solidFill>
                            <a:srgbClr val="1F2937"/>
                          </a:solidFill>
                        </a:rPr>
                        <a:t>3</a:t>
                      </a:r>
                      <a:endParaRPr lang="en-US" sz="16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502920">
                <a:tc>
                  <a:txBody>
                    <a:bodyPr/>
                    <a:lstStyle/>
                    <a:p>
                      <a:pPr marL="0" indent="0">
                        <a:buNone/>
                      </a:pPr>
                      <a:r>
                        <a:rPr lang="en-US" sz="1600" dirty="0">
                          <a:solidFill>
                            <a:srgbClr val="1F2937"/>
                          </a:solidFill>
                        </a:rPr>
                        <a:t>5.5 – 6.9</a:t>
                      </a:r>
                      <a:endParaRPr lang="en-US" sz="16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600" dirty="0">
                          <a:solidFill>
                            <a:srgbClr val="1F2937"/>
                          </a:solidFill>
                        </a:rPr>
                        <a:t>C</a:t>
                      </a:r>
                      <a:endParaRPr lang="en-US" sz="16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600" dirty="0">
                          <a:solidFill>
                            <a:srgbClr val="1F2937"/>
                          </a:solidFill>
                        </a:rPr>
                        <a:t>2</a:t>
                      </a:r>
                      <a:endParaRPr lang="en-US" sz="16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600" dirty="0">
                          <a:solidFill>
                            <a:srgbClr val="1F2937"/>
                          </a:solidFill>
                        </a:rPr>
                        <a:t>4.0 – 5.4</a:t>
                      </a:r>
                      <a:endParaRPr lang="en-US" sz="16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marL="0" indent="0">
                        <a:buNone/>
                      </a:pPr>
                      <a:r>
                        <a:rPr lang="en-US" sz="1600" dirty="0">
                          <a:solidFill>
                            <a:srgbClr val="1F2937"/>
                          </a:solidFill>
                        </a:rPr>
                        <a:t>D</a:t>
                      </a:r>
                      <a:endParaRPr lang="en-US" sz="16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marL="0" indent="0">
                        <a:buNone/>
                      </a:pPr>
                      <a:r>
                        <a:rPr lang="en-US" sz="1600" dirty="0">
                          <a:solidFill>
                            <a:srgbClr val="1F2937"/>
                          </a:solidFill>
                        </a:rPr>
                        <a:t>1</a:t>
                      </a:r>
                      <a:endParaRPr lang="en-US" sz="16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r h="502920">
                <a:tc>
                  <a:txBody>
                    <a:bodyPr/>
                    <a:lstStyle/>
                    <a:p>
                      <a:pPr marL="0" indent="0">
                        <a:buNone/>
                      </a:pPr>
                      <a:r>
                        <a:rPr lang="en-US" sz="1600" dirty="0">
                          <a:solidFill>
                            <a:srgbClr val="1F2937"/>
                          </a:solidFill>
                        </a:rPr>
                        <a:t>&lt; 4.0</a:t>
                      </a:r>
                      <a:endParaRPr lang="en-US" sz="16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600" dirty="0">
                          <a:solidFill>
                            <a:srgbClr val="1F2937"/>
                          </a:solidFill>
                        </a:rPr>
                        <a:t>F (fail)</a:t>
                      </a:r>
                      <a:endParaRPr lang="en-US" sz="16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600" dirty="0">
                          <a:solidFill>
                            <a:srgbClr val="1F2937"/>
                          </a:solidFill>
                        </a:rPr>
                        <a:t>0</a:t>
                      </a:r>
                      <a:endParaRPr lang="en-US" sz="16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graphicFrame>
        <p:nvGraphicFramePr>
          <p:cNvPr id="33" name="Table 1"/>
          <p:cNvGraphicFramePr>
            <a:graphicFrameLocks noGrp="1"/>
          </p:cNvGraphicFramePr>
          <p:nvPr>
            <p:extLst>
              <p:ext uri="{D42A27DB-BD31-4B8C-83A1-F6EECF244321}">
                <p14:modId xmlns:p14="http://schemas.microsoft.com/office/powerpoint/2010/main" val="1579011935"/>
              </p:ext>
            </p:extLst>
          </p:nvPr>
        </p:nvGraphicFramePr>
        <p:xfrm>
          <a:off x="5486400" y="1463040"/>
          <a:ext cx="3108960" cy="914400"/>
        </p:xfrm>
        <a:graphic>
          <a:graphicData uri="http://schemas.openxmlformats.org/drawingml/2006/table">
            <a:tbl>
              <a:tblPr/>
              <a:tblGrid>
                <a:gridCol w="118872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tblGrid>
              <a:tr h="502920">
                <a:tc>
                  <a:txBody>
                    <a:bodyPr/>
                    <a:lstStyle/>
                    <a:p>
                      <a:pPr marL="0" indent="0">
                        <a:buNone/>
                      </a:pPr>
                      <a:r>
                        <a:rPr lang="en-US" sz="1600" b="1" dirty="0">
                          <a:solidFill>
                            <a:srgbClr val="FFFFFF"/>
                          </a:solidFill>
                        </a:rPr>
                        <a:t>GPA</a:t>
                      </a:r>
                      <a:endParaRPr lang="en-US" sz="16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marL="0" indent="0">
                        <a:buNone/>
                      </a:pPr>
                      <a:r>
                        <a:rPr lang="en-US" sz="1600" b="1" dirty="0">
                          <a:solidFill>
                            <a:srgbClr val="FFFFFF"/>
                          </a:solidFill>
                        </a:rPr>
                        <a:t>Classification</a:t>
                      </a:r>
                      <a:endParaRPr lang="en-US" sz="16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2920">
                <a:tc>
                  <a:txBody>
                    <a:bodyPr/>
                    <a:lstStyle/>
                    <a:p>
                      <a:pPr marL="0" indent="0">
                        <a:buNone/>
                      </a:pPr>
                      <a:r>
                        <a:rPr lang="en-US" sz="1600" dirty="0">
                          <a:solidFill>
                            <a:srgbClr val="1F2937"/>
                          </a:solidFill>
                        </a:rPr>
                        <a:t>≥ 3.6</a:t>
                      </a:r>
                      <a:endParaRPr lang="en-US" sz="16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600" dirty="0">
                          <a:solidFill>
                            <a:srgbClr val="1F2937"/>
                          </a:solidFill>
                        </a:rPr>
                        <a:t>Excellent</a:t>
                      </a:r>
                      <a:endParaRPr lang="en-US" sz="16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600" dirty="0">
                          <a:solidFill>
                            <a:srgbClr val="1F2937"/>
                          </a:solidFill>
                        </a:rPr>
                        <a:t>≥ 3.2</a:t>
                      </a:r>
                      <a:endParaRPr lang="en-US" sz="16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marL="0" indent="0">
                        <a:buNone/>
                      </a:pPr>
                      <a:r>
                        <a:rPr lang="en-US" sz="1600" dirty="0">
                          <a:solidFill>
                            <a:srgbClr val="1F2937"/>
                          </a:solidFill>
                        </a:rPr>
                        <a:t>Very good</a:t>
                      </a:r>
                      <a:endParaRPr lang="en-US" sz="16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502920">
                <a:tc>
                  <a:txBody>
                    <a:bodyPr/>
                    <a:lstStyle/>
                    <a:p>
                      <a:pPr marL="0" indent="0">
                        <a:buNone/>
                      </a:pPr>
                      <a:r>
                        <a:rPr lang="en-US" sz="1600" dirty="0">
                          <a:solidFill>
                            <a:srgbClr val="1F2937"/>
                          </a:solidFill>
                        </a:rPr>
                        <a:t>≥ 2.5</a:t>
                      </a:r>
                      <a:endParaRPr lang="en-US" sz="16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600" dirty="0">
                          <a:solidFill>
                            <a:srgbClr val="1F2937"/>
                          </a:solidFill>
                        </a:rPr>
                        <a:t>Good</a:t>
                      </a:r>
                      <a:endParaRPr lang="en-US" sz="16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600" dirty="0">
                          <a:solidFill>
                            <a:srgbClr val="1F2937"/>
                          </a:solidFill>
                        </a:rPr>
                        <a:t>≥ 2.0</a:t>
                      </a:r>
                      <a:endParaRPr lang="en-US" sz="16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marL="0" indent="0">
                        <a:buNone/>
                      </a:pPr>
                      <a:r>
                        <a:rPr lang="en-US" sz="1600" dirty="0">
                          <a:solidFill>
                            <a:srgbClr val="1F2937"/>
                          </a:solidFill>
                        </a:rPr>
                        <a:t>Average</a:t>
                      </a:r>
                      <a:endParaRPr lang="en-US" sz="16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r h="502920">
                <a:tc>
                  <a:txBody>
                    <a:bodyPr/>
                    <a:lstStyle/>
                    <a:p>
                      <a:pPr marL="0" indent="0">
                        <a:buNone/>
                      </a:pPr>
                      <a:r>
                        <a:rPr lang="en-US" sz="1600" dirty="0">
                          <a:solidFill>
                            <a:srgbClr val="1F2937"/>
                          </a:solidFill>
                        </a:rPr>
                        <a:t>&lt; 2.0</a:t>
                      </a:r>
                      <a:endParaRPr lang="en-US" sz="16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600" dirty="0">
                          <a:solidFill>
                            <a:srgbClr val="1F2937"/>
                          </a:solidFill>
                        </a:rPr>
                        <a:t>Weak</a:t>
                      </a:r>
                      <a:endParaRPr lang="en-US" sz="16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Shape 2"/>
          <p:cNvSpPr/>
          <p:nvPr/>
        </p:nvSpPr>
        <p:spPr>
          <a:xfrm>
            <a:off x="8961120" y="1463040"/>
            <a:ext cx="2743200" cy="3017520"/>
          </a:xfrm>
          <a:prstGeom prst="roundRect">
            <a:avLst>
              <a:gd name="adj" fmla="val 2667"/>
            </a:avLst>
          </a:prstGeom>
          <a:solidFill>
            <a:srgbClr val="EEF2F6"/>
          </a:solidFill>
          <a:ln w="12700">
            <a:solidFill>
              <a:srgbClr val="EEF2F6"/>
            </a:solidFill>
            <a:prstDash val="solid"/>
          </a:ln>
        </p:spPr>
        <p:txBody>
          <a:bodyPr/>
          <a:lstStyle/>
          <a:p>
            <a:endParaRPr lang="en-VN"/>
          </a:p>
        </p:txBody>
      </p:sp>
      <p:sp>
        <p:nvSpPr>
          <p:cNvPr id="8" name="Text 3"/>
          <p:cNvSpPr txBox="1"/>
          <p:nvPr/>
        </p:nvSpPr>
        <p:spPr>
          <a:xfrm>
            <a:off x="9144000" y="1600200"/>
            <a:ext cx="2377440" cy="457200"/>
          </a:xfrm>
          <a:prstGeom prst="rect">
            <a:avLst/>
          </a:prstGeom>
          <a:noFill/>
          <a:ln/>
        </p:spPr>
        <p:txBody>
          <a:bodyPr wrap="square" lIns="0" tIns="0" rIns="0" bIns="0" rtlCol="0" anchor="t"/>
          <a:lstStyle/>
          <a:p>
            <a:pPr marL="0" indent="0">
              <a:buNone/>
            </a:pPr>
            <a:r>
              <a:rPr lang="en-US" sz="1800" b="1" dirty="0">
                <a:solidFill>
                  <a:srgbClr val="0F8B8D"/>
                </a:solidFill>
              </a:rPr>
              <a:t>Formulas</a:t>
            </a:r>
            <a:endParaRPr lang="en-US" sz="1800" dirty="0"/>
          </a:p>
        </p:txBody>
      </p:sp>
      <p:sp>
        <p:nvSpPr>
          <p:cNvPr id="9" name="Text 4"/>
          <p:cNvSpPr txBox="1"/>
          <p:nvPr/>
        </p:nvSpPr>
        <p:spPr>
          <a:xfrm>
            <a:off x="9144000" y="2103120"/>
            <a:ext cx="2377440" cy="2240280"/>
          </a:xfrm>
          <a:prstGeom prst="rect">
            <a:avLst/>
          </a:prstGeom>
          <a:noFill/>
          <a:ln/>
        </p:spPr>
        <p:txBody>
          <a:bodyPr wrap="square" lIns="0" tIns="0" rIns="0" bIns="0" rtlCol="0" anchor="t"/>
          <a:lstStyle/>
          <a:p>
            <a:pPr marL="0" indent="0">
              <a:buNone/>
            </a:pPr>
            <a:r>
              <a:rPr lang="en-US" sz="1400" dirty="0">
                <a:solidFill>
                  <a:srgbClr val="1F2937"/>
                </a:solidFill>
              </a:rPr>
              <a:t>total = 0.4 × process + 0.6 × final</a:t>
            </a:r>
            <a:endParaRPr lang="en-US" sz="1400" dirty="0"/>
          </a:p>
          <a:p>
            <a:pPr marL="0" indent="0">
              <a:buNone/>
            </a:pPr>
            <a:endParaRPr lang="en-US" sz="1400" dirty="0"/>
          </a:p>
          <a:p>
            <a:pPr marL="0" indent="0">
              <a:buNone/>
            </a:pPr>
            <a:r>
              <a:rPr lang="en-US" sz="1400" dirty="0">
                <a:solidFill>
                  <a:srgbClr val="1F2937"/>
                </a:solidFill>
              </a:rPr>
              <a:t>GPA = Σ(point × credits) / Σ credits</a:t>
            </a:r>
            <a:endParaRPr lang="en-US" sz="1400" dirty="0"/>
          </a:p>
          <a:p>
            <a:pPr marL="0" indent="0">
              <a:buNone/>
            </a:pPr>
            <a:endParaRPr lang="en-US" sz="1400" dirty="0"/>
          </a:p>
          <a:p>
            <a:pPr marL="0" indent="0">
              <a:buNone/>
            </a:pPr>
            <a:r>
              <a:rPr lang="en-US" sz="1400" dirty="0">
                <a:solidFill>
                  <a:srgbClr val="1F2937"/>
                </a:solidFill>
              </a:rPr>
              <a:t>Retake: keep the best attempt</a:t>
            </a:r>
            <a:endParaRPr lang="en-US" sz="1400" dirty="0"/>
          </a:p>
        </p:txBody>
      </p:sp>
      <p:sp>
        <p:nvSpPr>
          <p:cNvPr id="10" name="Text 5"/>
          <p:cNvSpPr txBox="1"/>
          <p:nvPr/>
        </p:nvSpPr>
        <p:spPr>
          <a:xfrm>
            <a:off x="457200" y="4937760"/>
            <a:ext cx="11247120" cy="548640"/>
          </a:xfrm>
          <a:prstGeom prst="rect">
            <a:avLst/>
          </a:prstGeom>
          <a:noFill/>
          <a:ln/>
        </p:spPr>
        <p:txBody>
          <a:bodyPr wrap="square" lIns="0" tIns="0" rIns="0" bIns="0" rtlCol="0" anchor="ctr"/>
          <a:lstStyle/>
          <a:p>
            <a:pPr marL="0" indent="0">
              <a:buNone/>
            </a:pPr>
            <a:r>
              <a:rPr lang="en-US" sz="1800" dirty="0">
                <a:solidFill>
                  <a:srgbClr val="1F2937"/>
                </a:solidFill>
              </a:rPr>
              <a:t>All thresholds live in </a:t>
            </a:r>
            <a:r>
              <a:rPr lang="en-US" sz="1800" b="1" dirty="0">
                <a:solidFill>
                  <a:srgbClr val="1F2937"/>
                </a:solidFill>
                <a:latin typeface="Courier New" pitchFamily="34" charset="0"/>
                <a:ea typeface="Courier New" pitchFamily="34" charset="-122"/>
                <a:cs typeface="Courier New" pitchFamily="34" charset="-120"/>
              </a:rPr>
              <a:t>config/grading.json</a:t>
            </a:r>
            <a:r>
              <a:rPr lang="en-US" sz="1800" dirty="0">
                <a:solidFill>
                  <a:srgbClr val="1F2937"/>
                </a:solidFill>
              </a:rPr>
              <a:t> — change the rules without changing code.</a:t>
            </a:r>
            <a:endParaRPr lang="en-US" sz="18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marL="0" indent="0">
              <a:buNone/>
            </a:pPr>
            <a:r>
              <a:rPr lang="en-US" sz="1200" b="1" kern="0" spc="200" dirty="0">
                <a:solidFill>
                  <a:srgbClr val="0F8B8D"/>
                </a:solidFill>
              </a:rPr>
              <a:t>REQUIREMENT 1 · PROBLEM</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marL="0" indent="0">
              <a:buNone/>
            </a:pPr>
            <a:r>
              <a:rPr lang="en-US" sz="3000" b="1" dirty="0">
                <a:solidFill>
                  <a:srgbClr val="1F2937"/>
                </a:solidFill>
              </a:rPr>
              <a:t>Our system: "2" of everything</a:t>
            </a:r>
            <a:endParaRPr lang="en-US" sz="3000" dirty="0"/>
          </a:p>
        </p:txBody>
      </p:sp>
      <p:sp>
        <p:nvSpPr>
          <p:cNvPr id="5" name="Shape 2"/>
          <p:cNvSpPr/>
          <p:nvPr/>
        </p:nvSpPr>
        <p:spPr>
          <a:xfrm>
            <a:off x="457200" y="1463040"/>
            <a:ext cx="5532120" cy="2103120"/>
          </a:xfrm>
          <a:prstGeom prst="roundRect">
            <a:avLst>
              <a:gd name="adj" fmla="val 3478"/>
            </a:avLst>
          </a:prstGeom>
          <a:solidFill>
            <a:srgbClr val="EEF2F6"/>
          </a:solidFill>
          <a:ln w="12700">
            <a:solidFill>
              <a:srgbClr val="EEF2F6"/>
            </a:solidFill>
            <a:prstDash val="solid"/>
          </a:ln>
        </p:spPr>
        <p:txBody>
          <a:bodyPr/>
          <a:lstStyle/>
          <a:p>
            <a:endParaRPr lang="en-VN"/>
          </a:p>
        </p:txBody>
      </p:sp>
      <p:sp>
        <p:nvSpPr>
          <p:cNvPr id="6" name="Text 3"/>
          <p:cNvSpPr txBox="1"/>
          <p:nvPr/>
        </p:nvSpPr>
        <p:spPr>
          <a:xfrm>
            <a:off x="640080" y="1600200"/>
            <a:ext cx="5166360" cy="457200"/>
          </a:xfrm>
          <a:prstGeom prst="rect">
            <a:avLst/>
          </a:prstGeom>
          <a:noFill/>
          <a:ln/>
        </p:spPr>
        <p:txBody>
          <a:bodyPr wrap="square" lIns="0" tIns="0" rIns="0" bIns="0" rtlCol="0" anchor="t"/>
          <a:lstStyle/>
          <a:p>
            <a:pPr marL="0" indent="0">
              <a:buNone/>
            </a:pPr>
            <a:r>
              <a:rPr lang="en-US" sz="2200" b="1" dirty="0">
                <a:solidFill>
                  <a:srgbClr val="0F8B8D"/>
                </a:solidFill>
              </a:rPr>
              <a:t>2 MCP servers</a:t>
            </a:r>
            <a:endParaRPr lang="en-US" sz="2200" dirty="0"/>
          </a:p>
        </p:txBody>
      </p:sp>
      <p:sp>
        <p:nvSpPr>
          <p:cNvPr id="7" name="Text 4"/>
          <p:cNvSpPr txBox="1"/>
          <p:nvPr/>
        </p:nvSpPr>
        <p:spPr>
          <a:xfrm>
            <a:off x="640080" y="2103120"/>
            <a:ext cx="5166360" cy="1325880"/>
          </a:xfrm>
          <a:prstGeom prst="rect">
            <a:avLst/>
          </a:prstGeom>
          <a:noFill/>
          <a:ln/>
        </p:spPr>
        <p:txBody>
          <a:bodyPr wrap="square" lIns="0" tIns="0" rIns="0" bIns="0" rtlCol="0" anchor="t"/>
          <a:lstStyle/>
          <a:p>
            <a:pPr marL="0" indent="0">
              <a:buNone/>
            </a:pPr>
            <a:r>
              <a:rPr lang="en-US" sz="1700" dirty="0">
                <a:solidFill>
                  <a:srgbClr val="1F2937"/>
                </a:solidFill>
              </a:rPr>
              <a:t>academic — 10 tools, 4 resources, 2 prompts</a:t>
            </a:r>
            <a:endParaRPr lang="en-US" sz="1700" dirty="0"/>
          </a:p>
          <a:p>
            <a:pPr marL="0" indent="0">
              <a:buNone/>
            </a:pPr>
            <a:r>
              <a:rPr lang="en-US" sz="1700" dirty="0">
                <a:solidFill>
                  <a:srgbClr val="1F2937"/>
                </a:solidFill>
              </a:rPr>
              <a:t>utility — 3 tools, 1 resource</a:t>
            </a:r>
            <a:endParaRPr lang="en-US" sz="1700" dirty="0"/>
          </a:p>
        </p:txBody>
      </p:sp>
      <p:sp>
        <p:nvSpPr>
          <p:cNvPr id="8" name="Shape 5"/>
          <p:cNvSpPr/>
          <p:nvPr/>
        </p:nvSpPr>
        <p:spPr>
          <a:xfrm>
            <a:off x="6172200" y="1463040"/>
            <a:ext cx="5532120" cy="2103120"/>
          </a:xfrm>
          <a:prstGeom prst="roundRect">
            <a:avLst>
              <a:gd name="adj" fmla="val 3478"/>
            </a:avLst>
          </a:prstGeom>
          <a:solidFill>
            <a:srgbClr val="EEF2F6"/>
          </a:solidFill>
          <a:ln w="12700">
            <a:solidFill>
              <a:srgbClr val="EEF2F6"/>
            </a:solidFill>
            <a:prstDash val="solid"/>
          </a:ln>
        </p:spPr>
        <p:txBody>
          <a:bodyPr/>
          <a:lstStyle/>
          <a:p>
            <a:endParaRPr lang="en-VN"/>
          </a:p>
        </p:txBody>
      </p:sp>
      <p:sp>
        <p:nvSpPr>
          <p:cNvPr id="9" name="Text 6"/>
          <p:cNvSpPr txBox="1"/>
          <p:nvPr/>
        </p:nvSpPr>
        <p:spPr>
          <a:xfrm>
            <a:off x="6355080" y="1600200"/>
            <a:ext cx="5166360" cy="457200"/>
          </a:xfrm>
          <a:prstGeom prst="rect">
            <a:avLst/>
          </a:prstGeom>
          <a:noFill/>
          <a:ln/>
        </p:spPr>
        <p:txBody>
          <a:bodyPr wrap="square" lIns="0" tIns="0" rIns="0" bIns="0" rtlCol="0" anchor="t"/>
          <a:lstStyle/>
          <a:p>
            <a:pPr marL="0" indent="0">
              <a:buNone/>
            </a:pPr>
            <a:r>
              <a:rPr lang="en-US" sz="2200" b="1" dirty="0">
                <a:solidFill>
                  <a:srgbClr val="0F8B8D"/>
                </a:solidFill>
              </a:rPr>
              <a:t>2 hosts</a:t>
            </a:r>
            <a:endParaRPr lang="en-US" sz="2200" dirty="0"/>
          </a:p>
        </p:txBody>
      </p:sp>
      <p:sp>
        <p:nvSpPr>
          <p:cNvPr id="10" name="Text 7"/>
          <p:cNvSpPr txBox="1"/>
          <p:nvPr/>
        </p:nvSpPr>
        <p:spPr>
          <a:xfrm>
            <a:off x="6355080" y="2103120"/>
            <a:ext cx="5166360" cy="1325880"/>
          </a:xfrm>
          <a:prstGeom prst="rect">
            <a:avLst/>
          </a:prstGeom>
          <a:noFill/>
          <a:ln/>
        </p:spPr>
        <p:txBody>
          <a:bodyPr wrap="square" lIns="0" tIns="0" rIns="0" bIns="0" rtlCol="0" anchor="t"/>
          <a:lstStyle/>
          <a:p>
            <a:pPr marL="0" indent="0">
              <a:buNone/>
            </a:pPr>
            <a:r>
              <a:rPr lang="en-US" sz="1700" dirty="0">
                <a:solidFill>
                  <a:srgbClr val="1F2937"/>
                </a:solidFill>
              </a:rPr>
              <a:t>Our own chat CLI (TypeScript)</a:t>
            </a:r>
            <a:endParaRPr lang="en-US" sz="1700" dirty="0"/>
          </a:p>
          <a:p>
            <a:pPr marL="0" indent="0">
              <a:buNone/>
            </a:pPr>
            <a:r>
              <a:rPr lang="en-US" sz="1700" dirty="0">
                <a:solidFill>
                  <a:srgbClr val="1F2937"/>
                </a:solidFill>
              </a:rPr>
              <a:t>VS Code Copilot Chat (agent mode)</a:t>
            </a:r>
            <a:endParaRPr lang="en-US" sz="1700" dirty="0"/>
          </a:p>
        </p:txBody>
      </p:sp>
      <p:sp>
        <p:nvSpPr>
          <p:cNvPr id="11" name="Shape 8"/>
          <p:cNvSpPr/>
          <p:nvPr/>
        </p:nvSpPr>
        <p:spPr>
          <a:xfrm>
            <a:off x="457200" y="3794760"/>
            <a:ext cx="5532120" cy="2103120"/>
          </a:xfrm>
          <a:prstGeom prst="roundRect">
            <a:avLst>
              <a:gd name="adj" fmla="val 3478"/>
            </a:avLst>
          </a:prstGeom>
          <a:solidFill>
            <a:srgbClr val="EEF2F6"/>
          </a:solidFill>
          <a:ln w="12700">
            <a:solidFill>
              <a:srgbClr val="EEF2F6"/>
            </a:solidFill>
            <a:prstDash val="solid"/>
          </a:ln>
        </p:spPr>
        <p:txBody>
          <a:bodyPr/>
          <a:lstStyle/>
          <a:p>
            <a:endParaRPr lang="en-VN"/>
          </a:p>
        </p:txBody>
      </p:sp>
      <p:sp>
        <p:nvSpPr>
          <p:cNvPr id="12" name="Text 9"/>
          <p:cNvSpPr txBox="1"/>
          <p:nvPr/>
        </p:nvSpPr>
        <p:spPr>
          <a:xfrm>
            <a:off x="640080" y="3931920"/>
            <a:ext cx="5166360" cy="457200"/>
          </a:xfrm>
          <a:prstGeom prst="rect">
            <a:avLst/>
          </a:prstGeom>
          <a:noFill/>
          <a:ln/>
        </p:spPr>
        <p:txBody>
          <a:bodyPr wrap="square" lIns="0" tIns="0" rIns="0" bIns="0" rtlCol="0" anchor="t"/>
          <a:lstStyle/>
          <a:p>
            <a:pPr marL="0" indent="0">
              <a:buNone/>
            </a:pPr>
            <a:r>
              <a:rPr lang="en-US" sz="2200" b="1" dirty="0">
                <a:solidFill>
                  <a:srgbClr val="0F8B8D"/>
                </a:solidFill>
              </a:rPr>
              <a:t>2 LLMs</a:t>
            </a:r>
            <a:endParaRPr lang="en-US" sz="2200" dirty="0"/>
          </a:p>
        </p:txBody>
      </p:sp>
      <p:sp>
        <p:nvSpPr>
          <p:cNvPr id="13" name="Text 10"/>
          <p:cNvSpPr txBox="1"/>
          <p:nvPr/>
        </p:nvSpPr>
        <p:spPr>
          <a:xfrm>
            <a:off x="640080" y="4434840"/>
            <a:ext cx="5166360" cy="1325880"/>
          </a:xfrm>
          <a:prstGeom prst="rect">
            <a:avLst/>
          </a:prstGeom>
          <a:noFill/>
          <a:ln/>
        </p:spPr>
        <p:txBody>
          <a:bodyPr wrap="square" lIns="0" tIns="0" rIns="0" bIns="0" rtlCol="0" anchor="t"/>
          <a:lstStyle/>
          <a:p>
            <a:pPr marL="0" indent="0">
              <a:buNone/>
            </a:pPr>
            <a:r>
              <a:rPr lang="en-US" sz="1700" dirty="0">
                <a:solidFill>
                  <a:srgbClr val="1F2937"/>
                </a:solidFill>
              </a:rPr>
              <a:t>Gemini 3.5 Flash-Lite (cloud)</a:t>
            </a:r>
            <a:endParaRPr lang="en-US" sz="1700" dirty="0"/>
          </a:p>
          <a:p>
            <a:pPr marL="0" indent="0">
              <a:buNone/>
            </a:pPr>
            <a:r>
              <a:rPr lang="en-US" sz="1700" dirty="0">
                <a:solidFill>
                  <a:srgbClr val="1F2937"/>
                </a:solidFill>
              </a:rPr>
              <a:t>Qwen3 4B Instruct via Ollama (local, 3.3 GB)</a:t>
            </a:r>
            <a:endParaRPr lang="en-US" sz="1700" dirty="0"/>
          </a:p>
        </p:txBody>
      </p:sp>
      <p:sp>
        <p:nvSpPr>
          <p:cNvPr id="14" name="Shape 11"/>
          <p:cNvSpPr/>
          <p:nvPr/>
        </p:nvSpPr>
        <p:spPr>
          <a:xfrm>
            <a:off x="6172200" y="3794760"/>
            <a:ext cx="5532120" cy="2103120"/>
          </a:xfrm>
          <a:prstGeom prst="roundRect">
            <a:avLst>
              <a:gd name="adj" fmla="val 3478"/>
            </a:avLst>
          </a:prstGeom>
          <a:solidFill>
            <a:srgbClr val="EEF2F6"/>
          </a:solidFill>
          <a:ln w="12700">
            <a:solidFill>
              <a:srgbClr val="EEF2F6"/>
            </a:solidFill>
            <a:prstDash val="solid"/>
          </a:ln>
        </p:spPr>
        <p:txBody>
          <a:bodyPr/>
          <a:lstStyle/>
          <a:p>
            <a:endParaRPr lang="en-VN"/>
          </a:p>
        </p:txBody>
      </p:sp>
      <p:sp>
        <p:nvSpPr>
          <p:cNvPr id="15" name="Text 12"/>
          <p:cNvSpPr txBox="1"/>
          <p:nvPr/>
        </p:nvSpPr>
        <p:spPr>
          <a:xfrm>
            <a:off x="6355080" y="3931920"/>
            <a:ext cx="5166360" cy="457200"/>
          </a:xfrm>
          <a:prstGeom prst="rect">
            <a:avLst/>
          </a:prstGeom>
          <a:noFill/>
          <a:ln/>
        </p:spPr>
        <p:txBody>
          <a:bodyPr wrap="square" lIns="0" tIns="0" rIns="0" bIns="0" rtlCol="0" anchor="t"/>
          <a:lstStyle/>
          <a:p>
            <a:pPr marL="0" indent="0">
              <a:buNone/>
            </a:pPr>
            <a:r>
              <a:rPr lang="en-US" sz="2200" b="1" dirty="0">
                <a:solidFill>
                  <a:srgbClr val="0F8B8D"/>
                </a:solidFill>
              </a:rPr>
              <a:t>2 transports</a:t>
            </a:r>
            <a:endParaRPr lang="en-US" sz="2200" dirty="0"/>
          </a:p>
        </p:txBody>
      </p:sp>
      <p:sp>
        <p:nvSpPr>
          <p:cNvPr id="16" name="Text 13"/>
          <p:cNvSpPr txBox="1"/>
          <p:nvPr/>
        </p:nvSpPr>
        <p:spPr>
          <a:xfrm>
            <a:off x="6355080" y="4434840"/>
            <a:ext cx="5166360" cy="1325880"/>
          </a:xfrm>
          <a:prstGeom prst="rect">
            <a:avLst/>
          </a:prstGeom>
          <a:noFill/>
          <a:ln/>
        </p:spPr>
        <p:txBody>
          <a:bodyPr wrap="square" lIns="0" tIns="0" rIns="0" bIns="0" rtlCol="0" anchor="t"/>
          <a:lstStyle/>
          <a:p>
            <a:pPr marL="0" indent="0">
              <a:buNone/>
            </a:pPr>
            <a:r>
              <a:rPr lang="en-US" sz="1700" dirty="0">
                <a:solidFill>
                  <a:srgbClr val="1F2937"/>
                </a:solidFill>
              </a:rPr>
              <a:t>stdio (child process)</a:t>
            </a:r>
            <a:endParaRPr lang="en-US" sz="1700" dirty="0"/>
          </a:p>
          <a:p>
            <a:pPr marL="0" indent="0">
              <a:buNone/>
            </a:pPr>
            <a:r>
              <a:rPr lang="en-US" sz="1700" dirty="0">
                <a:solidFill>
                  <a:srgbClr val="1F2937"/>
                </a:solidFill>
              </a:rPr>
              <a:t>Streamable HTTP (ports 3001 / 3002)</a:t>
            </a:r>
            <a:endParaRPr lang="en-US" sz="17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731520" y="1828800"/>
            <a:ext cx="2743200" cy="1097280"/>
          </a:xfrm>
          <a:prstGeom prst="rect">
            <a:avLst/>
          </a:prstGeom>
          <a:noFill/>
          <a:ln/>
        </p:spPr>
        <p:txBody>
          <a:bodyPr wrap="square" lIns="0" tIns="0" rIns="0" bIns="0" rtlCol="0" anchor="ctr"/>
          <a:lstStyle/>
          <a:p>
            <a:pPr marL="0" indent="0">
              <a:buNone/>
            </a:pPr>
            <a:r>
              <a:rPr lang="en-US" sz="7200" b="1" dirty="0">
                <a:solidFill>
                  <a:srgbClr val="0F8B8D"/>
                </a:solidFill>
              </a:rPr>
              <a:t>2–3</a:t>
            </a:r>
            <a:endParaRPr lang="en-US" sz="7200" dirty="0"/>
          </a:p>
        </p:txBody>
      </p:sp>
      <p:sp>
        <p:nvSpPr>
          <p:cNvPr id="3" name="Text 1"/>
          <p:cNvSpPr txBox="1"/>
          <p:nvPr/>
        </p:nvSpPr>
        <p:spPr>
          <a:xfrm>
            <a:off x="731520" y="2926080"/>
            <a:ext cx="10515600" cy="822960"/>
          </a:xfrm>
          <a:prstGeom prst="rect">
            <a:avLst/>
          </a:prstGeom>
          <a:noFill/>
          <a:ln/>
        </p:spPr>
        <p:txBody>
          <a:bodyPr wrap="square" lIns="0" tIns="0" rIns="0" bIns="0" rtlCol="0" anchor="ctr"/>
          <a:lstStyle/>
          <a:p>
            <a:pPr marL="0" indent="0">
              <a:buNone/>
            </a:pPr>
            <a:r>
              <a:rPr lang="en-US" sz="4000" b="1" dirty="0">
                <a:solidFill>
                  <a:srgbClr val="FFFFFF"/>
                </a:solidFill>
              </a:rPr>
              <a:t>Algorithms &amp; flowcharts</a:t>
            </a:r>
            <a:endParaRPr lang="en-US" sz="4000" dirty="0"/>
          </a:p>
        </p:txBody>
      </p:sp>
      <p:sp>
        <p:nvSpPr>
          <p:cNvPr id="4" name="Text 2"/>
          <p:cNvSpPr txBox="1"/>
          <p:nvPr/>
        </p:nvSpPr>
        <p:spPr>
          <a:xfrm>
            <a:off x="731520" y="3794760"/>
            <a:ext cx="10515600" cy="548640"/>
          </a:xfrm>
          <a:prstGeom prst="rect">
            <a:avLst/>
          </a:prstGeom>
          <a:noFill/>
          <a:ln/>
        </p:spPr>
        <p:txBody>
          <a:bodyPr wrap="square" lIns="0" tIns="0" rIns="0" bIns="0" rtlCol="0" anchor="ctr"/>
          <a:lstStyle/>
          <a:p>
            <a:pPr marL="0" indent="0">
              <a:buNone/>
            </a:pPr>
            <a:r>
              <a:rPr lang="en-US" sz="1800" dirty="0">
                <a:solidFill>
                  <a:srgbClr val="C9D3E6"/>
                </a:solidFill>
              </a:rPr>
              <a:t>Tool-calling loop · GPA calculation · data validation</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marL="0" indent="0">
              <a:buNone/>
            </a:pPr>
            <a:r>
              <a:rPr lang="en-US" sz="1200" b="1" kern="0" spc="200" dirty="0">
                <a:solidFill>
                  <a:srgbClr val="0F8B8D"/>
                </a:solidFill>
              </a:rPr>
              <a:t>REQUIREMENT 2 · ALGORITHM</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marL="0" indent="0">
              <a:buNone/>
            </a:pPr>
            <a:r>
              <a:rPr lang="en-US" sz="3000" b="1" dirty="0">
                <a:solidFill>
                  <a:srgbClr val="1F2937"/>
                </a:solidFill>
              </a:rPr>
              <a:t>Algorithm 1 — the tool-calling loop (in the host)</a:t>
            </a:r>
            <a:endParaRPr lang="en-US" sz="3000" dirty="0"/>
          </a:p>
        </p:txBody>
      </p:sp>
      <p:sp>
        <p:nvSpPr>
          <p:cNvPr id="5" name="Shape 2"/>
          <p:cNvSpPr/>
          <p:nvPr/>
        </p:nvSpPr>
        <p:spPr>
          <a:xfrm>
            <a:off x="457200" y="1463040"/>
            <a:ext cx="548640" cy="548640"/>
          </a:xfrm>
          <a:prstGeom prst="ellipse">
            <a:avLst/>
          </a:prstGeom>
          <a:solidFill>
            <a:srgbClr val="0F8B8D"/>
          </a:solidFill>
          <a:ln w="12700">
            <a:solidFill>
              <a:srgbClr val="0F8B8D"/>
            </a:solidFill>
            <a:prstDash val="solid"/>
          </a:ln>
        </p:spPr>
        <p:txBody>
          <a:bodyPr/>
          <a:lstStyle/>
          <a:p>
            <a:endParaRPr lang="en-VN"/>
          </a:p>
        </p:txBody>
      </p:sp>
      <p:sp>
        <p:nvSpPr>
          <p:cNvPr id="6" name="Text 3"/>
          <p:cNvSpPr txBox="1"/>
          <p:nvPr/>
        </p:nvSpPr>
        <p:spPr>
          <a:xfrm>
            <a:off x="457200" y="146304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rPr>
              <a:t>1</a:t>
            </a:r>
            <a:endParaRPr lang="en-US" sz="1600" dirty="0"/>
          </a:p>
        </p:txBody>
      </p:sp>
      <p:sp>
        <p:nvSpPr>
          <p:cNvPr id="7" name="Text 4"/>
          <p:cNvSpPr txBox="1"/>
          <p:nvPr/>
        </p:nvSpPr>
        <p:spPr>
          <a:xfrm>
            <a:off x="1188720" y="1417320"/>
            <a:ext cx="10424160" cy="640080"/>
          </a:xfrm>
          <a:prstGeom prst="rect">
            <a:avLst/>
          </a:prstGeom>
          <a:noFill/>
          <a:ln/>
        </p:spPr>
        <p:txBody>
          <a:bodyPr wrap="square" lIns="0" tIns="0" rIns="0" bIns="0" rtlCol="0" anchor="ctr"/>
          <a:lstStyle/>
          <a:p>
            <a:pPr marL="0" indent="0">
              <a:buNone/>
            </a:pPr>
            <a:r>
              <a:rPr lang="en-US" sz="1700" dirty="0">
                <a:solidFill>
                  <a:srgbClr val="1F2937"/>
                </a:solidFill>
              </a:rPr>
              <a:t>Host sends the question + definitions of all 13 tools (from both servers) to the LLM</a:t>
            </a:r>
            <a:endParaRPr lang="en-US" sz="1700" dirty="0"/>
          </a:p>
        </p:txBody>
      </p:sp>
      <p:sp>
        <p:nvSpPr>
          <p:cNvPr id="8" name="Shape 5"/>
          <p:cNvSpPr/>
          <p:nvPr/>
        </p:nvSpPr>
        <p:spPr>
          <a:xfrm>
            <a:off x="457200" y="2240280"/>
            <a:ext cx="548640" cy="548640"/>
          </a:xfrm>
          <a:prstGeom prst="ellipse">
            <a:avLst/>
          </a:prstGeom>
          <a:solidFill>
            <a:srgbClr val="0F8B8D"/>
          </a:solidFill>
          <a:ln w="12700">
            <a:solidFill>
              <a:srgbClr val="0F8B8D"/>
            </a:solidFill>
            <a:prstDash val="solid"/>
          </a:ln>
        </p:spPr>
        <p:txBody>
          <a:bodyPr/>
          <a:lstStyle/>
          <a:p>
            <a:endParaRPr lang="en-VN"/>
          </a:p>
        </p:txBody>
      </p:sp>
      <p:sp>
        <p:nvSpPr>
          <p:cNvPr id="9" name="Text 6"/>
          <p:cNvSpPr txBox="1"/>
          <p:nvPr/>
        </p:nvSpPr>
        <p:spPr>
          <a:xfrm>
            <a:off x="457200" y="224028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rPr>
              <a:t>2</a:t>
            </a:r>
            <a:endParaRPr lang="en-US" sz="1600" dirty="0"/>
          </a:p>
        </p:txBody>
      </p:sp>
      <p:sp>
        <p:nvSpPr>
          <p:cNvPr id="10" name="Text 7"/>
          <p:cNvSpPr txBox="1"/>
          <p:nvPr/>
        </p:nvSpPr>
        <p:spPr>
          <a:xfrm>
            <a:off x="1188720" y="2194560"/>
            <a:ext cx="10424160" cy="640080"/>
          </a:xfrm>
          <a:prstGeom prst="rect">
            <a:avLst/>
          </a:prstGeom>
          <a:noFill/>
          <a:ln/>
        </p:spPr>
        <p:txBody>
          <a:bodyPr wrap="square" lIns="0" tIns="0" rIns="0" bIns="0" rtlCol="0" anchor="ctr"/>
          <a:lstStyle/>
          <a:p>
            <a:pPr marL="0" indent="0">
              <a:buNone/>
            </a:pPr>
            <a:r>
              <a:rPr lang="en-US" sz="1700" dirty="0">
                <a:solidFill>
                  <a:srgbClr val="1F2937"/>
                </a:solidFill>
              </a:rPr>
              <a:t>LLM returns either a final text answer or one or more tool calls</a:t>
            </a:r>
            <a:endParaRPr lang="en-US" sz="1700" dirty="0"/>
          </a:p>
        </p:txBody>
      </p:sp>
      <p:sp>
        <p:nvSpPr>
          <p:cNvPr id="11" name="Shape 8"/>
          <p:cNvSpPr/>
          <p:nvPr/>
        </p:nvSpPr>
        <p:spPr>
          <a:xfrm>
            <a:off x="457200" y="3017520"/>
            <a:ext cx="548640" cy="548640"/>
          </a:xfrm>
          <a:prstGeom prst="ellipse">
            <a:avLst/>
          </a:prstGeom>
          <a:solidFill>
            <a:srgbClr val="0F8B8D"/>
          </a:solidFill>
          <a:ln w="12700">
            <a:solidFill>
              <a:srgbClr val="0F8B8D"/>
            </a:solidFill>
            <a:prstDash val="solid"/>
          </a:ln>
        </p:spPr>
        <p:txBody>
          <a:bodyPr/>
          <a:lstStyle/>
          <a:p>
            <a:endParaRPr lang="en-VN"/>
          </a:p>
        </p:txBody>
      </p:sp>
      <p:sp>
        <p:nvSpPr>
          <p:cNvPr id="12" name="Text 9"/>
          <p:cNvSpPr txBox="1"/>
          <p:nvPr/>
        </p:nvSpPr>
        <p:spPr>
          <a:xfrm>
            <a:off x="457200" y="301752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rPr>
              <a:t>3</a:t>
            </a:r>
            <a:endParaRPr lang="en-US" sz="1600" dirty="0"/>
          </a:p>
        </p:txBody>
      </p:sp>
      <p:sp>
        <p:nvSpPr>
          <p:cNvPr id="13" name="Text 10"/>
          <p:cNvSpPr txBox="1"/>
          <p:nvPr/>
        </p:nvSpPr>
        <p:spPr>
          <a:xfrm>
            <a:off x="1188720" y="2971800"/>
            <a:ext cx="10424160" cy="640080"/>
          </a:xfrm>
          <a:prstGeom prst="rect">
            <a:avLst/>
          </a:prstGeom>
          <a:noFill/>
          <a:ln/>
        </p:spPr>
        <p:txBody>
          <a:bodyPr wrap="square" lIns="0" tIns="0" rIns="0" bIns="0" rtlCol="0" anchor="ctr"/>
          <a:lstStyle/>
          <a:p>
            <a:pPr marL="0" indent="0">
              <a:buNone/>
            </a:pPr>
            <a:r>
              <a:rPr lang="en-US" sz="1700" dirty="0">
                <a:solidFill>
                  <a:srgbClr val="1F2937"/>
                </a:solidFill>
              </a:rPr>
              <a:t>Host splits the qualified name academic__calculate_gpa → server + tool</a:t>
            </a:r>
            <a:endParaRPr lang="en-US" sz="1700" dirty="0"/>
          </a:p>
        </p:txBody>
      </p:sp>
      <p:sp>
        <p:nvSpPr>
          <p:cNvPr id="14" name="Shape 11"/>
          <p:cNvSpPr/>
          <p:nvPr/>
        </p:nvSpPr>
        <p:spPr>
          <a:xfrm>
            <a:off x="457200" y="3794760"/>
            <a:ext cx="548640" cy="548640"/>
          </a:xfrm>
          <a:prstGeom prst="ellipse">
            <a:avLst/>
          </a:prstGeom>
          <a:solidFill>
            <a:srgbClr val="0F8B8D"/>
          </a:solidFill>
          <a:ln w="12700">
            <a:solidFill>
              <a:srgbClr val="0F8B8D"/>
            </a:solidFill>
            <a:prstDash val="solid"/>
          </a:ln>
        </p:spPr>
        <p:txBody>
          <a:bodyPr/>
          <a:lstStyle/>
          <a:p>
            <a:endParaRPr lang="en-VN"/>
          </a:p>
        </p:txBody>
      </p:sp>
      <p:sp>
        <p:nvSpPr>
          <p:cNvPr id="15" name="Text 12"/>
          <p:cNvSpPr txBox="1"/>
          <p:nvPr/>
        </p:nvSpPr>
        <p:spPr>
          <a:xfrm>
            <a:off x="457200" y="379476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rPr>
              <a:t>4</a:t>
            </a:r>
            <a:endParaRPr lang="en-US" sz="1600" dirty="0"/>
          </a:p>
        </p:txBody>
      </p:sp>
      <p:sp>
        <p:nvSpPr>
          <p:cNvPr id="16" name="Text 13"/>
          <p:cNvSpPr txBox="1"/>
          <p:nvPr/>
        </p:nvSpPr>
        <p:spPr>
          <a:xfrm>
            <a:off x="1188720" y="3749040"/>
            <a:ext cx="10424160" cy="640080"/>
          </a:xfrm>
          <a:prstGeom prst="rect">
            <a:avLst/>
          </a:prstGeom>
          <a:noFill/>
          <a:ln/>
        </p:spPr>
        <p:txBody>
          <a:bodyPr wrap="square" lIns="0" tIns="0" rIns="0" bIns="0" rtlCol="0" anchor="ctr"/>
          <a:lstStyle/>
          <a:p>
            <a:pPr marL="0" indent="0">
              <a:buNone/>
            </a:pPr>
            <a:r>
              <a:rPr lang="en-US" sz="1700" dirty="0">
                <a:solidFill>
                  <a:srgbClr val="1F2937"/>
                </a:solidFill>
              </a:rPr>
              <a:t>That server's MCP client calls tools/call; the server runs the code and returns a result</a:t>
            </a:r>
            <a:endParaRPr lang="en-US" sz="1700" dirty="0"/>
          </a:p>
        </p:txBody>
      </p:sp>
      <p:sp>
        <p:nvSpPr>
          <p:cNvPr id="17" name="Shape 14"/>
          <p:cNvSpPr/>
          <p:nvPr/>
        </p:nvSpPr>
        <p:spPr>
          <a:xfrm>
            <a:off x="457200" y="4572000"/>
            <a:ext cx="548640" cy="548640"/>
          </a:xfrm>
          <a:prstGeom prst="ellipse">
            <a:avLst/>
          </a:prstGeom>
          <a:solidFill>
            <a:srgbClr val="0F8B8D"/>
          </a:solidFill>
          <a:ln w="12700">
            <a:solidFill>
              <a:srgbClr val="0F8B8D"/>
            </a:solidFill>
            <a:prstDash val="solid"/>
          </a:ln>
        </p:spPr>
        <p:txBody>
          <a:bodyPr/>
          <a:lstStyle/>
          <a:p>
            <a:endParaRPr lang="en-VN"/>
          </a:p>
        </p:txBody>
      </p:sp>
      <p:sp>
        <p:nvSpPr>
          <p:cNvPr id="18" name="Text 15"/>
          <p:cNvSpPr txBox="1"/>
          <p:nvPr/>
        </p:nvSpPr>
        <p:spPr>
          <a:xfrm>
            <a:off x="457200" y="457200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rPr>
              <a:t>5</a:t>
            </a:r>
            <a:endParaRPr lang="en-US" sz="1600" dirty="0"/>
          </a:p>
        </p:txBody>
      </p:sp>
      <p:sp>
        <p:nvSpPr>
          <p:cNvPr id="19" name="Text 16"/>
          <p:cNvSpPr txBox="1"/>
          <p:nvPr/>
        </p:nvSpPr>
        <p:spPr>
          <a:xfrm>
            <a:off x="1188720" y="4526280"/>
            <a:ext cx="10424160" cy="640080"/>
          </a:xfrm>
          <a:prstGeom prst="rect">
            <a:avLst/>
          </a:prstGeom>
          <a:noFill/>
          <a:ln/>
        </p:spPr>
        <p:txBody>
          <a:bodyPr wrap="square" lIns="0" tIns="0" rIns="0" bIns="0" rtlCol="0" anchor="ctr"/>
          <a:lstStyle/>
          <a:p>
            <a:pPr marL="0" indent="0">
              <a:buNone/>
            </a:pPr>
            <a:r>
              <a:rPr lang="en-US" sz="1700" dirty="0">
                <a:solidFill>
                  <a:srgbClr val="1F2937"/>
                </a:solidFill>
              </a:rPr>
              <a:t>Host sends the result — or the error message — back to the LLM</a:t>
            </a:r>
            <a:endParaRPr lang="en-US" sz="1700" dirty="0"/>
          </a:p>
        </p:txBody>
      </p:sp>
      <p:sp>
        <p:nvSpPr>
          <p:cNvPr id="20" name="Shape 17"/>
          <p:cNvSpPr/>
          <p:nvPr/>
        </p:nvSpPr>
        <p:spPr>
          <a:xfrm>
            <a:off x="457200" y="5349240"/>
            <a:ext cx="548640" cy="548640"/>
          </a:xfrm>
          <a:prstGeom prst="ellipse">
            <a:avLst/>
          </a:prstGeom>
          <a:solidFill>
            <a:srgbClr val="0F8B8D"/>
          </a:solidFill>
          <a:ln w="12700">
            <a:solidFill>
              <a:srgbClr val="0F8B8D"/>
            </a:solidFill>
            <a:prstDash val="solid"/>
          </a:ln>
        </p:spPr>
        <p:txBody>
          <a:bodyPr/>
          <a:lstStyle/>
          <a:p>
            <a:endParaRPr lang="en-VN"/>
          </a:p>
        </p:txBody>
      </p:sp>
      <p:sp>
        <p:nvSpPr>
          <p:cNvPr id="21" name="Text 18"/>
          <p:cNvSpPr txBox="1"/>
          <p:nvPr/>
        </p:nvSpPr>
        <p:spPr>
          <a:xfrm>
            <a:off x="457200" y="5349240"/>
            <a:ext cx="548640" cy="548640"/>
          </a:xfrm>
          <a:prstGeom prst="rect">
            <a:avLst/>
          </a:prstGeom>
          <a:noFill/>
          <a:ln/>
        </p:spPr>
        <p:txBody>
          <a:bodyPr wrap="square" lIns="0" tIns="0" rIns="0" bIns="0" rtlCol="0" anchor="ctr"/>
          <a:lstStyle/>
          <a:p>
            <a:pPr marL="0" indent="0" algn="ctr">
              <a:buNone/>
            </a:pPr>
            <a:r>
              <a:rPr lang="en-US" sz="1600" b="1" dirty="0">
                <a:solidFill>
                  <a:srgbClr val="FFFFFF"/>
                </a:solidFill>
              </a:rPr>
              <a:t>6</a:t>
            </a:r>
            <a:endParaRPr lang="en-US" sz="1600" dirty="0"/>
          </a:p>
        </p:txBody>
      </p:sp>
      <p:sp>
        <p:nvSpPr>
          <p:cNvPr id="22" name="Text 19"/>
          <p:cNvSpPr txBox="1"/>
          <p:nvPr/>
        </p:nvSpPr>
        <p:spPr>
          <a:xfrm>
            <a:off x="1188720" y="5303520"/>
            <a:ext cx="10424160" cy="640080"/>
          </a:xfrm>
          <a:prstGeom prst="rect">
            <a:avLst/>
          </a:prstGeom>
          <a:noFill/>
          <a:ln/>
        </p:spPr>
        <p:txBody>
          <a:bodyPr wrap="square" lIns="0" tIns="0" rIns="0" bIns="0" rtlCol="0" anchor="ctr"/>
          <a:lstStyle/>
          <a:p>
            <a:pPr marL="0" indent="0">
              <a:buNone/>
            </a:pPr>
            <a:r>
              <a:rPr lang="en-US" sz="1700" dirty="0">
                <a:solidFill>
                  <a:srgbClr val="1F2937"/>
                </a:solidFill>
              </a:rPr>
              <a:t>Repeat until the LLM answers in text, at most maxToolRounds (= 8) rounds</a:t>
            </a:r>
            <a:endParaRPr lang="en-US" sz="1700" dirty="0"/>
          </a:p>
        </p:txBody>
      </p:sp>
      <p:sp>
        <p:nvSpPr>
          <p:cNvPr id="23" name="Text 20"/>
          <p:cNvSpPr txBox="1"/>
          <p:nvPr/>
        </p:nvSpPr>
        <p:spPr>
          <a:xfrm>
            <a:off x="457200" y="6080760"/>
            <a:ext cx="10972800" cy="274320"/>
          </a:xfrm>
          <a:prstGeom prst="rect">
            <a:avLst/>
          </a:prstGeom>
          <a:noFill/>
          <a:ln/>
        </p:spPr>
        <p:txBody>
          <a:bodyPr wrap="square" lIns="0" tIns="0" rIns="0" bIns="0" rtlCol="0" anchor="ctr"/>
          <a:lstStyle/>
          <a:p>
            <a:pPr marL="0" indent="0">
              <a:buNone/>
            </a:pPr>
            <a:r>
              <a:rPr lang="en-US" sz="1200" i="1" dirty="0">
                <a:solidFill>
                  <a:srgbClr val="5B6475"/>
                </a:solidFill>
              </a:rPr>
              <a:t>Implemented in ChatHost.ask() — src/host/host.ts</a:t>
            </a:r>
            <a:endParaRPr lang="en-US" sz="12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marL="0" indent="0">
              <a:buNone/>
            </a:pPr>
            <a:r>
              <a:rPr lang="en-US" sz="1200" b="1" kern="0" spc="200" dirty="0">
                <a:solidFill>
                  <a:srgbClr val="0F8B8D"/>
                </a:solidFill>
              </a:rPr>
              <a:t>REQUIREMENT 3 · FLOWCHART</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marL="0" indent="0">
              <a:buNone/>
            </a:pPr>
            <a:r>
              <a:rPr lang="en-US" sz="3000" b="1" dirty="0">
                <a:solidFill>
                  <a:srgbClr val="1F2937"/>
                </a:solidFill>
              </a:rPr>
              <a:t>Flowchart 1 — tool-calling loop</a:t>
            </a:r>
            <a:endParaRPr lang="en-US" sz="3000" dirty="0"/>
          </a:p>
        </p:txBody>
      </p:sp>
      <p:sp>
        <p:nvSpPr>
          <p:cNvPr id="5" name="Shape 2"/>
          <p:cNvSpPr/>
          <p:nvPr/>
        </p:nvSpPr>
        <p:spPr>
          <a:xfrm>
            <a:off x="1645920" y="1280160"/>
            <a:ext cx="3291840" cy="457200"/>
          </a:xfrm>
          <a:prstGeom prst="roundRect">
            <a:avLst>
              <a:gd name="adj" fmla="val 50000"/>
            </a:avLst>
          </a:prstGeom>
          <a:solidFill>
            <a:srgbClr val="DDF3F1"/>
          </a:solidFill>
          <a:ln w="12700">
            <a:solidFill>
              <a:srgbClr val="8A94A6"/>
            </a:solidFill>
            <a:prstDash val="solid"/>
          </a:ln>
        </p:spPr>
        <p:txBody>
          <a:bodyPr/>
          <a:lstStyle/>
          <a:p>
            <a:endParaRPr lang="en-VN"/>
          </a:p>
        </p:txBody>
      </p:sp>
      <p:sp>
        <p:nvSpPr>
          <p:cNvPr id="6" name="Text 3"/>
          <p:cNvSpPr txBox="1"/>
          <p:nvPr/>
        </p:nvSpPr>
        <p:spPr>
          <a:xfrm>
            <a:off x="1719072" y="1280160"/>
            <a:ext cx="3145536" cy="457200"/>
          </a:xfrm>
          <a:prstGeom prst="rect">
            <a:avLst/>
          </a:prstGeom>
          <a:noFill/>
          <a:ln/>
        </p:spPr>
        <p:txBody>
          <a:bodyPr wrap="square" lIns="0" tIns="0" rIns="0" bIns="0" rtlCol="0" anchor="ctr"/>
          <a:lstStyle/>
          <a:p>
            <a:pPr marL="0" indent="0" algn="ctr">
              <a:buNone/>
            </a:pPr>
            <a:r>
              <a:rPr lang="en-US" sz="1300" dirty="0">
                <a:solidFill>
                  <a:srgbClr val="1F2937"/>
                </a:solidFill>
              </a:rPr>
              <a:t>User question</a:t>
            </a:r>
            <a:endParaRPr lang="en-US" sz="1300" dirty="0"/>
          </a:p>
        </p:txBody>
      </p:sp>
      <p:sp>
        <p:nvSpPr>
          <p:cNvPr id="7" name="Shape 4"/>
          <p:cNvSpPr/>
          <p:nvPr/>
        </p:nvSpPr>
        <p:spPr>
          <a:xfrm>
            <a:off x="1645920" y="1965960"/>
            <a:ext cx="3291840" cy="548640"/>
          </a:xfrm>
          <a:prstGeom prst="rect">
            <a:avLst/>
          </a:prstGeom>
          <a:solidFill>
            <a:srgbClr val="EEF2F6"/>
          </a:solidFill>
          <a:ln w="12700">
            <a:solidFill>
              <a:srgbClr val="8A94A6"/>
            </a:solidFill>
            <a:prstDash val="solid"/>
          </a:ln>
        </p:spPr>
        <p:txBody>
          <a:bodyPr/>
          <a:lstStyle/>
          <a:p>
            <a:endParaRPr lang="en-VN"/>
          </a:p>
        </p:txBody>
      </p:sp>
      <p:sp>
        <p:nvSpPr>
          <p:cNvPr id="8" name="Text 5"/>
          <p:cNvSpPr txBox="1"/>
          <p:nvPr/>
        </p:nvSpPr>
        <p:spPr>
          <a:xfrm>
            <a:off x="1719072" y="1965960"/>
            <a:ext cx="3145536" cy="548640"/>
          </a:xfrm>
          <a:prstGeom prst="rect">
            <a:avLst/>
          </a:prstGeom>
          <a:noFill/>
          <a:ln/>
        </p:spPr>
        <p:txBody>
          <a:bodyPr wrap="square" lIns="0" tIns="0" rIns="0" bIns="0" rtlCol="0" anchor="ctr"/>
          <a:lstStyle/>
          <a:p>
            <a:pPr marL="0" indent="0" algn="ctr">
              <a:buNone/>
            </a:pPr>
            <a:r>
              <a:rPr lang="en-US" sz="1300" dirty="0">
                <a:solidFill>
                  <a:srgbClr val="1F2937"/>
                </a:solidFill>
              </a:rPr>
              <a:t>Send question + all tool definitions to the LLM</a:t>
            </a:r>
            <a:endParaRPr lang="en-US" sz="1300" dirty="0"/>
          </a:p>
        </p:txBody>
      </p:sp>
      <p:sp>
        <p:nvSpPr>
          <p:cNvPr id="9" name="Shape 6"/>
          <p:cNvSpPr/>
          <p:nvPr/>
        </p:nvSpPr>
        <p:spPr>
          <a:xfrm>
            <a:off x="1645920" y="2743200"/>
            <a:ext cx="3291840" cy="822960"/>
          </a:xfrm>
          <a:prstGeom prst="diamond">
            <a:avLst/>
          </a:prstGeom>
          <a:solidFill>
            <a:srgbClr val="FFF7E0"/>
          </a:solidFill>
          <a:ln w="12700">
            <a:solidFill>
              <a:srgbClr val="8A94A6"/>
            </a:solidFill>
            <a:prstDash val="solid"/>
          </a:ln>
        </p:spPr>
        <p:txBody>
          <a:bodyPr/>
          <a:lstStyle/>
          <a:p>
            <a:endParaRPr lang="en-VN"/>
          </a:p>
        </p:txBody>
      </p:sp>
      <p:sp>
        <p:nvSpPr>
          <p:cNvPr id="10" name="Text 7"/>
          <p:cNvSpPr txBox="1"/>
          <p:nvPr/>
        </p:nvSpPr>
        <p:spPr>
          <a:xfrm>
            <a:off x="1719072" y="2743200"/>
            <a:ext cx="3145536" cy="822960"/>
          </a:xfrm>
          <a:prstGeom prst="rect">
            <a:avLst/>
          </a:prstGeom>
          <a:noFill/>
          <a:ln/>
        </p:spPr>
        <p:txBody>
          <a:bodyPr wrap="square" lIns="0" tIns="0" rIns="0" bIns="0" rtlCol="0" anchor="ctr"/>
          <a:lstStyle/>
          <a:p>
            <a:pPr marL="0" indent="0" algn="ctr">
              <a:buNone/>
            </a:pPr>
            <a:r>
              <a:rPr lang="en-US" sz="1200" dirty="0">
                <a:solidFill>
                  <a:srgbClr val="1F2937"/>
                </a:solidFill>
              </a:rPr>
              <a:t>Tool calls</a:t>
            </a:r>
            <a:endParaRPr lang="en-US" sz="1200" dirty="0"/>
          </a:p>
          <a:p>
            <a:pPr marL="0" indent="0" algn="ctr">
              <a:buNone/>
            </a:pPr>
            <a:r>
              <a:rPr lang="en-US" sz="1200" dirty="0">
                <a:solidFill>
                  <a:srgbClr val="1F2937"/>
                </a:solidFill>
              </a:rPr>
              <a:t>returned?</a:t>
            </a:r>
            <a:endParaRPr lang="en-US" sz="1200" dirty="0"/>
          </a:p>
        </p:txBody>
      </p:sp>
      <p:sp>
        <p:nvSpPr>
          <p:cNvPr id="11" name="Shape 8"/>
          <p:cNvSpPr/>
          <p:nvPr/>
        </p:nvSpPr>
        <p:spPr>
          <a:xfrm>
            <a:off x="1645920" y="3749040"/>
            <a:ext cx="3291840" cy="822960"/>
          </a:xfrm>
          <a:prstGeom prst="diamond">
            <a:avLst/>
          </a:prstGeom>
          <a:solidFill>
            <a:srgbClr val="FFF7E0"/>
          </a:solidFill>
          <a:ln w="12700">
            <a:solidFill>
              <a:srgbClr val="8A94A6"/>
            </a:solidFill>
            <a:prstDash val="solid"/>
          </a:ln>
        </p:spPr>
        <p:txBody>
          <a:bodyPr/>
          <a:lstStyle/>
          <a:p>
            <a:endParaRPr lang="en-VN"/>
          </a:p>
        </p:txBody>
      </p:sp>
      <p:sp>
        <p:nvSpPr>
          <p:cNvPr id="12" name="Text 9"/>
          <p:cNvSpPr txBox="1"/>
          <p:nvPr/>
        </p:nvSpPr>
        <p:spPr>
          <a:xfrm>
            <a:off x="1719072" y="3749040"/>
            <a:ext cx="3145536" cy="822960"/>
          </a:xfrm>
          <a:prstGeom prst="rect">
            <a:avLst/>
          </a:prstGeom>
          <a:noFill/>
          <a:ln/>
        </p:spPr>
        <p:txBody>
          <a:bodyPr wrap="square" lIns="0" tIns="0" rIns="0" bIns="0" rtlCol="0" anchor="ctr"/>
          <a:lstStyle/>
          <a:p>
            <a:pPr marL="0" indent="0" algn="ctr">
              <a:buNone/>
            </a:pPr>
            <a:r>
              <a:rPr lang="en-US" sz="1200" dirty="0">
                <a:solidFill>
                  <a:srgbClr val="1F2937"/>
                </a:solidFill>
              </a:rPr>
              <a:t>rounds &lt;</a:t>
            </a:r>
            <a:endParaRPr lang="en-US" sz="1200" dirty="0"/>
          </a:p>
          <a:p>
            <a:pPr marL="0" indent="0" algn="ctr">
              <a:buNone/>
            </a:pPr>
            <a:r>
              <a:rPr lang="en-US" sz="1200" dirty="0">
                <a:solidFill>
                  <a:srgbClr val="1F2937"/>
                </a:solidFill>
              </a:rPr>
              <a:t>maxToolRounds?</a:t>
            </a:r>
            <a:endParaRPr lang="en-US" sz="1200" dirty="0"/>
          </a:p>
        </p:txBody>
      </p:sp>
      <p:sp>
        <p:nvSpPr>
          <p:cNvPr id="13" name="Shape 10"/>
          <p:cNvSpPr/>
          <p:nvPr/>
        </p:nvSpPr>
        <p:spPr>
          <a:xfrm>
            <a:off x="1645920" y="4754880"/>
            <a:ext cx="3291840" cy="502920"/>
          </a:xfrm>
          <a:prstGeom prst="rect">
            <a:avLst/>
          </a:prstGeom>
          <a:solidFill>
            <a:srgbClr val="EEF2F6"/>
          </a:solidFill>
          <a:ln w="12700">
            <a:solidFill>
              <a:srgbClr val="8A94A6"/>
            </a:solidFill>
            <a:prstDash val="solid"/>
          </a:ln>
        </p:spPr>
        <p:txBody>
          <a:bodyPr/>
          <a:lstStyle/>
          <a:p>
            <a:endParaRPr lang="en-VN"/>
          </a:p>
        </p:txBody>
      </p:sp>
      <p:sp>
        <p:nvSpPr>
          <p:cNvPr id="14" name="Text 11"/>
          <p:cNvSpPr txBox="1"/>
          <p:nvPr/>
        </p:nvSpPr>
        <p:spPr>
          <a:xfrm>
            <a:off x="1719072" y="4754880"/>
            <a:ext cx="3145536" cy="502920"/>
          </a:xfrm>
          <a:prstGeom prst="rect">
            <a:avLst/>
          </a:prstGeom>
          <a:noFill/>
          <a:ln/>
        </p:spPr>
        <p:txBody>
          <a:bodyPr wrap="square" lIns="0" tIns="0" rIns="0" bIns="0" rtlCol="0" anchor="ctr"/>
          <a:lstStyle/>
          <a:p>
            <a:pPr marL="0" indent="0" algn="ctr">
              <a:buNone/>
            </a:pPr>
            <a:r>
              <a:rPr lang="en-US" sz="1300" dirty="0">
                <a:solidFill>
                  <a:srgbClr val="1F2937"/>
                </a:solidFill>
              </a:rPr>
              <a:t>client.callTool() on the right server</a:t>
            </a:r>
            <a:endParaRPr lang="en-US" sz="1300" dirty="0"/>
          </a:p>
        </p:txBody>
      </p:sp>
      <p:sp>
        <p:nvSpPr>
          <p:cNvPr id="15" name="Shape 12"/>
          <p:cNvSpPr/>
          <p:nvPr/>
        </p:nvSpPr>
        <p:spPr>
          <a:xfrm>
            <a:off x="1645920" y="5486400"/>
            <a:ext cx="3291840" cy="502920"/>
          </a:xfrm>
          <a:prstGeom prst="rect">
            <a:avLst/>
          </a:prstGeom>
          <a:solidFill>
            <a:srgbClr val="FFF7E0"/>
          </a:solidFill>
          <a:ln w="12700">
            <a:solidFill>
              <a:srgbClr val="8A94A6"/>
            </a:solidFill>
            <a:prstDash val="solid"/>
          </a:ln>
        </p:spPr>
        <p:txBody>
          <a:bodyPr/>
          <a:lstStyle/>
          <a:p>
            <a:endParaRPr lang="en-VN"/>
          </a:p>
        </p:txBody>
      </p:sp>
      <p:sp>
        <p:nvSpPr>
          <p:cNvPr id="16" name="Text 13"/>
          <p:cNvSpPr txBox="1"/>
          <p:nvPr/>
        </p:nvSpPr>
        <p:spPr>
          <a:xfrm>
            <a:off x="1719072" y="5486400"/>
            <a:ext cx="3145536" cy="502920"/>
          </a:xfrm>
          <a:prstGeom prst="rect">
            <a:avLst/>
          </a:prstGeom>
          <a:noFill/>
          <a:ln/>
        </p:spPr>
        <p:txBody>
          <a:bodyPr wrap="square" lIns="0" tIns="0" rIns="0" bIns="0" rtlCol="0" anchor="ctr"/>
          <a:lstStyle/>
          <a:p>
            <a:pPr marL="0" indent="0" algn="ctr">
              <a:buNone/>
            </a:pPr>
            <a:r>
              <a:rPr lang="en-US" sz="1300" dirty="0">
                <a:solidFill>
                  <a:srgbClr val="1F2937"/>
                </a:solidFill>
              </a:rPr>
              <a:t>Send result or {error} back to the LLM</a:t>
            </a:r>
            <a:endParaRPr lang="en-US" sz="1300" dirty="0"/>
          </a:p>
        </p:txBody>
      </p:sp>
      <p:sp>
        <p:nvSpPr>
          <p:cNvPr id="17" name="Shape 14"/>
          <p:cNvSpPr/>
          <p:nvPr/>
        </p:nvSpPr>
        <p:spPr>
          <a:xfrm>
            <a:off x="3291840" y="1737360"/>
            <a:ext cx="0" cy="228600"/>
          </a:xfrm>
          <a:prstGeom prst="line">
            <a:avLst/>
          </a:prstGeom>
          <a:noFill/>
          <a:ln w="19050">
            <a:solidFill>
              <a:srgbClr val="8A94A6"/>
            </a:solidFill>
            <a:prstDash val="solid"/>
            <a:tailEnd type="triangle"/>
          </a:ln>
        </p:spPr>
        <p:txBody>
          <a:bodyPr/>
          <a:lstStyle/>
          <a:p>
            <a:endParaRPr lang="en-VN"/>
          </a:p>
        </p:txBody>
      </p:sp>
      <p:sp>
        <p:nvSpPr>
          <p:cNvPr id="18" name="Shape 15"/>
          <p:cNvSpPr/>
          <p:nvPr/>
        </p:nvSpPr>
        <p:spPr>
          <a:xfrm>
            <a:off x="3291840" y="2514600"/>
            <a:ext cx="0" cy="228600"/>
          </a:xfrm>
          <a:prstGeom prst="line">
            <a:avLst/>
          </a:prstGeom>
          <a:noFill/>
          <a:ln w="19050">
            <a:solidFill>
              <a:srgbClr val="8A94A6"/>
            </a:solidFill>
            <a:prstDash val="solid"/>
            <a:tailEnd type="triangle"/>
          </a:ln>
        </p:spPr>
        <p:txBody>
          <a:bodyPr/>
          <a:lstStyle/>
          <a:p>
            <a:endParaRPr lang="en-VN"/>
          </a:p>
        </p:txBody>
      </p:sp>
      <p:sp>
        <p:nvSpPr>
          <p:cNvPr id="19" name="Shape 16"/>
          <p:cNvSpPr/>
          <p:nvPr/>
        </p:nvSpPr>
        <p:spPr>
          <a:xfrm>
            <a:off x="3291840" y="3566160"/>
            <a:ext cx="0" cy="182880"/>
          </a:xfrm>
          <a:prstGeom prst="line">
            <a:avLst/>
          </a:prstGeom>
          <a:noFill/>
          <a:ln w="19050">
            <a:solidFill>
              <a:srgbClr val="8A94A6"/>
            </a:solidFill>
            <a:prstDash val="solid"/>
            <a:tailEnd type="triangle"/>
          </a:ln>
        </p:spPr>
        <p:txBody>
          <a:bodyPr/>
          <a:lstStyle/>
          <a:p>
            <a:endParaRPr lang="en-VN"/>
          </a:p>
        </p:txBody>
      </p:sp>
      <p:sp>
        <p:nvSpPr>
          <p:cNvPr id="20" name="Text 17"/>
          <p:cNvSpPr txBox="1"/>
          <p:nvPr/>
        </p:nvSpPr>
        <p:spPr>
          <a:xfrm>
            <a:off x="3364992" y="3520440"/>
            <a:ext cx="731520" cy="256032"/>
          </a:xfrm>
          <a:prstGeom prst="rect">
            <a:avLst/>
          </a:prstGeom>
          <a:noFill/>
          <a:ln/>
        </p:spPr>
        <p:txBody>
          <a:bodyPr wrap="square" lIns="0" tIns="0" rIns="0" bIns="0" rtlCol="0" anchor="ctr"/>
          <a:lstStyle/>
          <a:p>
            <a:pPr marL="0" indent="0">
              <a:buNone/>
            </a:pPr>
            <a:r>
              <a:rPr lang="en-US" sz="1100" b="1" dirty="0">
                <a:solidFill>
                  <a:srgbClr val="2F855A"/>
                </a:solidFill>
              </a:rPr>
              <a:t>yes</a:t>
            </a:r>
            <a:endParaRPr lang="en-US" sz="1100" dirty="0"/>
          </a:p>
        </p:txBody>
      </p:sp>
      <p:sp>
        <p:nvSpPr>
          <p:cNvPr id="21" name="Shape 18"/>
          <p:cNvSpPr/>
          <p:nvPr/>
        </p:nvSpPr>
        <p:spPr>
          <a:xfrm>
            <a:off x="3291840" y="4572000"/>
            <a:ext cx="0" cy="182880"/>
          </a:xfrm>
          <a:prstGeom prst="line">
            <a:avLst/>
          </a:prstGeom>
          <a:noFill/>
          <a:ln w="19050">
            <a:solidFill>
              <a:srgbClr val="8A94A6"/>
            </a:solidFill>
            <a:prstDash val="solid"/>
            <a:tailEnd type="triangle"/>
          </a:ln>
        </p:spPr>
        <p:txBody>
          <a:bodyPr/>
          <a:lstStyle/>
          <a:p>
            <a:endParaRPr lang="en-VN"/>
          </a:p>
        </p:txBody>
      </p:sp>
      <p:sp>
        <p:nvSpPr>
          <p:cNvPr id="22" name="Text 19"/>
          <p:cNvSpPr txBox="1"/>
          <p:nvPr/>
        </p:nvSpPr>
        <p:spPr>
          <a:xfrm>
            <a:off x="3364992" y="4526280"/>
            <a:ext cx="731520" cy="256032"/>
          </a:xfrm>
          <a:prstGeom prst="rect">
            <a:avLst/>
          </a:prstGeom>
          <a:noFill/>
          <a:ln/>
        </p:spPr>
        <p:txBody>
          <a:bodyPr wrap="square" lIns="0" tIns="0" rIns="0" bIns="0" rtlCol="0" anchor="ctr"/>
          <a:lstStyle/>
          <a:p>
            <a:pPr marL="0" indent="0">
              <a:buNone/>
            </a:pPr>
            <a:r>
              <a:rPr lang="en-US" sz="1100" b="1" dirty="0">
                <a:solidFill>
                  <a:srgbClr val="2F855A"/>
                </a:solidFill>
              </a:rPr>
              <a:t>yes</a:t>
            </a:r>
            <a:endParaRPr lang="en-US" sz="1100" dirty="0"/>
          </a:p>
        </p:txBody>
      </p:sp>
      <p:sp>
        <p:nvSpPr>
          <p:cNvPr id="23" name="Shape 20"/>
          <p:cNvSpPr/>
          <p:nvPr/>
        </p:nvSpPr>
        <p:spPr>
          <a:xfrm>
            <a:off x="3291840" y="5257800"/>
            <a:ext cx="0" cy="228600"/>
          </a:xfrm>
          <a:prstGeom prst="line">
            <a:avLst/>
          </a:prstGeom>
          <a:noFill/>
          <a:ln w="19050">
            <a:solidFill>
              <a:srgbClr val="8A94A6"/>
            </a:solidFill>
            <a:prstDash val="solid"/>
            <a:tailEnd type="triangle"/>
          </a:ln>
        </p:spPr>
        <p:txBody>
          <a:bodyPr/>
          <a:lstStyle/>
          <a:p>
            <a:endParaRPr lang="en-VN"/>
          </a:p>
        </p:txBody>
      </p:sp>
      <p:sp>
        <p:nvSpPr>
          <p:cNvPr id="24" name="Shape 21"/>
          <p:cNvSpPr/>
          <p:nvPr/>
        </p:nvSpPr>
        <p:spPr>
          <a:xfrm flipH="1">
            <a:off x="1097280" y="5733288"/>
            <a:ext cx="548640" cy="0"/>
          </a:xfrm>
          <a:prstGeom prst="line">
            <a:avLst/>
          </a:prstGeom>
          <a:noFill/>
          <a:ln w="19050">
            <a:solidFill>
              <a:srgbClr val="8A94A6"/>
            </a:solidFill>
            <a:prstDash val="solid"/>
          </a:ln>
        </p:spPr>
        <p:txBody>
          <a:bodyPr/>
          <a:lstStyle/>
          <a:p>
            <a:endParaRPr lang="en-VN"/>
          </a:p>
        </p:txBody>
      </p:sp>
      <p:sp>
        <p:nvSpPr>
          <p:cNvPr id="25" name="Shape 22"/>
          <p:cNvSpPr/>
          <p:nvPr/>
        </p:nvSpPr>
        <p:spPr>
          <a:xfrm flipV="1">
            <a:off x="1097280" y="2240280"/>
            <a:ext cx="0" cy="3493008"/>
          </a:xfrm>
          <a:prstGeom prst="line">
            <a:avLst/>
          </a:prstGeom>
          <a:noFill/>
          <a:ln w="19050">
            <a:solidFill>
              <a:srgbClr val="8A94A6"/>
            </a:solidFill>
            <a:prstDash val="solid"/>
          </a:ln>
        </p:spPr>
        <p:txBody>
          <a:bodyPr/>
          <a:lstStyle/>
          <a:p>
            <a:endParaRPr lang="en-VN"/>
          </a:p>
        </p:txBody>
      </p:sp>
      <p:sp>
        <p:nvSpPr>
          <p:cNvPr id="26" name="Shape 23"/>
          <p:cNvSpPr/>
          <p:nvPr/>
        </p:nvSpPr>
        <p:spPr>
          <a:xfrm>
            <a:off x="1097280" y="2240280"/>
            <a:ext cx="548640" cy="0"/>
          </a:xfrm>
          <a:prstGeom prst="line">
            <a:avLst/>
          </a:prstGeom>
          <a:noFill/>
          <a:ln w="19050">
            <a:solidFill>
              <a:srgbClr val="8A94A6"/>
            </a:solidFill>
            <a:prstDash val="solid"/>
            <a:tailEnd type="triangle"/>
          </a:ln>
        </p:spPr>
        <p:txBody>
          <a:bodyPr/>
          <a:lstStyle/>
          <a:p>
            <a:endParaRPr lang="en-VN"/>
          </a:p>
        </p:txBody>
      </p:sp>
      <p:sp>
        <p:nvSpPr>
          <p:cNvPr id="27" name="Text 24"/>
          <p:cNvSpPr txBox="1"/>
          <p:nvPr/>
        </p:nvSpPr>
        <p:spPr>
          <a:xfrm>
            <a:off x="228600" y="3840480"/>
            <a:ext cx="822960" cy="457200"/>
          </a:xfrm>
          <a:prstGeom prst="rect">
            <a:avLst/>
          </a:prstGeom>
          <a:noFill/>
          <a:ln/>
        </p:spPr>
        <p:txBody>
          <a:bodyPr wrap="square" lIns="0" tIns="0" rIns="0" bIns="0" rtlCol="0" anchor="ctr"/>
          <a:lstStyle/>
          <a:p>
            <a:pPr marL="0" indent="0">
              <a:buNone/>
            </a:pPr>
            <a:r>
              <a:rPr lang="en-US" sz="1100" i="1" dirty="0">
                <a:solidFill>
                  <a:srgbClr val="5B6475"/>
                </a:solidFill>
              </a:rPr>
              <a:t>next round</a:t>
            </a:r>
            <a:endParaRPr lang="en-US" sz="1100" dirty="0"/>
          </a:p>
        </p:txBody>
      </p:sp>
      <p:sp>
        <p:nvSpPr>
          <p:cNvPr id="28" name="Shape 25"/>
          <p:cNvSpPr/>
          <p:nvPr/>
        </p:nvSpPr>
        <p:spPr>
          <a:xfrm>
            <a:off x="6675120" y="2880360"/>
            <a:ext cx="3291840" cy="548640"/>
          </a:xfrm>
          <a:prstGeom prst="roundRect">
            <a:avLst>
              <a:gd name="adj" fmla="val 41667"/>
            </a:avLst>
          </a:prstGeom>
          <a:solidFill>
            <a:srgbClr val="DDF3F1"/>
          </a:solidFill>
          <a:ln w="12700">
            <a:solidFill>
              <a:srgbClr val="8A94A6"/>
            </a:solidFill>
            <a:prstDash val="solid"/>
          </a:ln>
        </p:spPr>
        <p:txBody>
          <a:bodyPr/>
          <a:lstStyle/>
          <a:p>
            <a:endParaRPr lang="en-VN"/>
          </a:p>
        </p:txBody>
      </p:sp>
      <p:sp>
        <p:nvSpPr>
          <p:cNvPr id="29" name="Text 26"/>
          <p:cNvSpPr txBox="1"/>
          <p:nvPr/>
        </p:nvSpPr>
        <p:spPr>
          <a:xfrm>
            <a:off x="6748272" y="2880360"/>
            <a:ext cx="3145536" cy="548640"/>
          </a:xfrm>
          <a:prstGeom prst="rect">
            <a:avLst/>
          </a:prstGeom>
          <a:noFill/>
          <a:ln/>
        </p:spPr>
        <p:txBody>
          <a:bodyPr wrap="square" lIns="0" tIns="0" rIns="0" bIns="0" rtlCol="0" anchor="ctr"/>
          <a:lstStyle/>
          <a:p>
            <a:pPr marL="0" indent="0" algn="ctr">
              <a:buNone/>
            </a:pPr>
            <a:r>
              <a:rPr lang="en-US" sz="1300" dirty="0">
                <a:solidFill>
                  <a:srgbClr val="1F2937"/>
                </a:solidFill>
              </a:rPr>
              <a:t>Show answer · log the turn (JSONL)</a:t>
            </a:r>
            <a:endParaRPr lang="en-US" sz="1300" dirty="0"/>
          </a:p>
        </p:txBody>
      </p:sp>
      <p:sp>
        <p:nvSpPr>
          <p:cNvPr id="30" name="Shape 27"/>
          <p:cNvSpPr/>
          <p:nvPr/>
        </p:nvSpPr>
        <p:spPr>
          <a:xfrm>
            <a:off x="6675120" y="3886200"/>
            <a:ext cx="3291840" cy="548640"/>
          </a:xfrm>
          <a:prstGeom prst="rect">
            <a:avLst/>
          </a:prstGeom>
          <a:solidFill>
            <a:srgbClr val="FDECEC"/>
          </a:solidFill>
          <a:ln w="12700">
            <a:solidFill>
              <a:srgbClr val="8A94A6"/>
            </a:solidFill>
            <a:prstDash val="solid"/>
          </a:ln>
        </p:spPr>
        <p:txBody>
          <a:bodyPr/>
          <a:lstStyle/>
          <a:p>
            <a:endParaRPr lang="en-VN"/>
          </a:p>
        </p:txBody>
      </p:sp>
      <p:sp>
        <p:nvSpPr>
          <p:cNvPr id="31" name="Text 28"/>
          <p:cNvSpPr txBox="1"/>
          <p:nvPr/>
        </p:nvSpPr>
        <p:spPr>
          <a:xfrm>
            <a:off x="6748272" y="3886200"/>
            <a:ext cx="3145536" cy="548640"/>
          </a:xfrm>
          <a:prstGeom prst="rect">
            <a:avLst/>
          </a:prstGeom>
          <a:noFill/>
          <a:ln/>
        </p:spPr>
        <p:txBody>
          <a:bodyPr wrap="square" lIns="0" tIns="0" rIns="0" bIns="0" rtlCol="0" anchor="ctr"/>
          <a:lstStyle/>
          <a:p>
            <a:pPr marL="0" indent="0" algn="ctr">
              <a:buNone/>
            </a:pPr>
            <a:r>
              <a:rPr lang="en-US" sz="1300" dirty="0">
                <a:solidFill>
                  <a:srgbClr val="1F2937"/>
                </a:solidFill>
              </a:rPr>
              <a:t>Stop: round limit reached</a:t>
            </a:r>
            <a:endParaRPr lang="en-US" sz="1300" dirty="0"/>
          </a:p>
        </p:txBody>
      </p:sp>
      <p:sp>
        <p:nvSpPr>
          <p:cNvPr id="32" name="Shape 29"/>
          <p:cNvSpPr/>
          <p:nvPr/>
        </p:nvSpPr>
        <p:spPr>
          <a:xfrm>
            <a:off x="4937760" y="3154680"/>
            <a:ext cx="1737360" cy="0"/>
          </a:xfrm>
          <a:prstGeom prst="line">
            <a:avLst/>
          </a:prstGeom>
          <a:noFill/>
          <a:ln w="19050">
            <a:solidFill>
              <a:srgbClr val="8A94A6"/>
            </a:solidFill>
            <a:prstDash val="solid"/>
            <a:tailEnd type="triangle"/>
          </a:ln>
        </p:spPr>
        <p:txBody>
          <a:bodyPr/>
          <a:lstStyle/>
          <a:p>
            <a:endParaRPr lang="en-VN"/>
          </a:p>
        </p:txBody>
      </p:sp>
      <p:sp>
        <p:nvSpPr>
          <p:cNvPr id="33" name="Text 30"/>
          <p:cNvSpPr txBox="1"/>
          <p:nvPr/>
        </p:nvSpPr>
        <p:spPr>
          <a:xfrm>
            <a:off x="5440680" y="2862072"/>
            <a:ext cx="731520" cy="256032"/>
          </a:xfrm>
          <a:prstGeom prst="rect">
            <a:avLst/>
          </a:prstGeom>
          <a:noFill/>
          <a:ln/>
        </p:spPr>
        <p:txBody>
          <a:bodyPr wrap="square" lIns="0" tIns="0" rIns="0" bIns="0" rtlCol="0" anchor="ctr"/>
          <a:lstStyle/>
          <a:p>
            <a:pPr marL="0" indent="0">
              <a:buNone/>
            </a:pPr>
            <a:r>
              <a:rPr lang="en-US" sz="1100" b="1" dirty="0">
                <a:solidFill>
                  <a:srgbClr val="C53030"/>
                </a:solidFill>
              </a:rPr>
              <a:t>no</a:t>
            </a:r>
            <a:endParaRPr lang="en-US" sz="1100" dirty="0"/>
          </a:p>
        </p:txBody>
      </p:sp>
      <p:sp>
        <p:nvSpPr>
          <p:cNvPr id="34" name="Shape 31"/>
          <p:cNvSpPr/>
          <p:nvPr/>
        </p:nvSpPr>
        <p:spPr>
          <a:xfrm>
            <a:off x="4937760" y="4160520"/>
            <a:ext cx="1737360" cy="0"/>
          </a:xfrm>
          <a:prstGeom prst="line">
            <a:avLst/>
          </a:prstGeom>
          <a:noFill/>
          <a:ln w="19050">
            <a:solidFill>
              <a:srgbClr val="8A94A6"/>
            </a:solidFill>
            <a:prstDash val="solid"/>
            <a:tailEnd type="triangle"/>
          </a:ln>
        </p:spPr>
        <p:txBody>
          <a:bodyPr/>
          <a:lstStyle/>
          <a:p>
            <a:endParaRPr lang="en-VN"/>
          </a:p>
        </p:txBody>
      </p:sp>
      <p:sp>
        <p:nvSpPr>
          <p:cNvPr id="35" name="Text 32"/>
          <p:cNvSpPr txBox="1"/>
          <p:nvPr/>
        </p:nvSpPr>
        <p:spPr>
          <a:xfrm>
            <a:off x="5440680" y="3867912"/>
            <a:ext cx="731520" cy="256032"/>
          </a:xfrm>
          <a:prstGeom prst="rect">
            <a:avLst/>
          </a:prstGeom>
          <a:noFill/>
          <a:ln/>
        </p:spPr>
        <p:txBody>
          <a:bodyPr wrap="square" lIns="0" tIns="0" rIns="0" bIns="0" rtlCol="0" anchor="ctr"/>
          <a:lstStyle/>
          <a:p>
            <a:pPr marL="0" indent="0">
              <a:buNone/>
            </a:pPr>
            <a:r>
              <a:rPr lang="en-US" sz="1100" b="1" dirty="0">
                <a:solidFill>
                  <a:srgbClr val="C53030"/>
                </a:solidFill>
              </a:rPr>
              <a:t>no</a:t>
            </a:r>
            <a:endParaRPr lang="en-US" sz="1100" dirty="0"/>
          </a:p>
        </p:txBody>
      </p:sp>
      <p:sp>
        <p:nvSpPr>
          <p:cNvPr id="36" name="Shape 33"/>
          <p:cNvSpPr/>
          <p:nvPr/>
        </p:nvSpPr>
        <p:spPr>
          <a:xfrm flipV="1">
            <a:off x="8321040" y="3429000"/>
            <a:ext cx="0" cy="457200"/>
          </a:xfrm>
          <a:prstGeom prst="line">
            <a:avLst/>
          </a:prstGeom>
          <a:noFill/>
          <a:ln w="19050">
            <a:solidFill>
              <a:srgbClr val="8A94A6"/>
            </a:solidFill>
            <a:prstDash val="solid"/>
            <a:tailEnd type="triangle"/>
          </a:ln>
        </p:spPr>
        <p:txBody>
          <a:bodyPr/>
          <a:lstStyle/>
          <a:p>
            <a:endParaRPr lang="en-VN"/>
          </a:p>
        </p:txBody>
      </p:sp>
      <p:sp>
        <p:nvSpPr>
          <p:cNvPr id="37" name="Text 34"/>
          <p:cNvSpPr txBox="1"/>
          <p:nvPr/>
        </p:nvSpPr>
        <p:spPr>
          <a:xfrm>
            <a:off x="6675120" y="5120640"/>
            <a:ext cx="5029200" cy="822960"/>
          </a:xfrm>
          <a:prstGeom prst="rect">
            <a:avLst/>
          </a:prstGeom>
          <a:noFill/>
          <a:ln/>
        </p:spPr>
        <p:txBody>
          <a:bodyPr wrap="square" lIns="0" tIns="0" rIns="0" bIns="0" rtlCol="0" anchor="ctr"/>
          <a:lstStyle/>
          <a:p>
            <a:pPr marL="0" indent="0">
              <a:buNone/>
            </a:pPr>
            <a:r>
              <a:rPr lang="en-US" sz="1500" i="1" dirty="0">
                <a:solidFill>
                  <a:srgbClr val="5B6475"/>
                </a:solidFill>
              </a:rPr>
              <a:t>Errors are not fatal: the model reads the error and corrects its own call.</a:t>
            </a:r>
            <a:endParaRPr lang="en-US" sz="1500" dirty="0"/>
          </a:p>
        </p:txBody>
      </p:sp>
      <p:sp>
        <p:nvSpPr>
          <p:cNvPr id="4"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marL="0" indent="0">
              <a:buNone/>
            </a:pPr>
            <a:r>
              <a:rPr lang="en-US" sz="1200" b="1" kern="0" spc="200" dirty="0">
                <a:solidFill>
                  <a:srgbClr val="0F8B8D"/>
                </a:solidFill>
              </a:rPr>
              <a:t>REQUIREMENT 2 · ALGORITHM</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marL="0" indent="0">
              <a:buNone/>
            </a:pPr>
            <a:r>
              <a:rPr lang="en-US" sz="3000" b="1" dirty="0">
                <a:solidFill>
                  <a:srgbClr val="1F2937"/>
                </a:solidFill>
              </a:rPr>
              <a:t>The loop in action: two servers combined by the LLM</a:t>
            </a:r>
            <a:endParaRPr lang="en-US" sz="3000" dirty="0"/>
          </a:p>
        </p:txBody>
      </p:sp>
      <p:sp>
        <p:nvSpPr>
          <p:cNvPr id="5" name="Text 2"/>
          <p:cNvSpPr txBox="1"/>
          <p:nvPr/>
        </p:nvSpPr>
        <p:spPr>
          <a:xfrm>
            <a:off x="457200" y="1371600"/>
            <a:ext cx="11247120" cy="457200"/>
          </a:xfrm>
          <a:prstGeom prst="rect">
            <a:avLst/>
          </a:prstGeom>
          <a:noFill/>
          <a:ln/>
        </p:spPr>
        <p:txBody>
          <a:bodyPr wrap="square" lIns="0" tIns="0" rIns="0" bIns="0" rtlCol="0" anchor="ctr"/>
          <a:lstStyle/>
          <a:p>
            <a:pPr marL="0" indent="0">
              <a:buNone/>
            </a:pPr>
            <a:r>
              <a:rPr lang="en-US" sz="1800" i="1" dirty="0">
                <a:solidFill>
                  <a:srgbClr val="1F2937"/>
                </a:solidFill>
              </a:rPr>
              <a:t>"Write a performance report for class IT01 and save it."</a:t>
            </a:r>
            <a:endParaRPr lang="en-US" sz="18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2011680"/>
          <a:ext cx="11247120" cy="914400"/>
        </p:xfrm>
        <a:graphic>
          <a:graphicData uri="http://schemas.openxmlformats.org/drawingml/2006/table">
            <a:tbl>
              <a:tblPr/>
              <a:tblGrid>
                <a:gridCol w="82296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4297680">
                  <a:extLst>
                    <a:ext uri="{9D8B030D-6E8A-4147-A177-3AD203B41FA5}">
                      <a16:colId xmlns:a16="http://schemas.microsoft.com/office/drawing/2014/main" val="20003"/>
                    </a:ext>
                  </a:extLst>
                </a:gridCol>
              </a:tblGrid>
              <a:tr h="502920">
                <a:tc>
                  <a:txBody>
                    <a:bodyPr/>
                    <a:lstStyle/>
                    <a:p>
                      <a:pPr marL="0" indent="0">
                        <a:buNone/>
                      </a:pPr>
                      <a:r>
                        <a:rPr lang="en-US" sz="1400" b="1" dirty="0">
                          <a:solidFill>
                            <a:srgbClr val="FFFFFF"/>
                          </a:solidFill>
                        </a:rPr>
                        <a:t>Round</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rPr>
                        <a:t>Tool called by the LLM</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rPr>
                        <a:t>Server</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rPr>
                        <a:t>Returned</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2920">
                <a:tc>
                  <a:txBody>
                    <a:bodyPr/>
                    <a:lstStyle/>
                    <a:p>
                      <a:pPr marL="0" indent="0">
                        <a:buNone/>
                      </a:pPr>
                      <a:r>
                        <a:rPr lang="en-US" sz="1400" dirty="0">
                          <a:solidFill>
                            <a:srgbClr val="1F2937"/>
                          </a:solidFill>
                        </a:rPr>
                        <a:t>1</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class_statistics(class_id: "IT01")</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400" dirty="0">
                          <a:solidFill>
                            <a:srgbClr val="1F2937"/>
                          </a:solidFill>
                        </a:rPr>
                        <a:t>academic</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400" dirty="0">
                          <a:solidFill>
                            <a:srgbClr val="1F2937"/>
                          </a:solidFill>
                        </a:rPr>
                        <a:t>average GPA, pass rate, grade distribution</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400" dirty="0">
                          <a:solidFill>
                            <a:srgbClr val="1F2937"/>
                          </a:solidFill>
                        </a:rPr>
                        <a:t>1</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get_current_time()</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400" dirty="0">
                          <a:solidFill>
                            <a:srgbClr val="1F2937"/>
                          </a:solidFill>
                        </a:rPr>
                        <a:t>utility</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marL="0" indent="0">
                        <a:buNone/>
                      </a:pPr>
                      <a:r>
                        <a:rPr lang="en-US" sz="1400" dirty="0">
                          <a:solidFill>
                            <a:srgbClr val="1F2937"/>
                          </a:solidFill>
                        </a:rPr>
                        <a:t>date and current semester</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502920">
                <a:tc>
                  <a:txBody>
                    <a:bodyPr/>
                    <a:lstStyle/>
                    <a:p>
                      <a:pPr marL="0" indent="0">
                        <a:buNone/>
                      </a:pPr>
                      <a:r>
                        <a:rPr lang="en-US" sz="1400" dirty="0">
                          <a:solidFill>
                            <a:srgbClr val="1F2937"/>
                          </a:solidFill>
                        </a:rPr>
                        <a:t>2</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rank_students(scope: "class", value: "IT01")</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400" dirty="0">
                          <a:solidFill>
                            <a:srgbClr val="1F2937"/>
                          </a:solidFill>
                        </a:rPr>
                        <a:t>academic</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400" dirty="0">
                          <a:solidFill>
                            <a:srgbClr val="1F2937"/>
                          </a:solidFill>
                        </a:rPr>
                        <a:t>top students by GPA</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400" dirty="0">
                          <a:solidFill>
                            <a:srgbClr val="1F2937"/>
                          </a:solidFill>
                        </a:rPr>
                        <a:t>3</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save_report(filename: "IT01-report", content)</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400" dirty="0">
                          <a:solidFill>
                            <a:srgbClr val="1F2937"/>
                          </a:solidFill>
                        </a:rPr>
                        <a:t>utility</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marL="0" indent="0">
                        <a:buNone/>
                      </a:pPr>
                      <a:r>
                        <a:rPr lang="en-US" sz="1400" dirty="0">
                          <a:solidFill>
                            <a:srgbClr val="1F2937"/>
                          </a:solidFill>
                        </a:rPr>
                        <a:t>saved to outputs/reports/IT01-report.md</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r h="502920">
                <a:tc>
                  <a:txBody>
                    <a:bodyPr/>
                    <a:lstStyle/>
                    <a:p>
                      <a:pPr marL="0" indent="0">
                        <a:buNone/>
                      </a:pPr>
                      <a:r>
                        <a:rPr lang="en-US" sz="1400" dirty="0">
                          <a:solidFill>
                            <a:srgbClr val="1F2937"/>
                          </a:solidFill>
                        </a:rPr>
                        <a:t>—</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400" dirty="0">
                          <a:solidFill>
                            <a:srgbClr val="1F2937"/>
                          </a:solidFill>
                        </a:rPr>
                        <a:t>final text answer</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400" dirty="0">
                          <a:solidFill>
                            <a:srgbClr val="1F2937"/>
                          </a:solidFill>
                        </a:rPr>
                        <a:t>"Report saved to …"</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Text 3"/>
          <p:cNvSpPr txBox="1"/>
          <p:nvPr/>
        </p:nvSpPr>
        <p:spPr>
          <a:xfrm>
            <a:off x="457200" y="5120640"/>
            <a:ext cx="2651760" cy="1005840"/>
          </a:xfrm>
          <a:prstGeom prst="rect">
            <a:avLst/>
          </a:prstGeom>
          <a:noFill/>
          <a:ln/>
        </p:spPr>
        <p:txBody>
          <a:bodyPr wrap="square" lIns="0" tIns="0" rIns="0" bIns="0" rtlCol="0" anchor="ctr"/>
          <a:lstStyle/>
          <a:p>
            <a:pPr marL="0" indent="0">
              <a:buNone/>
            </a:pPr>
            <a:r>
              <a:rPr lang="en-US" sz="3200" b="1" dirty="0">
                <a:solidFill>
                  <a:srgbClr val="0F8B8D"/>
                </a:solidFill>
              </a:rPr>
              <a:t>4</a:t>
            </a:r>
            <a:endParaRPr lang="en-US" sz="3200" dirty="0"/>
          </a:p>
          <a:p>
            <a:pPr marL="0" indent="0">
              <a:buNone/>
            </a:pPr>
            <a:r>
              <a:rPr lang="en-US" sz="1400" dirty="0">
                <a:solidFill>
                  <a:srgbClr val="5B6475"/>
                </a:solidFill>
              </a:rPr>
              <a:t>tool calls</a:t>
            </a:r>
            <a:endParaRPr lang="en-US" sz="3200" dirty="0"/>
          </a:p>
        </p:txBody>
      </p:sp>
      <p:sp>
        <p:nvSpPr>
          <p:cNvPr id="8" name="Text 4"/>
          <p:cNvSpPr txBox="1"/>
          <p:nvPr/>
        </p:nvSpPr>
        <p:spPr>
          <a:xfrm>
            <a:off x="3291840" y="5120640"/>
            <a:ext cx="2651760" cy="1005840"/>
          </a:xfrm>
          <a:prstGeom prst="rect">
            <a:avLst/>
          </a:prstGeom>
          <a:noFill/>
          <a:ln/>
        </p:spPr>
        <p:txBody>
          <a:bodyPr wrap="square" lIns="0" tIns="0" rIns="0" bIns="0" rtlCol="0" anchor="ctr"/>
          <a:lstStyle/>
          <a:p>
            <a:pPr marL="0" indent="0">
              <a:buNone/>
            </a:pPr>
            <a:r>
              <a:rPr lang="en-US" sz="3200" b="1" dirty="0">
                <a:solidFill>
                  <a:srgbClr val="0F8B8D"/>
                </a:solidFill>
              </a:rPr>
              <a:t>3</a:t>
            </a:r>
            <a:endParaRPr lang="en-US" sz="3200" dirty="0"/>
          </a:p>
          <a:p>
            <a:pPr marL="0" indent="0">
              <a:buNone/>
            </a:pPr>
            <a:r>
              <a:rPr lang="en-US" sz="1400" dirty="0">
                <a:solidFill>
                  <a:srgbClr val="5B6475"/>
                </a:solidFill>
              </a:rPr>
              <a:t>rounds</a:t>
            </a:r>
            <a:endParaRPr lang="en-US" sz="3200" dirty="0"/>
          </a:p>
        </p:txBody>
      </p:sp>
      <p:sp>
        <p:nvSpPr>
          <p:cNvPr id="9" name="Text 5"/>
          <p:cNvSpPr txBox="1"/>
          <p:nvPr/>
        </p:nvSpPr>
        <p:spPr>
          <a:xfrm>
            <a:off x="6126480" y="5120640"/>
            <a:ext cx="2651760" cy="1005840"/>
          </a:xfrm>
          <a:prstGeom prst="rect">
            <a:avLst/>
          </a:prstGeom>
          <a:noFill/>
          <a:ln/>
        </p:spPr>
        <p:txBody>
          <a:bodyPr wrap="square" lIns="0" tIns="0" rIns="0" bIns="0" rtlCol="0" anchor="ctr"/>
          <a:lstStyle/>
          <a:p>
            <a:pPr marL="0" indent="0">
              <a:buNone/>
            </a:pPr>
            <a:r>
              <a:rPr lang="en-US" sz="3200" b="1" dirty="0">
                <a:solidFill>
                  <a:srgbClr val="0F8B8D"/>
                </a:solidFill>
              </a:rPr>
              <a:t>2</a:t>
            </a:r>
            <a:endParaRPr lang="en-US" sz="3200" dirty="0"/>
          </a:p>
          <a:p>
            <a:pPr marL="0" indent="0">
              <a:buNone/>
            </a:pPr>
            <a:r>
              <a:rPr lang="en-US" sz="1400" dirty="0">
                <a:solidFill>
                  <a:srgbClr val="5B6475"/>
                </a:solidFill>
              </a:rPr>
              <a:t>servers</a:t>
            </a:r>
            <a:endParaRPr lang="en-US" sz="3200" dirty="0"/>
          </a:p>
        </p:txBody>
      </p:sp>
      <p:sp>
        <p:nvSpPr>
          <p:cNvPr id="10" name="Text 6"/>
          <p:cNvSpPr txBox="1"/>
          <p:nvPr/>
        </p:nvSpPr>
        <p:spPr>
          <a:xfrm>
            <a:off x="8961120" y="5120640"/>
            <a:ext cx="2651760" cy="1005840"/>
          </a:xfrm>
          <a:prstGeom prst="rect">
            <a:avLst/>
          </a:prstGeom>
          <a:noFill/>
          <a:ln/>
        </p:spPr>
        <p:txBody>
          <a:bodyPr wrap="square" lIns="0" tIns="0" rIns="0" bIns="0" rtlCol="0" anchor="ctr"/>
          <a:lstStyle/>
          <a:p>
            <a:pPr marL="0" indent="0">
              <a:buNone/>
            </a:pPr>
            <a:r>
              <a:rPr lang="en-US" sz="3200" b="1" dirty="0">
                <a:solidFill>
                  <a:srgbClr val="0F8B8D"/>
                </a:solidFill>
              </a:rPr>
              <a:t>5.7 s</a:t>
            </a:r>
            <a:endParaRPr lang="en-US" sz="3200" dirty="0"/>
          </a:p>
          <a:p>
            <a:pPr marL="0" indent="0">
              <a:buNone/>
            </a:pPr>
            <a:r>
              <a:rPr lang="en-US" sz="1400" dirty="0">
                <a:solidFill>
                  <a:srgbClr val="5B6475"/>
                </a:solidFill>
              </a:rPr>
              <a:t>end to end</a:t>
            </a:r>
            <a:endParaRPr lang="en-US" sz="32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marL="0" indent="0">
              <a:buNone/>
            </a:pPr>
            <a:r>
              <a:rPr lang="en-US" sz="1200" b="1" kern="0" spc="200" dirty="0">
                <a:solidFill>
                  <a:srgbClr val="0F8B8D"/>
                </a:solidFill>
              </a:rPr>
              <a:t>REQUIREMENT 3 · FLOWCHART</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marL="0" indent="0">
              <a:buNone/>
            </a:pPr>
            <a:r>
              <a:rPr lang="en-US" sz="3000" b="1" dirty="0">
                <a:solidFill>
                  <a:srgbClr val="1F2937"/>
                </a:solidFill>
              </a:rPr>
              <a:t>Flowchart 2 — from scores to GPA</a:t>
            </a:r>
            <a:endParaRPr lang="en-US" sz="3000" dirty="0"/>
          </a:p>
        </p:txBody>
      </p:sp>
      <p:sp>
        <p:nvSpPr>
          <p:cNvPr id="5" name="Shape 2"/>
          <p:cNvSpPr/>
          <p:nvPr/>
        </p:nvSpPr>
        <p:spPr>
          <a:xfrm>
            <a:off x="548640" y="1325880"/>
            <a:ext cx="4937760" cy="502920"/>
          </a:xfrm>
          <a:prstGeom prst="roundRect">
            <a:avLst>
              <a:gd name="adj" fmla="val 45455"/>
            </a:avLst>
          </a:prstGeom>
          <a:solidFill>
            <a:srgbClr val="DDF3F1"/>
          </a:solidFill>
          <a:ln w="12700">
            <a:solidFill>
              <a:srgbClr val="8A94A6"/>
            </a:solidFill>
            <a:prstDash val="solid"/>
          </a:ln>
        </p:spPr>
        <p:txBody>
          <a:bodyPr/>
          <a:lstStyle/>
          <a:p>
            <a:endParaRPr lang="en-VN"/>
          </a:p>
        </p:txBody>
      </p:sp>
      <p:sp>
        <p:nvSpPr>
          <p:cNvPr id="6" name="Text 3"/>
          <p:cNvSpPr txBox="1"/>
          <p:nvPr/>
        </p:nvSpPr>
        <p:spPr>
          <a:xfrm>
            <a:off x="621792" y="1325880"/>
            <a:ext cx="4791456" cy="502920"/>
          </a:xfrm>
          <a:prstGeom prst="rect">
            <a:avLst/>
          </a:prstGeom>
          <a:noFill/>
          <a:ln/>
        </p:spPr>
        <p:txBody>
          <a:bodyPr wrap="square" lIns="0" tIns="0" rIns="0" bIns="0" rtlCol="0" anchor="ctr"/>
          <a:lstStyle/>
          <a:p>
            <a:pPr marL="0" indent="0" algn="ctr">
              <a:buNone/>
            </a:pPr>
            <a:r>
              <a:rPr lang="en-US" sz="1300" dirty="0">
                <a:solidFill>
                  <a:srgbClr val="1F2937"/>
                </a:solidFill>
              </a:rPr>
              <a:t>process_score, final_score (0–10)</a:t>
            </a:r>
            <a:endParaRPr lang="en-US" sz="1300" dirty="0"/>
          </a:p>
        </p:txBody>
      </p:sp>
      <p:sp>
        <p:nvSpPr>
          <p:cNvPr id="7" name="Shape 4"/>
          <p:cNvSpPr/>
          <p:nvPr/>
        </p:nvSpPr>
        <p:spPr>
          <a:xfrm>
            <a:off x="548640" y="2057400"/>
            <a:ext cx="4937760" cy="502920"/>
          </a:xfrm>
          <a:prstGeom prst="rect">
            <a:avLst/>
          </a:prstGeom>
          <a:solidFill>
            <a:srgbClr val="EEF2F6"/>
          </a:solidFill>
          <a:ln w="12700">
            <a:solidFill>
              <a:srgbClr val="8A94A6"/>
            </a:solidFill>
            <a:prstDash val="solid"/>
          </a:ln>
        </p:spPr>
        <p:txBody>
          <a:bodyPr/>
          <a:lstStyle/>
          <a:p>
            <a:endParaRPr lang="en-VN"/>
          </a:p>
        </p:txBody>
      </p:sp>
      <p:sp>
        <p:nvSpPr>
          <p:cNvPr id="8" name="Text 5"/>
          <p:cNvSpPr txBox="1"/>
          <p:nvPr/>
        </p:nvSpPr>
        <p:spPr>
          <a:xfrm>
            <a:off x="621792" y="2057400"/>
            <a:ext cx="4791456" cy="502920"/>
          </a:xfrm>
          <a:prstGeom prst="rect">
            <a:avLst/>
          </a:prstGeom>
          <a:noFill/>
          <a:ln/>
        </p:spPr>
        <p:txBody>
          <a:bodyPr wrap="square" lIns="0" tIns="0" rIns="0" bIns="0" rtlCol="0" anchor="ctr"/>
          <a:lstStyle/>
          <a:p>
            <a:pPr marL="0" indent="0" algn="ctr">
              <a:buNone/>
            </a:pPr>
            <a:r>
              <a:rPr lang="en-US" sz="1300" dirty="0">
                <a:solidFill>
                  <a:srgbClr val="1F2937"/>
                </a:solidFill>
              </a:rPr>
              <a:t>total = 0.4 × process + 0.6 × final (1 decimal)</a:t>
            </a:r>
            <a:endParaRPr lang="en-US" sz="1300" dirty="0"/>
          </a:p>
        </p:txBody>
      </p:sp>
      <p:sp>
        <p:nvSpPr>
          <p:cNvPr id="9" name="Shape 6"/>
          <p:cNvSpPr/>
          <p:nvPr/>
        </p:nvSpPr>
        <p:spPr>
          <a:xfrm>
            <a:off x="548640" y="2788920"/>
            <a:ext cx="4937760" cy="502920"/>
          </a:xfrm>
          <a:prstGeom prst="rect">
            <a:avLst/>
          </a:prstGeom>
          <a:solidFill>
            <a:srgbClr val="EEF2F6"/>
          </a:solidFill>
          <a:ln w="12700">
            <a:solidFill>
              <a:srgbClr val="8A94A6"/>
            </a:solidFill>
            <a:prstDash val="solid"/>
          </a:ln>
        </p:spPr>
        <p:txBody>
          <a:bodyPr/>
          <a:lstStyle/>
          <a:p>
            <a:endParaRPr lang="en-VN"/>
          </a:p>
        </p:txBody>
      </p:sp>
      <p:sp>
        <p:nvSpPr>
          <p:cNvPr id="10" name="Text 7"/>
          <p:cNvSpPr txBox="1"/>
          <p:nvPr/>
        </p:nvSpPr>
        <p:spPr>
          <a:xfrm>
            <a:off x="621792" y="2788920"/>
            <a:ext cx="4791456" cy="502920"/>
          </a:xfrm>
          <a:prstGeom prst="rect">
            <a:avLst/>
          </a:prstGeom>
          <a:noFill/>
          <a:ln/>
        </p:spPr>
        <p:txBody>
          <a:bodyPr wrap="square" lIns="0" tIns="0" rIns="0" bIns="0" rtlCol="0" anchor="ctr"/>
          <a:lstStyle/>
          <a:p>
            <a:pPr marL="0" indent="0" algn="ctr">
              <a:buNone/>
            </a:pPr>
            <a:r>
              <a:rPr lang="en-US" sz="1300" dirty="0">
                <a:solidFill>
                  <a:srgbClr val="1F2937"/>
                </a:solidFill>
              </a:rPr>
              <a:t>letter + point: A 4 · B 3 · C 2 · D 1 · F 0</a:t>
            </a:r>
            <a:endParaRPr lang="en-US" sz="1300" dirty="0"/>
          </a:p>
        </p:txBody>
      </p:sp>
      <p:sp>
        <p:nvSpPr>
          <p:cNvPr id="11" name="Shape 8"/>
          <p:cNvSpPr/>
          <p:nvPr/>
        </p:nvSpPr>
        <p:spPr>
          <a:xfrm>
            <a:off x="2103120" y="3520440"/>
            <a:ext cx="1828800" cy="731520"/>
          </a:xfrm>
          <a:prstGeom prst="diamond">
            <a:avLst/>
          </a:prstGeom>
          <a:solidFill>
            <a:srgbClr val="FFF7E0"/>
          </a:solidFill>
          <a:ln w="12700">
            <a:solidFill>
              <a:srgbClr val="8A94A6"/>
            </a:solidFill>
            <a:prstDash val="solid"/>
          </a:ln>
        </p:spPr>
        <p:txBody>
          <a:bodyPr/>
          <a:lstStyle/>
          <a:p>
            <a:endParaRPr lang="en-VN"/>
          </a:p>
        </p:txBody>
      </p:sp>
      <p:sp>
        <p:nvSpPr>
          <p:cNvPr id="12" name="Text 9"/>
          <p:cNvSpPr txBox="1"/>
          <p:nvPr/>
        </p:nvSpPr>
        <p:spPr>
          <a:xfrm>
            <a:off x="2176272" y="3520440"/>
            <a:ext cx="1682496" cy="731520"/>
          </a:xfrm>
          <a:prstGeom prst="rect">
            <a:avLst/>
          </a:prstGeom>
          <a:noFill/>
          <a:ln/>
        </p:spPr>
        <p:txBody>
          <a:bodyPr wrap="square" lIns="0" tIns="0" rIns="0" bIns="0" rtlCol="0" anchor="ctr"/>
          <a:lstStyle/>
          <a:p>
            <a:pPr marL="0" indent="0" algn="ctr">
              <a:buNone/>
            </a:pPr>
            <a:r>
              <a:rPr lang="en-US" sz="1200" dirty="0">
                <a:solidFill>
                  <a:srgbClr val="1F2937"/>
                </a:solidFill>
              </a:rPr>
              <a:t>Scope?</a:t>
            </a:r>
            <a:endParaRPr lang="en-US" sz="1200" dirty="0"/>
          </a:p>
        </p:txBody>
      </p:sp>
      <p:sp>
        <p:nvSpPr>
          <p:cNvPr id="13" name="Shape 10"/>
          <p:cNvSpPr/>
          <p:nvPr/>
        </p:nvSpPr>
        <p:spPr>
          <a:xfrm>
            <a:off x="548640" y="4526280"/>
            <a:ext cx="2194560" cy="548640"/>
          </a:xfrm>
          <a:prstGeom prst="rect">
            <a:avLst/>
          </a:prstGeom>
          <a:solidFill>
            <a:srgbClr val="EEF2F6"/>
          </a:solidFill>
          <a:ln w="12700">
            <a:solidFill>
              <a:srgbClr val="8A94A6"/>
            </a:solidFill>
            <a:prstDash val="solid"/>
          </a:ln>
        </p:spPr>
        <p:txBody>
          <a:bodyPr/>
          <a:lstStyle/>
          <a:p>
            <a:endParaRPr lang="en-VN"/>
          </a:p>
        </p:txBody>
      </p:sp>
      <p:sp>
        <p:nvSpPr>
          <p:cNvPr id="14" name="Text 11"/>
          <p:cNvSpPr txBox="1"/>
          <p:nvPr/>
        </p:nvSpPr>
        <p:spPr>
          <a:xfrm>
            <a:off x="621792" y="4526280"/>
            <a:ext cx="2048256" cy="548640"/>
          </a:xfrm>
          <a:prstGeom prst="rect">
            <a:avLst/>
          </a:prstGeom>
          <a:noFill/>
          <a:ln/>
        </p:spPr>
        <p:txBody>
          <a:bodyPr wrap="square" lIns="0" tIns="0" rIns="0" bIns="0" rtlCol="0" anchor="ctr"/>
          <a:lstStyle/>
          <a:p>
            <a:pPr marL="0" indent="0" algn="ctr">
              <a:buNone/>
            </a:pPr>
            <a:r>
              <a:rPr lang="en-US" sz="1300" dirty="0">
                <a:solidFill>
                  <a:srgbClr val="1F2937"/>
                </a:solidFill>
              </a:rPr>
              <a:t>semester:</a:t>
            </a:r>
            <a:endParaRPr lang="en-US" sz="1300" dirty="0"/>
          </a:p>
          <a:p>
            <a:pPr marL="0" indent="0" algn="ctr">
              <a:buNone/>
            </a:pPr>
            <a:r>
              <a:rPr lang="en-US" sz="1300" dirty="0">
                <a:solidFill>
                  <a:srgbClr val="1F2937"/>
                </a:solidFill>
              </a:rPr>
              <a:t>every attempt</a:t>
            </a:r>
            <a:endParaRPr lang="en-US" sz="1300" dirty="0"/>
          </a:p>
        </p:txBody>
      </p:sp>
      <p:sp>
        <p:nvSpPr>
          <p:cNvPr id="15" name="Shape 12"/>
          <p:cNvSpPr/>
          <p:nvPr/>
        </p:nvSpPr>
        <p:spPr>
          <a:xfrm>
            <a:off x="3291840" y="4526280"/>
            <a:ext cx="2194560" cy="548640"/>
          </a:xfrm>
          <a:prstGeom prst="rect">
            <a:avLst/>
          </a:prstGeom>
          <a:solidFill>
            <a:srgbClr val="EEF2F6"/>
          </a:solidFill>
          <a:ln w="12700">
            <a:solidFill>
              <a:srgbClr val="8A94A6"/>
            </a:solidFill>
            <a:prstDash val="solid"/>
          </a:ln>
        </p:spPr>
        <p:txBody>
          <a:bodyPr/>
          <a:lstStyle/>
          <a:p>
            <a:endParaRPr lang="en-VN"/>
          </a:p>
        </p:txBody>
      </p:sp>
      <p:sp>
        <p:nvSpPr>
          <p:cNvPr id="16" name="Text 13"/>
          <p:cNvSpPr txBox="1"/>
          <p:nvPr/>
        </p:nvSpPr>
        <p:spPr>
          <a:xfrm>
            <a:off x="3364992" y="4526280"/>
            <a:ext cx="2048256" cy="548640"/>
          </a:xfrm>
          <a:prstGeom prst="rect">
            <a:avLst/>
          </a:prstGeom>
          <a:noFill/>
          <a:ln/>
        </p:spPr>
        <p:txBody>
          <a:bodyPr wrap="square" lIns="0" tIns="0" rIns="0" bIns="0" rtlCol="0" anchor="ctr"/>
          <a:lstStyle/>
          <a:p>
            <a:pPr marL="0" indent="0" algn="ctr">
              <a:buNone/>
            </a:pPr>
            <a:r>
              <a:rPr lang="en-US" sz="1300" dirty="0">
                <a:solidFill>
                  <a:srgbClr val="1F2937"/>
                </a:solidFill>
              </a:rPr>
              <a:t>cumulative: best</a:t>
            </a:r>
            <a:endParaRPr lang="en-US" sz="1300" dirty="0"/>
          </a:p>
          <a:p>
            <a:pPr marL="0" indent="0" algn="ctr">
              <a:buNone/>
            </a:pPr>
            <a:r>
              <a:rPr lang="en-US" sz="1300" dirty="0">
                <a:solidFill>
                  <a:srgbClr val="1F2937"/>
                </a:solidFill>
              </a:rPr>
              <a:t>attempt per course</a:t>
            </a:r>
            <a:endParaRPr lang="en-US" sz="1300" dirty="0"/>
          </a:p>
        </p:txBody>
      </p:sp>
      <p:sp>
        <p:nvSpPr>
          <p:cNvPr id="17" name="Shape 14"/>
          <p:cNvSpPr/>
          <p:nvPr/>
        </p:nvSpPr>
        <p:spPr>
          <a:xfrm>
            <a:off x="548640" y="5440680"/>
            <a:ext cx="4937760" cy="548640"/>
          </a:xfrm>
          <a:prstGeom prst="rect">
            <a:avLst/>
          </a:prstGeom>
          <a:solidFill>
            <a:srgbClr val="EEF2F6"/>
          </a:solidFill>
          <a:ln w="12700">
            <a:solidFill>
              <a:srgbClr val="8A94A6"/>
            </a:solidFill>
            <a:prstDash val="solid"/>
          </a:ln>
        </p:spPr>
        <p:txBody>
          <a:bodyPr/>
          <a:lstStyle/>
          <a:p>
            <a:endParaRPr lang="en-VN"/>
          </a:p>
        </p:txBody>
      </p:sp>
      <p:sp>
        <p:nvSpPr>
          <p:cNvPr id="18" name="Text 15"/>
          <p:cNvSpPr txBox="1"/>
          <p:nvPr/>
        </p:nvSpPr>
        <p:spPr>
          <a:xfrm>
            <a:off x="621792" y="5440680"/>
            <a:ext cx="4791456" cy="548640"/>
          </a:xfrm>
          <a:prstGeom prst="rect">
            <a:avLst/>
          </a:prstGeom>
          <a:noFill/>
          <a:ln/>
        </p:spPr>
        <p:txBody>
          <a:bodyPr wrap="square" lIns="0" tIns="0" rIns="0" bIns="0" rtlCol="0" anchor="ctr"/>
          <a:lstStyle/>
          <a:p>
            <a:pPr marL="0" indent="0" algn="ctr">
              <a:buNone/>
            </a:pPr>
            <a:r>
              <a:rPr lang="en-US" sz="1300" dirty="0">
                <a:solidFill>
                  <a:srgbClr val="1F2937"/>
                </a:solidFill>
              </a:rPr>
              <a:t>GPA = Σ(point × credits) / Σ credits → classification</a:t>
            </a:r>
            <a:endParaRPr lang="en-US" sz="1300" dirty="0"/>
          </a:p>
        </p:txBody>
      </p:sp>
      <p:sp>
        <p:nvSpPr>
          <p:cNvPr id="19" name="Shape 16"/>
          <p:cNvSpPr/>
          <p:nvPr/>
        </p:nvSpPr>
        <p:spPr>
          <a:xfrm>
            <a:off x="3017520" y="1828800"/>
            <a:ext cx="0" cy="228600"/>
          </a:xfrm>
          <a:prstGeom prst="line">
            <a:avLst/>
          </a:prstGeom>
          <a:noFill/>
          <a:ln w="19050">
            <a:solidFill>
              <a:srgbClr val="8A94A6"/>
            </a:solidFill>
            <a:prstDash val="solid"/>
            <a:tailEnd type="triangle"/>
          </a:ln>
        </p:spPr>
        <p:txBody>
          <a:bodyPr/>
          <a:lstStyle/>
          <a:p>
            <a:endParaRPr lang="en-VN"/>
          </a:p>
        </p:txBody>
      </p:sp>
      <p:sp>
        <p:nvSpPr>
          <p:cNvPr id="20" name="Shape 17"/>
          <p:cNvSpPr/>
          <p:nvPr/>
        </p:nvSpPr>
        <p:spPr>
          <a:xfrm>
            <a:off x="3017520" y="2560320"/>
            <a:ext cx="0" cy="228600"/>
          </a:xfrm>
          <a:prstGeom prst="line">
            <a:avLst/>
          </a:prstGeom>
          <a:noFill/>
          <a:ln w="19050">
            <a:solidFill>
              <a:srgbClr val="8A94A6"/>
            </a:solidFill>
            <a:prstDash val="solid"/>
            <a:tailEnd type="triangle"/>
          </a:ln>
        </p:spPr>
        <p:txBody>
          <a:bodyPr/>
          <a:lstStyle/>
          <a:p>
            <a:endParaRPr lang="en-VN"/>
          </a:p>
        </p:txBody>
      </p:sp>
      <p:sp>
        <p:nvSpPr>
          <p:cNvPr id="21" name="Shape 18"/>
          <p:cNvSpPr/>
          <p:nvPr/>
        </p:nvSpPr>
        <p:spPr>
          <a:xfrm>
            <a:off x="3017520" y="3291840"/>
            <a:ext cx="0" cy="228600"/>
          </a:xfrm>
          <a:prstGeom prst="line">
            <a:avLst/>
          </a:prstGeom>
          <a:noFill/>
          <a:ln w="19050">
            <a:solidFill>
              <a:srgbClr val="8A94A6"/>
            </a:solidFill>
            <a:prstDash val="solid"/>
            <a:tailEnd type="triangle"/>
          </a:ln>
        </p:spPr>
        <p:txBody>
          <a:bodyPr/>
          <a:lstStyle/>
          <a:p>
            <a:endParaRPr lang="en-VN"/>
          </a:p>
        </p:txBody>
      </p:sp>
      <p:sp>
        <p:nvSpPr>
          <p:cNvPr id="22" name="Shape 19"/>
          <p:cNvSpPr/>
          <p:nvPr/>
        </p:nvSpPr>
        <p:spPr>
          <a:xfrm flipH="1">
            <a:off x="1645920" y="3886200"/>
            <a:ext cx="457200" cy="0"/>
          </a:xfrm>
          <a:prstGeom prst="line">
            <a:avLst/>
          </a:prstGeom>
          <a:noFill/>
          <a:ln w="19050">
            <a:solidFill>
              <a:srgbClr val="8A94A6"/>
            </a:solidFill>
            <a:prstDash val="solid"/>
          </a:ln>
        </p:spPr>
        <p:txBody>
          <a:bodyPr/>
          <a:lstStyle/>
          <a:p>
            <a:endParaRPr lang="en-VN"/>
          </a:p>
        </p:txBody>
      </p:sp>
      <p:sp>
        <p:nvSpPr>
          <p:cNvPr id="23" name="Shape 20"/>
          <p:cNvSpPr/>
          <p:nvPr/>
        </p:nvSpPr>
        <p:spPr>
          <a:xfrm>
            <a:off x="1645920" y="3886200"/>
            <a:ext cx="0" cy="640080"/>
          </a:xfrm>
          <a:prstGeom prst="line">
            <a:avLst/>
          </a:prstGeom>
          <a:noFill/>
          <a:ln w="19050">
            <a:solidFill>
              <a:srgbClr val="8A94A6"/>
            </a:solidFill>
            <a:prstDash val="solid"/>
            <a:tailEnd type="triangle"/>
          </a:ln>
        </p:spPr>
        <p:txBody>
          <a:bodyPr/>
          <a:lstStyle/>
          <a:p>
            <a:endParaRPr lang="en-VN"/>
          </a:p>
        </p:txBody>
      </p:sp>
      <p:sp>
        <p:nvSpPr>
          <p:cNvPr id="24" name="Shape 21"/>
          <p:cNvSpPr/>
          <p:nvPr/>
        </p:nvSpPr>
        <p:spPr>
          <a:xfrm>
            <a:off x="3931920" y="3886200"/>
            <a:ext cx="457200" cy="0"/>
          </a:xfrm>
          <a:prstGeom prst="line">
            <a:avLst/>
          </a:prstGeom>
          <a:noFill/>
          <a:ln w="19050">
            <a:solidFill>
              <a:srgbClr val="8A94A6"/>
            </a:solidFill>
            <a:prstDash val="solid"/>
          </a:ln>
        </p:spPr>
        <p:txBody>
          <a:bodyPr/>
          <a:lstStyle/>
          <a:p>
            <a:endParaRPr lang="en-VN"/>
          </a:p>
        </p:txBody>
      </p:sp>
      <p:sp>
        <p:nvSpPr>
          <p:cNvPr id="25" name="Shape 22"/>
          <p:cNvSpPr/>
          <p:nvPr/>
        </p:nvSpPr>
        <p:spPr>
          <a:xfrm>
            <a:off x="4389120" y="3886200"/>
            <a:ext cx="0" cy="640080"/>
          </a:xfrm>
          <a:prstGeom prst="line">
            <a:avLst/>
          </a:prstGeom>
          <a:noFill/>
          <a:ln w="19050">
            <a:solidFill>
              <a:srgbClr val="8A94A6"/>
            </a:solidFill>
            <a:prstDash val="solid"/>
            <a:tailEnd type="triangle"/>
          </a:ln>
        </p:spPr>
        <p:txBody>
          <a:bodyPr/>
          <a:lstStyle/>
          <a:p>
            <a:endParaRPr lang="en-VN"/>
          </a:p>
        </p:txBody>
      </p:sp>
      <p:sp>
        <p:nvSpPr>
          <p:cNvPr id="26" name="Shape 23"/>
          <p:cNvSpPr/>
          <p:nvPr/>
        </p:nvSpPr>
        <p:spPr>
          <a:xfrm>
            <a:off x="1645920" y="5074920"/>
            <a:ext cx="0" cy="365760"/>
          </a:xfrm>
          <a:prstGeom prst="line">
            <a:avLst/>
          </a:prstGeom>
          <a:noFill/>
          <a:ln w="19050">
            <a:solidFill>
              <a:srgbClr val="8A94A6"/>
            </a:solidFill>
            <a:prstDash val="solid"/>
            <a:tailEnd type="triangle"/>
          </a:ln>
        </p:spPr>
        <p:txBody>
          <a:bodyPr/>
          <a:lstStyle/>
          <a:p>
            <a:endParaRPr lang="en-VN"/>
          </a:p>
        </p:txBody>
      </p:sp>
      <p:sp>
        <p:nvSpPr>
          <p:cNvPr id="27" name="Shape 24"/>
          <p:cNvSpPr/>
          <p:nvPr/>
        </p:nvSpPr>
        <p:spPr>
          <a:xfrm>
            <a:off x="4389120" y="5074920"/>
            <a:ext cx="0" cy="365760"/>
          </a:xfrm>
          <a:prstGeom prst="line">
            <a:avLst/>
          </a:prstGeom>
          <a:noFill/>
          <a:ln w="19050">
            <a:solidFill>
              <a:srgbClr val="8A94A6"/>
            </a:solidFill>
            <a:prstDash val="solid"/>
            <a:tailEnd type="triangle"/>
          </a:ln>
        </p:spPr>
        <p:txBody>
          <a:bodyPr/>
          <a:lstStyle/>
          <a:p>
            <a:endParaRPr lang="en-VN"/>
          </a:p>
        </p:txBody>
      </p:sp>
      <p:sp>
        <p:nvSpPr>
          <p:cNvPr id="28" name="Text 25"/>
          <p:cNvSpPr txBox="1"/>
          <p:nvPr/>
        </p:nvSpPr>
        <p:spPr>
          <a:xfrm>
            <a:off x="6126480" y="1325880"/>
            <a:ext cx="5577840" cy="365760"/>
          </a:xfrm>
          <a:prstGeom prst="rect">
            <a:avLst/>
          </a:prstGeom>
          <a:noFill/>
          <a:ln/>
        </p:spPr>
        <p:txBody>
          <a:bodyPr wrap="square" lIns="0" tIns="0" rIns="0" bIns="0" rtlCol="0" anchor="ctr"/>
          <a:lstStyle/>
          <a:p>
            <a:pPr marL="0" indent="0">
              <a:buNone/>
            </a:pPr>
            <a:r>
              <a:rPr lang="en-US" sz="1600" b="1" dirty="0">
                <a:solidFill>
                  <a:srgbClr val="1F2937"/>
                </a:solidFill>
              </a:rPr>
              <a:t>Worked example — student 2201010 (cumulative)</a:t>
            </a:r>
            <a:endParaRPr lang="en-US" sz="1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126480" y="1737360"/>
          <a:ext cx="5577840" cy="914400"/>
        </p:xfrm>
        <a:graphic>
          <a:graphicData uri="http://schemas.openxmlformats.org/drawingml/2006/table">
            <a:tbl>
              <a:tblPr/>
              <a:tblGrid>
                <a:gridCol w="13716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tblGrid>
              <a:tr h="365760">
                <a:tc>
                  <a:txBody>
                    <a:bodyPr/>
                    <a:lstStyle/>
                    <a:p>
                      <a:pPr marL="0" indent="0">
                        <a:buNone/>
                      </a:pPr>
                      <a:r>
                        <a:rPr lang="en-US" sz="1300" b="1" dirty="0">
                          <a:solidFill>
                            <a:srgbClr val="FFFFFF"/>
                          </a:solidFill>
                        </a:rPr>
                        <a:t>Course</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rPr>
                        <a:t>Best grade</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rPr>
                        <a:t>Credits</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rPr>
                        <a:t>Point × cr</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65760">
                <a:tc>
                  <a:txBody>
                    <a:bodyPr/>
                    <a:lstStyle/>
                    <a:p>
                      <a:pPr marL="0" indent="0">
                        <a:buNone/>
                      </a:pPr>
                      <a:r>
                        <a:rPr lang="en-US" sz="1300" dirty="0">
                          <a:solidFill>
                            <a:srgbClr val="1F2937"/>
                          </a:solidFill>
                        </a:rPr>
                        <a:t>GE101</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rPr>
                        <a:t>C (2)</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rPr>
                        <a:t>2</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rPr>
                        <a:t>4</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300" dirty="0">
                          <a:solidFill>
                            <a:srgbClr val="1F2937"/>
                          </a:solidFill>
                        </a:rPr>
                        <a:t>GE102</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marL="0" indent="0">
                        <a:buNone/>
                      </a:pPr>
                      <a:r>
                        <a:rPr lang="en-US" sz="1300" dirty="0">
                          <a:solidFill>
                            <a:srgbClr val="1F2937"/>
                          </a:solidFill>
                        </a:rPr>
                        <a:t>B (3)</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marL="0" indent="0">
                        <a:buNone/>
                      </a:pPr>
                      <a:r>
                        <a:rPr lang="en-US" sz="1300" dirty="0">
                          <a:solidFill>
                            <a:srgbClr val="1F2937"/>
                          </a:solidFill>
                        </a:rPr>
                        <a:t>3</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marL="0" indent="0">
                        <a:buNone/>
                      </a:pPr>
                      <a:r>
                        <a:rPr lang="en-US" sz="1300" dirty="0">
                          <a:solidFill>
                            <a:srgbClr val="1F2937"/>
                          </a:solidFill>
                        </a:rPr>
                        <a:t>9</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365760">
                <a:tc>
                  <a:txBody>
                    <a:bodyPr/>
                    <a:lstStyle/>
                    <a:p>
                      <a:pPr marL="0" indent="0">
                        <a:buNone/>
                      </a:pPr>
                      <a:r>
                        <a:rPr lang="en-US" sz="1300" dirty="0">
                          <a:solidFill>
                            <a:srgbClr val="1F2937"/>
                          </a:solidFill>
                        </a:rPr>
                        <a:t>CS101</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rPr>
                        <a:t>D (1)</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rPr>
                        <a:t>3</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rPr>
                        <a:t>3</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buNone/>
                      </a:pPr>
                      <a:r>
                        <a:rPr lang="en-US" sz="1300" dirty="0">
                          <a:solidFill>
                            <a:srgbClr val="1F2937"/>
                          </a:solidFill>
                        </a:rPr>
                        <a:t>CS102</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marL="0" indent="0">
                        <a:buNone/>
                      </a:pPr>
                      <a:r>
                        <a:rPr lang="en-US" sz="1300" dirty="0">
                          <a:solidFill>
                            <a:srgbClr val="1F2937"/>
                          </a:solidFill>
                        </a:rPr>
                        <a:t>C (2)</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marL="0" indent="0">
                        <a:buNone/>
                      </a:pPr>
                      <a:r>
                        <a:rPr lang="en-US" sz="1300" dirty="0">
                          <a:solidFill>
                            <a:srgbClr val="1F2937"/>
                          </a:solidFill>
                        </a:rPr>
                        <a:t>3</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marL="0" indent="0">
                        <a:buNone/>
                      </a:pPr>
                      <a:r>
                        <a:rPr lang="en-US" sz="1300" dirty="0">
                          <a:solidFill>
                            <a:srgbClr val="1F2937"/>
                          </a:solidFill>
                        </a:rPr>
                        <a:t>6</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r h="365760">
                <a:tc>
                  <a:txBody>
                    <a:bodyPr/>
                    <a:lstStyle/>
                    <a:p>
                      <a:pPr marL="0" indent="0">
                        <a:buNone/>
                      </a:pPr>
                      <a:r>
                        <a:rPr lang="en-US" sz="1300" dirty="0">
                          <a:solidFill>
                            <a:srgbClr val="1F2937"/>
                          </a:solidFill>
                        </a:rPr>
                        <a:t>CS201</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rPr>
                        <a:t>B (3)</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rPr>
                        <a:t>4</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rPr>
                        <a:t>12</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buNone/>
                      </a:pPr>
                      <a:r>
                        <a:rPr lang="en-US" sz="1300" dirty="0">
                          <a:solidFill>
                            <a:srgbClr val="1F2937"/>
                          </a:solidFill>
                        </a:rPr>
                        <a:t>CS202</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marL="0" indent="0">
                        <a:buNone/>
                      </a:pPr>
                      <a:r>
                        <a:rPr lang="en-US" sz="1300" dirty="0">
                          <a:solidFill>
                            <a:srgbClr val="1F2937"/>
                          </a:solidFill>
                        </a:rPr>
                        <a:t>D (1)</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marL="0" indent="0">
                        <a:buNone/>
                      </a:pPr>
                      <a:r>
                        <a:rPr lang="en-US" sz="1300" dirty="0">
                          <a:solidFill>
                            <a:srgbClr val="1F2937"/>
                          </a:solidFill>
                        </a:rPr>
                        <a:t>3</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marL="0" indent="0">
                        <a:buNone/>
                      </a:pPr>
                      <a:r>
                        <a:rPr lang="en-US" sz="1300" dirty="0">
                          <a:solidFill>
                            <a:srgbClr val="1F2937"/>
                          </a:solidFill>
                        </a:rPr>
                        <a:t>3</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extLst>
                  <a:ext uri="{0D108BD9-81ED-4DB2-BD59-A6C34878D82A}">
                    <a16:rowId xmlns:a16="http://schemas.microsoft.com/office/drawing/2014/main" val="10006"/>
                  </a:ext>
                </a:extLst>
              </a:tr>
              <a:tr h="365760">
                <a:tc>
                  <a:txBody>
                    <a:bodyPr/>
                    <a:lstStyle/>
                    <a:p>
                      <a:pPr marL="0" indent="0">
                        <a:buNone/>
                      </a:pPr>
                      <a:r>
                        <a:rPr lang="en-US" sz="1300" b="1" dirty="0">
                          <a:solidFill>
                            <a:srgbClr val="1F2937"/>
                          </a:solidFill>
                        </a:rPr>
                        <a:t>Total</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300" b="1" dirty="0">
                          <a:solidFill>
                            <a:srgbClr val="1F2937"/>
                          </a:solidFill>
                        </a:rPr>
                        <a:t>18</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300" b="1" dirty="0">
                          <a:solidFill>
                            <a:srgbClr val="1F2937"/>
                          </a:solidFill>
                        </a:rPr>
                        <a:t>37</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30" name="Text 26"/>
          <p:cNvSpPr txBox="1"/>
          <p:nvPr/>
        </p:nvSpPr>
        <p:spPr>
          <a:xfrm>
            <a:off x="6126480" y="4937760"/>
            <a:ext cx="5577840" cy="457200"/>
          </a:xfrm>
          <a:prstGeom prst="rect">
            <a:avLst/>
          </a:prstGeom>
          <a:noFill/>
          <a:ln/>
        </p:spPr>
        <p:txBody>
          <a:bodyPr wrap="square" lIns="0" tIns="0" rIns="0" bIns="0" rtlCol="0" anchor="ctr"/>
          <a:lstStyle/>
          <a:p>
            <a:pPr marL="0" indent="0">
              <a:buNone/>
            </a:pPr>
            <a:r>
              <a:rPr lang="en-US" sz="1800" b="1" dirty="0">
                <a:solidFill>
                  <a:srgbClr val="0F8B8D"/>
                </a:solidFill>
              </a:rPr>
              <a:t>37 / 18 = 2.06 → Average</a:t>
            </a:r>
            <a:r>
              <a:rPr lang="en-US" sz="1300" dirty="0">
                <a:solidFill>
                  <a:srgbClr val="5B6475"/>
                </a:solidFill>
              </a:rPr>
              <a:t>   (semester 2024-1 alone: 0.38 → Weak)</a:t>
            </a:r>
            <a:endParaRPr lang="en-US" sz="1800" dirty="0"/>
          </a:p>
        </p:txBody>
      </p:sp>
      <p:sp>
        <p:nvSpPr>
          <p:cNvPr id="31" name="Text 27"/>
          <p:cNvSpPr txBox="1"/>
          <p:nvPr/>
        </p:nvSpPr>
        <p:spPr>
          <a:xfrm>
            <a:off x="6126480" y="5486400"/>
            <a:ext cx="5577840" cy="274320"/>
          </a:xfrm>
          <a:prstGeom prst="rect">
            <a:avLst/>
          </a:prstGeom>
          <a:noFill/>
          <a:ln/>
        </p:spPr>
        <p:txBody>
          <a:bodyPr wrap="square" lIns="0" tIns="0" rIns="0" bIns="0" rtlCol="0" anchor="ctr"/>
          <a:lstStyle/>
          <a:p>
            <a:pPr marL="0" indent="0">
              <a:buNone/>
            </a:pPr>
            <a:r>
              <a:rPr lang="en-US" sz="1200" i="1" dirty="0">
                <a:solidFill>
                  <a:srgbClr val="5B6475"/>
                </a:solidFill>
              </a:rPr>
              <a:t>Code: src/server/academic/grading.ts · rules: config/grading.json</a:t>
            </a:r>
            <a:endParaRPr lang="en-US" sz="1200" dirty="0"/>
          </a:p>
        </p:txBody>
      </p:sp>
      <p:sp>
        <p:nvSpPr>
          <p:cNvPr id="29"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marL="0" indent="0">
              <a:buNone/>
            </a:pPr>
            <a:r>
              <a:rPr lang="en-US" sz="1200" b="1" kern="0" spc="200" dirty="0">
                <a:solidFill>
                  <a:srgbClr val="0F8B8D"/>
                </a:solidFill>
              </a:rPr>
              <a:t>REQUIREMENT 3 · FLOWCHART</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marL="0" indent="0">
              <a:buNone/>
            </a:pPr>
            <a:r>
              <a:rPr lang="en-US" sz="3000" b="1" dirty="0">
                <a:solidFill>
                  <a:srgbClr val="1F2937"/>
                </a:solidFill>
              </a:rPr>
              <a:t>Flowchart 3 — loading and validating the data</a:t>
            </a:r>
            <a:endParaRPr lang="en-US" sz="3000" dirty="0"/>
          </a:p>
        </p:txBody>
      </p:sp>
      <p:sp>
        <p:nvSpPr>
          <p:cNvPr id="5" name="Shape 2"/>
          <p:cNvSpPr/>
          <p:nvPr/>
        </p:nvSpPr>
        <p:spPr>
          <a:xfrm>
            <a:off x="457200" y="2011680"/>
            <a:ext cx="1828800" cy="822960"/>
          </a:xfrm>
          <a:prstGeom prst="roundRect">
            <a:avLst>
              <a:gd name="adj" fmla="val 27778"/>
            </a:avLst>
          </a:prstGeom>
          <a:solidFill>
            <a:srgbClr val="DDF3F1"/>
          </a:solidFill>
          <a:ln w="12700">
            <a:solidFill>
              <a:srgbClr val="8A94A6"/>
            </a:solidFill>
            <a:prstDash val="solid"/>
          </a:ln>
        </p:spPr>
        <p:txBody>
          <a:bodyPr/>
          <a:lstStyle/>
          <a:p>
            <a:endParaRPr lang="en-VN"/>
          </a:p>
        </p:txBody>
      </p:sp>
      <p:sp>
        <p:nvSpPr>
          <p:cNvPr id="6" name="Text 3"/>
          <p:cNvSpPr txBox="1"/>
          <p:nvPr/>
        </p:nvSpPr>
        <p:spPr>
          <a:xfrm>
            <a:off x="530352" y="2011680"/>
            <a:ext cx="1682496" cy="822960"/>
          </a:xfrm>
          <a:prstGeom prst="rect">
            <a:avLst/>
          </a:prstGeom>
          <a:noFill/>
          <a:ln/>
        </p:spPr>
        <p:txBody>
          <a:bodyPr wrap="square" lIns="0" tIns="0" rIns="0" bIns="0" rtlCol="0" anchor="ctr"/>
          <a:lstStyle/>
          <a:p>
            <a:pPr marL="0" indent="0" algn="ctr">
              <a:buNone/>
            </a:pPr>
            <a:r>
              <a:rPr lang="en-US" sz="1300" dirty="0">
                <a:solidFill>
                  <a:srgbClr val="1F2937"/>
                </a:solidFill>
              </a:rPr>
              <a:t>CSV files</a:t>
            </a:r>
            <a:endParaRPr lang="en-US" sz="1300" dirty="0"/>
          </a:p>
          <a:p>
            <a:pPr marL="0" indent="0" algn="ctr">
              <a:buNone/>
            </a:pPr>
            <a:r>
              <a:rPr lang="en-US" sz="1300" dirty="0">
                <a:solidFill>
                  <a:srgbClr val="1F2937"/>
                </a:solidFill>
              </a:rPr>
              <a:t>(data/sample)</a:t>
            </a:r>
            <a:endParaRPr lang="en-US" sz="1300" dirty="0"/>
          </a:p>
        </p:txBody>
      </p:sp>
      <p:sp>
        <p:nvSpPr>
          <p:cNvPr id="7" name="Shape 4"/>
          <p:cNvSpPr/>
          <p:nvPr/>
        </p:nvSpPr>
        <p:spPr>
          <a:xfrm>
            <a:off x="2651760" y="2011680"/>
            <a:ext cx="1828800" cy="822960"/>
          </a:xfrm>
          <a:prstGeom prst="rect">
            <a:avLst/>
          </a:prstGeom>
          <a:solidFill>
            <a:srgbClr val="EEF2F6"/>
          </a:solidFill>
          <a:ln w="12700">
            <a:solidFill>
              <a:srgbClr val="8A94A6"/>
            </a:solidFill>
            <a:prstDash val="solid"/>
          </a:ln>
        </p:spPr>
        <p:txBody>
          <a:bodyPr/>
          <a:lstStyle/>
          <a:p>
            <a:endParaRPr lang="en-VN"/>
          </a:p>
        </p:txBody>
      </p:sp>
      <p:sp>
        <p:nvSpPr>
          <p:cNvPr id="8" name="Text 5"/>
          <p:cNvSpPr txBox="1"/>
          <p:nvPr/>
        </p:nvSpPr>
        <p:spPr>
          <a:xfrm>
            <a:off x="2724912" y="2011680"/>
            <a:ext cx="1682496" cy="822960"/>
          </a:xfrm>
          <a:prstGeom prst="rect">
            <a:avLst/>
          </a:prstGeom>
          <a:noFill/>
          <a:ln/>
        </p:spPr>
        <p:txBody>
          <a:bodyPr wrap="square" lIns="0" tIns="0" rIns="0" bIns="0" rtlCol="0" anchor="ctr"/>
          <a:lstStyle/>
          <a:p>
            <a:pPr marL="0" indent="0" algn="ctr">
              <a:buNone/>
            </a:pPr>
            <a:r>
              <a:rPr lang="en-US" sz="1300" dirty="0">
                <a:solidFill>
                  <a:srgbClr val="1F2937"/>
                </a:solidFill>
              </a:rPr>
              <a:t>parseCsv</a:t>
            </a:r>
            <a:endParaRPr lang="en-US" sz="1300" dirty="0"/>
          </a:p>
          <a:p>
            <a:pPr marL="0" indent="0" algn="ctr">
              <a:buNone/>
            </a:pPr>
            <a:r>
              <a:rPr lang="en-US" sz="1300" dirty="0">
                <a:solidFill>
                  <a:srgbClr val="1F2937"/>
                </a:solidFill>
              </a:rPr>
              <a:t>(UTF-8, quotes)</a:t>
            </a:r>
            <a:endParaRPr lang="en-US" sz="1300" dirty="0"/>
          </a:p>
        </p:txBody>
      </p:sp>
      <p:sp>
        <p:nvSpPr>
          <p:cNvPr id="9" name="Shape 6"/>
          <p:cNvSpPr/>
          <p:nvPr/>
        </p:nvSpPr>
        <p:spPr>
          <a:xfrm>
            <a:off x="4846320" y="1965960"/>
            <a:ext cx="1920240" cy="914400"/>
          </a:xfrm>
          <a:prstGeom prst="diamond">
            <a:avLst/>
          </a:prstGeom>
          <a:solidFill>
            <a:srgbClr val="FFF7E0"/>
          </a:solidFill>
          <a:ln w="12700">
            <a:solidFill>
              <a:srgbClr val="8A94A6"/>
            </a:solidFill>
            <a:prstDash val="solid"/>
          </a:ln>
        </p:spPr>
        <p:txBody>
          <a:bodyPr/>
          <a:lstStyle/>
          <a:p>
            <a:endParaRPr lang="en-VN"/>
          </a:p>
        </p:txBody>
      </p:sp>
      <p:sp>
        <p:nvSpPr>
          <p:cNvPr id="10" name="Text 7"/>
          <p:cNvSpPr txBox="1"/>
          <p:nvPr/>
        </p:nvSpPr>
        <p:spPr>
          <a:xfrm>
            <a:off x="4919472" y="1965960"/>
            <a:ext cx="1773936" cy="914400"/>
          </a:xfrm>
          <a:prstGeom prst="rect">
            <a:avLst/>
          </a:prstGeom>
          <a:noFill/>
          <a:ln/>
        </p:spPr>
        <p:txBody>
          <a:bodyPr wrap="square" lIns="0" tIns="0" rIns="0" bIns="0" rtlCol="0" anchor="ctr"/>
          <a:lstStyle/>
          <a:p>
            <a:pPr marL="0" indent="0" algn="ctr">
              <a:buNone/>
            </a:pPr>
            <a:r>
              <a:rPr lang="en-US" sz="1200" dirty="0">
                <a:solidFill>
                  <a:srgbClr val="1F2937"/>
                </a:solidFill>
              </a:rPr>
              <a:t>Row valid?</a:t>
            </a:r>
            <a:endParaRPr lang="en-US" sz="1200" dirty="0"/>
          </a:p>
        </p:txBody>
      </p:sp>
      <p:sp>
        <p:nvSpPr>
          <p:cNvPr id="11" name="Shape 8"/>
          <p:cNvSpPr/>
          <p:nvPr/>
        </p:nvSpPr>
        <p:spPr>
          <a:xfrm>
            <a:off x="7223760" y="2011680"/>
            <a:ext cx="2377440" cy="822960"/>
          </a:xfrm>
          <a:prstGeom prst="rect">
            <a:avLst/>
          </a:prstGeom>
          <a:solidFill>
            <a:srgbClr val="DDF3F1"/>
          </a:solidFill>
          <a:ln w="12700">
            <a:solidFill>
              <a:srgbClr val="8A94A6"/>
            </a:solidFill>
            <a:prstDash val="solid"/>
          </a:ln>
        </p:spPr>
        <p:txBody>
          <a:bodyPr/>
          <a:lstStyle/>
          <a:p>
            <a:endParaRPr lang="en-VN"/>
          </a:p>
        </p:txBody>
      </p:sp>
      <p:sp>
        <p:nvSpPr>
          <p:cNvPr id="12" name="Text 9"/>
          <p:cNvSpPr txBox="1"/>
          <p:nvPr/>
        </p:nvSpPr>
        <p:spPr>
          <a:xfrm>
            <a:off x="7296912" y="2011680"/>
            <a:ext cx="2231136" cy="822960"/>
          </a:xfrm>
          <a:prstGeom prst="rect">
            <a:avLst/>
          </a:prstGeom>
          <a:noFill/>
          <a:ln/>
        </p:spPr>
        <p:txBody>
          <a:bodyPr wrap="square" lIns="0" tIns="0" rIns="0" bIns="0" rtlCol="0" anchor="ctr"/>
          <a:lstStyle/>
          <a:p>
            <a:pPr marL="0" indent="0" algn="ctr">
              <a:buNone/>
            </a:pPr>
            <a:r>
              <a:rPr lang="en-US" sz="1300" dirty="0">
                <a:solidFill>
                  <a:srgbClr val="1F2937"/>
                </a:solidFill>
              </a:rPr>
              <a:t>In-memory tables: students · courses · grades</a:t>
            </a:r>
            <a:endParaRPr lang="en-US" sz="1300" dirty="0"/>
          </a:p>
        </p:txBody>
      </p:sp>
      <p:sp>
        <p:nvSpPr>
          <p:cNvPr id="13" name="Shape 10"/>
          <p:cNvSpPr/>
          <p:nvPr/>
        </p:nvSpPr>
        <p:spPr>
          <a:xfrm>
            <a:off x="9966960" y="2011680"/>
            <a:ext cx="1737360" cy="822960"/>
          </a:xfrm>
          <a:prstGeom prst="roundRect">
            <a:avLst>
              <a:gd name="adj" fmla="val 27778"/>
            </a:avLst>
          </a:prstGeom>
          <a:solidFill>
            <a:srgbClr val="DDF3F1"/>
          </a:solidFill>
          <a:ln w="12700">
            <a:solidFill>
              <a:srgbClr val="8A94A6"/>
            </a:solidFill>
            <a:prstDash val="solid"/>
          </a:ln>
        </p:spPr>
        <p:txBody>
          <a:bodyPr/>
          <a:lstStyle/>
          <a:p>
            <a:endParaRPr lang="en-VN"/>
          </a:p>
        </p:txBody>
      </p:sp>
      <p:sp>
        <p:nvSpPr>
          <p:cNvPr id="14" name="Text 11"/>
          <p:cNvSpPr txBox="1"/>
          <p:nvPr/>
        </p:nvSpPr>
        <p:spPr>
          <a:xfrm>
            <a:off x="10040112" y="2011680"/>
            <a:ext cx="1591056" cy="822960"/>
          </a:xfrm>
          <a:prstGeom prst="rect">
            <a:avLst/>
          </a:prstGeom>
          <a:noFill/>
          <a:ln/>
        </p:spPr>
        <p:txBody>
          <a:bodyPr wrap="square" lIns="0" tIns="0" rIns="0" bIns="0" rtlCol="0" anchor="ctr"/>
          <a:lstStyle/>
          <a:p>
            <a:pPr marL="0" indent="0" algn="ctr">
              <a:buNone/>
            </a:pPr>
            <a:r>
              <a:rPr lang="en-US" sz="1300" dirty="0">
                <a:solidFill>
                  <a:srgbClr val="1F2937"/>
                </a:solidFill>
              </a:rPr>
              <a:t>Tools · resources · prompts</a:t>
            </a:r>
            <a:endParaRPr lang="en-US" sz="1300" dirty="0"/>
          </a:p>
        </p:txBody>
      </p:sp>
      <p:sp>
        <p:nvSpPr>
          <p:cNvPr id="15" name="Shape 12"/>
          <p:cNvSpPr/>
          <p:nvPr/>
        </p:nvSpPr>
        <p:spPr>
          <a:xfrm>
            <a:off x="4434840" y="3657600"/>
            <a:ext cx="2743200" cy="822960"/>
          </a:xfrm>
          <a:prstGeom prst="rect">
            <a:avLst/>
          </a:prstGeom>
          <a:solidFill>
            <a:srgbClr val="FDECEC"/>
          </a:solidFill>
          <a:ln w="12700">
            <a:solidFill>
              <a:srgbClr val="8A94A6"/>
            </a:solidFill>
            <a:prstDash val="solid"/>
          </a:ln>
        </p:spPr>
        <p:txBody>
          <a:bodyPr/>
          <a:lstStyle/>
          <a:p>
            <a:endParaRPr lang="en-VN"/>
          </a:p>
        </p:txBody>
      </p:sp>
      <p:sp>
        <p:nvSpPr>
          <p:cNvPr id="16" name="Text 13"/>
          <p:cNvSpPr txBox="1"/>
          <p:nvPr/>
        </p:nvSpPr>
        <p:spPr>
          <a:xfrm>
            <a:off x="4507992" y="3657600"/>
            <a:ext cx="2596896" cy="822960"/>
          </a:xfrm>
          <a:prstGeom prst="rect">
            <a:avLst/>
          </a:prstGeom>
          <a:noFill/>
          <a:ln/>
        </p:spPr>
        <p:txBody>
          <a:bodyPr wrap="square" lIns="0" tIns="0" rIns="0" bIns="0" rtlCol="0" anchor="ctr"/>
          <a:lstStyle/>
          <a:p>
            <a:pPr marL="0" indent="0" algn="ctr">
              <a:buNone/>
            </a:pPr>
            <a:r>
              <a:rPr lang="en-US" sz="1300" dirty="0">
                <a:solidFill>
                  <a:srgbClr val="1F2937"/>
                </a:solidFill>
              </a:rPr>
              <a:t>Issues list → resource academic://reports/data-quality</a:t>
            </a:r>
            <a:endParaRPr lang="en-US" sz="1300" dirty="0"/>
          </a:p>
        </p:txBody>
      </p:sp>
      <p:sp>
        <p:nvSpPr>
          <p:cNvPr id="17" name="Shape 14"/>
          <p:cNvSpPr/>
          <p:nvPr/>
        </p:nvSpPr>
        <p:spPr>
          <a:xfrm>
            <a:off x="2286000" y="2423160"/>
            <a:ext cx="365760" cy="0"/>
          </a:xfrm>
          <a:prstGeom prst="line">
            <a:avLst/>
          </a:prstGeom>
          <a:noFill/>
          <a:ln w="19050">
            <a:solidFill>
              <a:srgbClr val="8A94A6"/>
            </a:solidFill>
            <a:prstDash val="solid"/>
            <a:tailEnd type="triangle"/>
          </a:ln>
        </p:spPr>
        <p:txBody>
          <a:bodyPr/>
          <a:lstStyle/>
          <a:p>
            <a:endParaRPr lang="en-VN"/>
          </a:p>
        </p:txBody>
      </p:sp>
      <p:sp>
        <p:nvSpPr>
          <p:cNvPr id="18" name="Shape 15"/>
          <p:cNvSpPr/>
          <p:nvPr/>
        </p:nvSpPr>
        <p:spPr>
          <a:xfrm>
            <a:off x="4480560" y="2423160"/>
            <a:ext cx="365760" cy="0"/>
          </a:xfrm>
          <a:prstGeom prst="line">
            <a:avLst/>
          </a:prstGeom>
          <a:noFill/>
          <a:ln w="19050">
            <a:solidFill>
              <a:srgbClr val="8A94A6"/>
            </a:solidFill>
            <a:prstDash val="solid"/>
            <a:tailEnd type="triangle"/>
          </a:ln>
        </p:spPr>
        <p:txBody>
          <a:bodyPr/>
          <a:lstStyle/>
          <a:p>
            <a:endParaRPr lang="en-VN"/>
          </a:p>
        </p:txBody>
      </p:sp>
      <p:sp>
        <p:nvSpPr>
          <p:cNvPr id="19" name="Shape 16"/>
          <p:cNvSpPr/>
          <p:nvPr/>
        </p:nvSpPr>
        <p:spPr>
          <a:xfrm>
            <a:off x="6766560" y="2423160"/>
            <a:ext cx="457200" cy="0"/>
          </a:xfrm>
          <a:prstGeom prst="line">
            <a:avLst/>
          </a:prstGeom>
          <a:noFill/>
          <a:ln w="19050">
            <a:solidFill>
              <a:srgbClr val="8A94A6"/>
            </a:solidFill>
            <a:prstDash val="solid"/>
            <a:tailEnd type="triangle"/>
          </a:ln>
        </p:spPr>
        <p:txBody>
          <a:bodyPr/>
          <a:lstStyle/>
          <a:p>
            <a:endParaRPr lang="en-VN"/>
          </a:p>
        </p:txBody>
      </p:sp>
      <p:sp>
        <p:nvSpPr>
          <p:cNvPr id="20" name="Text 17"/>
          <p:cNvSpPr txBox="1"/>
          <p:nvPr/>
        </p:nvSpPr>
        <p:spPr>
          <a:xfrm>
            <a:off x="6629400" y="2130552"/>
            <a:ext cx="731520" cy="256032"/>
          </a:xfrm>
          <a:prstGeom prst="rect">
            <a:avLst/>
          </a:prstGeom>
          <a:noFill/>
          <a:ln/>
        </p:spPr>
        <p:txBody>
          <a:bodyPr wrap="square" lIns="0" tIns="0" rIns="0" bIns="0" rtlCol="0" anchor="ctr"/>
          <a:lstStyle/>
          <a:p>
            <a:pPr marL="0" indent="0">
              <a:buNone/>
            </a:pPr>
            <a:r>
              <a:rPr lang="en-US" sz="1100" b="1" dirty="0">
                <a:solidFill>
                  <a:srgbClr val="2F855A"/>
                </a:solidFill>
              </a:rPr>
              <a:t>yes</a:t>
            </a:r>
            <a:endParaRPr lang="en-US" sz="1100" dirty="0"/>
          </a:p>
        </p:txBody>
      </p:sp>
      <p:sp>
        <p:nvSpPr>
          <p:cNvPr id="21" name="Shape 18"/>
          <p:cNvSpPr/>
          <p:nvPr/>
        </p:nvSpPr>
        <p:spPr>
          <a:xfrm>
            <a:off x="9601200" y="2423160"/>
            <a:ext cx="365760" cy="0"/>
          </a:xfrm>
          <a:prstGeom prst="line">
            <a:avLst/>
          </a:prstGeom>
          <a:noFill/>
          <a:ln w="19050">
            <a:solidFill>
              <a:srgbClr val="8A94A6"/>
            </a:solidFill>
            <a:prstDash val="solid"/>
            <a:tailEnd type="triangle"/>
          </a:ln>
        </p:spPr>
        <p:txBody>
          <a:bodyPr/>
          <a:lstStyle/>
          <a:p>
            <a:endParaRPr lang="en-VN"/>
          </a:p>
        </p:txBody>
      </p:sp>
      <p:sp>
        <p:nvSpPr>
          <p:cNvPr id="22" name="Shape 19"/>
          <p:cNvSpPr/>
          <p:nvPr/>
        </p:nvSpPr>
        <p:spPr>
          <a:xfrm>
            <a:off x="5806440" y="2880360"/>
            <a:ext cx="0" cy="777240"/>
          </a:xfrm>
          <a:prstGeom prst="line">
            <a:avLst/>
          </a:prstGeom>
          <a:noFill/>
          <a:ln w="19050">
            <a:solidFill>
              <a:srgbClr val="8A94A6"/>
            </a:solidFill>
            <a:prstDash val="solid"/>
            <a:tailEnd type="triangle"/>
          </a:ln>
        </p:spPr>
        <p:txBody>
          <a:bodyPr/>
          <a:lstStyle/>
          <a:p>
            <a:endParaRPr lang="en-VN"/>
          </a:p>
        </p:txBody>
      </p:sp>
      <p:sp>
        <p:nvSpPr>
          <p:cNvPr id="23" name="Text 20"/>
          <p:cNvSpPr txBox="1"/>
          <p:nvPr/>
        </p:nvSpPr>
        <p:spPr>
          <a:xfrm>
            <a:off x="5879592" y="3131820"/>
            <a:ext cx="731520" cy="256032"/>
          </a:xfrm>
          <a:prstGeom prst="rect">
            <a:avLst/>
          </a:prstGeom>
          <a:noFill/>
          <a:ln/>
        </p:spPr>
        <p:txBody>
          <a:bodyPr wrap="square" lIns="0" tIns="0" rIns="0" bIns="0" rtlCol="0" anchor="ctr"/>
          <a:lstStyle/>
          <a:p>
            <a:pPr marL="0" indent="0">
              <a:buNone/>
            </a:pPr>
            <a:r>
              <a:rPr lang="en-US" sz="1100" b="1" dirty="0">
                <a:solidFill>
                  <a:srgbClr val="C53030"/>
                </a:solidFill>
              </a:rPr>
              <a:t>no</a:t>
            </a:r>
            <a:endParaRPr lang="en-US" sz="1100" dirty="0"/>
          </a:p>
        </p:txBody>
      </p:sp>
      <p:sp>
        <p:nvSpPr>
          <p:cNvPr id="24" name="Text 21"/>
          <p:cNvSpPr txBox="1"/>
          <p:nvPr/>
        </p:nvSpPr>
        <p:spPr>
          <a:xfrm>
            <a:off x="457200" y="3291840"/>
            <a:ext cx="3749040" cy="822960"/>
          </a:xfrm>
          <a:prstGeom prst="rect">
            <a:avLst/>
          </a:prstGeom>
          <a:noFill/>
          <a:ln/>
        </p:spPr>
        <p:txBody>
          <a:bodyPr wrap="square" lIns="0" tIns="0" rIns="0" bIns="0" rtlCol="0" anchor="ctr"/>
          <a:lstStyle/>
          <a:p>
            <a:pPr marL="0" indent="0">
              <a:buNone/>
            </a:pPr>
            <a:r>
              <a:rPr lang="en-US" sz="1300" i="1" dirty="0">
                <a:solidFill>
                  <a:srgbClr val="5B6475"/>
                </a:solidFill>
              </a:rPr>
              <a:t>missing id · unknown student / course · score outside 0–10 · duplicate</a:t>
            </a:r>
            <a:endParaRPr lang="en-US" sz="1300" dirty="0"/>
          </a:p>
        </p:txBody>
      </p:sp>
      <p:sp>
        <p:nvSpPr>
          <p:cNvPr id="25" name="Shape 22"/>
          <p:cNvSpPr/>
          <p:nvPr/>
        </p:nvSpPr>
        <p:spPr>
          <a:xfrm>
            <a:off x="7406640" y="3657600"/>
            <a:ext cx="2194560" cy="822960"/>
          </a:xfrm>
          <a:prstGeom prst="rect">
            <a:avLst/>
          </a:prstGeom>
          <a:solidFill>
            <a:srgbClr val="EEF2F6"/>
          </a:solidFill>
          <a:ln w="12700">
            <a:solidFill>
              <a:srgbClr val="8A94A6"/>
            </a:solidFill>
            <a:prstDash val="solid"/>
          </a:ln>
        </p:spPr>
        <p:txBody>
          <a:bodyPr/>
          <a:lstStyle/>
          <a:p>
            <a:endParaRPr lang="en-VN"/>
          </a:p>
        </p:txBody>
      </p:sp>
      <p:sp>
        <p:nvSpPr>
          <p:cNvPr id="26" name="Text 23"/>
          <p:cNvSpPr txBox="1"/>
          <p:nvPr/>
        </p:nvSpPr>
        <p:spPr>
          <a:xfrm>
            <a:off x="7479792" y="3657600"/>
            <a:ext cx="2048256" cy="822960"/>
          </a:xfrm>
          <a:prstGeom prst="rect">
            <a:avLst/>
          </a:prstGeom>
          <a:noFill/>
          <a:ln/>
        </p:spPr>
        <p:txBody>
          <a:bodyPr wrap="square" lIns="0" tIns="0" rIns="0" bIns="0" rtlCol="0" anchor="ctr"/>
          <a:lstStyle/>
          <a:p>
            <a:pPr marL="0" indent="0" algn="ctr">
              <a:buNone/>
            </a:pPr>
            <a:r>
              <a:rPr lang="en-US" sz="1300" dirty="0">
                <a:solidFill>
                  <a:srgbClr val="1F2937"/>
                </a:solidFill>
              </a:rPr>
              <a:t>update_grade (after user confirms)</a:t>
            </a:r>
            <a:endParaRPr lang="en-US" sz="1300" dirty="0"/>
          </a:p>
        </p:txBody>
      </p:sp>
      <p:sp>
        <p:nvSpPr>
          <p:cNvPr id="27" name="Shape 24"/>
          <p:cNvSpPr/>
          <p:nvPr/>
        </p:nvSpPr>
        <p:spPr>
          <a:xfrm>
            <a:off x="9966960" y="3657600"/>
            <a:ext cx="1737360" cy="822960"/>
          </a:xfrm>
          <a:prstGeom prst="rect">
            <a:avLst/>
          </a:prstGeom>
          <a:solidFill>
            <a:srgbClr val="FFF7E0"/>
          </a:solidFill>
          <a:ln w="12700">
            <a:solidFill>
              <a:srgbClr val="8A94A6"/>
            </a:solidFill>
            <a:prstDash val="solid"/>
          </a:ln>
        </p:spPr>
        <p:txBody>
          <a:bodyPr/>
          <a:lstStyle/>
          <a:p>
            <a:endParaRPr lang="en-VN"/>
          </a:p>
        </p:txBody>
      </p:sp>
      <p:sp>
        <p:nvSpPr>
          <p:cNvPr id="28" name="Text 25"/>
          <p:cNvSpPr txBox="1"/>
          <p:nvPr/>
        </p:nvSpPr>
        <p:spPr>
          <a:xfrm>
            <a:off x="10040112" y="3657600"/>
            <a:ext cx="1591056" cy="822960"/>
          </a:xfrm>
          <a:prstGeom prst="rect">
            <a:avLst/>
          </a:prstGeom>
          <a:noFill/>
          <a:ln/>
        </p:spPr>
        <p:txBody>
          <a:bodyPr wrap="square" lIns="0" tIns="0" rIns="0" bIns="0" rtlCol="0" anchor="ctr"/>
          <a:lstStyle/>
          <a:p>
            <a:pPr marL="0" indent="0" algn="ctr">
              <a:buNone/>
            </a:pPr>
            <a:r>
              <a:rPr lang="en-US" sz="1300" dirty="0">
                <a:solidFill>
                  <a:srgbClr val="1F2937"/>
                </a:solidFill>
              </a:rPr>
              <a:t>notifications/resources/updated → subscribers</a:t>
            </a:r>
            <a:endParaRPr lang="en-US" sz="1300" dirty="0"/>
          </a:p>
        </p:txBody>
      </p:sp>
      <p:sp>
        <p:nvSpPr>
          <p:cNvPr id="29" name="Shape 26"/>
          <p:cNvSpPr/>
          <p:nvPr/>
        </p:nvSpPr>
        <p:spPr>
          <a:xfrm flipV="1">
            <a:off x="8412480" y="2834640"/>
            <a:ext cx="0" cy="822960"/>
          </a:xfrm>
          <a:prstGeom prst="line">
            <a:avLst/>
          </a:prstGeom>
          <a:noFill/>
          <a:ln w="19050">
            <a:solidFill>
              <a:srgbClr val="8A94A6"/>
            </a:solidFill>
            <a:prstDash val="solid"/>
            <a:tailEnd type="triangle"/>
          </a:ln>
        </p:spPr>
        <p:txBody>
          <a:bodyPr/>
          <a:lstStyle/>
          <a:p>
            <a:endParaRPr lang="en-VN"/>
          </a:p>
        </p:txBody>
      </p:sp>
      <p:sp>
        <p:nvSpPr>
          <p:cNvPr id="30" name="Shape 27"/>
          <p:cNvSpPr/>
          <p:nvPr/>
        </p:nvSpPr>
        <p:spPr>
          <a:xfrm>
            <a:off x="9601200" y="4069080"/>
            <a:ext cx="365760" cy="0"/>
          </a:xfrm>
          <a:prstGeom prst="line">
            <a:avLst/>
          </a:prstGeom>
          <a:noFill/>
          <a:ln w="19050">
            <a:solidFill>
              <a:srgbClr val="8A94A6"/>
            </a:solidFill>
            <a:prstDash val="solid"/>
            <a:tailEnd type="triangle"/>
          </a:ln>
        </p:spPr>
        <p:txBody>
          <a:bodyPr/>
          <a:lstStyle/>
          <a:p>
            <a:endParaRPr lang="en-VN"/>
          </a:p>
        </p:txBody>
      </p:sp>
      <p:sp>
        <p:nvSpPr>
          <p:cNvPr id="31" name="Text 28"/>
          <p:cNvSpPr txBox="1"/>
          <p:nvPr/>
        </p:nvSpPr>
        <p:spPr>
          <a:xfrm>
            <a:off x="457200" y="4937760"/>
            <a:ext cx="3566160" cy="1005840"/>
          </a:xfrm>
          <a:prstGeom prst="rect">
            <a:avLst/>
          </a:prstGeom>
          <a:noFill/>
          <a:ln/>
        </p:spPr>
        <p:txBody>
          <a:bodyPr wrap="square" lIns="0" tIns="0" rIns="0" bIns="0" rtlCol="0" anchor="ctr"/>
          <a:lstStyle/>
          <a:p>
            <a:pPr marL="0" indent="0">
              <a:buNone/>
            </a:pPr>
            <a:r>
              <a:rPr lang="en-US" sz="3400" b="1" dirty="0">
                <a:solidFill>
                  <a:srgbClr val="0F8B8D"/>
                </a:solidFill>
              </a:rPr>
              <a:t>7 / 7</a:t>
            </a:r>
            <a:endParaRPr lang="en-US" sz="3400" dirty="0"/>
          </a:p>
          <a:p>
            <a:pPr marL="0" indent="0">
              <a:buNone/>
            </a:pPr>
            <a:r>
              <a:rPr lang="en-US" sz="1400" dirty="0">
                <a:solidFill>
                  <a:srgbClr val="5B6475"/>
                </a:solidFill>
              </a:rPr>
              <a:t>broken rows detected</a:t>
            </a:r>
            <a:endParaRPr lang="en-US" sz="3400" dirty="0"/>
          </a:p>
        </p:txBody>
      </p:sp>
      <p:sp>
        <p:nvSpPr>
          <p:cNvPr id="32" name="Text 29"/>
          <p:cNvSpPr txBox="1"/>
          <p:nvPr/>
        </p:nvSpPr>
        <p:spPr>
          <a:xfrm>
            <a:off x="4206240" y="4937760"/>
            <a:ext cx="3566160" cy="1005840"/>
          </a:xfrm>
          <a:prstGeom prst="rect">
            <a:avLst/>
          </a:prstGeom>
          <a:noFill/>
          <a:ln/>
        </p:spPr>
        <p:txBody>
          <a:bodyPr wrap="square" lIns="0" tIns="0" rIns="0" bIns="0" rtlCol="0" anchor="ctr"/>
          <a:lstStyle/>
          <a:p>
            <a:pPr marL="0" indent="0">
              <a:buNone/>
            </a:pPr>
            <a:r>
              <a:rPr lang="en-US" sz="3400" b="1" dirty="0">
                <a:solidFill>
                  <a:srgbClr val="0F8B8D"/>
                </a:solidFill>
              </a:rPr>
              <a:t>0</a:t>
            </a:r>
            <a:endParaRPr lang="en-US" sz="3400" dirty="0"/>
          </a:p>
          <a:p>
            <a:pPr marL="0" indent="0">
              <a:buNone/>
            </a:pPr>
            <a:r>
              <a:rPr lang="en-US" sz="1400" dirty="0">
                <a:solidFill>
                  <a:srgbClr val="5B6475"/>
                </a:solidFill>
              </a:rPr>
              <a:t>broken rows used in a calculation</a:t>
            </a:r>
            <a:endParaRPr lang="en-US" sz="3400" dirty="0"/>
          </a:p>
        </p:txBody>
      </p:sp>
      <p:sp>
        <p:nvSpPr>
          <p:cNvPr id="33" name="Text 30"/>
          <p:cNvSpPr txBox="1"/>
          <p:nvPr/>
        </p:nvSpPr>
        <p:spPr>
          <a:xfrm>
            <a:off x="7955280" y="4937760"/>
            <a:ext cx="3566160" cy="1005840"/>
          </a:xfrm>
          <a:prstGeom prst="rect">
            <a:avLst/>
          </a:prstGeom>
          <a:noFill/>
          <a:ln/>
        </p:spPr>
        <p:txBody>
          <a:bodyPr wrap="square" lIns="0" tIns="0" rIns="0" bIns="0" rtlCol="0" anchor="ctr"/>
          <a:lstStyle/>
          <a:p>
            <a:pPr marL="0" indent="0">
              <a:buNone/>
            </a:pPr>
            <a:r>
              <a:rPr lang="en-US" sz="3400" b="1" dirty="0">
                <a:solidFill>
                  <a:srgbClr val="0F8B8D"/>
                </a:solidFill>
              </a:rPr>
              <a:t>261</a:t>
            </a:r>
            <a:endParaRPr lang="en-US" sz="3400" dirty="0"/>
          </a:p>
          <a:p>
            <a:pPr marL="0" indent="0">
              <a:buNone/>
            </a:pPr>
            <a:r>
              <a:rPr lang="en-US" sz="1400" dirty="0">
                <a:solidFill>
                  <a:srgbClr val="5B6475"/>
                </a:solidFill>
              </a:rPr>
              <a:t>valid grade rows loaded</a:t>
            </a:r>
            <a:endParaRPr lang="en-US" sz="3400" dirty="0"/>
          </a:p>
        </p:txBody>
      </p:sp>
      <p:sp>
        <p:nvSpPr>
          <p:cNvPr id="4"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marL="0" indent="0">
              <a:buNone/>
            </a:pPr>
            <a:r>
              <a:rPr lang="en-US" sz="1200" b="1" kern="0" spc="200" dirty="0">
                <a:solidFill>
                  <a:srgbClr val="0F8B8D"/>
                </a:solidFill>
              </a:rPr>
              <a:t>REQUIREMENT 2 · ALGORITHM</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marL="0" indent="0">
              <a:buNone/>
            </a:pPr>
            <a:r>
              <a:rPr lang="en-US" sz="3000" b="1" dirty="0">
                <a:solidFill>
                  <a:srgbClr val="1F2937"/>
                </a:solidFill>
              </a:rPr>
              <a:t>Algorithm detail: the server asks back</a:t>
            </a:r>
            <a:endParaRPr lang="en-US" sz="3000" dirty="0"/>
          </a:p>
        </p:txBody>
      </p:sp>
      <p:sp>
        <p:nvSpPr>
          <p:cNvPr id="5" name="Shape 2"/>
          <p:cNvSpPr/>
          <p:nvPr/>
        </p:nvSpPr>
        <p:spPr>
          <a:xfrm>
            <a:off x="457200" y="1463040"/>
            <a:ext cx="5486400" cy="4480560"/>
          </a:xfrm>
          <a:prstGeom prst="roundRect">
            <a:avLst>
              <a:gd name="adj" fmla="val 1633"/>
            </a:avLst>
          </a:prstGeom>
          <a:solidFill>
            <a:srgbClr val="EEF2F6"/>
          </a:solidFill>
          <a:ln w="12700">
            <a:solidFill>
              <a:srgbClr val="EEF2F6"/>
            </a:solidFill>
            <a:prstDash val="solid"/>
          </a:ln>
        </p:spPr>
        <p:txBody>
          <a:bodyPr/>
          <a:lstStyle/>
          <a:p>
            <a:endParaRPr lang="en-VN"/>
          </a:p>
        </p:txBody>
      </p:sp>
      <p:sp>
        <p:nvSpPr>
          <p:cNvPr id="6" name="Text 3"/>
          <p:cNvSpPr txBox="1"/>
          <p:nvPr/>
        </p:nvSpPr>
        <p:spPr>
          <a:xfrm>
            <a:off x="640080" y="1600200"/>
            <a:ext cx="5120640" cy="457200"/>
          </a:xfrm>
          <a:prstGeom prst="rect">
            <a:avLst/>
          </a:prstGeom>
          <a:noFill/>
          <a:ln/>
        </p:spPr>
        <p:txBody>
          <a:bodyPr wrap="square" lIns="0" tIns="0" rIns="0" bIns="0" rtlCol="0" anchor="t"/>
          <a:lstStyle/>
          <a:p>
            <a:pPr marL="0" indent="0">
              <a:buNone/>
            </a:pPr>
            <a:r>
              <a:rPr lang="en-US" sz="1800" b="1" dirty="0">
                <a:solidFill>
                  <a:srgbClr val="0F8B8D"/>
                </a:solidFill>
              </a:rPr>
              <a:t>Elicitation — human in the loop</a:t>
            </a:r>
            <a:endParaRPr lang="en-US" sz="1800" dirty="0"/>
          </a:p>
        </p:txBody>
      </p:sp>
      <p:sp>
        <p:nvSpPr>
          <p:cNvPr id="7" name="Text 4"/>
          <p:cNvSpPr txBox="1"/>
          <p:nvPr/>
        </p:nvSpPr>
        <p:spPr>
          <a:xfrm>
            <a:off x="640080" y="2103120"/>
            <a:ext cx="5120640" cy="3703320"/>
          </a:xfrm>
          <a:prstGeom prst="rect">
            <a:avLst/>
          </a:prstGeom>
          <a:noFill/>
          <a:ln/>
        </p:spPr>
        <p:txBody>
          <a:bodyPr wrap="square" lIns="0" tIns="0" rIns="0" bIns="0" rtlCol="0" anchor="t"/>
          <a:lstStyle/>
          <a:p>
            <a:pPr marL="0" indent="0">
              <a:buNone/>
            </a:pPr>
            <a:r>
              <a:rPr lang="en-US" sz="1500" dirty="0">
                <a:solidFill>
                  <a:srgbClr val="1F2937"/>
                </a:solidFill>
              </a:rPr>
              <a:t>Tools: update_grade, save_report (overwrite)</a:t>
            </a:r>
            <a:endParaRPr lang="en-US" sz="1500" dirty="0"/>
          </a:p>
          <a:p>
            <a:pPr marL="0" indent="0">
              <a:buNone/>
            </a:pPr>
            <a:endParaRPr lang="en-US" sz="1500" dirty="0"/>
          </a:p>
          <a:p>
            <a:pPr marL="0" indent="0">
              <a:buNone/>
            </a:pPr>
            <a:r>
              <a:rPr lang="en-US" sz="1500" dirty="0">
                <a:solidFill>
                  <a:srgbClr val="1F2937"/>
                </a:solidFill>
              </a:rPr>
              <a:t>1. LLM calls update_grade(...)</a:t>
            </a:r>
            <a:endParaRPr lang="en-US" sz="1500" dirty="0"/>
          </a:p>
          <a:p>
            <a:pPr marL="0" indent="0">
              <a:buNone/>
            </a:pPr>
            <a:r>
              <a:rPr lang="en-US" sz="1500" dirty="0">
                <a:solidFill>
                  <a:srgbClr val="1F2937"/>
                </a:solidFill>
              </a:rPr>
              <a:t>2. Server pauses and asks the USER: accept / decline / cancel</a:t>
            </a:r>
            <a:endParaRPr lang="en-US" sz="1500" dirty="0"/>
          </a:p>
          <a:p>
            <a:pPr marL="0" indent="0">
              <a:buNone/>
            </a:pPr>
            <a:r>
              <a:rPr lang="en-US" sz="1500" dirty="0">
                <a:solidFill>
                  <a:srgbClr val="1F2937"/>
                </a:solidFill>
              </a:rPr>
              <a:t>3. Only "accept" changes the data</a:t>
            </a:r>
            <a:endParaRPr lang="en-US" sz="1500" dirty="0"/>
          </a:p>
          <a:p>
            <a:pPr marL="0" indent="0">
              <a:buNone/>
            </a:pPr>
            <a:endParaRPr lang="en-US" sz="1500" dirty="0"/>
          </a:p>
          <a:p>
            <a:pPr marL="0" indent="0">
              <a:buNone/>
            </a:pPr>
            <a:r>
              <a:rPr lang="en-US" sz="1500" dirty="0">
                <a:solidFill>
                  <a:srgbClr val="1F2937"/>
                </a:solidFill>
              </a:rPr>
              <a:t>Real catch: the LLM invented process_score: 0 — the confirmation dialog showed it, so we made omitted scores keep their value.</a:t>
            </a:r>
            <a:endParaRPr lang="en-US" sz="1500" dirty="0"/>
          </a:p>
        </p:txBody>
      </p:sp>
      <p:sp>
        <p:nvSpPr>
          <p:cNvPr id="8" name="Shape 5"/>
          <p:cNvSpPr/>
          <p:nvPr/>
        </p:nvSpPr>
        <p:spPr>
          <a:xfrm>
            <a:off x="6217920" y="1463040"/>
            <a:ext cx="5486400" cy="4480560"/>
          </a:xfrm>
          <a:prstGeom prst="roundRect">
            <a:avLst>
              <a:gd name="adj" fmla="val 1633"/>
            </a:avLst>
          </a:prstGeom>
          <a:solidFill>
            <a:srgbClr val="EEF2F6"/>
          </a:solidFill>
          <a:ln w="12700">
            <a:solidFill>
              <a:srgbClr val="EEF2F6"/>
            </a:solidFill>
            <a:prstDash val="solid"/>
          </a:ln>
        </p:spPr>
        <p:txBody>
          <a:bodyPr/>
          <a:lstStyle/>
          <a:p>
            <a:endParaRPr lang="en-VN"/>
          </a:p>
        </p:txBody>
      </p:sp>
      <p:sp>
        <p:nvSpPr>
          <p:cNvPr id="9" name="Text 6"/>
          <p:cNvSpPr txBox="1"/>
          <p:nvPr/>
        </p:nvSpPr>
        <p:spPr>
          <a:xfrm>
            <a:off x="6400800" y="1600200"/>
            <a:ext cx="5120640" cy="457200"/>
          </a:xfrm>
          <a:prstGeom prst="rect">
            <a:avLst/>
          </a:prstGeom>
          <a:noFill/>
          <a:ln/>
        </p:spPr>
        <p:txBody>
          <a:bodyPr wrap="square" lIns="0" tIns="0" rIns="0" bIns="0" rtlCol="0" anchor="t"/>
          <a:lstStyle/>
          <a:p>
            <a:pPr marL="0" indent="0">
              <a:buNone/>
            </a:pPr>
            <a:r>
              <a:rPr lang="en-US" sz="1800" b="1" dirty="0">
                <a:solidFill>
                  <a:srgbClr val="0F8B8D"/>
                </a:solidFill>
              </a:rPr>
              <a:t>Sampling — server borrows the LLM</a:t>
            </a:r>
            <a:endParaRPr lang="en-US" sz="1800" dirty="0"/>
          </a:p>
        </p:txBody>
      </p:sp>
      <p:sp>
        <p:nvSpPr>
          <p:cNvPr id="10" name="Text 7"/>
          <p:cNvSpPr txBox="1"/>
          <p:nvPr/>
        </p:nvSpPr>
        <p:spPr>
          <a:xfrm>
            <a:off x="6400800" y="2103120"/>
            <a:ext cx="5120640" cy="3703320"/>
          </a:xfrm>
          <a:prstGeom prst="rect">
            <a:avLst/>
          </a:prstGeom>
          <a:noFill/>
          <a:ln/>
        </p:spPr>
        <p:txBody>
          <a:bodyPr wrap="square" lIns="0" tIns="0" rIns="0" bIns="0" rtlCol="0" anchor="t"/>
          <a:lstStyle/>
          <a:p>
            <a:pPr marL="0" indent="0">
              <a:buNone/>
            </a:pPr>
            <a:r>
              <a:rPr lang="en-US" sz="1500" dirty="0">
                <a:solidFill>
                  <a:srgbClr val="1F2937"/>
                </a:solidFill>
              </a:rPr>
              <a:t>Tool: generate_student_feedback</a:t>
            </a:r>
            <a:endParaRPr lang="en-US" sz="1500" dirty="0"/>
          </a:p>
          <a:p>
            <a:pPr marL="0" indent="0">
              <a:buNone/>
            </a:pPr>
            <a:endParaRPr lang="en-US" sz="1500" dirty="0"/>
          </a:p>
          <a:p>
            <a:pPr marL="0" indent="0">
              <a:buNone/>
            </a:pPr>
            <a:r>
              <a:rPr lang="en-US" sz="1500" dirty="0">
                <a:solidFill>
                  <a:srgbClr val="1F2937"/>
                </a:solidFill>
              </a:rPr>
              <a:t>1. Server builds a prompt from the transcript</a:t>
            </a:r>
            <a:endParaRPr lang="en-US" sz="1500" dirty="0"/>
          </a:p>
          <a:p>
            <a:pPr marL="0" indent="0">
              <a:buNone/>
            </a:pPr>
            <a:r>
              <a:rPr lang="en-US" sz="1500" dirty="0">
                <a:solidFill>
                  <a:srgbClr val="1F2937"/>
                </a:solidFill>
              </a:rPr>
              <a:t>2. Server asks the HOST's model to write the text</a:t>
            </a:r>
            <a:endParaRPr lang="en-US" sz="1500" dirty="0"/>
          </a:p>
          <a:p>
            <a:pPr marL="0" indent="0">
              <a:buNone/>
            </a:pPr>
            <a:r>
              <a:rPr lang="en-US" sz="1500" dirty="0">
                <a:solidFill>
                  <a:srgbClr val="1F2937"/>
                </a:solidFill>
              </a:rPr>
              <a:t>3. Host decides which model and may refuse</a:t>
            </a:r>
            <a:endParaRPr lang="en-US" sz="1500" dirty="0"/>
          </a:p>
          <a:p>
            <a:pPr marL="0" indent="0">
              <a:buNone/>
            </a:pPr>
            <a:endParaRPr lang="en-US" sz="1500" dirty="0"/>
          </a:p>
          <a:p>
            <a:pPr marL="0" indent="0">
              <a:buNone/>
            </a:pPr>
            <a:r>
              <a:rPr lang="en-US" sz="1500" dirty="0">
                <a:solidFill>
                  <a:srgbClr val="1F2937"/>
                </a:solidFill>
              </a:rPr>
              <a:t>2025 era: server pushes elicitation/create · sampling/createMessage</a:t>
            </a:r>
            <a:endParaRPr lang="en-US" sz="1500" dirty="0"/>
          </a:p>
          <a:p>
            <a:pPr marL="0" indent="0">
              <a:buNone/>
            </a:pPr>
            <a:r>
              <a:rPr lang="en-US" sz="1500" dirty="0">
                <a:solidFill>
                  <a:srgbClr val="1F2937"/>
                </a:solidFill>
              </a:rPr>
              <a:t>2026 era: tool returns inputRequired(...), client answers and retries</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731520" y="1828800"/>
            <a:ext cx="2743200" cy="1097280"/>
          </a:xfrm>
          <a:prstGeom prst="rect">
            <a:avLst/>
          </a:prstGeom>
          <a:noFill/>
          <a:ln/>
        </p:spPr>
        <p:txBody>
          <a:bodyPr wrap="square" lIns="0" tIns="0" rIns="0" bIns="0" rtlCol="0" anchor="ctr"/>
          <a:lstStyle/>
          <a:p>
            <a:pPr marL="0" indent="0">
              <a:buNone/>
            </a:pPr>
            <a:r>
              <a:rPr lang="en-US" sz="7200" b="1" dirty="0">
                <a:solidFill>
                  <a:srgbClr val="0F8B8D"/>
                </a:solidFill>
              </a:rPr>
              <a:t>4</a:t>
            </a:r>
            <a:endParaRPr lang="en-US" sz="7200" dirty="0"/>
          </a:p>
        </p:txBody>
      </p:sp>
      <p:sp>
        <p:nvSpPr>
          <p:cNvPr id="3" name="Text 1"/>
          <p:cNvSpPr txBox="1"/>
          <p:nvPr/>
        </p:nvSpPr>
        <p:spPr>
          <a:xfrm>
            <a:off x="731520" y="2926080"/>
            <a:ext cx="10515600" cy="822960"/>
          </a:xfrm>
          <a:prstGeom prst="rect">
            <a:avLst/>
          </a:prstGeom>
          <a:noFill/>
          <a:ln/>
        </p:spPr>
        <p:txBody>
          <a:bodyPr wrap="square" lIns="0" tIns="0" rIns="0" bIns="0" rtlCol="0" anchor="ctr"/>
          <a:lstStyle/>
          <a:p>
            <a:pPr marL="0" indent="0">
              <a:buNone/>
            </a:pPr>
            <a:r>
              <a:rPr lang="en-US" sz="4000" b="1" dirty="0">
                <a:solidFill>
                  <a:srgbClr val="FFFFFF"/>
                </a:solidFill>
              </a:rPr>
              <a:t>Libraries</a:t>
            </a:r>
            <a:endParaRPr lang="en-US" sz="4000" dirty="0"/>
          </a:p>
        </p:txBody>
      </p:sp>
      <p:sp>
        <p:nvSpPr>
          <p:cNvPr id="4" name="Text 2"/>
          <p:cNvSpPr txBox="1"/>
          <p:nvPr/>
        </p:nvSpPr>
        <p:spPr>
          <a:xfrm>
            <a:off x="731520" y="3794760"/>
            <a:ext cx="10515600" cy="548640"/>
          </a:xfrm>
          <a:prstGeom prst="rect">
            <a:avLst/>
          </a:prstGeom>
          <a:noFill/>
          <a:ln/>
        </p:spPr>
        <p:txBody>
          <a:bodyPr wrap="square" lIns="0" tIns="0" rIns="0" bIns="0" rtlCol="0" anchor="ctr"/>
          <a:lstStyle/>
          <a:p>
            <a:pPr marL="0" indent="0">
              <a:buNone/>
            </a:pPr>
            <a:r>
              <a:rPr lang="en-US" sz="1800" dirty="0">
                <a:solidFill>
                  <a:srgbClr val="C9D3E6"/>
                </a:solidFill>
              </a:rPr>
              <a:t>MCP TypeScript SDK v2 and what we used around it</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marL="0" indent="0">
              <a:buNone/>
            </a:pPr>
            <a:r>
              <a:rPr lang="en-US" sz="1200" b="1" kern="0" spc="200" dirty="0">
                <a:solidFill>
                  <a:srgbClr val="0F8B8D"/>
                </a:solidFill>
              </a:rPr>
              <a:t>REQUIREMENT 4 · LIBRARIES</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marL="0" indent="0">
              <a:buNone/>
            </a:pPr>
            <a:r>
              <a:rPr lang="en-US" sz="3000" b="1" dirty="0">
                <a:solidFill>
                  <a:srgbClr val="1F2937"/>
                </a:solidFill>
              </a:rPr>
              <a:t>Libraries used</a:t>
            </a:r>
            <a:endParaRPr lang="en-US" sz="3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47120" cy="914400"/>
        </p:xfrm>
        <a:graphic>
          <a:graphicData uri="http://schemas.openxmlformats.org/drawingml/2006/table">
            <a:tbl>
              <a:tblPr/>
              <a:tblGrid>
                <a:gridCol w="356616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6492240">
                  <a:extLst>
                    <a:ext uri="{9D8B030D-6E8A-4147-A177-3AD203B41FA5}">
                      <a16:colId xmlns:a16="http://schemas.microsoft.com/office/drawing/2014/main" val="20002"/>
                    </a:ext>
                  </a:extLst>
                </a:gridCol>
              </a:tblGrid>
              <a:tr h="502920">
                <a:tc>
                  <a:txBody>
                    <a:bodyPr/>
                    <a:lstStyle/>
                    <a:p>
                      <a:pPr marL="0" indent="0">
                        <a:buNone/>
                      </a:pPr>
                      <a:r>
                        <a:rPr lang="en-US" sz="1300" b="1" dirty="0">
                          <a:solidFill>
                            <a:srgbClr val="FFFFFF"/>
                          </a:solidFill>
                        </a:rPr>
                        <a:t>Package</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rPr>
                        <a:t>Version</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rPr>
                        <a:t>Role in our project</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2920">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@modelcontextprotocol/server</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300" dirty="0">
                          <a:solidFill>
                            <a:srgbClr val="1F2937"/>
                          </a:solidFill>
                        </a:rPr>
                        <a:t>2.0</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rPr>
                        <a:t>Build MCP servers: McpServer, registerTool/Resource/Prompt, serveStdio, createMcpHandler</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@modelcontextprotocol/client</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300" dirty="0">
                          <a:solidFill>
                            <a:srgbClr val="1F2937"/>
                          </a:solidFill>
                        </a:rPr>
                        <a:t>2.0</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marL="0" indent="0">
                        <a:buNone/>
                      </a:pPr>
                      <a:r>
                        <a:rPr lang="en-US" sz="1300" dirty="0">
                          <a:solidFill>
                            <a:srgbClr val="1F2937"/>
                          </a:solidFill>
                        </a:rPr>
                        <a:t>Connect to servers from the host: Client, StdioClientTransport, StreamableHTTPClientTransport</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502920">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@modelcontextprotocol/node</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300" dirty="0">
                          <a:solidFill>
                            <a:srgbClr val="1F2937"/>
                          </a:solidFill>
                        </a:rPr>
                        <a:t>2.0</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rPr>
                        <a:t>Serve over node:http — toNodeHandler, localhost Host/Origin validation (403)</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zod</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300" dirty="0">
                          <a:solidFill>
                            <a:srgbClr val="1F2937"/>
                          </a:solidFill>
                        </a:rPr>
                        <a:t>4.2</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marL="0" indent="0">
                        <a:buNone/>
                      </a:pPr>
                      <a:r>
                        <a:rPr lang="en-US" sz="1300" dirty="0">
                          <a:solidFill>
                            <a:srgbClr val="1F2937"/>
                          </a:solidFill>
                        </a:rPr>
                        <a:t>Typed input/output schemas → JSON Schema the LLM reads; invalid args rejected</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r h="502920">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@google/genai</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300" dirty="0">
                          <a:solidFill>
                            <a:srgbClr val="1F2937"/>
                          </a:solidFill>
                        </a:rPr>
                        <a:t>2.23</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rPr>
                        <a:t>LLM #1: Gemini (cloud)</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openai</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300" dirty="0">
                          <a:solidFill>
                            <a:srgbClr val="1F2937"/>
                          </a:solidFill>
                        </a:rPr>
                        <a:t>7.20</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marL="0" indent="0">
                        <a:buNone/>
                      </a:pPr>
                      <a:r>
                        <a:rPr lang="en-US" sz="1300" dirty="0">
                          <a:solidFill>
                            <a:srgbClr val="1F2937"/>
                          </a:solidFill>
                        </a:rPr>
                        <a:t>LLM #2: Qwen3 4B through Ollama's OpenAI-compatible endpoint</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extLst>
                  <a:ext uri="{0D108BD9-81ED-4DB2-BD59-A6C34878D82A}">
                    <a16:rowId xmlns:a16="http://schemas.microsoft.com/office/drawing/2014/main" val="10006"/>
                  </a:ext>
                </a:extLst>
              </a:tr>
              <a:tr h="502920">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hono</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300" dirty="0">
                          <a:solidFill>
                            <a:srgbClr val="1F2937"/>
                          </a:solidFill>
                        </a:rPr>
                        <a:t>4.11</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rPr>
                        <a:t>Web framework used by the SDK's HTTP handler</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02920">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tsx · typescript</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300" dirty="0">
                          <a:solidFill>
                            <a:srgbClr val="1F2937"/>
                          </a:solidFill>
                        </a:rPr>
                        <a:t>4.23 · 5.9</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marL="0" indent="0">
                        <a:buNone/>
                      </a:pPr>
                      <a:r>
                        <a:rPr lang="en-US" sz="1300" dirty="0">
                          <a:solidFill>
                            <a:srgbClr val="1F2937"/>
                          </a:solidFill>
                        </a:rPr>
                        <a:t>Run TypeScript directly · type checking (dev)</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extLst>
                  <a:ext uri="{0D108BD9-81ED-4DB2-BD59-A6C34878D82A}">
                    <a16:rowId xmlns:a16="http://schemas.microsoft.com/office/drawing/2014/main" val="10008"/>
                  </a:ext>
                </a:extLst>
              </a:tr>
            </a:tbl>
          </a:graphicData>
        </a:graphic>
      </p:graphicFrame>
      <p:sp>
        <p:nvSpPr>
          <p:cNvPr id="6" name="Text 2"/>
          <p:cNvSpPr txBox="1"/>
          <p:nvPr/>
        </p:nvSpPr>
        <p:spPr>
          <a:xfrm>
            <a:off x="457200" y="5943600"/>
            <a:ext cx="11247120" cy="320040"/>
          </a:xfrm>
          <a:prstGeom prst="rect">
            <a:avLst/>
          </a:prstGeom>
          <a:noFill/>
          <a:ln/>
        </p:spPr>
        <p:txBody>
          <a:bodyPr wrap="square" lIns="0" tIns="0" rIns="0" bIns="0" rtlCol="0" anchor="ctr"/>
          <a:lstStyle/>
          <a:p>
            <a:pPr marL="0" indent="0">
              <a:buNone/>
            </a:pPr>
            <a:r>
              <a:rPr lang="en-US" sz="1300" dirty="0">
                <a:solidFill>
                  <a:srgbClr val="5B6475"/>
                </a:solidFill>
              </a:rPr>
              <a:t>Runtime: Node.js ≥ 20 (we use 24) · ES modules · Ollama 0.33 for the local model</a:t>
            </a:r>
            <a:endParaRPr lang="en-US" sz="13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marL="0" indent="0">
              <a:buNone/>
            </a:pPr>
            <a:r>
              <a:rPr lang="en-US" sz="1200" b="1" kern="0" spc="200" dirty="0">
                <a:solidFill>
                  <a:srgbClr val="0F8B8D"/>
                </a:solidFill>
              </a:rPr>
              <a:t>REQUIREMENT 4 · LIBRARIES</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marL="0" indent="0">
              <a:buNone/>
            </a:pPr>
            <a:r>
              <a:rPr lang="en-US" sz="3000" b="1" dirty="0">
                <a:solidFill>
                  <a:srgbClr val="1F2937"/>
                </a:solidFill>
              </a:rPr>
              <a:t>SDK v2 vs v1</a:t>
            </a:r>
            <a:endParaRPr lang="en-US" sz="3000" dirty="0"/>
          </a:p>
        </p:txBody>
      </p:sp>
      <p:sp>
        <p:nvSpPr>
          <p:cNvPr id="5" name="Shape 2"/>
          <p:cNvSpPr/>
          <p:nvPr/>
        </p:nvSpPr>
        <p:spPr>
          <a:xfrm>
            <a:off x="457200" y="1463040"/>
            <a:ext cx="5486400" cy="4206240"/>
          </a:xfrm>
          <a:prstGeom prst="roundRect">
            <a:avLst>
              <a:gd name="adj" fmla="val 1739"/>
            </a:avLst>
          </a:prstGeom>
          <a:solidFill>
            <a:srgbClr val="F1F1F1"/>
          </a:solidFill>
          <a:ln w="12700">
            <a:solidFill>
              <a:srgbClr val="F1F1F1"/>
            </a:solidFill>
            <a:prstDash val="solid"/>
          </a:ln>
        </p:spPr>
        <p:txBody>
          <a:bodyPr/>
          <a:lstStyle/>
          <a:p>
            <a:endParaRPr lang="en-VN"/>
          </a:p>
        </p:txBody>
      </p:sp>
      <p:sp>
        <p:nvSpPr>
          <p:cNvPr id="6" name="Text 3"/>
          <p:cNvSpPr txBox="1"/>
          <p:nvPr/>
        </p:nvSpPr>
        <p:spPr>
          <a:xfrm>
            <a:off x="640080" y="1600200"/>
            <a:ext cx="5120640" cy="457200"/>
          </a:xfrm>
          <a:prstGeom prst="rect">
            <a:avLst/>
          </a:prstGeom>
          <a:noFill/>
          <a:ln/>
        </p:spPr>
        <p:txBody>
          <a:bodyPr wrap="square" lIns="0" tIns="0" rIns="0" bIns="0" rtlCol="0" anchor="t"/>
          <a:lstStyle/>
          <a:p>
            <a:pPr marL="0" indent="0">
              <a:buNone/>
            </a:pPr>
            <a:r>
              <a:rPr lang="en-US" sz="1800" b="1" dirty="0">
                <a:solidFill>
                  <a:srgbClr val="5B6475"/>
                </a:solidFill>
              </a:rPr>
              <a:t>SDK v1 (legacy)</a:t>
            </a:r>
            <a:endParaRPr lang="en-US" sz="1800" dirty="0"/>
          </a:p>
        </p:txBody>
      </p:sp>
      <p:sp>
        <p:nvSpPr>
          <p:cNvPr id="7" name="Text 4"/>
          <p:cNvSpPr txBox="1"/>
          <p:nvPr/>
        </p:nvSpPr>
        <p:spPr>
          <a:xfrm>
            <a:off x="640080" y="2103120"/>
            <a:ext cx="5120640" cy="3429000"/>
          </a:xfrm>
          <a:prstGeom prst="rect">
            <a:avLst/>
          </a:prstGeom>
          <a:noFill/>
          <a:ln/>
        </p:spPr>
        <p:txBody>
          <a:bodyPr wrap="square" lIns="0" tIns="0" rIns="0" bIns="0" rtlCol="0" anchor="t"/>
          <a:lstStyle/>
          <a:p>
            <a:pPr marL="0" indent="0">
              <a:buNone/>
            </a:pPr>
            <a:r>
              <a:rPr lang="en-US" sz="1700" dirty="0">
                <a:solidFill>
                  <a:srgbClr val="1F2937"/>
                </a:solidFill>
              </a:rPr>
              <a:t>• One package: @modelcontextprotocol/sdk</a:t>
            </a:r>
            <a:endParaRPr lang="en-US" sz="1700" dirty="0"/>
          </a:p>
          <a:p>
            <a:pPr marL="0" indent="0">
              <a:buNone/>
            </a:pPr>
            <a:r>
              <a:rPr lang="en-US" sz="1700" dirty="0">
                <a:solidFill>
                  <a:srgbClr val="1F2937"/>
                </a:solidFill>
              </a:rPr>
              <a:t>• Spec 2025 only: initialize handshake, stateful sessions</a:t>
            </a:r>
            <a:endParaRPr lang="en-US" sz="1700" dirty="0"/>
          </a:p>
          <a:p>
            <a:pPr marL="0" indent="0">
              <a:buNone/>
            </a:pPr>
            <a:r>
              <a:rPr lang="en-US" sz="1700" dirty="0">
                <a:solidFill>
                  <a:srgbClr val="1F2937"/>
                </a:solidFill>
              </a:rPr>
              <a:t>• One server instance wired to one transport</a:t>
            </a:r>
            <a:endParaRPr lang="en-US" sz="1700" dirty="0"/>
          </a:p>
        </p:txBody>
      </p:sp>
      <p:sp>
        <p:nvSpPr>
          <p:cNvPr id="8" name="Shape 5"/>
          <p:cNvSpPr/>
          <p:nvPr/>
        </p:nvSpPr>
        <p:spPr>
          <a:xfrm>
            <a:off x="6217920" y="1463040"/>
            <a:ext cx="5486400" cy="4206240"/>
          </a:xfrm>
          <a:prstGeom prst="roundRect">
            <a:avLst>
              <a:gd name="adj" fmla="val 1739"/>
            </a:avLst>
          </a:prstGeom>
          <a:solidFill>
            <a:srgbClr val="DDF3F1"/>
          </a:solidFill>
          <a:ln w="12700">
            <a:solidFill>
              <a:srgbClr val="DDF3F1"/>
            </a:solidFill>
            <a:prstDash val="solid"/>
          </a:ln>
        </p:spPr>
        <p:txBody>
          <a:bodyPr/>
          <a:lstStyle/>
          <a:p>
            <a:endParaRPr lang="en-VN"/>
          </a:p>
        </p:txBody>
      </p:sp>
      <p:sp>
        <p:nvSpPr>
          <p:cNvPr id="9" name="Text 6"/>
          <p:cNvSpPr txBox="1"/>
          <p:nvPr/>
        </p:nvSpPr>
        <p:spPr>
          <a:xfrm>
            <a:off x="6400800" y="1600200"/>
            <a:ext cx="5120640" cy="457200"/>
          </a:xfrm>
          <a:prstGeom prst="rect">
            <a:avLst/>
          </a:prstGeom>
          <a:noFill/>
          <a:ln/>
        </p:spPr>
        <p:txBody>
          <a:bodyPr wrap="square" lIns="0" tIns="0" rIns="0" bIns="0" rtlCol="0" anchor="t"/>
          <a:lstStyle/>
          <a:p>
            <a:pPr marL="0" indent="0">
              <a:buNone/>
            </a:pPr>
            <a:r>
              <a:rPr lang="en-US" sz="1800" b="1" dirty="0">
                <a:solidFill>
                  <a:srgbClr val="0F8B8D"/>
                </a:solidFill>
              </a:rPr>
              <a:t>SDK v2 (what we use)</a:t>
            </a:r>
            <a:endParaRPr lang="en-US" sz="1800" dirty="0"/>
          </a:p>
        </p:txBody>
      </p:sp>
      <p:sp>
        <p:nvSpPr>
          <p:cNvPr id="10" name="Text 7"/>
          <p:cNvSpPr txBox="1"/>
          <p:nvPr/>
        </p:nvSpPr>
        <p:spPr>
          <a:xfrm>
            <a:off x="6400800" y="2103120"/>
            <a:ext cx="5120640" cy="3429000"/>
          </a:xfrm>
          <a:prstGeom prst="rect">
            <a:avLst/>
          </a:prstGeom>
          <a:noFill/>
          <a:ln/>
        </p:spPr>
        <p:txBody>
          <a:bodyPr wrap="square" lIns="0" tIns="0" rIns="0" bIns="0" rtlCol="0" anchor="t"/>
          <a:lstStyle/>
          <a:p>
            <a:pPr marL="0" indent="0">
              <a:buNone/>
            </a:pPr>
            <a:r>
              <a:rPr lang="en-US" sz="1700" dirty="0">
                <a:solidFill>
                  <a:srgbClr val="1F2937"/>
                </a:solidFill>
              </a:rPr>
              <a:t>• Split packages: /server, /client, /node (+ express, hono adapters)</a:t>
            </a:r>
            <a:endParaRPr lang="en-US" sz="1700" dirty="0"/>
          </a:p>
          <a:p>
            <a:pPr marL="0" indent="0">
              <a:buNone/>
            </a:pPr>
            <a:r>
              <a:rPr lang="en-US" sz="1700" dirty="0">
                <a:solidFill>
                  <a:srgbClr val="1F2937"/>
                </a:solidFill>
              </a:rPr>
              <a:t>• Spec 2026-07-28 (server/discover, stateless) AND still serves 2025 clients</a:t>
            </a:r>
            <a:endParaRPr lang="en-US" sz="1700" dirty="0"/>
          </a:p>
          <a:p>
            <a:pPr marL="0" indent="0">
              <a:buNone/>
            </a:pPr>
            <a:r>
              <a:rPr lang="en-US" sz="1700" dirty="0">
                <a:solidFill>
                  <a:srgbClr val="1F2937"/>
                </a:solidFill>
              </a:rPr>
              <a:t>• Server = factory(ctx) → McpServer, called per connection; ctx.era tells the protocol</a:t>
            </a:r>
            <a:endParaRPr lang="en-US" sz="1700" dirty="0"/>
          </a:p>
          <a:p>
            <a:pPr marL="0" indent="0">
              <a:buNone/>
            </a:pPr>
            <a:r>
              <a:rPr lang="en-US" sz="1700" dirty="0">
                <a:solidFill>
                  <a:srgbClr val="1F2937"/>
                </a:solidFill>
              </a:rPr>
              <a:t>• Zod v4 / Standard Schema for validation</a:t>
            </a:r>
            <a:endParaRPr lang="en-US" sz="17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731520" y="1828800"/>
            <a:ext cx="2743200" cy="1097280"/>
          </a:xfrm>
          <a:prstGeom prst="rect">
            <a:avLst/>
          </a:prstGeom>
          <a:noFill/>
          <a:ln/>
        </p:spPr>
        <p:txBody>
          <a:bodyPr wrap="square" lIns="0" tIns="0" rIns="0" bIns="0" rtlCol="0" anchor="ctr"/>
          <a:lstStyle/>
          <a:p>
            <a:pPr marL="0" indent="0">
              <a:buNone/>
            </a:pPr>
            <a:r>
              <a:rPr lang="en-US" sz="7200" b="1" dirty="0">
                <a:solidFill>
                  <a:srgbClr val="0F8B8D"/>
                </a:solidFill>
              </a:rPr>
              <a:t>5</a:t>
            </a:r>
            <a:endParaRPr lang="en-US" sz="7200" dirty="0"/>
          </a:p>
        </p:txBody>
      </p:sp>
      <p:sp>
        <p:nvSpPr>
          <p:cNvPr id="3" name="Text 1"/>
          <p:cNvSpPr txBox="1"/>
          <p:nvPr/>
        </p:nvSpPr>
        <p:spPr>
          <a:xfrm>
            <a:off x="731520" y="2926080"/>
            <a:ext cx="10515600" cy="822960"/>
          </a:xfrm>
          <a:prstGeom prst="rect">
            <a:avLst/>
          </a:prstGeom>
          <a:noFill/>
          <a:ln/>
        </p:spPr>
        <p:txBody>
          <a:bodyPr wrap="square" lIns="0" tIns="0" rIns="0" bIns="0" rtlCol="0" anchor="ctr"/>
          <a:lstStyle/>
          <a:p>
            <a:pPr marL="0" indent="0">
              <a:buNone/>
            </a:pPr>
            <a:r>
              <a:rPr lang="en-US" sz="4000" b="1" dirty="0">
                <a:solidFill>
                  <a:srgbClr val="FFFFFF"/>
                </a:solidFill>
              </a:rPr>
              <a:t>Input / Output</a:t>
            </a:r>
            <a:endParaRPr lang="en-US" sz="4000" dirty="0"/>
          </a:p>
        </p:txBody>
      </p:sp>
      <p:sp>
        <p:nvSpPr>
          <p:cNvPr id="4" name="Text 2"/>
          <p:cNvSpPr txBox="1"/>
          <p:nvPr/>
        </p:nvSpPr>
        <p:spPr>
          <a:xfrm>
            <a:off x="731520" y="3794760"/>
            <a:ext cx="10515600" cy="548640"/>
          </a:xfrm>
          <a:prstGeom prst="rect">
            <a:avLst/>
          </a:prstGeom>
          <a:noFill/>
          <a:ln/>
        </p:spPr>
        <p:txBody>
          <a:bodyPr wrap="square" lIns="0" tIns="0" rIns="0" bIns="0" rtlCol="0" anchor="ctr"/>
          <a:lstStyle/>
          <a:p>
            <a:pPr marL="0" indent="0">
              <a:buNone/>
            </a:pPr>
            <a:r>
              <a:rPr lang="en-US" sz="1800" dirty="0">
                <a:solidFill>
                  <a:srgbClr val="C9D3E6"/>
                </a:solidFill>
              </a:rPr>
              <a:t>Every SDK method we use, and all 13 tools</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marL="0" indent="0">
              <a:buNone/>
            </a:pPr>
            <a:r>
              <a:rPr lang="en-US" sz="1200" b="1" kern="0" spc="200" dirty="0">
                <a:solidFill>
                  <a:srgbClr val="0F8B8D"/>
                </a:solidFill>
              </a:rPr>
              <a:t>REQUIREMENT 5 · INPUT / OUTPUT</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marL="0" indent="0">
              <a:buNone/>
            </a:pPr>
            <a:r>
              <a:rPr lang="en-US" sz="3000" b="1" dirty="0">
                <a:solidFill>
                  <a:srgbClr val="1F2937"/>
                </a:solidFill>
              </a:rPr>
              <a:t>SDK methods — server side</a:t>
            </a:r>
            <a:endParaRPr lang="en-US" sz="30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47120" cy="914400"/>
        </p:xfrm>
        <a:graphic>
          <a:graphicData uri="http://schemas.openxmlformats.org/drawingml/2006/table">
            <a:tbl>
              <a:tblPr/>
              <a:tblGrid>
                <a:gridCol w="402336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3017520">
                  <a:extLst>
                    <a:ext uri="{9D8B030D-6E8A-4147-A177-3AD203B41FA5}">
                      <a16:colId xmlns:a16="http://schemas.microsoft.com/office/drawing/2014/main" val="20002"/>
                    </a:ext>
                  </a:extLst>
                </a:gridCol>
              </a:tblGrid>
              <a:tr h="548640">
                <a:tc>
                  <a:txBody>
                    <a:bodyPr/>
                    <a:lstStyle/>
                    <a:p>
                      <a:pPr marL="0" indent="0">
                        <a:buNone/>
                      </a:pPr>
                      <a:r>
                        <a:rPr lang="en-US" sz="1200" b="1" dirty="0">
                          <a:solidFill>
                            <a:srgbClr val="FFFFFF"/>
                          </a:solidFill>
                        </a:rPr>
                        <a:t>Method</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rPr>
                        <a:t>Input</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rPr>
                        <a:t>Output</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48640">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new McpServer(info, options)</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200" dirty="0">
                          <a:solidFill>
                            <a:srgbClr val="1F2937"/>
                          </a:solidFill>
                        </a:rPr>
                        <a:t>{name, version, title} · {instructions, capabilities, cacheHints}</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200" dirty="0">
                          <a:solidFill>
                            <a:srgbClr val="1F2937"/>
                          </a:solidFill>
                        </a:rPr>
                        <a:t>McpServer</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server.registerTool(name, config, handler)</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200" dirty="0">
                          <a:solidFill>
                            <a:srgbClr val="1F2937"/>
                          </a:solidFill>
                        </a:rPr>
                        <a:t>config: {description, inputSchema, outputSchema, annotations} · handler(args, ctx)</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marL="0" indent="0">
                        <a:buNone/>
                      </a:pPr>
                      <a:r>
                        <a:rPr lang="en-US" sz="1200" dirty="0">
                          <a:solidFill>
                            <a:srgbClr val="1F2937"/>
                          </a:solidFill>
                        </a:rPr>
                        <a:t>RegisteredTool; handler → {content[], structuredContent?, isError?}</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548640">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server.registerResource(name, uri | ResourceTemplate, meta, read)</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200" dirty="0">
                          <a:solidFill>
                            <a:srgbClr val="1F2937"/>
                          </a:solidFill>
                        </a:rPr>
                        <a:t>fixed URI or pattern academic://students/{student_id}</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200" dirty="0">
                          <a:solidFill>
                            <a:srgbClr val="1F2937"/>
                          </a:solidFill>
                        </a:rPr>
                        <a:t>read → {contents: [{uri, mimeType, text}]}</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server.registerPrompt(name, config, cb)</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200" dirty="0">
                          <a:solidFill>
                            <a:srgbClr val="1F2937"/>
                          </a:solidFill>
                        </a:rPr>
                        <a:t>config: {description, argsSchema}</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marL="0" indent="0">
                        <a:buNone/>
                      </a:pPr>
                      <a:r>
                        <a:rPr lang="en-US" sz="1200" dirty="0">
                          <a:solidFill>
                            <a:srgbClr val="1F2937"/>
                          </a:solidFill>
                        </a:rPr>
                        <a:t>cb → {messages: [{role, content}]}</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r h="548640">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completable(schema, fn)</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200" dirty="0">
                          <a:solidFill>
                            <a:srgbClr val="1F2937"/>
                          </a:solidFill>
                        </a:rPr>
                        <a:t>Zod field + suggestion function</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200" dirty="0">
                          <a:solidFill>
                            <a:srgbClr val="1F2937"/>
                          </a:solidFill>
                        </a:rPr>
                        <a:t>Zod field with autocompletion</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serveStdio(factory)</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200" dirty="0">
                          <a:solidFill>
                            <a:srgbClr val="1F2937"/>
                          </a:solidFill>
                        </a:rPr>
                        <a:t>factory(ctx) → McpServer</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marL="0" indent="0">
                        <a:buNone/>
                      </a:pPr>
                      <a:r>
                        <a:rPr lang="en-US" sz="1200" dirty="0">
                          <a:solidFill>
                            <a:srgbClr val="1F2937"/>
                          </a:solidFill>
                        </a:rPr>
                        <a:t>stdio server (one instance per connection)</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extLst>
                  <a:ext uri="{0D108BD9-81ED-4DB2-BD59-A6C34878D82A}">
                    <a16:rowId xmlns:a16="http://schemas.microsoft.com/office/drawing/2014/main" val="10006"/>
                  </a:ext>
                </a:extLst>
              </a:tr>
              <a:tr h="548640">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createMcpHandler(factory)</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200" dirty="0">
                          <a:solidFill>
                            <a:srgbClr val="1F2937"/>
                          </a:solidFill>
                        </a:rPr>
                        <a:t>same factory</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200" dirty="0">
                          <a:solidFill>
                            <a:srgbClr val="1F2937"/>
                          </a:solidFill>
                        </a:rPr>
                        <a:t>{fetch, notify, close} for HTTP</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marL="0" indent="0">
              <a:buNone/>
            </a:pPr>
            <a:r>
              <a:rPr lang="en-US" sz="1200" b="1" kern="0" spc="200" dirty="0">
                <a:solidFill>
                  <a:srgbClr val="0F8B8D"/>
                </a:solidFill>
              </a:rPr>
              <a:t>REQUIREMENT 5 · INPUT / OUTPUT</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marL="0" indent="0">
              <a:buNone/>
            </a:pPr>
            <a:r>
              <a:rPr lang="en-US" sz="3000" b="1" dirty="0">
                <a:solidFill>
                  <a:srgbClr val="1F2937"/>
                </a:solidFill>
              </a:rPr>
              <a:t>SDK methods — client side</a:t>
            </a:r>
            <a:endParaRPr lang="en-US" sz="30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47120" cy="914400"/>
        </p:xfrm>
        <a:graphic>
          <a:graphicData uri="http://schemas.openxmlformats.org/drawingml/2006/table">
            <a:tbl>
              <a:tblPr/>
              <a:tblGrid>
                <a:gridCol w="384048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548640">
                <a:tc>
                  <a:txBody>
                    <a:bodyPr/>
                    <a:lstStyle/>
                    <a:p>
                      <a:pPr marL="0" indent="0">
                        <a:buNone/>
                      </a:pPr>
                      <a:r>
                        <a:rPr lang="en-US" sz="1200" b="1" dirty="0">
                          <a:solidFill>
                            <a:srgbClr val="FFFFFF"/>
                          </a:solidFill>
                        </a:rPr>
                        <a:t>Method</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rPr>
                        <a:t>Input</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rPr>
                        <a:t>Output</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48640">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new Client(info, options)</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200" dirty="0">
                          <a:solidFill>
                            <a:srgbClr val="1F2937"/>
                          </a:solidFill>
                        </a:rPr>
                        <a:t>{name, version} · {capabilities, versionNegotiation: auto | pin}</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200" dirty="0">
                          <a:solidFill>
                            <a:srgbClr val="1F2937"/>
                          </a:solidFill>
                        </a:rPr>
                        <a:t>Client</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client.connect(transport)</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200" dirty="0">
                          <a:solidFill>
                            <a:srgbClr val="1F2937"/>
                          </a:solidFill>
                        </a:rPr>
                        <a:t>StdioClientTransport({command, args}) or StreamableHTTPClientTransport(url)</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marL="0" indent="0">
                        <a:buNone/>
                      </a:pPr>
                      <a:r>
                        <a:rPr lang="en-US" sz="1200" dirty="0">
                          <a:solidFill>
                            <a:srgbClr val="1F2937"/>
                          </a:solidFill>
                        </a:rPr>
                        <a:t>Promise&lt;void&gt; — 2 / 1 / 0 requests (2025 / 2026 / cached)</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548640">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client.listTools()</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200" dirty="0">
                          <a:solidFill>
                            <a:srgbClr val="1F2937"/>
                          </a:solidFill>
                        </a:rPr>
                        <a:t>—</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200" dirty="0">
                          <a:solidFill>
                            <a:srgbClr val="1F2937"/>
                          </a:solidFill>
                        </a:rPr>
                        <a:t>{tools: [{name, description, inputSchema, outputSchema}]}</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client.callTool({name, arguments}, options)</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200" dirty="0">
                          <a:solidFill>
                            <a:srgbClr val="1F2937"/>
                          </a:solidFill>
                        </a:rPr>
                        <a:t>options: {timeout, onprogress, signal}</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marL="0" indent="0">
                        <a:buNone/>
                      </a:pPr>
                      <a:r>
                        <a:rPr lang="en-US" sz="1200" dirty="0">
                          <a:solidFill>
                            <a:srgbClr val="1F2937"/>
                          </a:solidFill>
                        </a:rPr>
                        <a:t>{content[], structuredContent?, isError?}</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r h="548640">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client.readResource({uri})</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200" dirty="0">
                          <a:solidFill>
                            <a:srgbClr val="1F2937"/>
                          </a:solidFill>
                        </a:rPr>
                        <a:t>resource URI</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200" dirty="0">
                          <a:solidFill>
                            <a:srgbClr val="1F2937"/>
                          </a:solidFill>
                        </a:rPr>
                        <a:t>{contents[]} · not found → ProtocolError -32602</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client.getPrompt({name, arguments})</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200" dirty="0">
                          <a:solidFill>
                            <a:srgbClr val="1F2937"/>
                          </a:solidFill>
                        </a:rPr>
                        <a:t>prompt name + args</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marL="0" indent="0">
                        <a:buNone/>
                      </a:pPr>
                      <a:r>
                        <a:rPr lang="en-US" sz="1200" dirty="0">
                          <a:solidFill>
                            <a:srgbClr val="1F2937"/>
                          </a:solidFill>
                        </a:rPr>
                        <a:t>{messages[]}</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extLst>
                  <a:ext uri="{0D108BD9-81ED-4DB2-BD59-A6C34878D82A}">
                    <a16:rowId xmlns:a16="http://schemas.microsoft.com/office/drawing/2014/main" val="10006"/>
                  </a:ext>
                </a:extLst>
              </a:tr>
              <a:tr h="548640">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client.setRequestHandler(method, h)</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200" dirty="0">
                          <a:solidFill>
                            <a:srgbClr val="1F2937"/>
                          </a:solidFill>
                        </a:rPr>
                        <a:t>'elicitation/create' | 'sampling/createMessage'</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200" dirty="0">
                          <a:solidFill>
                            <a:srgbClr val="1F2937"/>
                          </a:solidFill>
                        </a:rPr>
                        <a:t>answer to the server's question</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r"/>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marL="0" indent="0">
              <a:buNone/>
            </a:pPr>
            <a:r>
              <a:rPr lang="en-US" sz="1200" b="1" kern="0" spc="200" dirty="0">
                <a:solidFill>
                  <a:srgbClr val="0F8B8D"/>
                </a:solidFill>
              </a:rPr>
              <a:t>REQUIREMENT 5 · INPUT / OUTPUT</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marL="0" indent="0">
              <a:buNone/>
            </a:pPr>
            <a:r>
              <a:rPr lang="en-US" sz="3000" b="1" dirty="0">
                <a:solidFill>
                  <a:srgbClr val="1F2937"/>
                </a:solidFill>
              </a:rPr>
              <a:t>Our tools — academic server (10)</a:t>
            </a:r>
            <a:endParaRPr lang="en-US" sz="30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47120" cy="914400"/>
        </p:xfrm>
        <a:graphic>
          <a:graphicData uri="http://schemas.openxmlformats.org/drawingml/2006/table">
            <a:tbl>
              <a:tblPr/>
              <a:tblGrid>
                <a:gridCol w="3017520">
                  <a:extLst>
                    <a:ext uri="{9D8B030D-6E8A-4147-A177-3AD203B41FA5}">
                      <a16:colId xmlns:a16="http://schemas.microsoft.com/office/drawing/2014/main" val="20000"/>
                    </a:ext>
                  </a:extLst>
                </a:gridCol>
                <a:gridCol w="484632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429768">
                <a:tc>
                  <a:txBody>
                    <a:bodyPr/>
                    <a:lstStyle/>
                    <a:p>
                      <a:pPr marL="0" indent="0">
                        <a:buNone/>
                      </a:pPr>
                      <a:r>
                        <a:rPr lang="en-US" sz="1200" b="1" dirty="0">
                          <a:solidFill>
                            <a:srgbClr val="FFFFFF"/>
                          </a:solidFill>
                        </a:rPr>
                        <a:t>Tool</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rPr>
                        <a:t>Input</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rPr>
                        <a:t>Output</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429768">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search_students</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200" dirty="0">
                          <a:solidFill>
                            <a:srgbClr val="1F2937"/>
                          </a:solidFill>
                        </a:rPr>
                        <a:t>keyword?, class_id?, faculty?, limit (≤ 50)</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200" dirty="0">
                          <a:solidFill>
                            <a:srgbClr val="1F2937"/>
                          </a:solidFill>
                        </a:rPr>
                        <a:t>total_matches, students[]</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9768">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get_transcript</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200" dirty="0">
                          <a:solidFill>
                            <a:srgbClr val="1F2937"/>
                          </a:solidFill>
                        </a:rPr>
                        <a:t>student_id, semester?</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marL="0" indent="0">
                        <a:buNone/>
                      </a:pPr>
                      <a:r>
                        <a:rPr lang="en-US" sz="1200" dirty="0">
                          <a:solidFill>
                            <a:srgbClr val="1F2937"/>
                          </a:solidFill>
                        </a:rPr>
                        <a:t>courses[] with total, letter, point</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429768">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calculate_gpa</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200" dirty="0">
                          <a:solidFill>
                            <a:srgbClr val="1F2937"/>
                          </a:solidFill>
                        </a:rPr>
                        <a:t>student_id, semester?</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200" dirty="0">
                          <a:solidFill>
                            <a:srgbClr val="1F2937"/>
                          </a:solidFill>
                        </a:rPr>
                        <a:t>gpa, classification, credits</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9768">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class_statistics</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200" dirty="0">
                          <a:solidFill>
                            <a:srgbClr val="1F2937"/>
                          </a:solidFill>
                        </a:rPr>
                        <a:t>class_id, course_id?, semester?</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marL="0" indent="0">
                        <a:buNone/>
                      </a:pPr>
                      <a:r>
                        <a:rPr lang="en-US" sz="1200" dirty="0">
                          <a:solidFill>
                            <a:srgbClr val="1F2937"/>
                          </a:solidFill>
                        </a:rPr>
                        <a:t>average, pass_rate, letter distribution, avg GPA</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r h="429768">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rank_students</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200" dirty="0">
                          <a:solidFill>
                            <a:srgbClr val="1F2937"/>
                          </a:solidFill>
                        </a:rPr>
                        <a:t>scope (class|faculty|all), value?, semester?, top</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200" dirty="0">
                          <a:solidFill>
                            <a:srgbClr val="1F2937"/>
                          </a:solidFill>
                        </a:rPr>
                        <a:t>ranking[] (reports progress)</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9768">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update_grade</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200" dirty="0">
                          <a:solidFill>
                            <a:srgbClr val="1F2937"/>
                          </a:solidFill>
                        </a:rPr>
                        <a:t>student_id, course_id, semester, process_score?, final_score?</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marL="0" indent="0">
                        <a:buNone/>
                      </a:pPr>
                      <a:r>
                        <a:rPr lang="en-US" sz="1200" dirty="0">
                          <a:solidFill>
                            <a:srgbClr val="1F2937"/>
                          </a:solidFill>
                        </a:rPr>
                        <a:t>old → new · asks user to confirm</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extLst>
                  <a:ext uri="{0D108BD9-81ED-4DB2-BD59-A6C34878D82A}">
                    <a16:rowId xmlns:a16="http://schemas.microsoft.com/office/drawing/2014/main" val="10006"/>
                  </a:ext>
                </a:extLst>
              </a:tr>
              <a:tr h="429768">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generate_student_feedback</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200" dirty="0">
                          <a:solidFill>
                            <a:srgbClr val="1F2937"/>
                          </a:solidFill>
                        </a:rPr>
                        <a:t>student_id, tone (encouraging|formal)</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200" dirty="0">
                          <a:solidFill>
                            <a:srgbClr val="1F2937"/>
                          </a:solidFill>
                        </a:rPr>
                        <a:t>feedback text (via sampling)</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29768">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list_tables</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200" dirty="0">
                          <a:solidFill>
                            <a:srgbClr val="1F2937"/>
                          </a:solidFill>
                        </a:rPr>
                        <a:t>—</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marL="0" indent="0">
                        <a:buNone/>
                      </a:pPr>
                      <a:r>
                        <a:rPr lang="en-US" sz="1200" dirty="0">
                          <a:solidFill>
                            <a:srgbClr val="1F2937"/>
                          </a:solidFill>
                        </a:rPr>
                        <a:t>tables[] with row counts</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extLst>
                  <a:ext uri="{0D108BD9-81ED-4DB2-BD59-A6C34878D82A}">
                    <a16:rowId xmlns:a16="http://schemas.microsoft.com/office/drawing/2014/main" val="10008"/>
                  </a:ext>
                </a:extLst>
              </a:tr>
              <a:tr h="429768">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describe_table</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200" dirty="0">
                          <a:solidFill>
                            <a:srgbClr val="1F2937"/>
                          </a:solidFill>
                        </a:rPr>
                        <a:t>table</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200" dirty="0">
                          <a:solidFill>
                            <a:srgbClr val="1F2937"/>
                          </a:solidFill>
                        </a:rPr>
                        <a:t>columns, types, sample rows</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429768">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query_table</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200" dirty="0">
                          <a:solidFill>
                            <a:srgbClr val="1F2937"/>
                          </a:solidFill>
                        </a:rPr>
                        <a:t>table, filters[] {column, operator, value}, columns?</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marL="0" indent="0">
                        <a:buNone/>
                      </a:pPr>
                      <a:r>
                        <a:rPr lang="en-US" sz="1200" dirty="0">
                          <a:solidFill>
                            <a:srgbClr val="1F2937"/>
                          </a:solidFill>
                        </a:rPr>
                        <a:t>matching rows</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extLst>
                  <a:ext uri="{0D108BD9-81ED-4DB2-BD59-A6C34878D82A}">
                    <a16:rowId xmlns:a16="http://schemas.microsoft.com/office/drawing/2014/main" val="10010"/>
                  </a:ext>
                </a:extLst>
              </a:tr>
            </a:tbl>
          </a:graphicData>
        </a:graphic>
      </p:graphicFrame>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r"/>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marL="0" indent="0">
              <a:buNone/>
            </a:pPr>
            <a:r>
              <a:rPr lang="en-US" sz="1200" b="1" kern="0" spc="200" dirty="0">
                <a:solidFill>
                  <a:srgbClr val="0F8B8D"/>
                </a:solidFill>
              </a:rPr>
              <a:t>REQUIREMENT 5 · INPUT / OUTPUT</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marL="0" indent="0">
              <a:buNone/>
            </a:pPr>
            <a:r>
              <a:rPr lang="en-US" sz="3000" b="1" dirty="0">
                <a:solidFill>
                  <a:srgbClr val="1F2937"/>
                </a:solidFill>
              </a:rPr>
              <a:t>Our tools — utility server (3), resources and prompts</a:t>
            </a:r>
            <a:endParaRPr lang="en-US" sz="30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11247120" cy="914400"/>
        </p:xfrm>
        <a:graphic>
          <a:graphicData uri="http://schemas.openxmlformats.org/drawingml/2006/table">
            <a:tbl>
              <a:tblPr/>
              <a:tblGrid>
                <a:gridCol w="27432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0">
                <a:tc>
                  <a:txBody>
                    <a:bodyPr/>
                    <a:lstStyle/>
                    <a:p>
                      <a:pPr marL="0" indent="0">
                        <a:buNone/>
                      </a:pPr>
                      <a:r>
                        <a:rPr lang="en-US" sz="1300" b="1" dirty="0">
                          <a:solidFill>
                            <a:srgbClr val="FFFFFF"/>
                          </a:solidFill>
                        </a:rPr>
                        <a:t>Tool (utility)</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rPr>
                        <a:t>Input</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rPr>
                        <a:t>Output</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0">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get_current_time</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300" dirty="0">
                          <a:solidFill>
                            <a:srgbClr val="1F2937"/>
                          </a:solidFill>
                        </a:rPr>
                        <a:t>timezone (default Asia/Ho_Chi_Minh)</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rPr>
                        <a:t>date, time, current_semester</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convert_score</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300" dirty="0">
                          <a:solidFill>
                            <a:srgbClr val="1F2937"/>
                          </a:solidFill>
                        </a:rPr>
                        <a:t>score 0–10</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marL="0" indent="0">
                        <a:buNone/>
                      </a:pPr>
                      <a:r>
                        <a:rPr lang="en-US" sz="1300" dirty="0">
                          <a:solidFill>
                            <a:srgbClr val="1F2937"/>
                          </a:solidFill>
                        </a:rPr>
                        <a:t>letter, point</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0">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save_report</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300" dirty="0">
                          <a:solidFill>
                            <a:srgbClr val="1F2937"/>
                          </a:solidFill>
                        </a:rPr>
                        <a:t>filename, content, format (md|csv)</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rPr>
                        <a:t>saved path · asks before overwrite</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graphicFrame>
        <p:nvGraphicFramePr>
          <p:cNvPr id="65" name="Table 1"/>
          <p:cNvGraphicFramePr>
            <a:graphicFrameLocks noGrp="1"/>
          </p:cNvGraphicFramePr>
          <p:nvPr>
            <p:extLst>
              <p:ext uri="{D42A27DB-BD31-4B8C-83A1-F6EECF244321}">
                <p14:modId xmlns:p14="http://schemas.microsoft.com/office/powerpoint/2010/main" val="1579011935"/>
              </p:ext>
            </p:extLst>
          </p:nvPr>
        </p:nvGraphicFramePr>
        <p:xfrm>
          <a:off x="457200" y="3246120"/>
          <a:ext cx="6766560" cy="914400"/>
        </p:xfrm>
        <a:graphic>
          <a:graphicData uri="http://schemas.openxmlformats.org/drawingml/2006/table">
            <a:tbl>
              <a:tblPr/>
              <a:tblGrid>
                <a:gridCol w="402336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tblGrid>
              <a:tr h="0">
                <a:tc>
                  <a:txBody>
                    <a:bodyPr/>
                    <a:lstStyle/>
                    <a:p>
                      <a:pPr marL="0" indent="0">
                        <a:buNone/>
                      </a:pPr>
                      <a:r>
                        <a:rPr lang="en-US" sz="1200" b="1" dirty="0">
                          <a:solidFill>
                            <a:srgbClr val="FFFFFF"/>
                          </a:solidFill>
                        </a:rPr>
                        <a:t>Resource URI</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rPr>
                        <a:t>Content</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0">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academic://rules/grading</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200" dirty="0">
                          <a:solidFill>
                            <a:srgbClr val="1F2937"/>
                          </a:solidFill>
                        </a:rPr>
                        <a:t>grading rules (Markdown)</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academic://reports/data-quality</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200" dirty="0">
                          <a:solidFill>
                            <a:srgbClr val="1F2937"/>
                          </a:solidFill>
                        </a:rPr>
                        <a:t>the 7 rejected rows</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0">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academic://tables/{table}</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200" dirty="0">
                          <a:solidFill>
                            <a:srgbClr val="1F2937"/>
                          </a:solidFill>
                        </a:rPr>
                        <a:t>raw CSV table</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academic://students/{student_id}</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200" dirty="0">
                          <a:solidFill>
                            <a:srgbClr val="1F2937"/>
                          </a:solidFill>
                        </a:rPr>
                        <a:t>profile + GPA per semester</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r h="0">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utility://reports/{filename}</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200" dirty="0">
                          <a:solidFill>
                            <a:srgbClr val="1F2937"/>
                          </a:solidFill>
                        </a:rPr>
                        <a:t>a saved report</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graphicFrame>
        <p:nvGraphicFramePr>
          <p:cNvPr id="97" name="Table 2"/>
          <p:cNvGraphicFramePr>
            <a:graphicFrameLocks noGrp="1"/>
          </p:cNvGraphicFramePr>
          <p:nvPr>
            <p:extLst>
              <p:ext uri="{D42A27DB-BD31-4B8C-83A1-F6EECF244321}">
                <p14:modId xmlns:p14="http://schemas.microsoft.com/office/powerpoint/2010/main" val="1579011935"/>
              </p:ext>
            </p:extLst>
          </p:nvPr>
        </p:nvGraphicFramePr>
        <p:xfrm>
          <a:off x="7498080" y="3246120"/>
          <a:ext cx="4206240" cy="914400"/>
        </p:xfrm>
        <a:graphic>
          <a:graphicData uri="http://schemas.openxmlformats.org/drawingml/2006/table">
            <a:tbl>
              <a:tblPr/>
              <a:tblGrid>
                <a:gridCol w="219456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tblGrid>
              <a:tr h="0">
                <a:tc>
                  <a:txBody>
                    <a:bodyPr/>
                    <a:lstStyle/>
                    <a:p>
                      <a:pPr marL="0" indent="0">
                        <a:buNone/>
                      </a:pPr>
                      <a:r>
                        <a:rPr lang="en-US" sz="1200" b="1" dirty="0">
                          <a:solidFill>
                            <a:srgbClr val="FFFFFF"/>
                          </a:solidFill>
                        </a:rPr>
                        <a:t>Prompt</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rPr>
                        <a:t>Arguments</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0">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class_report</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200" dirty="0">
                          <a:solidFill>
                            <a:srgbClr val="1F2937"/>
                          </a:solidFill>
                        </a:rPr>
                        <a:t>class_id, semester?</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study_advice</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200" dirty="0">
                          <a:solidFill>
                            <a:srgbClr val="1F2937"/>
                          </a:solidFill>
                        </a:rPr>
                        <a:t>student_id</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bl>
          </a:graphicData>
        </a:graphic>
      </p:graphicFrame>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r"/>
            <a:fld id="{F7021451-1387-4CA6-816F-3879F97B5CBC}" type="slidenum">
              <a:rPr lang="en-US" b="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731520" y="1828800"/>
            <a:ext cx="2743200" cy="1097280"/>
          </a:xfrm>
          <a:prstGeom prst="rect">
            <a:avLst/>
          </a:prstGeom>
          <a:noFill/>
          <a:ln/>
        </p:spPr>
        <p:txBody>
          <a:bodyPr wrap="square" lIns="0" tIns="0" rIns="0" bIns="0" rtlCol="0" anchor="ctr"/>
          <a:lstStyle/>
          <a:p>
            <a:pPr marL="0" indent="0">
              <a:buNone/>
            </a:pPr>
            <a:r>
              <a:rPr lang="en-US" sz="7200" b="1" dirty="0">
                <a:solidFill>
                  <a:srgbClr val="0F8B8D"/>
                </a:solidFill>
              </a:rPr>
              <a:t>6</a:t>
            </a:r>
            <a:endParaRPr lang="en-US" sz="7200" dirty="0"/>
          </a:p>
        </p:txBody>
      </p:sp>
      <p:sp>
        <p:nvSpPr>
          <p:cNvPr id="3" name="Text 1"/>
          <p:cNvSpPr txBox="1"/>
          <p:nvPr/>
        </p:nvSpPr>
        <p:spPr>
          <a:xfrm>
            <a:off x="731520" y="2926080"/>
            <a:ext cx="10515600" cy="822960"/>
          </a:xfrm>
          <a:prstGeom prst="rect">
            <a:avLst/>
          </a:prstGeom>
          <a:noFill/>
          <a:ln/>
        </p:spPr>
        <p:txBody>
          <a:bodyPr wrap="square" lIns="0" tIns="0" rIns="0" bIns="0" rtlCol="0" anchor="ctr"/>
          <a:lstStyle/>
          <a:p>
            <a:pPr marL="0" indent="0">
              <a:buNone/>
            </a:pPr>
            <a:r>
              <a:rPr lang="en-US" sz="4000" b="1" dirty="0">
                <a:solidFill>
                  <a:srgbClr val="FFFFFF"/>
                </a:solidFill>
              </a:rPr>
              <a:t>Code examples</a:t>
            </a:r>
            <a:endParaRPr lang="en-US" sz="4000" dirty="0"/>
          </a:p>
        </p:txBody>
      </p:sp>
      <p:sp>
        <p:nvSpPr>
          <p:cNvPr id="4" name="Text 2"/>
          <p:cNvSpPr txBox="1"/>
          <p:nvPr/>
        </p:nvSpPr>
        <p:spPr>
          <a:xfrm>
            <a:off x="731520" y="3794760"/>
            <a:ext cx="10515600" cy="548640"/>
          </a:xfrm>
          <a:prstGeom prst="rect">
            <a:avLst/>
          </a:prstGeom>
          <a:noFill/>
          <a:ln/>
        </p:spPr>
        <p:txBody>
          <a:bodyPr wrap="square" lIns="0" tIns="0" rIns="0" bIns="0" rtlCol="0" anchor="ctr"/>
          <a:lstStyle/>
          <a:p>
            <a:pPr marL="0" indent="0">
              <a:buNone/>
            </a:pPr>
            <a:r>
              <a:rPr lang="en-US" sz="1800" dirty="0">
                <a:solidFill>
                  <a:srgbClr val="C9D3E6"/>
                </a:solidFill>
              </a:rPr>
              <a:t>Copy-ready — every example runs with one command</a:t>
            </a:r>
            <a:endParaRPr lang="en-US" sz="1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marL="0" indent="0">
              <a:buNone/>
            </a:pPr>
            <a:r>
              <a:rPr lang="en-US" sz="1200" b="1" kern="0" spc="200" dirty="0">
                <a:solidFill>
                  <a:srgbClr val="0F8B8D"/>
                </a:solidFill>
              </a:rPr>
              <a:t>REQUIREMENT 6 · CODE</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marL="0" indent="0">
              <a:buNone/>
            </a:pPr>
            <a:r>
              <a:rPr lang="en-US" sz="3000" b="1" dirty="0">
                <a:solidFill>
                  <a:srgbClr val="1F2937"/>
                </a:solidFill>
              </a:rPr>
              <a:t>Example 1 — create and serve an MCP server</a:t>
            </a:r>
            <a:endParaRPr lang="en-US" sz="3000" dirty="0"/>
          </a:p>
        </p:txBody>
      </p:sp>
      <p:sp>
        <p:nvSpPr>
          <p:cNvPr id="5" name="Shape 2"/>
          <p:cNvSpPr/>
          <p:nvPr/>
        </p:nvSpPr>
        <p:spPr>
          <a:xfrm>
            <a:off x="457200" y="1371600"/>
            <a:ext cx="7498080" cy="4572000"/>
          </a:xfrm>
          <a:prstGeom prst="rect">
            <a:avLst/>
          </a:prstGeom>
          <a:solidFill>
            <a:srgbClr val="F6F8FA"/>
          </a:solidFill>
          <a:ln w="12700">
            <a:solidFill>
              <a:srgbClr val="D0D7DE"/>
            </a:solidFill>
            <a:prstDash val="solid"/>
          </a:ln>
        </p:spPr>
        <p:txBody>
          <a:bodyPr/>
          <a:lstStyle/>
          <a:p>
            <a:endParaRPr lang="en-VN"/>
          </a:p>
        </p:txBody>
      </p:sp>
      <p:sp>
        <p:nvSpPr>
          <p:cNvPr id="6" name="Text 3"/>
          <p:cNvSpPr txBox="1"/>
          <p:nvPr/>
        </p:nvSpPr>
        <p:spPr>
          <a:xfrm>
            <a:off x="594360" y="1463040"/>
            <a:ext cx="7223760" cy="4389120"/>
          </a:xfrm>
          <a:prstGeom prst="rect">
            <a:avLst/>
          </a:prstGeom>
          <a:noFill/>
          <a:ln/>
        </p:spPr>
        <p:txBody>
          <a:bodyPr wrap="square" lIns="0" tIns="0" rIns="0" bIns="0" rtlCol="0" anchor="t"/>
          <a:lstStyle/>
          <a:p>
            <a:pPr marL="0" indent="0">
              <a:buNone/>
            </a:pPr>
            <a:r>
              <a:rPr lang="en-US" sz="1300" dirty="0">
                <a:solidFill>
                  <a:srgbClr val="24292F"/>
                </a:solidFill>
                <a:latin typeface="Courier New" pitchFamily="34" charset="0"/>
                <a:ea typeface="Courier New" pitchFamily="34" charset="-122"/>
                <a:cs typeface="Courier New" pitchFamily="34" charset="-120"/>
              </a:rPr>
              <a:t>import { McpServer } from '@modelcontextprotocol/server';</a:t>
            </a:r>
            <a:endParaRPr lang="en-US" sz="1300" dirty="0"/>
          </a:p>
          <a:p>
            <a:pPr marL="0" indent="0">
              <a:buNone/>
            </a:pPr>
            <a:r>
              <a:rPr lang="en-US" sz="1300" dirty="0">
                <a:solidFill>
                  <a:srgbClr val="24292F"/>
                </a:solidFill>
                <a:latin typeface="Courier New" pitchFamily="34" charset="0"/>
                <a:ea typeface="Courier New" pitchFamily="34" charset="-122"/>
                <a:cs typeface="Courier New" pitchFamily="34" charset="-120"/>
              </a:rPr>
              <a:t>import { serveStdio } from '@modelcontextprotocol/server/stdio';</a:t>
            </a:r>
            <a:endParaRPr lang="en-US" sz="1300" dirty="0"/>
          </a:p>
          <a:p>
            <a:pPr marL="0" indent="0">
              <a:buNone/>
            </a:pPr>
            <a:endParaRPr lang="en-US" sz="1300" dirty="0"/>
          </a:p>
          <a:p>
            <a:pPr marL="0" indent="0">
              <a:buNone/>
            </a:pPr>
            <a:r>
              <a:rPr lang="en-US" sz="1300" dirty="0">
                <a:solidFill>
                  <a:srgbClr val="24292F"/>
                </a:solidFill>
                <a:latin typeface="Courier New" pitchFamily="34" charset="0"/>
                <a:ea typeface="Courier New" pitchFamily="34" charset="-122"/>
                <a:cs typeface="Courier New" pitchFamily="34" charset="-120"/>
              </a:rPr>
              <a:t>// called by the SDK per connection; ctx.era = 2025 or 2026 era</a:t>
            </a:r>
            <a:endParaRPr lang="en-US" sz="1300" dirty="0"/>
          </a:p>
          <a:p>
            <a:pPr marL="0" indent="0">
              <a:buNone/>
            </a:pPr>
            <a:r>
              <a:rPr lang="en-US" sz="1300" dirty="0">
                <a:solidFill>
                  <a:srgbClr val="24292F"/>
                </a:solidFill>
                <a:latin typeface="Courier New" pitchFamily="34" charset="0"/>
                <a:ea typeface="Courier New" pitchFamily="34" charset="-122"/>
                <a:cs typeface="Courier New" pitchFamily="34" charset="-120"/>
              </a:rPr>
              <a:t>const factory = (ctx) =&gt; {</a:t>
            </a:r>
            <a:endParaRPr lang="en-US" sz="1300" dirty="0"/>
          </a:p>
          <a:p>
            <a:pPr marL="0" indent="0">
              <a:buNone/>
            </a:pPr>
            <a:r>
              <a:rPr lang="en-US" sz="1300" dirty="0">
                <a:solidFill>
                  <a:srgbClr val="24292F"/>
                </a:solidFill>
                <a:latin typeface="Courier New" pitchFamily="34" charset="0"/>
                <a:ea typeface="Courier New" pitchFamily="34" charset="-122"/>
                <a:cs typeface="Courier New" pitchFamily="34" charset="-120"/>
              </a:rPr>
              <a:t>  const server = new McpServer(</a:t>
            </a:r>
            <a:endParaRPr lang="en-US" sz="1300" dirty="0"/>
          </a:p>
          <a:p>
            <a:pPr marL="0" indent="0">
              <a:buNone/>
            </a:pPr>
            <a:r>
              <a:rPr lang="en-US" sz="1300" dirty="0">
                <a:solidFill>
                  <a:srgbClr val="24292F"/>
                </a:solidFill>
                <a:latin typeface="Courier New" pitchFamily="34" charset="0"/>
                <a:ea typeface="Courier New" pitchFamily="34" charset="-122"/>
                <a:cs typeface="Courier New" pitchFamily="34" charset="-120"/>
              </a:rPr>
              <a:t>    { name: 'academic', title: 'Academic Records', version: '1.0.0' },</a:t>
            </a:r>
            <a:endParaRPr lang="en-US" sz="1300" dirty="0"/>
          </a:p>
          <a:p>
            <a:pPr marL="0" indent="0">
              <a:buNone/>
            </a:pPr>
            <a:r>
              <a:rPr lang="en-US" sz="1300" dirty="0">
                <a:solidFill>
                  <a:srgbClr val="24292F"/>
                </a:solidFill>
                <a:latin typeface="Courier New" pitchFamily="34" charset="0"/>
                <a:ea typeface="Courier New" pitchFamily="34" charset="-122"/>
                <a:cs typeface="Courier New" pitchFamily="34" charset="-120"/>
              </a:rPr>
              <a:t>    { instructions: ACADEMIC_INSTRUCTIONS,</a:t>
            </a:r>
            <a:endParaRPr lang="en-US" sz="1300" dirty="0"/>
          </a:p>
          <a:p>
            <a:pPr marL="0" indent="0">
              <a:buNone/>
            </a:pPr>
            <a:r>
              <a:rPr lang="en-US" sz="1300" dirty="0">
                <a:solidFill>
                  <a:srgbClr val="24292F"/>
                </a:solidFill>
                <a:latin typeface="Courier New" pitchFamily="34" charset="0"/>
                <a:ea typeface="Courier New" pitchFamily="34" charset="-122"/>
                <a:cs typeface="Courier New" pitchFamily="34" charset="-120"/>
              </a:rPr>
              <a:t>      capabilities: { logging: {}, resources: { subscribe: true } } });</a:t>
            </a:r>
            <a:endParaRPr lang="en-US" sz="1300" dirty="0"/>
          </a:p>
          <a:p>
            <a:pPr marL="0" indent="0">
              <a:buNone/>
            </a:pPr>
            <a:r>
              <a:rPr lang="en-US" sz="1300" dirty="0">
                <a:solidFill>
                  <a:srgbClr val="24292F"/>
                </a:solidFill>
                <a:latin typeface="Courier New" pitchFamily="34" charset="0"/>
                <a:ea typeface="Courier New" pitchFamily="34" charset="-122"/>
                <a:cs typeface="Courier New" pitchFamily="34" charset="-120"/>
              </a:rPr>
              <a:t>  registerAcademicTools(server, data, ctx.era);</a:t>
            </a:r>
            <a:endParaRPr lang="en-US" sz="1300" dirty="0"/>
          </a:p>
          <a:p>
            <a:pPr marL="0" indent="0">
              <a:buNone/>
            </a:pPr>
            <a:r>
              <a:rPr lang="en-US" sz="1300" dirty="0">
                <a:solidFill>
                  <a:srgbClr val="24292F"/>
                </a:solidFill>
                <a:latin typeface="Courier New" pitchFamily="34" charset="0"/>
                <a:ea typeface="Courier New" pitchFamily="34" charset="-122"/>
                <a:cs typeface="Courier New" pitchFamily="34" charset="-120"/>
              </a:rPr>
              <a:t>  registerAcademicResources(server, data);</a:t>
            </a:r>
            <a:endParaRPr lang="en-US" sz="1300" dirty="0"/>
          </a:p>
          <a:p>
            <a:pPr marL="0" indent="0">
              <a:buNone/>
            </a:pPr>
            <a:r>
              <a:rPr lang="en-US" sz="1300" dirty="0">
                <a:solidFill>
                  <a:srgbClr val="24292F"/>
                </a:solidFill>
                <a:latin typeface="Courier New" pitchFamily="34" charset="0"/>
                <a:ea typeface="Courier New" pitchFamily="34" charset="-122"/>
                <a:cs typeface="Courier New" pitchFamily="34" charset="-120"/>
              </a:rPr>
              <a:t>  registerAcademicPrompts(server, data);</a:t>
            </a:r>
            <a:endParaRPr lang="en-US" sz="1300" dirty="0"/>
          </a:p>
          <a:p>
            <a:pPr marL="0" indent="0">
              <a:buNone/>
            </a:pPr>
            <a:r>
              <a:rPr lang="en-US" sz="1300" dirty="0">
                <a:solidFill>
                  <a:srgbClr val="24292F"/>
                </a:solidFill>
                <a:latin typeface="Courier New" pitchFamily="34" charset="0"/>
                <a:ea typeface="Courier New" pitchFamily="34" charset="-122"/>
                <a:cs typeface="Courier New" pitchFamily="34" charset="-120"/>
              </a:rPr>
              <a:t>  return server;</a:t>
            </a:r>
            <a:endParaRPr lang="en-US" sz="1300" dirty="0"/>
          </a:p>
          <a:p>
            <a:pPr marL="0" indent="0">
              <a:buNone/>
            </a:pPr>
            <a:r>
              <a:rPr lang="en-US" sz="1300" dirty="0">
                <a:solidFill>
                  <a:srgbClr val="24292F"/>
                </a:solidFill>
                <a:latin typeface="Courier New" pitchFamily="34" charset="0"/>
                <a:ea typeface="Courier New" pitchFamily="34" charset="-122"/>
                <a:cs typeface="Courier New" pitchFamily="34" charset="-120"/>
              </a:rPr>
              <a:t>};</a:t>
            </a:r>
            <a:endParaRPr lang="en-US" sz="1300" dirty="0"/>
          </a:p>
          <a:p>
            <a:pPr marL="0" indent="0">
              <a:buNone/>
            </a:pPr>
            <a:endParaRPr lang="en-US" sz="1300" dirty="0"/>
          </a:p>
          <a:p>
            <a:pPr marL="0" indent="0">
              <a:buNone/>
            </a:pPr>
            <a:r>
              <a:rPr lang="en-US" sz="1300" dirty="0">
                <a:solidFill>
                  <a:srgbClr val="24292F"/>
                </a:solidFill>
                <a:latin typeface="Courier New" pitchFamily="34" charset="0"/>
                <a:ea typeface="Courier New" pitchFamily="34" charset="-122"/>
                <a:cs typeface="Courier New" pitchFamily="34" charset="-120"/>
              </a:rPr>
              <a:t>serveStdio(factory);                              // stdio</a:t>
            </a:r>
            <a:endParaRPr lang="en-US" sz="1300" dirty="0"/>
          </a:p>
          <a:p>
            <a:pPr marL="0" indent="0">
              <a:buNone/>
            </a:pPr>
            <a:r>
              <a:rPr lang="en-US" sz="1300" dirty="0">
                <a:solidFill>
                  <a:srgbClr val="24292F"/>
                </a:solidFill>
                <a:latin typeface="Courier New" pitchFamily="34" charset="0"/>
                <a:ea typeface="Courier New" pitchFamily="34" charset="-122"/>
                <a:cs typeface="Courier New" pitchFamily="34" charset="-120"/>
              </a:rPr>
              <a:t>// HTTP:</a:t>
            </a:r>
            <a:endParaRPr lang="en-US" sz="1300" dirty="0"/>
          </a:p>
          <a:p>
            <a:pPr marL="0" indent="0">
              <a:buNone/>
            </a:pPr>
            <a:r>
              <a:rPr lang="en-US" sz="1300" dirty="0">
                <a:solidFill>
                  <a:srgbClr val="24292F"/>
                </a:solidFill>
                <a:latin typeface="Courier New" pitchFamily="34" charset="0"/>
                <a:ea typeface="Courier New" pitchFamily="34" charset="-122"/>
                <a:cs typeface="Courier New" pitchFamily="34" charset="-120"/>
              </a:rPr>
              <a:t>// createServer(toNodeHandler(createMcpHandler(factory)))</a:t>
            </a:r>
            <a:endParaRPr lang="en-US" sz="1300" dirty="0"/>
          </a:p>
          <a:p>
            <a:pPr marL="0" indent="0">
              <a:buNone/>
            </a:pPr>
            <a:r>
              <a:rPr lang="en-US" sz="1300" dirty="0">
                <a:solidFill>
                  <a:srgbClr val="24292F"/>
                </a:solidFill>
                <a:latin typeface="Courier New" pitchFamily="34" charset="0"/>
                <a:ea typeface="Courier New" pitchFamily="34" charset="-122"/>
                <a:cs typeface="Courier New" pitchFamily="34" charset="-120"/>
              </a:rPr>
              <a:t>//   .listen(3001);</a:t>
            </a:r>
            <a:endParaRPr lang="en-US" sz="1300" dirty="0"/>
          </a:p>
        </p:txBody>
      </p:sp>
      <p:sp>
        <p:nvSpPr>
          <p:cNvPr id="7" name="Text 4"/>
          <p:cNvSpPr txBox="1"/>
          <p:nvPr/>
        </p:nvSpPr>
        <p:spPr>
          <a:xfrm>
            <a:off x="457200" y="5989320"/>
            <a:ext cx="7498080" cy="274320"/>
          </a:xfrm>
          <a:prstGeom prst="rect">
            <a:avLst/>
          </a:prstGeom>
          <a:noFill/>
          <a:ln/>
        </p:spPr>
        <p:txBody>
          <a:bodyPr wrap="square" lIns="0" tIns="0" rIns="0" bIns="0" rtlCol="0" anchor="ctr"/>
          <a:lstStyle/>
          <a:p>
            <a:pPr marL="0" indent="0">
              <a:buNone/>
            </a:pPr>
            <a:r>
              <a:rPr lang="en-US" sz="1100" i="1" dirty="0">
                <a:solidFill>
                  <a:srgbClr val="5B6475"/>
                </a:solidFill>
              </a:rPr>
              <a:t>Simplified from src/server/academic/server.ts + src/lib/serve.ts</a:t>
            </a:r>
            <a:endParaRPr lang="en-US" sz="1100" dirty="0"/>
          </a:p>
        </p:txBody>
      </p:sp>
      <p:sp>
        <p:nvSpPr>
          <p:cNvPr id="8" name="Shape 5"/>
          <p:cNvSpPr/>
          <p:nvPr/>
        </p:nvSpPr>
        <p:spPr>
          <a:xfrm>
            <a:off x="8229600" y="1371600"/>
            <a:ext cx="3474720" cy="4572000"/>
          </a:xfrm>
          <a:prstGeom prst="roundRect">
            <a:avLst>
              <a:gd name="adj" fmla="val 2105"/>
            </a:avLst>
          </a:prstGeom>
          <a:solidFill>
            <a:srgbClr val="EEF2F6"/>
          </a:solidFill>
          <a:ln w="12700">
            <a:solidFill>
              <a:srgbClr val="EEF2F6"/>
            </a:solidFill>
            <a:prstDash val="solid"/>
          </a:ln>
        </p:spPr>
        <p:txBody>
          <a:bodyPr/>
          <a:lstStyle/>
          <a:p>
            <a:endParaRPr lang="en-VN"/>
          </a:p>
        </p:txBody>
      </p:sp>
      <p:sp>
        <p:nvSpPr>
          <p:cNvPr id="9" name="Text 6"/>
          <p:cNvSpPr txBox="1"/>
          <p:nvPr/>
        </p:nvSpPr>
        <p:spPr>
          <a:xfrm>
            <a:off x="8412480" y="1508760"/>
            <a:ext cx="3108960" cy="457200"/>
          </a:xfrm>
          <a:prstGeom prst="rect">
            <a:avLst/>
          </a:prstGeom>
          <a:noFill/>
          <a:ln/>
        </p:spPr>
        <p:txBody>
          <a:bodyPr wrap="square" lIns="0" tIns="0" rIns="0" bIns="0" rtlCol="0" anchor="t"/>
          <a:lstStyle/>
          <a:p>
            <a:pPr marL="0" indent="0">
              <a:buNone/>
            </a:pPr>
            <a:r>
              <a:rPr lang="en-US" sz="1800" b="1" dirty="0">
                <a:solidFill>
                  <a:srgbClr val="0F8B8D"/>
                </a:solidFill>
              </a:rPr>
              <a:t>Run it</a:t>
            </a:r>
            <a:endParaRPr lang="en-US" sz="1800" dirty="0"/>
          </a:p>
        </p:txBody>
      </p:sp>
      <p:sp>
        <p:nvSpPr>
          <p:cNvPr id="10" name="Text 7"/>
          <p:cNvSpPr txBox="1"/>
          <p:nvPr/>
        </p:nvSpPr>
        <p:spPr>
          <a:xfrm>
            <a:off x="8412480" y="2011680"/>
            <a:ext cx="3108960" cy="3794760"/>
          </a:xfrm>
          <a:prstGeom prst="rect">
            <a:avLst/>
          </a:prstGeom>
          <a:noFill/>
          <a:ln/>
        </p:spPr>
        <p:txBody>
          <a:bodyPr wrap="square" lIns="0" tIns="0" rIns="0" bIns="0" rtlCol="0" anchor="t"/>
          <a:lstStyle/>
          <a:p>
            <a:pPr marL="0" indent="0">
              <a:buNone/>
            </a:pPr>
            <a:r>
              <a:rPr lang="en-US" sz="1500" dirty="0">
                <a:solidFill>
                  <a:srgbClr val="1F2937"/>
                </a:solidFill>
              </a:rPr>
              <a:t>npm install</a:t>
            </a:r>
            <a:endParaRPr lang="en-US" sz="1500" dirty="0"/>
          </a:p>
          <a:p>
            <a:pPr marL="0" indent="0">
              <a:buNone/>
            </a:pPr>
            <a:r>
              <a:rPr lang="en-US" sz="1500" dirty="0">
                <a:solidFill>
                  <a:srgbClr val="1F2937"/>
                </a:solidFill>
              </a:rPr>
              <a:t>npm run academic</a:t>
            </a:r>
            <a:endParaRPr lang="en-US" sz="1500" dirty="0"/>
          </a:p>
          <a:p>
            <a:pPr marL="0" indent="0">
              <a:buNone/>
            </a:pPr>
            <a:r>
              <a:rPr lang="en-US" sz="1500" dirty="0">
                <a:solidFill>
                  <a:srgbClr val="1F2937"/>
                </a:solidFill>
              </a:rPr>
              <a:t>(stdio)</a:t>
            </a:r>
            <a:endParaRPr lang="en-US" sz="1500" dirty="0"/>
          </a:p>
          <a:p>
            <a:pPr marL="0" indent="0">
              <a:buNone/>
            </a:pPr>
            <a:endParaRPr lang="en-US" sz="1500" dirty="0"/>
          </a:p>
          <a:p>
            <a:pPr marL="0" indent="0">
              <a:buNone/>
            </a:pPr>
            <a:r>
              <a:rPr lang="en-US" sz="1500" dirty="0">
                <a:solidFill>
                  <a:srgbClr val="1F2937"/>
                </a:solidFill>
              </a:rPr>
              <a:t>npm run academic:http</a:t>
            </a:r>
            <a:endParaRPr lang="en-US" sz="1500" dirty="0"/>
          </a:p>
          <a:p>
            <a:pPr marL="0" indent="0">
              <a:buNone/>
            </a:pPr>
            <a:r>
              <a:rPr lang="en-US" sz="1500" dirty="0">
                <a:solidFill>
                  <a:srgbClr val="1F2937"/>
                </a:solidFill>
              </a:rPr>
              <a:t>(HTTP, port 3001)</a:t>
            </a:r>
            <a:endParaRPr lang="en-US" sz="1500" dirty="0"/>
          </a:p>
          <a:p>
            <a:pPr marL="0" indent="0">
              <a:buNone/>
            </a:pPr>
            <a:endParaRPr lang="en-US" sz="1500" dirty="0"/>
          </a:p>
          <a:p>
            <a:pPr marL="0" indent="0">
              <a:buNone/>
            </a:pPr>
            <a:r>
              <a:rPr lang="en-US" sz="1500" dirty="0">
                <a:solidFill>
                  <a:srgbClr val="1F2937"/>
                </a:solidFill>
              </a:rPr>
              <a:t>npm run examples</a:t>
            </a:r>
            <a:endParaRPr lang="en-US" sz="1500" dirty="0"/>
          </a:p>
          <a:p>
            <a:pPr marL="0" indent="0">
              <a:buNone/>
            </a:pPr>
            <a:r>
              <a:rPr lang="en-US" sz="1500" dirty="0">
                <a:solidFill>
                  <a:srgbClr val="1F2937"/>
                </a:solidFill>
              </a:rPr>
              <a:t>→ 13/13 examples passed</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r"/>
            <a:fld id="{F7021451-1387-4CA6-816F-3879F97B5CBC}" type="slidenum">
              <a:rPr lang="en-US" b="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marL="0" indent="0">
              <a:buNone/>
            </a:pPr>
            <a:r>
              <a:rPr lang="en-US" sz="1200" b="1" kern="0" spc="200" dirty="0">
                <a:solidFill>
                  <a:srgbClr val="0F8B8D"/>
                </a:solidFill>
              </a:rPr>
              <a:t>REQUIREMENT 6 · CODE</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marL="0" indent="0">
              <a:buNone/>
            </a:pPr>
            <a:r>
              <a:rPr lang="en-US" sz="3000" b="1" dirty="0">
                <a:solidFill>
                  <a:srgbClr val="1F2937"/>
                </a:solidFill>
              </a:rPr>
              <a:t>Example 2 — registerTool: calculate_gpa</a:t>
            </a:r>
            <a:endParaRPr lang="en-US" sz="3000" dirty="0"/>
          </a:p>
        </p:txBody>
      </p:sp>
      <p:sp>
        <p:nvSpPr>
          <p:cNvPr id="5" name="Shape 2"/>
          <p:cNvSpPr/>
          <p:nvPr/>
        </p:nvSpPr>
        <p:spPr>
          <a:xfrm>
            <a:off x="457200" y="1325880"/>
            <a:ext cx="7863840" cy="4663440"/>
          </a:xfrm>
          <a:prstGeom prst="rect">
            <a:avLst/>
          </a:prstGeom>
          <a:solidFill>
            <a:srgbClr val="F6F8FA"/>
          </a:solidFill>
          <a:ln w="12700">
            <a:solidFill>
              <a:srgbClr val="D0D7DE"/>
            </a:solidFill>
            <a:prstDash val="solid"/>
          </a:ln>
        </p:spPr>
        <p:txBody>
          <a:bodyPr/>
          <a:lstStyle/>
          <a:p>
            <a:endParaRPr lang="en-VN"/>
          </a:p>
        </p:txBody>
      </p:sp>
      <p:sp>
        <p:nvSpPr>
          <p:cNvPr id="6" name="Text 3"/>
          <p:cNvSpPr txBox="1"/>
          <p:nvPr/>
        </p:nvSpPr>
        <p:spPr>
          <a:xfrm>
            <a:off x="594360" y="1417320"/>
            <a:ext cx="7589520" cy="4480560"/>
          </a:xfrm>
          <a:prstGeom prst="rect">
            <a:avLst/>
          </a:prstGeom>
          <a:noFill/>
          <a:ln/>
        </p:spPr>
        <p:txBody>
          <a:bodyPr wrap="square" lIns="0" tIns="0" rIns="0" bIns="0" rtlCol="0" anchor="t"/>
          <a:lstStyle/>
          <a:p>
            <a:pPr marL="0" indent="0">
              <a:buNone/>
            </a:pPr>
            <a:r>
              <a:rPr lang="en-US" sz="1200" dirty="0">
                <a:solidFill>
                  <a:srgbClr val="24292F"/>
                </a:solidFill>
                <a:latin typeface="Courier New" pitchFamily="34" charset="0"/>
                <a:ea typeface="Courier New" pitchFamily="34" charset="-122"/>
                <a:cs typeface="Courier New" pitchFamily="34" charset="-120"/>
              </a:rPr>
              <a:t>server.registerTool('calculate_gpa', {</a:t>
            </a:r>
            <a:endParaRPr lang="en-US" sz="1200" dirty="0"/>
          </a:p>
          <a:p>
            <a:pPr marL="0" indent="0">
              <a:buNone/>
            </a:pPr>
            <a:r>
              <a:rPr lang="en-US" sz="1200" dirty="0">
                <a:solidFill>
                  <a:srgbClr val="24292F"/>
                </a:solidFill>
                <a:latin typeface="Courier New" pitchFamily="34" charset="0"/>
                <a:ea typeface="Courier New" pitchFamily="34" charset="-122"/>
                <a:cs typeface="Courier New" pitchFamily="34" charset="-120"/>
              </a:rPr>
              <a:t>  title: 'Calculate GPA',</a:t>
            </a:r>
            <a:endParaRPr lang="en-US" sz="1200" dirty="0"/>
          </a:p>
          <a:p>
            <a:pPr marL="0" indent="0">
              <a:buNone/>
            </a:pPr>
            <a:r>
              <a:rPr lang="en-US" sz="1200" dirty="0">
                <a:solidFill>
                  <a:srgbClr val="24292F"/>
                </a:solidFill>
                <a:latin typeface="Courier New" pitchFamily="34" charset="0"/>
                <a:ea typeface="Courier New" pitchFamily="34" charset="-122"/>
                <a:cs typeface="Courier New" pitchFamily="34" charset="-120"/>
              </a:rPr>
              <a:t>  description: 'Credit-weighted GPA on the 4-point scale plus ' +</a:t>
            </a:r>
            <a:endParaRPr lang="en-US" sz="1200" dirty="0"/>
          </a:p>
          <a:p>
            <a:pPr marL="0" indent="0">
              <a:buNone/>
            </a:pPr>
            <a:r>
              <a:rPr lang="en-US" sz="1200" dirty="0">
                <a:solidFill>
                  <a:srgbClr val="24292F"/>
                </a:solidFill>
                <a:latin typeface="Courier New" pitchFamily="34" charset="0"/>
                <a:ea typeface="Courier New" pitchFamily="34" charset="-122"/>
                <a:cs typeface="Courier New" pitchFamily="34" charset="-120"/>
              </a:rPr>
              <a:t>    'classification. With semester: that semester only. ' +</a:t>
            </a:r>
            <a:endParaRPr lang="en-US" sz="1200" dirty="0"/>
          </a:p>
          <a:p>
            <a:pPr marL="0" indent="0">
              <a:buNone/>
            </a:pPr>
            <a:r>
              <a:rPr lang="en-US" sz="1200" dirty="0">
                <a:solidFill>
                  <a:srgbClr val="24292F"/>
                </a:solidFill>
                <a:latin typeface="Courier New" pitchFamily="34" charset="0"/>
                <a:ea typeface="Courier New" pitchFamily="34" charset="-122"/>
                <a:cs typeface="Courier New" pitchFamily="34" charset="-120"/>
              </a:rPr>
              <a:t>    'Without: cumulative, best attempt of retaken courses.',</a:t>
            </a:r>
            <a:endParaRPr lang="en-US" sz="1200" dirty="0"/>
          </a:p>
          <a:p>
            <a:pPr marL="0" indent="0">
              <a:buNone/>
            </a:pPr>
            <a:r>
              <a:rPr lang="en-US" sz="1200" dirty="0">
                <a:solidFill>
                  <a:srgbClr val="24292F"/>
                </a:solidFill>
                <a:latin typeface="Courier New" pitchFamily="34" charset="0"/>
                <a:ea typeface="Courier New" pitchFamily="34" charset="-122"/>
                <a:cs typeface="Courier New" pitchFamily="34" charset="-120"/>
              </a:rPr>
              <a:t>  inputSchema: z.object({ student_id: studentId,</a:t>
            </a:r>
            <a:endParaRPr lang="en-US" sz="1200" dirty="0"/>
          </a:p>
          <a:p>
            <a:pPr marL="0" indent="0">
              <a:buNone/>
            </a:pPr>
            <a:r>
              <a:rPr lang="en-US" sz="1200" dirty="0">
                <a:solidFill>
                  <a:srgbClr val="24292F"/>
                </a:solidFill>
                <a:latin typeface="Courier New" pitchFamily="34" charset="0"/>
                <a:ea typeface="Courier New" pitchFamily="34" charset="-122"/>
                <a:cs typeface="Courier New" pitchFamily="34" charset="-120"/>
              </a:rPr>
              <a:t>                          semester: semester.optional() }),</a:t>
            </a:r>
            <a:endParaRPr lang="en-US" sz="1200" dirty="0"/>
          </a:p>
          <a:p>
            <a:pPr marL="0" indent="0">
              <a:buNone/>
            </a:pPr>
            <a:r>
              <a:rPr lang="en-US" sz="1200" dirty="0">
                <a:solidFill>
                  <a:srgbClr val="24292F"/>
                </a:solidFill>
                <a:latin typeface="Courier New" pitchFamily="34" charset="0"/>
                <a:ea typeface="Courier New" pitchFamily="34" charset="-122"/>
                <a:cs typeface="Courier New" pitchFamily="34" charset="-120"/>
              </a:rPr>
              <a:t>  outputSchema: z.object({ student_id: z.string(), full_name: z.string(),</a:t>
            </a:r>
            <a:endParaRPr lang="en-US" sz="1200" dirty="0"/>
          </a:p>
          <a:p>
            <a:pPr marL="0" indent="0">
              <a:buNone/>
            </a:pPr>
            <a:r>
              <a:rPr lang="en-US" sz="1200" dirty="0">
                <a:solidFill>
                  <a:srgbClr val="24292F"/>
                </a:solidFill>
                <a:latin typeface="Courier New" pitchFamily="34" charset="0"/>
                <a:ea typeface="Courier New" pitchFamily="34" charset="-122"/>
                <a:cs typeface="Courier New" pitchFamily="34" charset="-120"/>
              </a:rPr>
              <a:t>                           scope: z.enum(['semester', 'cumulative']),</a:t>
            </a:r>
            <a:endParaRPr lang="en-US" sz="1200" dirty="0"/>
          </a:p>
          <a:p>
            <a:pPr marL="0" indent="0">
              <a:buNone/>
            </a:pPr>
            <a:r>
              <a:rPr lang="en-US" sz="1200" dirty="0">
                <a:solidFill>
                  <a:srgbClr val="24292F"/>
                </a:solidFill>
                <a:latin typeface="Courier New" pitchFamily="34" charset="0"/>
                <a:ea typeface="Courier New" pitchFamily="34" charset="-122"/>
                <a:cs typeface="Courier New" pitchFamily="34" charset="-120"/>
              </a:rPr>
              <a:t>                           ...gpaFields }),</a:t>
            </a:r>
            <a:endParaRPr lang="en-US" sz="1200" dirty="0"/>
          </a:p>
          <a:p>
            <a:pPr marL="0" indent="0">
              <a:buNone/>
            </a:pPr>
            <a:r>
              <a:rPr lang="en-US" sz="1200" dirty="0">
                <a:solidFill>
                  <a:srgbClr val="24292F"/>
                </a:solidFill>
                <a:latin typeface="Courier New" pitchFamily="34" charset="0"/>
                <a:ea typeface="Courier New" pitchFamily="34" charset="-122"/>
                <a:cs typeface="Courier New" pitchFamily="34" charset="-120"/>
              </a:rPr>
              <a:t>  annotations: READ_ONLY</a:t>
            </a:r>
            <a:endParaRPr lang="en-US" sz="1200" dirty="0"/>
          </a:p>
          <a:p>
            <a:pPr marL="0" indent="0">
              <a:buNone/>
            </a:pPr>
            <a:r>
              <a:rPr lang="en-US" sz="1200" dirty="0">
                <a:solidFill>
                  <a:srgbClr val="24292F"/>
                </a:solidFill>
                <a:latin typeface="Courier New" pitchFamily="34" charset="0"/>
                <a:ea typeface="Courier New" pitchFamily="34" charset="-122"/>
                <a:cs typeface="Courier New" pitchFamily="34" charset="-120"/>
              </a:rPr>
              <a:t>},</a:t>
            </a:r>
            <a:endParaRPr lang="en-US" sz="1200" dirty="0"/>
          </a:p>
          <a:p>
            <a:pPr marL="0" indent="0">
              <a:buNone/>
            </a:pPr>
            <a:r>
              <a:rPr lang="en-US" sz="1200" dirty="0">
                <a:solidFill>
                  <a:srgbClr val="24292F"/>
                </a:solidFill>
                <a:latin typeface="Courier New" pitchFamily="34" charset="0"/>
                <a:ea typeface="Courier New" pitchFamily="34" charset="-122"/>
                <a:cs typeface="Courier New" pitchFamily="34" charset="-120"/>
              </a:rPr>
              <a:t>async ({ student_id, semester }) =&gt; {   // handler: LLM never sees it</a:t>
            </a:r>
            <a:endParaRPr lang="en-US" sz="1200" dirty="0"/>
          </a:p>
          <a:p>
            <a:pPr marL="0" indent="0">
              <a:buNone/>
            </a:pPr>
            <a:r>
              <a:rPr lang="en-US" sz="1200" dirty="0">
                <a:solidFill>
                  <a:srgbClr val="24292F"/>
                </a:solidFill>
                <a:latin typeface="Courier New" pitchFamily="34" charset="0"/>
                <a:ea typeface="Courier New" pitchFamily="34" charset="-122"/>
                <a:cs typeface="Courier New" pitchFamily="34" charset="-120"/>
              </a:rPr>
              <a:t>  const student = findStudent(student_id);</a:t>
            </a:r>
            <a:endParaRPr lang="en-US" sz="1200" dirty="0"/>
          </a:p>
          <a:p>
            <a:pPr marL="0" indent="0">
              <a:buNone/>
            </a:pPr>
            <a:r>
              <a:rPr lang="en-US" sz="1200" dirty="0">
                <a:solidFill>
                  <a:srgbClr val="24292F"/>
                </a:solidFill>
                <a:latin typeface="Courier New" pitchFamily="34" charset="0"/>
                <a:ea typeface="Courier New" pitchFamily="34" charset="-122"/>
                <a:cs typeface="Courier New" pitchFamily="34" charset="-120"/>
              </a:rPr>
              <a:t>  if (!student) return notFound(student_id);           // isError</a:t>
            </a:r>
            <a:endParaRPr lang="en-US" sz="1200" dirty="0"/>
          </a:p>
          <a:p>
            <a:pPr marL="0" indent="0">
              <a:buNone/>
            </a:pPr>
            <a:r>
              <a:rPr lang="en-US" sz="1200" dirty="0">
                <a:solidFill>
                  <a:srgbClr val="24292F"/>
                </a:solidFill>
                <a:latin typeface="Courier New" pitchFamily="34" charset="0"/>
                <a:ea typeface="Courier New" pitchFamily="34" charset="-122"/>
                <a:cs typeface="Courier New" pitchFamily="34" charset="-120"/>
              </a:rPr>
              <a:t>  const summary = data.gpaOf(student.student_id, semester);</a:t>
            </a:r>
            <a:endParaRPr lang="en-US" sz="1200" dirty="0"/>
          </a:p>
          <a:p>
            <a:pPr marL="0" indent="0">
              <a:buNone/>
            </a:pPr>
            <a:r>
              <a:rPr lang="en-US" sz="1200" dirty="0">
                <a:solidFill>
                  <a:srgbClr val="24292F"/>
                </a:solidFill>
                <a:latin typeface="Courier New" pitchFamily="34" charset="0"/>
                <a:ea typeface="Courier New" pitchFamily="34" charset="-122"/>
                <a:cs typeface="Courier New" pitchFamily="34" charset="-120"/>
              </a:rPr>
              <a:t>  return structured({ student_id, full_name: student.full_name,</a:t>
            </a:r>
            <a:endParaRPr lang="en-US" sz="1200" dirty="0"/>
          </a:p>
          <a:p>
            <a:pPr marL="0" indent="0">
              <a:buNone/>
            </a:pPr>
            <a:r>
              <a:rPr lang="en-US" sz="1200" dirty="0">
                <a:solidFill>
                  <a:srgbClr val="24292F"/>
                </a:solidFill>
                <a:latin typeface="Courier New" pitchFamily="34" charset="0"/>
                <a:ea typeface="Courier New" pitchFamily="34" charset="-122"/>
                <a:cs typeface="Courier New" pitchFamily="34" charset="-120"/>
              </a:rPr>
              <a:t>    scope: semester ? 'semester' : 'cumulative', ...summary });</a:t>
            </a:r>
            <a:endParaRPr lang="en-US" sz="1200" dirty="0"/>
          </a:p>
          <a:p>
            <a:pPr marL="0" indent="0">
              <a:buNone/>
            </a:pPr>
            <a:r>
              <a:rPr lang="en-US" sz="1200" dirty="0">
                <a:solidFill>
                  <a:srgbClr val="24292F"/>
                </a:solidFill>
                <a:latin typeface="Courier New" pitchFamily="34" charset="0"/>
                <a:ea typeface="Courier New" pitchFamily="34" charset="-122"/>
                <a:cs typeface="Courier New" pitchFamily="34" charset="-120"/>
              </a:rPr>
              <a:t>});</a:t>
            </a:r>
            <a:endParaRPr lang="en-US" sz="1200" dirty="0"/>
          </a:p>
        </p:txBody>
      </p:sp>
      <p:sp>
        <p:nvSpPr>
          <p:cNvPr id="7" name="Text 4"/>
          <p:cNvSpPr txBox="1"/>
          <p:nvPr/>
        </p:nvSpPr>
        <p:spPr>
          <a:xfrm>
            <a:off x="457200" y="6035040"/>
            <a:ext cx="7863840" cy="274320"/>
          </a:xfrm>
          <a:prstGeom prst="rect">
            <a:avLst/>
          </a:prstGeom>
          <a:noFill/>
          <a:ln/>
        </p:spPr>
        <p:txBody>
          <a:bodyPr wrap="square" lIns="0" tIns="0" rIns="0" bIns="0" rtlCol="0" anchor="ctr"/>
          <a:lstStyle/>
          <a:p>
            <a:pPr marL="0" indent="0">
              <a:buNone/>
            </a:pPr>
            <a:r>
              <a:rPr lang="en-US" sz="1100" i="1" dirty="0">
                <a:solidFill>
                  <a:srgbClr val="5B6475"/>
                </a:solidFill>
              </a:rPr>
              <a:t>src/server/academic/tools.ts:126 (lightly trimmed)</a:t>
            </a:r>
            <a:endParaRPr lang="en-US" sz="1100" dirty="0"/>
          </a:p>
        </p:txBody>
      </p:sp>
      <p:sp>
        <p:nvSpPr>
          <p:cNvPr id="8" name="Shape 5"/>
          <p:cNvSpPr/>
          <p:nvPr/>
        </p:nvSpPr>
        <p:spPr>
          <a:xfrm>
            <a:off x="8595360" y="1371600"/>
            <a:ext cx="3108960" cy="2148840"/>
          </a:xfrm>
          <a:prstGeom prst="roundRect">
            <a:avLst>
              <a:gd name="adj" fmla="val 3404"/>
            </a:avLst>
          </a:prstGeom>
          <a:solidFill>
            <a:srgbClr val="DDE7F7"/>
          </a:solidFill>
          <a:ln w="12700">
            <a:solidFill>
              <a:srgbClr val="DDE7F7"/>
            </a:solidFill>
            <a:prstDash val="solid"/>
          </a:ln>
        </p:spPr>
        <p:txBody>
          <a:bodyPr/>
          <a:lstStyle/>
          <a:p>
            <a:endParaRPr lang="en-VN"/>
          </a:p>
        </p:txBody>
      </p:sp>
      <p:sp>
        <p:nvSpPr>
          <p:cNvPr id="9" name="Text 6"/>
          <p:cNvSpPr txBox="1"/>
          <p:nvPr/>
        </p:nvSpPr>
        <p:spPr>
          <a:xfrm>
            <a:off x="8778240" y="1508760"/>
            <a:ext cx="2743200" cy="457200"/>
          </a:xfrm>
          <a:prstGeom prst="rect">
            <a:avLst/>
          </a:prstGeom>
          <a:noFill/>
          <a:ln/>
        </p:spPr>
        <p:txBody>
          <a:bodyPr wrap="square" lIns="0" tIns="0" rIns="0" bIns="0" rtlCol="0" anchor="t"/>
          <a:lstStyle/>
          <a:p>
            <a:pPr marL="0" indent="0">
              <a:buNone/>
            </a:pPr>
            <a:r>
              <a:rPr lang="en-US" sz="1800" b="1" dirty="0">
                <a:solidFill>
                  <a:srgbClr val="0F8B8D"/>
                </a:solidFill>
              </a:rPr>
              <a:t>What the LLM reads</a:t>
            </a:r>
            <a:endParaRPr lang="en-US" sz="1800" dirty="0"/>
          </a:p>
        </p:txBody>
      </p:sp>
      <p:sp>
        <p:nvSpPr>
          <p:cNvPr id="10" name="Text 7"/>
          <p:cNvSpPr txBox="1"/>
          <p:nvPr/>
        </p:nvSpPr>
        <p:spPr>
          <a:xfrm>
            <a:off x="8778240" y="2011680"/>
            <a:ext cx="2743200" cy="1371600"/>
          </a:xfrm>
          <a:prstGeom prst="rect">
            <a:avLst/>
          </a:prstGeom>
          <a:noFill/>
          <a:ln/>
        </p:spPr>
        <p:txBody>
          <a:bodyPr wrap="square" lIns="0" tIns="0" rIns="0" bIns="0" rtlCol="0" anchor="t"/>
          <a:lstStyle/>
          <a:p>
            <a:pPr marL="0" indent="0">
              <a:buNone/>
            </a:pPr>
            <a:r>
              <a:rPr lang="en-US" sz="1400" dirty="0">
                <a:solidFill>
                  <a:srgbClr val="1F2937"/>
                </a:solidFill>
              </a:rPr>
              <a:t>description · inputSchema · outputSchema · annotations</a:t>
            </a:r>
            <a:endParaRPr lang="en-US" sz="1400" dirty="0"/>
          </a:p>
        </p:txBody>
      </p:sp>
      <p:sp>
        <p:nvSpPr>
          <p:cNvPr id="11" name="Shape 8"/>
          <p:cNvSpPr/>
          <p:nvPr/>
        </p:nvSpPr>
        <p:spPr>
          <a:xfrm>
            <a:off x="8595360" y="3794760"/>
            <a:ext cx="3108960" cy="2148840"/>
          </a:xfrm>
          <a:prstGeom prst="roundRect">
            <a:avLst>
              <a:gd name="adj" fmla="val 3404"/>
            </a:avLst>
          </a:prstGeom>
          <a:solidFill>
            <a:srgbClr val="DDF3F1"/>
          </a:solidFill>
          <a:ln w="12700">
            <a:solidFill>
              <a:srgbClr val="DDF3F1"/>
            </a:solidFill>
            <a:prstDash val="solid"/>
          </a:ln>
        </p:spPr>
        <p:txBody>
          <a:bodyPr/>
          <a:lstStyle/>
          <a:p>
            <a:endParaRPr lang="en-VN"/>
          </a:p>
        </p:txBody>
      </p:sp>
      <p:sp>
        <p:nvSpPr>
          <p:cNvPr id="12" name="Text 9"/>
          <p:cNvSpPr txBox="1"/>
          <p:nvPr/>
        </p:nvSpPr>
        <p:spPr>
          <a:xfrm>
            <a:off x="8778240" y="3931920"/>
            <a:ext cx="2743200" cy="457200"/>
          </a:xfrm>
          <a:prstGeom prst="rect">
            <a:avLst/>
          </a:prstGeom>
          <a:noFill/>
          <a:ln/>
        </p:spPr>
        <p:txBody>
          <a:bodyPr wrap="square" lIns="0" tIns="0" rIns="0" bIns="0" rtlCol="0" anchor="t"/>
          <a:lstStyle/>
          <a:p>
            <a:pPr marL="0" indent="0">
              <a:buNone/>
            </a:pPr>
            <a:r>
              <a:rPr lang="en-US" sz="1800" b="1" dirty="0">
                <a:solidFill>
                  <a:srgbClr val="0F8B8D"/>
                </a:solidFill>
              </a:rPr>
              <a:t>What only the code does</a:t>
            </a:r>
            <a:endParaRPr lang="en-US" sz="1800" dirty="0"/>
          </a:p>
        </p:txBody>
      </p:sp>
      <p:sp>
        <p:nvSpPr>
          <p:cNvPr id="13" name="Text 10"/>
          <p:cNvSpPr txBox="1"/>
          <p:nvPr/>
        </p:nvSpPr>
        <p:spPr>
          <a:xfrm>
            <a:off x="8778240" y="4434840"/>
            <a:ext cx="2743200" cy="1371600"/>
          </a:xfrm>
          <a:prstGeom prst="rect">
            <a:avLst/>
          </a:prstGeom>
          <a:noFill/>
          <a:ln/>
        </p:spPr>
        <p:txBody>
          <a:bodyPr wrap="square" lIns="0" tIns="0" rIns="0" bIns="0" rtlCol="0" anchor="t"/>
          <a:lstStyle/>
          <a:p>
            <a:pPr marL="0" indent="0">
              <a:buNone/>
            </a:pPr>
            <a:r>
              <a:rPr lang="en-US" sz="1400" dirty="0">
                <a:solidFill>
                  <a:srgbClr val="1F2937"/>
                </a:solidFill>
              </a:rPr>
              <a:t>Find the student, compute the GPA, return structured data — exact every time</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r"/>
            <a:fld id="{F7021451-1387-4CA6-816F-3879F97B5CBC}" type="slidenum">
              <a:rPr lang="en-US" b="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marL="0" indent="0">
              <a:buNone/>
            </a:pPr>
            <a:r>
              <a:rPr lang="en-US" sz="1200" b="1" kern="0" spc="200" dirty="0">
                <a:solidFill>
                  <a:srgbClr val="0F8B8D"/>
                </a:solidFill>
              </a:rPr>
              <a:t>REQUIREMENT 6 · CODE</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marL="0" indent="0">
              <a:buNone/>
            </a:pPr>
            <a:r>
              <a:rPr lang="en-US" sz="3000" b="1" dirty="0">
                <a:solidFill>
                  <a:srgbClr val="1F2937"/>
                </a:solidFill>
              </a:rPr>
              <a:t>Example 2b — parameter sets for one tool</a:t>
            </a:r>
            <a:endParaRPr lang="en-US" sz="30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47120" cy="914400"/>
        </p:xfrm>
        <a:graphic>
          <a:graphicData uri="http://schemas.openxmlformats.org/drawingml/2006/table">
            <a:tbl>
              <a:tblPr/>
              <a:tblGrid>
                <a:gridCol w="457200">
                  <a:extLst>
                    <a:ext uri="{9D8B030D-6E8A-4147-A177-3AD203B41FA5}">
                      <a16:colId xmlns:a16="http://schemas.microsoft.com/office/drawing/2014/main" val="20000"/>
                    </a:ext>
                  </a:extLst>
                </a:gridCol>
                <a:gridCol w="484632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566928">
                <a:tc>
                  <a:txBody>
                    <a:bodyPr/>
                    <a:lstStyle/>
                    <a:p>
                      <a:pPr marL="0" indent="0">
                        <a:buNone/>
                      </a:pPr>
                      <a:r>
                        <a:rPr lang="en-US" sz="1300" b="1" dirty="0">
                          <a:solidFill>
                            <a:srgbClr val="FFFFFF"/>
                          </a:solidFill>
                        </a:rPr>
                        <a:t>#</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rPr>
                        <a:t>Arguments</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rPr>
                        <a:t>Result (real output, example S2)</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rPr>
                        <a:t>Who handled it</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66928">
                <a:tc>
                  <a:txBody>
                    <a:bodyPr/>
                    <a:lstStyle/>
                    <a:p>
                      <a:pPr marL="0" indent="0">
                        <a:buNone/>
                      </a:pPr>
                      <a:r>
                        <a:rPr lang="en-US" sz="1300" dirty="0">
                          <a:solidFill>
                            <a:srgbClr val="1F2937"/>
                          </a:solidFill>
                        </a:rPr>
                        <a:t>1</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 student_id: "2201001" }</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300" dirty="0">
                          <a:solidFill>
                            <a:srgbClr val="1F2937"/>
                          </a:solidFill>
                        </a:rPr>
                        <a:t>gpa 3.28 · Very good · 18 credits</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rPr>
                        <a:t>handler</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300" dirty="0">
                          <a:solidFill>
                            <a:srgbClr val="1F2937"/>
                          </a:solidFill>
                        </a:rPr>
                        <a:t>2</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 student_id: "2201001", semester: "2024-1" }</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300" dirty="0">
                          <a:solidFill>
                            <a:srgbClr val="1F2937"/>
                          </a:solidFill>
                        </a:rPr>
                        <a:t>gpa 3.25 · Very good · 8 credits</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marL="0" indent="0">
                        <a:buNone/>
                      </a:pPr>
                      <a:r>
                        <a:rPr lang="en-US" sz="1300" dirty="0">
                          <a:solidFill>
                            <a:srgbClr val="1F2937"/>
                          </a:solidFill>
                        </a:rPr>
                        <a:t>handler</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566928">
                <a:tc>
                  <a:txBody>
                    <a:bodyPr/>
                    <a:lstStyle/>
                    <a:p>
                      <a:pPr marL="0" indent="0">
                        <a:buNone/>
                      </a:pPr>
                      <a:r>
                        <a:rPr lang="en-US" sz="1300" dirty="0">
                          <a:solidFill>
                            <a:srgbClr val="1F2937"/>
                          </a:solidFill>
                        </a:rPr>
                        <a:t>3</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 student_id: "2201010" }</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300" dirty="0">
                          <a:solidFill>
                            <a:srgbClr val="1F2937"/>
                          </a:solidFill>
                        </a:rPr>
                        <a:t>gpa 2.06 · Average (retakes: best attempt)</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rPr>
                        <a:t>handler</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300" dirty="0">
                          <a:solidFill>
                            <a:srgbClr val="1F2937"/>
                          </a:solidFill>
                        </a:rPr>
                        <a:t>4</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 student_id: "9999999" }</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300" dirty="0">
                          <a:solidFill>
                            <a:srgbClr val="C53030"/>
                          </a:solidFill>
                        </a:rPr>
                        <a:t>isError: No student with student_id "9999999". Use search_students…</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300" dirty="0">
                          <a:solidFill>
                            <a:srgbClr val="1F2937"/>
                          </a:solidFill>
                        </a:rPr>
                        <a:t>handler → isError</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r h="566928">
                <a:tc>
                  <a:txBody>
                    <a:bodyPr/>
                    <a:lstStyle/>
                    <a:p>
                      <a:pPr marL="0" indent="0">
                        <a:buNone/>
                      </a:pPr>
                      <a:r>
                        <a:rPr lang="en-US" sz="1300" dirty="0">
                          <a:solidFill>
                            <a:srgbClr val="1F2937"/>
                          </a:solidFill>
                        </a:rPr>
                        <a:t>5</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 student_id: "2201001", semester: "2024" }</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300" dirty="0">
                          <a:solidFill>
                            <a:srgbClr val="C53030"/>
                          </a:solidFill>
                        </a:rPr>
                        <a:t>isError: Semester must look like 2024-1</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300" dirty="0">
                          <a:solidFill>
                            <a:srgbClr val="1F2937"/>
                          </a:solidFill>
                        </a:rPr>
                        <a:t>SDK (inputSchema)</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6928">
                <a:tc>
                  <a:txBody>
                    <a:bodyPr/>
                    <a:lstStyle/>
                    <a:p>
                      <a:pPr marL="0" indent="0">
                        <a:buNone/>
                      </a:pPr>
                      <a:r>
                        <a:rPr lang="en-US" sz="1300" dirty="0">
                          <a:solidFill>
                            <a:srgbClr val="1F2937"/>
                          </a:solidFill>
                        </a:rPr>
                        <a:t>6</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 student_id: 2201001 }</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300" dirty="0">
                          <a:solidFill>
                            <a:srgbClr val="C53030"/>
                          </a:solidFill>
                        </a:rPr>
                        <a:t>isError: expected string, received number</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300" dirty="0">
                          <a:solidFill>
                            <a:srgbClr val="1F2937"/>
                          </a:solidFill>
                        </a:rPr>
                        <a:t>SDK (inputSchema)</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extLst>
                  <a:ext uri="{0D108BD9-81ED-4DB2-BD59-A6C34878D82A}">
                    <a16:rowId xmlns:a16="http://schemas.microsoft.com/office/drawing/2014/main" val="10006"/>
                  </a:ext>
                </a:extLst>
              </a:tr>
            </a:tbl>
          </a:graphicData>
        </a:graphic>
      </p:graphicFrame>
      <p:sp>
        <p:nvSpPr>
          <p:cNvPr id="6" name="Text 2"/>
          <p:cNvSpPr txBox="1"/>
          <p:nvPr/>
        </p:nvSpPr>
        <p:spPr>
          <a:xfrm>
            <a:off x="457200" y="5577840"/>
            <a:ext cx="11247120" cy="548640"/>
          </a:xfrm>
          <a:prstGeom prst="rect">
            <a:avLst/>
          </a:prstGeom>
          <a:noFill/>
          <a:ln/>
        </p:spPr>
        <p:txBody>
          <a:bodyPr wrap="square" lIns="0" tIns="0" rIns="0" bIns="0" rtlCol="0" anchor="ctr"/>
          <a:lstStyle/>
          <a:p>
            <a:pPr marL="0" indent="0">
              <a:buNone/>
            </a:pPr>
            <a:r>
              <a:rPr lang="en-US" sz="1500" b="1" dirty="0">
                <a:solidFill>
                  <a:srgbClr val="1F2937"/>
                </a:solidFill>
              </a:rPr>
              <a:t>Rule: </a:t>
            </a:r>
            <a:r>
              <a:rPr lang="en-US" sz="1500" dirty="0">
                <a:solidFill>
                  <a:srgbClr val="1F2937"/>
                </a:solidFill>
              </a:rPr>
              <a:t>tool problems come back as a result with isError (the LLM can retry); an unknown tool name throws ProtocolError -32602.</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r"/>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marL="0" indent="0">
              <a:buNone/>
            </a:pPr>
            <a:r>
              <a:rPr lang="en-US" sz="1200" b="1" kern="0" spc="200" dirty="0">
                <a:solidFill>
                  <a:srgbClr val="0F8B8D"/>
                </a:solidFill>
              </a:rPr>
              <a:t>REQUIREMENT 6 · CODE</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marL="0" indent="0">
              <a:buNone/>
            </a:pPr>
            <a:r>
              <a:rPr lang="en-US" sz="3000" b="1" dirty="0">
                <a:solidFill>
                  <a:srgbClr val="1F2937"/>
                </a:solidFill>
              </a:rPr>
              <a:t>Example 3 — a resource template and a prompt</a:t>
            </a:r>
            <a:endParaRPr lang="en-US" sz="3000" dirty="0"/>
          </a:p>
        </p:txBody>
      </p:sp>
      <p:sp>
        <p:nvSpPr>
          <p:cNvPr id="5" name="Shape 2"/>
          <p:cNvSpPr/>
          <p:nvPr/>
        </p:nvSpPr>
        <p:spPr>
          <a:xfrm>
            <a:off x="457200" y="1325880"/>
            <a:ext cx="6675120" cy="3017520"/>
          </a:xfrm>
          <a:prstGeom prst="rect">
            <a:avLst/>
          </a:prstGeom>
          <a:solidFill>
            <a:srgbClr val="F6F8FA"/>
          </a:solidFill>
          <a:ln w="12700">
            <a:solidFill>
              <a:srgbClr val="D0D7DE"/>
            </a:solidFill>
            <a:prstDash val="solid"/>
          </a:ln>
        </p:spPr>
        <p:txBody>
          <a:bodyPr/>
          <a:lstStyle/>
          <a:p>
            <a:endParaRPr lang="en-VN"/>
          </a:p>
        </p:txBody>
      </p:sp>
      <p:sp>
        <p:nvSpPr>
          <p:cNvPr id="6" name="Text 3"/>
          <p:cNvSpPr txBox="1"/>
          <p:nvPr/>
        </p:nvSpPr>
        <p:spPr>
          <a:xfrm>
            <a:off x="594360" y="1417320"/>
            <a:ext cx="6400800" cy="2834640"/>
          </a:xfrm>
          <a:prstGeom prst="rect">
            <a:avLst/>
          </a:prstGeom>
          <a:noFill/>
          <a:ln/>
        </p:spPr>
        <p:txBody>
          <a:bodyPr wrap="square" lIns="0" tIns="0" rIns="0" bIns="0" rtlCol="0" anchor="t"/>
          <a:lstStyle/>
          <a:p>
            <a:pPr marL="0" indent="0">
              <a:buNone/>
            </a:pPr>
            <a:r>
              <a:rPr lang="en-US" sz="1100" dirty="0">
                <a:solidFill>
                  <a:srgbClr val="24292F"/>
                </a:solidFill>
                <a:latin typeface="Courier New" pitchFamily="34" charset="0"/>
                <a:ea typeface="Courier New" pitchFamily="34" charset="-122"/>
                <a:cs typeface="Courier New" pitchFamily="34" charset="-120"/>
              </a:rPr>
              <a:t>server.registerResource('student-profile',</a:t>
            </a:r>
            <a:endParaRPr lang="en-US" sz="1100" dirty="0"/>
          </a:p>
          <a:p>
            <a:pPr marL="0" indent="0">
              <a:buNone/>
            </a:pPr>
            <a:r>
              <a:rPr lang="en-US" sz="1100" dirty="0">
                <a:solidFill>
                  <a:srgbClr val="24292F"/>
                </a:solidFill>
                <a:latin typeface="Courier New" pitchFamily="34" charset="0"/>
                <a:ea typeface="Courier New" pitchFamily="34" charset="-122"/>
                <a:cs typeface="Courier New" pitchFamily="34" charset="-120"/>
              </a:rPr>
              <a:t>  new ResourceTemplate('academic://students/{student_id}', {</a:t>
            </a:r>
            <a:endParaRPr lang="en-US" sz="1100" dirty="0"/>
          </a:p>
          <a:p>
            <a:pPr marL="0" indent="0">
              <a:buNone/>
            </a:pPr>
            <a:r>
              <a:rPr lang="en-US" sz="1100" dirty="0">
                <a:solidFill>
                  <a:srgbClr val="24292F"/>
                </a:solidFill>
                <a:latin typeface="Courier New" pitchFamily="34" charset="0"/>
                <a:ea typeface="Courier New" pitchFamily="34" charset="-122"/>
                <a:cs typeface="Courier New" pitchFamily="34" charset="-120"/>
              </a:rPr>
              <a:t>    list: undefined,</a:t>
            </a:r>
            <a:endParaRPr lang="en-US" sz="1100" dirty="0"/>
          </a:p>
          <a:p>
            <a:pPr marL="0" indent="0">
              <a:buNone/>
            </a:pPr>
            <a:r>
              <a:rPr lang="en-US" sz="1100" dirty="0">
                <a:solidFill>
                  <a:srgbClr val="24292F"/>
                </a:solidFill>
                <a:latin typeface="Courier New" pitchFamily="34" charset="0"/>
                <a:ea typeface="Courier New" pitchFamily="34" charset="-122"/>
                <a:cs typeface="Courier New" pitchFamily="34" charset="-120"/>
              </a:rPr>
              <a:t>    complete: { student_id: v =&gt; ids.filter(i =&gt; i.startsWith(v)) }}),</a:t>
            </a:r>
            <a:endParaRPr lang="en-US" sz="1100" dirty="0"/>
          </a:p>
          <a:p>
            <a:pPr marL="0" indent="0">
              <a:buNone/>
            </a:pPr>
            <a:r>
              <a:rPr lang="en-US" sz="1100" dirty="0">
                <a:solidFill>
                  <a:srgbClr val="24292F"/>
                </a:solidFill>
                <a:latin typeface="Courier New" pitchFamily="34" charset="0"/>
                <a:ea typeface="Courier New" pitchFamily="34" charset="-122"/>
                <a:cs typeface="Courier New" pitchFamily="34" charset="-120"/>
              </a:rPr>
              <a:t>  { title: 'Student profile', mimeType: 'application/json' },</a:t>
            </a:r>
            <a:endParaRPr lang="en-US" sz="1100" dirty="0"/>
          </a:p>
          <a:p>
            <a:pPr marL="0" indent="0">
              <a:buNone/>
            </a:pPr>
            <a:r>
              <a:rPr lang="en-US" sz="1100" dirty="0">
                <a:solidFill>
                  <a:srgbClr val="24292F"/>
                </a:solidFill>
                <a:latin typeface="Courier New" pitchFamily="34" charset="0"/>
                <a:ea typeface="Courier New" pitchFamily="34" charset="-122"/>
                <a:cs typeface="Courier New" pitchFamily="34" charset="-120"/>
              </a:rPr>
              <a:t>  async (uri, { student_id }) =&gt; {</a:t>
            </a:r>
            <a:endParaRPr lang="en-US" sz="1100" dirty="0"/>
          </a:p>
          <a:p>
            <a:pPr marL="0" indent="0">
              <a:buNone/>
            </a:pPr>
            <a:r>
              <a:rPr lang="en-US" sz="1100" dirty="0">
                <a:solidFill>
                  <a:srgbClr val="24292F"/>
                </a:solidFill>
                <a:latin typeface="Courier New" pitchFamily="34" charset="0"/>
                <a:ea typeface="Courier New" pitchFamily="34" charset="-122"/>
                <a:cs typeface="Courier New" pitchFamily="34" charset="-120"/>
              </a:rPr>
              <a:t>    const s = data.students.get(String(student_id));</a:t>
            </a:r>
            <a:endParaRPr lang="en-US" sz="1100" dirty="0"/>
          </a:p>
          <a:p>
            <a:pPr marL="0" indent="0">
              <a:buNone/>
            </a:pPr>
            <a:r>
              <a:rPr lang="en-US" sz="1100" dirty="0">
                <a:solidFill>
                  <a:srgbClr val="24292F"/>
                </a:solidFill>
                <a:latin typeface="Courier New" pitchFamily="34" charset="0"/>
                <a:ea typeface="Courier New" pitchFamily="34" charset="-122"/>
                <a:cs typeface="Courier New" pitchFamily="34" charset="-120"/>
              </a:rPr>
              <a:t>    if (!s) throw new ResourceNotFoundError(uri.href, 'Unknown');</a:t>
            </a:r>
            <a:endParaRPr lang="en-US" sz="1100" dirty="0"/>
          </a:p>
          <a:p>
            <a:pPr marL="0" indent="0">
              <a:buNone/>
            </a:pPr>
            <a:r>
              <a:rPr lang="en-US" sz="1100" dirty="0">
                <a:solidFill>
                  <a:srgbClr val="24292F"/>
                </a:solidFill>
                <a:latin typeface="Courier New" pitchFamily="34" charset="0"/>
                <a:ea typeface="Courier New" pitchFamily="34" charset="-122"/>
                <a:cs typeface="Courier New" pitchFamily="34" charset="-120"/>
              </a:rPr>
              <a:t>    return { contents: [{ uri: uri.href,</a:t>
            </a:r>
            <a:endParaRPr lang="en-US" sz="1100" dirty="0"/>
          </a:p>
          <a:p>
            <a:pPr marL="0" indent="0">
              <a:buNone/>
            </a:pPr>
            <a:r>
              <a:rPr lang="en-US" sz="1100" dirty="0">
                <a:solidFill>
                  <a:srgbClr val="24292F"/>
                </a:solidFill>
                <a:latin typeface="Courier New" pitchFamily="34" charset="0"/>
                <a:ea typeface="Courier New" pitchFamily="34" charset="-122"/>
                <a:cs typeface="Courier New" pitchFamily="34" charset="-120"/>
              </a:rPr>
              <a:t>                          text: JSON.stringify(profile) }] };</a:t>
            </a:r>
            <a:endParaRPr lang="en-US" sz="1100" dirty="0"/>
          </a:p>
          <a:p>
            <a:pPr marL="0" indent="0">
              <a:buNone/>
            </a:pPr>
            <a:r>
              <a:rPr lang="en-US" sz="1100" dirty="0">
                <a:solidFill>
                  <a:srgbClr val="24292F"/>
                </a:solidFill>
                <a:latin typeface="Courier New" pitchFamily="34" charset="0"/>
                <a:ea typeface="Courier New" pitchFamily="34" charset="-122"/>
                <a:cs typeface="Courier New" pitchFamily="34" charset="-120"/>
              </a:rPr>
              <a:t>  });</a:t>
            </a:r>
            <a:endParaRPr lang="en-US" sz="1100" dirty="0"/>
          </a:p>
        </p:txBody>
      </p:sp>
      <p:sp>
        <p:nvSpPr>
          <p:cNvPr id="7" name="Shape 4"/>
          <p:cNvSpPr/>
          <p:nvPr/>
        </p:nvSpPr>
        <p:spPr>
          <a:xfrm>
            <a:off x="457200" y="4526280"/>
            <a:ext cx="6675120" cy="1508760"/>
          </a:xfrm>
          <a:prstGeom prst="rect">
            <a:avLst/>
          </a:prstGeom>
          <a:solidFill>
            <a:srgbClr val="F6F8FA"/>
          </a:solidFill>
          <a:ln w="12700">
            <a:solidFill>
              <a:srgbClr val="D0D7DE"/>
            </a:solidFill>
            <a:prstDash val="solid"/>
          </a:ln>
        </p:spPr>
        <p:txBody>
          <a:bodyPr/>
          <a:lstStyle/>
          <a:p>
            <a:endParaRPr lang="en-VN"/>
          </a:p>
        </p:txBody>
      </p:sp>
      <p:sp>
        <p:nvSpPr>
          <p:cNvPr id="8" name="Text 5"/>
          <p:cNvSpPr txBox="1"/>
          <p:nvPr/>
        </p:nvSpPr>
        <p:spPr>
          <a:xfrm>
            <a:off x="594360" y="4617720"/>
            <a:ext cx="6400800" cy="1325880"/>
          </a:xfrm>
          <a:prstGeom prst="rect">
            <a:avLst/>
          </a:prstGeom>
          <a:noFill/>
          <a:ln/>
        </p:spPr>
        <p:txBody>
          <a:bodyPr wrap="square" lIns="0" tIns="0" rIns="0" bIns="0" rtlCol="0" anchor="t"/>
          <a:lstStyle/>
          <a:p>
            <a:pPr marL="0" indent="0">
              <a:buNone/>
            </a:pPr>
            <a:r>
              <a:rPr lang="en-US" sz="1100" dirty="0">
                <a:solidFill>
                  <a:srgbClr val="24292F"/>
                </a:solidFill>
                <a:latin typeface="Courier New" pitchFamily="34" charset="0"/>
                <a:ea typeface="Courier New" pitchFamily="34" charset="-122"/>
                <a:cs typeface="Courier New" pitchFamily="34" charset="-120"/>
              </a:rPr>
              <a:t>server.registerPrompt('class_report', {</a:t>
            </a:r>
            <a:endParaRPr lang="en-US" sz="1100" dirty="0"/>
          </a:p>
          <a:p>
            <a:pPr marL="0" indent="0">
              <a:buNone/>
            </a:pPr>
            <a:r>
              <a:rPr lang="en-US" sz="1100" dirty="0">
                <a:solidFill>
                  <a:srgbClr val="24292F"/>
                </a:solidFill>
                <a:latin typeface="Courier New" pitchFamily="34" charset="0"/>
                <a:ea typeface="Courier New" pitchFamily="34" charset="-122"/>
                <a:cs typeface="Courier New" pitchFamily="34" charset="-120"/>
              </a:rPr>
              <a:t>  argsSchema: z.object({</a:t>
            </a:r>
            <a:endParaRPr lang="en-US" sz="1100" dirty="0"/>
          </a:p>
          <a:p>
            <a:pPr marL="0" indent="0">
              <a:buNone/>
            </a:pPr>
            <a:r>
              <a:rPr lang="en-US" sz="1100" dirty="0">
                <a:solidFill>
                  <a:srgbClr val="24292F"/>
                </a:solidFill>
                <a:latin typeface="Courier New" pitchFamily="34" charset="0"/>
                <a:ea typeface="Courier New" pitchFamily="34" charset="-122"/>
                <a:cs typeface="Courier New" pitchFamily="34" charset="-120"/>
              </a:rPr>
              <a:t>    class_id: completable(z.string(), v =&gt; match(v)) }) },</a:t>
            </a:r>
            <a:endParaRPr lang="en-US" sz="1100" dirty="0"/>
          </a:p>
          <a:p>
            <a:pPr marL="0" indent="0">
              <a:buNone/>
            </a:pPr>
            <a:r>
              <a:rPr lang="en-US" sz="1100" dirty="0">
                <a:solidFill>
                  <a:srgbClr val="24292F"/>
                </a:solidFill>
                <a:latin typeface="Courier New" pitchFamily="34" charset="0"/>
                <a:ea typeface="Courier New" pitchFamily="34" charset="-122"/>
                <a:cs typeface="Courier New" pitchFamily="34" charset="-120"/>
              </a:rPr>
              <a:t>  ({ class_id }) =&gt; ({ messages: [{ role: 'user', content: {</a:t>
            </a:r>
            <a:endParaRPr lang="en-US" sz="1100" dirty="0"/>
          </a:p>
          <a:p>
            <a:pPr marL="0" indent="0">
              <a:buNone/>
            </a:pPr>
            <a:r>
              <a:rPr lang="en-US" sz="1100" dirty="0">
                <a:solidFill>
                  <a:srgbClr val="24292F"/>
                </a:solidFill>
                <a:latin typeface="Courier New" pitchFamily="34" charset="0"/>
                <a:ea typeface="Courier New" pitchFamily="34" charset="-122"/>
                <a:cs typeface="Courier New" pitchFamily="34" charset="-120"/>
              </a:rPr>
              <a:t>    type: 'text', text: `Write a report for ${class_id}…` } }] }));</a:t>
            </a:r>
            <a:endParaRPr lang="en-US" sz="1100" dirty="0"/>
          </a:p>
        </p:txBody>
      </p:sp>
      <p:sp>
        <p:nvSpPr>
          <p:cNvPr id="9" name="Text 6"/>
          <p:cNvSpPr txBox="1"/>
          <p:nvPr/>
        </p:nvSpPr>
        <p:spPr>
          <a:xfrm>
            <a:off x="457200" y="6080760"/>
            <a:ext cx="6675120" cy="274320"/>
          </a:xfrm>
          <a:prstGeom prst="rect">
            <a:avLst/>
          </a:prstGeom>
          <a:noFill/>
          <a:ln/>
        </p:spPr>
        <p:txBody>
          <a:bodyPr wrap="square" lIns="0" tIns="0" rIns="0" bIns="0" rtlCol="0" anchor="ctr"/>
          <a:lstStyle/>
          <a:p>
            <a:pPr marL="0" indent="0">
              <a:buNone/>
            </a:pPr>
            <a:r>
              <a:rPr lang="en-US" sz="1100" i="1" dirty="0">
                <a:solidFill>
                  <a:srgbClr val="5B6475"/>
                </a:solidFill>
              </a:rPr>
              <a:t>src/server/academic/resources.ts · prompts.ts</a:t>
            </a:r>
            <a:endParaRPr lang="en-US" sz="1100" dirty="0"/>
          </a:p>
        </p:txBody>
      </p:sp>
      <p:sp>
        <p:nvSpPr>
          <p:cNvPr id="10" name="Shape 7"/>
          <p:cNvSpPr/>
          <p:nvPr/>
        </p:nvSpPr>
        <p:spPr>
          <a:xfrm>
            <a:off x="7406640" y="1371600"/>
            <a:ext cx="4297680" cy="4663440"/>
          </a:xfrm>
          <a:prstGeom prst="roundRect">
            <a:avLst>
              <a:gd name="adj" fmla="val 1702"/>
            </a:avLst>
          </a:prstGeom>
          <a:solidFill>
            <a:srgbClr val="EEF2F6"/>
          </a:solidFill>
          <a:ln w="12700">
            <a:solidFill>
              <a:srgbClr val="EEF2F6"/>
            </a:solidFill>
            <a:prstDash val="solid"/>
          </a:ln>
        </p:spPr>
        <p:txBody>
          <a:bodyPr/>
          <a:lstStyle/>
          <a:p>
            <a:endParaRPr lang="en-VN"/>
          </a:p>
        </p:txBody>
      </p:sp>
      <p:sp>
        <p:nvSpPr>
          <p:cNvPr id="11" name="Text 8"/>
          <p:cNvSpPr txBox="1"/>
          <p:nvPr/>
        </p:nvSpPr>
        <p:spPr>
          <a:xfrm>
            <a:off x="7589520" y="1508760"/>
            <a:ext cx="3931920" cy="457200"/>
          </a:xfrm>
          <a:prstGeom prst="rect">
            <a:avLst/>
          </a:prstGeom>
          <a:noFill/>
          <a:ln/>
        </p:spPr>
        <p:txBody>
          <a:bodyPr wrap="square" lIns="0" tIns="0" rIns="0" bIns="0" rtlCol="0" anchor="t"/>
          <a:lstStyle/>
          <a:p>
            <a:pPr marL="0" indent="0">
              <a:buNone/>
            </a:pPr>
            <a:r>
              <a:rPr lang="en-US" sz="1800" b="1" dirty="0">
                <a:solidFill>
                  <a:srgbClr val="0F8B8D"/>
                </a:solidFill>
              </a:rPr>
              <a:t>Real results (S4, S5)</a:t>
            </a:r>
            <a:endParaRPr lang="en-US" sz="1800" dirty="0"/>
          </a:p>
        </p:txBody>
      </p:sp>
      <p:sp>
        <p:nvSpPr>
          <p:cNvPr id="12" name="Text 9"/>
          <p:cNvSpPr txBox="1"/>
          <p:nvPr/>
        </p:nvSpPr>
        <p:spPr>
          <a:xfrm>
            <a:off x="7589520" y="2011680"/>
            <a:ext cx="3931920" cy="3886200"/>
          </a:xfrm>
          <a:prstGeom prst="rect">
            <a:avLst/>
          </a:prstGeom>
          <a:noFill/>
          <a:ln/>
        </p:spPr>
        <p:txBody>
          <a:bodyPr wrap="square" lIns="0" tIns="0" rIns="0" bIns="0" rtlCol="0" anchor="t"/>
          <a:lstStyle/>
          <a:p>
            <a:pPr marL="0" indent="0">
              <a:buNone/>
            </a:pPr>
            <a:r>
              <a:rPr lang="en-US" sz="1300" dirty="0">
                <a:solidFill>
                  <a:srgbClr val="1F2937"/>
                </a:solidFill>
              </a:rPr>
              <a:t>readResource academic://students/2201010</a:t>
            </a:r>
            <a:endParaRPr lang="en-US" sz="1300" dirty="0"/>
          </a:p>
          <a:p>
            <a:pPr marL="0" indent="0">
              <a:buNone/>
            </a:pPr>
            <a:r>
              <a:rPr lang="en-US" sz="1300" dirty="0">
                <a:solidFill>
                  <a:srgbClr val="1F2937"/>
                </a:solidFill>
              </a:rPr>
              <a:t>→ Trần Đức Phúc, IT01, GPA 2.06 Average</a:t>
            </a:r>
            <a:endParaRPr lang="en-US" sz="1300" dirty="0"/>
          </a:p>
          <a:p>
            <a:pPr marL="0" indent="0">
              <a:buNone/>
            </a:pPr>
            <a:endParaRPr lang="en-US" sz="1300" dirty="0"/>
          </a:p>
          <a:p>
            <a:pPr marL="0" indent="0">
              <a:buNone/>
            </a:pPr>
            <a:r>
              <a:rPr lang="en-US" sz="1300" dirty="0">
                <a:solidFill>
                  <a:srgbClr val="1F2937"/>
                </a:solidFill>
              </a:rPr>
              <a:t>readResource …/students/9999999</a:t>
            </a:r>
            <a:endParaRPr lang="en-US" sz="1300" dirty="0"/>
          </a:p>
          <a:p>
            <a:pPr marL="0" indent="0">
              <a:buNone/>
            </a:pPr>
            <a:r>
              <a:rPr lang="en-US" sz="1300" dirty="0">
                <a:solidFill>
                  <a:srgbClr val="1F2937"/>
                </a:solidFill>
              </a:rPr>
              <a:t>→ ProtocolError -32602</a:t>
            </a:r>
            <a:endParaRPr lang="en-US" sz="1300" dirty="0"/>
          </a:p>
          <a:p>
            <a:pPr marL="0" indent="0">
              <a:buNone/>
            </a:pPr>
            <a:endParaRPr lang="en-US" sz="1300" dirty="0"/>
          </a:p>
          <a:p>
            <a:pPr marL="0" indent="0">
              <a:buNone/>
            </a:pPr>
            <a:r>
              <a:rPr lang="en-US" sz="1300" dirty="0">
                <a:solidFill>
                  <a:srgbClr val="1F2937"/>
                </a:solidFill>
              </a:rPr>
              <a:t>getPrompt class_report {}</a:t>
            </a:r>
            <a:endParaRPr lang="en-US" sz="1300" dirty="0"/>
          </a:p>
          <a:p>
            <a:pPr marL="0" indent="0">
              <a:buNone/>
            </a:pPr>
            <a:r>
              <a:rPr lang="en-US" sz="1300" dirty="0">
                <a:solidFill>
                  <a:srgbClr val="1F2937"/>
                </a:solidFill>
              </a:rPr>
              <a:t>→ ProtocolError -32602 (missing class_id)</a:t>
            </a:r>
            <a:endParaRPr lang="en-US" sz="1300" dirty="0"/>
          </a:p>
          <a:p>
            <a:pPr marL="0" indent="0">
              <a:buNone/>
            </a:pPr>
            <a:endParaRPr lang="en-US" sz="1300" dirty="0"/>
          </a:p>
          <a:p>
            <a:pPr marL="0" indent="0">
              <a:buNone/>
            </a:pPr>
            <a:r>
              <a:rPr lang="en-US" sz="1300" dirty="0">
                <a:solidFill>
                  <a:srgbClr val="1F2937"/>
                </a:solidFill>
              </a:rPr>
              <a:t>complete class_id = "B"</a:t>
            </a:r>
            <a:endParaRPr lang="en-US" sz="1300" dirty="0"/>
          </a:p>
          <a:p>
            <a:pPr marL="0" indent="0">
              <a:buNone/>
            </a:pPr>
            <a:r>
              <a:rPr lang="en-US" sz="1300" dirty="0">
                <a:solidFill>
                  <a:srgbClr val="1F2937"/>
                </a:solidFill>
              </a:rPr>
              <a:t>→ ["BA01", "BA02"]</a:t>
            </a:r>
            <a:endParaRPr lang="en-US" sz="13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r"/>
            <a:fld id="{F7021451-1387-4CA6-816F-3879F97B5CBC}" type="slidenum">
              <a:rPr lang="en-US" b="0"/>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marL="0" indent="0">
              <a:buNone/>
            </a:pPr>
            <a:r>
              <a:rPr lang="en-US" sz="1200" b="1" kern="0" spc="200" dirty="0">
                <a:solidFill>
                  <a:srgbClr val="0F8B8D"/>
                </a:solidFill>
              </a:rPr>
              <a:t>REQUIREMENT 6 · CODE</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marL="0" indent="0">
              <a:buNone/>
            </a:pPr>
            <a:r>
              <a:rPr lang="en-US" sz="3000" b="1" dirty="0">
                <a:solidFill>
                  <a:srgbClr val="1F2937"/>
                </a:solidFill>
              </a:rPr>
              <a:t>Example 4 — the client side: connect and call</a:t>
            </a:r>
            <a:endParaRPr lang="en-US" sz="3000" dirty="0"/>
          </a:p>
        </p:txBody>
      </p:sp>
      <p:sp>
        <p:nvSpPr>
          <p:cNvPr id="5" name="Shape 2"/>
          <p:cNvSpPr/>
          <p:nvPr/>
        </p:nvSpPr>
        <p:spPr>
          <a:xfrm>
            <a:off x="457200" y="1325880"/>
            <a:ext cx="7315200" cy="4572000"/>
          </a:xfrm>
          <a:prstGeom prst="rect">
            <a:avLst/>
          </a:prstGeom>
          <a:solidFill>
            <a:srgbClr val="F6F8FA"/>
          </a:solidFill>
          <a:ln w="12700">
            <a:solidFill>
              <a:srgbClr val="D0D7DE"/>
            </a:solidFill>
            <a:prstDash val="solid"/>
          </a:ln>
        </p:spPr>
        <p:txBody>
          <a:bodyPr/>
          <a:lstStyle/>
          <a:p>
            <a:endParaRPr lang="en-VN"/>
          </a:p>
        </p:txBody>
      </p:sp>
      <p:sp>
        <p:nvSpPr>
          <p:cNvPr id="6" name="Text 3"/>
          <p:cNvSpPr txBox="1"/>
          <p:nvPr/>
        </p:nvSpPr>
        <p:spPr>
          <a:xfrm>
            <a:off x="594360" y="1417320"/>
            <a:ext cx="7040880" cy="4389120"/>
          </a:xfrm>
          <a:prstGeom prst="rect">
            <a:avLst/>
          </a:prstGeom>
          <a:noFill/>
          <a:ln/>
        </p:spPr>
        <p:txBody>
          <a:bodyPr wrap="square" lIns="0" tIns="0" rIns="0" bIns="0" rtlCol="0" anchor="t"/>
          <a:lstStyle/>
          <a:p>
            <a:pPr marL="0" indent="0">
              <a:buNone/>
            </a:pPr>
            <a:r>
              <a:rPr lang="en-US" sz="1200" dirty="0">
                <a:solidFill>
                  <a:srgbClr val="24292F"/>
                </a:solidFill>
                <a:latin typeface="Courier New" pitchFamily="34" charset="0"/>
                <a:ea typeface="Courier New" pitchFamily="34" charset="-122"/>
                <a:cs typeface="Courier New" pitchFamily="34" charset="-120"/>
              </a:rPr>
              <a:t>import { Client } from '@modelcontextprotocol/client';</a:t>
            </a:r>
            <a:endParaRPr lang="en-US" sz="1200" dirty="0"/>
          </a:p>
          <a:p>
            <a:pPr marL="0" indent="0">
              <a:buNone/>
            </a:pPr>
            <a:r>
              <a:rPr lang="en-US" sz="1200" dirty="0">
                <a:solidFill>
                  <a:srgbClr val="24292F"/>
                </a:solidFill>
                <a:latin typeface="Courier New" pitchFamily="34" charset="0"/>
                <a:ea typeface="Courier New" pitchFamily="34" charset="-122"/>
                <a:cs typeface="Courier New" pitchFamily="34" charset="-120"/>
              </a:rPr>
              <a:t>import { StdioClientTransport } from '@modelcontextprotocol/client/stdio';</a:t>
            </a:r>
            <a:endParaRPr lang="en-US" sz="1200" dirty="0"/>
          </a:p>
          <a:p>
            <a:pPr marL="0" indent="0">
              <a:buNone/>
            </a:pPr>
            <a:endParaRPr lang="en-US" sz="1200" dirty="0"/>
          </a:p>
          <a:p>
            <a:pPr marL="0" indent="0">
              <a:buNone/>
            </a:pPr>
            <a:r>
              <a:rPr lang="en-US" sz="1200" dirty="0">
                <a:solidFill>
                  <a:srgbClr val="24292F"/>
                </a:solidFill>
                <a:latin typeface="Courier New" pitchFamily="34" charset="0"/>
                <a:ea typeface="Courier New" pitchFamily="34" charset="-122"/>
                <a:cs typeface="Courier New" pitchFamily="34" charset="-120"/>
              </a:rPr>
              <a:t>const client = new Client(</a:t>
            </a:r>
            <a:endParaRPr lang="en-US" sz="1200" dirty="0"/>
          </a:p>
          <a:p>
            <a:pPr marL="0" indent="0">
              <a:buNone/>
            </a:pPr>
            <a:r>
              <a:rPr lang="en-US" sz="1200" dirty="0">
                <a:solidFill>
                  <a:srgbClr val="24292F"/>
                </a:solidFill>
                <a:latin typeface="Courier New" pitchFamily="34" charset="0"/>
                <a:ea typeface="Courier New" pitchFamily="34" charset="-122"/>
                <a:cs typeface="Courier New" pitchFamily="34" charset="-120"/>
              </a:rPr>
              <a:t>  { name: 'mcp-academic-host', version: '1.0.0' },</a:t>
            </a:r>
            <a:endParaRPr lang="en-US" sz="1200" dirty="0"/>
          </a:p>
          <a:p>
            <a:pPr marL="0" indent="0">
              <a:buNone/>
            </a:pPr>
            <a:r>
              <a:rPr lang="en-US" sz="1200" dirty="0">
                <a:solidFill>
                  <a:srgbClr val="24292F"/>
                </a:solidFill>
                <a:latin typeface="Courier New" pitchFamily="34" charset="0"/>
                <a:ea typeface="Courier New" pitchFamily="34" charset="-122"/>
                <a:cs typeface="Courier New" pitchFamily="34" charset="-120"/>
              </a:rPr>
              <a:t>  { capabilities: { elicitation: { form: {} }, sampling: {} },</a:t>
            </a:r>
            <a:endParaRPr lang="en-US" sz="1200" dirty="0"/>
          </a:p>
          <a:p>
            <a:pPr marL="0" indent="0">
              <a:buNone/>
            </a:pPr>
            <a:r>
              <a:rPr lang="en-US" sz="1200" dirty="0">
                <a:solidFill>
                  <a:srgbClr val="24292F"/>
                </a:solidFill>
                <a:latin typeface="Courier New" pitchFamily="34" charset="0"/>
                <a:ea typeface="Courier New" pitchFamily="34" charset="-122"/>
                <a:cs typeface="Courier New" pitchFamily="34" charset="-120"/>
              </a:rPr>
              <a:t>    versionNegotiation: { mode: 'auto' } });</a:t>
            </a:r>
            <a:endParaRPr lang="en-US" sz="1200" dirty="0"/>
          </a:p>
          <a:p>
            <a:pPr marL="0" indent="0">
              <a:buNone/>
            </a:pPr>
            <a:endParaRPr lang="en-US" sz="1200" dirty="0"/>
          </a:p>
          <a:p>
            <a:pPr marL="0" indent="0">
              <a:buNone/>
            </a:pPr>
            <a:r>
              <a:rPr lang="en-US" sz="1200" dirty="0">
                <a:solidFill>
                  <a:srgbClr val="24292F"/>
                </a:solidFill>
                <a:latin typeface="Courier New" pitchFamily="34" charset="0"/>
                <a:ea typeface="Courier New" pitchFamily="34" charset="-122"/>
                <a:cs typeface="Courier New" pitchFamily="34" charset="-120"/>
              </a:rPr>
              <a:t>await client.connect(new StdioClientTransport({</a:t>
            </a:r>
            <a:endParaRPr lang="en-US" sz="1200" dirty="0"/>
          </a:p>
          <a:p>
            <a:pPr marL="0" indent="0">
              <a:buNone/>
            </a:pPr>
            <a:r>
              <a:rPr lang="en-US" sz="1200" dirty="0">
                <a:solidFill>
                  <a:srgbClr val="24292F"/>
                </a:solidFill>
                <a:latin typeface="Courier New" pitchFamily="34" charset="0"/>
                <a:ea typeface="Courier New" pitchFamily="34" charset="-122"/>
                <a:cs typeface="Courier New" pitchFamily="34" charset="-120"/>
              </a:rPr>
              <a:t>  command: 'node',</a:t>
            </a:r>
            <a:endParaRPr lang="en-US" sz="1200" dirty="0"/>
          </a:p>
          <a:p>
            <a:pPr marL="0" indent="0">
              <a:buNone/>
            </a:pPr>
            <a:r>
              <a:rPr lang="en-US" sz="1200" dirty="0">
                <a:solidFill>
                  <a:srgbClr val="24292F"/>
                </a:solidFill>
                <a:latin typeface="Courier New" pitchFamily="34" charset="0"/>
                <a:ea typeface="Courier New" pitchFamily="34" charset="-122"/>
                <a:cs typeface="Courier New" pitchFamily="34" charset="-120"/>
              </a:rPr>
              <a:t>  args: ['--import', 'tsx', 'src/server/academic/main.ts'] }));</a:t>
            </a:r>
            <a:endParaRPr lang="en-US" sz="1200" dirty="0"/>
          </a:p>
          <a:p>
            <a:pPr marL="0" indent="0">
              <a:buNone/>
            </a:pPr>
            <a:endParaRPr lang="en-US" sz="1200" dirty="0"/>
          </a:p>
          <a:p>
            <a:pPr marL="0" indent="0">
              <a:buNone/>
            </a:pPr>
            <a:r>
              <a:rPr lang="en-US" sz="1200" dirty="0">
                <a:solidFill>
                  <a:srgbClr val="24292F"/>
                </a:solidFill>
                <a:latin typeface="Courier New" pitchFamily="34" charset="0"/>
                <a:ea typeface="Courier New" pitchFamily="34" charset="-122"/>
                <a:cs typeface="Courier New" pitchFamily="34" charset="-120"/>
              </a:rPr>
              <a:t>const { tools } = await client.listTools();  // 10 tools → LLM</a:t>
            </a:r>
            <a:endParaRPr lang="en-US" sz="1200" dirty="0"/>
          </a:p>
          <a:p>
            <a:pPr marL="0" indent="0">
              <a:buNone/>
            </a:pPr>
            <a:r>
              <a:rPr lang="en-US" sz="1200" dirty="0">
                <a:solidFill>
                  <a:srgbClr val="24292F"/>
                </a:solidFill>
                <a:latin typeface="Courier New" pitchFamily="34" charset="0"/>
                <a:ea typeface="Courier New" pitchFamily="34" charset="-122"/>
                <a:cs typeface="Courier New" pitchFamily="34" charset="-120"/>
              </a:rPr>
              <a:t>const result = await client.callTool({</a:t>
            </a:r>
            <a:endParaRPr lang="en-US" sz="1200" dirty="0"/>
          </a:p>
          <a:p>
            <a:pPr marL="0" indent="0">
              <a:buNone/>
            </a:pPr>
            <a:r>
              <a:rPr lang="en-US" sz="1200" dirty="0">
                <a:solidFill>
                  <a:srgbClr val="24292F"/>
                </a:solidFill>
                <a:latin typeface="Courier New" pitchFamily="34" charset="0"/>
                <a:ea typeface="Courier New" pitchFamily="34" charset="-122"/>
                <a:cs typeface="Courier New" pitchFamily="34" charset="-120"/>
              </a:rPr>
              <a:t>  name: 'calculate_gpa', arguments: { student_id: '2201010' } });</a:t>
            </a:r>
            <a:endParaRPr lang="en-US" sz="1200" dirty="0"/>
          </a:p>
          <a:p>
            <a:pPr marL="0" indent="0">
              <a:buNone/>
            </a:pPr>
            <a:r>
              <a:rPr lang="en-US" sz="1200" dirty="0">
                <a:solidFill>
                  <a:srgbClr val="24292F"/>
                </a:solidFill>
                <a:latin typeface="Courier New" pitchFamily="34" charset="0"/>
                <a:ea typeface="Courier New" pitchFamily="34" charset="-122"/>
                <a:cs typeface="Courier New" pitchFamily="34" charset="-120"/>
              </a:rPr>
              <a:t>// result.structuredContent</a:t>
            </a:r>
            <a:endParaRPr lang="en-US" sz="1200" dirty="0"/>
          </a:p>
          <a:p>
            <a:pPr marL="0" indent="0">
              <a:buNone/>
            </a:pPr>
            <a:r>
              <a:rPr lang="en-US" sz="1200" dirty="0">
                <a:solidFill>
                  <a:srgbClr val="24292F"/>
                </a:solidFill>
                <a:latin typeface="Courier New" pitchFamily="34" charset="0"/>
                <a:ea typeface="Courier New" pitchFamily="34" charset="-122"/>
                <a:cs typeface="Courier New" pitchFamily="34" charset="-120"/>
              </a:rPr>
              <a:t>//   → { gpa: 2.06, classification: 'Average', ... }</a:t>
            </a:r>
            <a:endParaRPr lang="en-US" sz="1200" dirty="0"/>
          </a:p>
        </p:txBody>
      </p:sp>
      <p:sp>
        <p:nvSpPr>
          <p:cNvPr id="7" name="Text 4"/>
          <p:cNvSpPr txBox="1"/>
          <p:nvPr/>
        </p:nvSpPr>
        <p:spPr>
          <a:xfrm>
            <a:off x="457200" y="5943600"/>
            <a:ext cx="7315200" cy="274320"/>
          </a:xfrm>
          <a:prstGeom prst="rect">
            <a:avLst/>
          </a:prstGeom>
          <a:noFill/>
          <a:ln/>
        </p:spPr>
        <p:txBody>
          <a:bodyPr wrap="square" lIns="0" tIns="0" rIns="0" bIns="0" rtlCol="0" anchor="ctr"/>
          <a:lstStyle/>
          <a:p>
            <a:pPr marL="0" indent="0">
              <a:buNone/>
            </a:pPr>
            <a:r>
              <a:rPr lang="en-US" sz="1100" i="1" dirty="0">
                <a:solidFill>
                  <a:srgbClr val="5B6475"/>
                </a:solidFill>
              </a:rPr>
              <a:t>Simplified from src/host/mcp-hub.ts</a:t>
            </a:r>
            <a:endParaRPr lang="en-US" sz="11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8046720" y="1371600"/>
          <a:ext cx="3657600" cy="1353312"/>
        </p:xfrm>
        <a:graphic>
          <a:graphicData uri="http://schemas.openxmlformats.org/drawingml/2006/table">
            <a:tbl>
              <a:tblPr/>
              <a:tblGrid>
                <a:gridCol w="1645920">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0">
                <a:tc>
                  <a:txBody>
                    <a:bodyPr/>
                    <a:lstStyle/>
                    <a:p>
                      <a:pPr marL="0" indent="0">
                        <a:buNone/>
                      </a:pPr>
                      <a:r>
                        <a:rPr lang="en-US" sz="1200" b="1" dirty="0">
                          <a:solidFill>
                            <a:srgbClr val="FFFFFF"/>
                          </a:solidFill>
                        </a:rPr>
                        <a:t>versionNegotiation</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rPr>
                        <a:t>Era</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marL="0" indent="0">
                        <a:buNone/>
                      </a:pPr>
                      <a:r>
                        <a:rPr lang="en-US" sz="1200" b="1" dirty="0">
                          <a:solidFill>
                            <a:srgbClr val="FFFFFF"/>
                          </a:solidFill>
                        </a:rPr>
                        <a:t>Requests to connect</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0">
                <a:tc>
                  <a:txBody>
                    <a:bodyPr/>
                    <a:lstStyle/>
                    <a:p>
                      <a:pPr marL="0" indent="0">
                        <a:buNone/>
                      </a:pPr>
                      <a:r>
                        <a:rPr lang="en-US" sz="1200" dirty="0">
                          <a:solidFill>
                            <a:srgbClr val="1F2937"/>
                          </a:solidFill>
                        </a:rPr>
                        <a:t>(default)</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200" dirty="0">
                          <a:solidFill>
                            <a:srgbClr val="1F2937"/>
                          </a:solidFill>
                        </a:rPr>
                        <a:t>2025</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200" dirty="0">
                          <a:solidFill>
                            <a:srgbClr val="1F2937"/>
                          </a:solidFill>
                        </a:rPr>
                        <a:t>2</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 mode: 'auto' }</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200" dirty="0">
                          <a:solidFill>
                            <a:srgbClr val="1F2937"/>
                          </a:solidFill>
                        </a:rPr>
                        <a:t>2026</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marL="0" indent="0">
                        <a:buNone/>
                      </a:pPr>
                      <a:r>
                        <a:rPr lang="en-US" sz="1200" dirty="0">
                          <a:solidFill>
                            <a:srgbClr val="1F2937"/>
                          </a:solidFill>
                        </a:rPr>
                        <a:t>1</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0">
                <a:tc>
                  <a:txBody>
                    <a:bodyPr/>
                    <a:lstStyle/>
                    <a:p>
                      <a:pPr marL="0" indent="0">
                        <a:buNone/>
                      </a:pPr>
                      <a:r>
                        <a:rPr lang="en-US" sz="1200" dirty="0">
                          <a:solidFill>
                            <a:srgbClr val="1F2937"/>
                          </a:solidFill>
                        </a:rPr>
                        <a:t>auto + prior result</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200" dirty="0">
                          <a:solidFill>
                            <a:srgbClr val="1F2937"/>
                          </a:solidFill>
                        </a:rPr>
                        <a:t>2026</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200" dirty="0">
                          <a:solidFill>
                            <a:srgbClr val="1F2937"/>
                          </a:solidFill>
                        </a:rPr>
                        <a:t>0</a:t>
                      </a:r>
                      <a:endParaRPr lang="en-US" sz="12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9" name="Text 5"/>
          <p:cNvSpPr txBox="1"/>
          <p:nvPr/>
        </p:nvSpPr>
        <p:spPr>
          <a:xfrm>
            <a:off x="8046720" y="3108960"/>
            <a:ext cx="3657600" cy="274320"/>
          </a:xfrm>
          <a:prstGeom prst="rect">
            <a:avLst/>
          </a:prstGeom>
          <a:noFill/>
          <a:ln/>
        </p:spPr>
        <p:txBody>
          <a:bodyPr wrap="square" lIns="0" tIns="0" rIns="0" bIns="0" rtlCol="0" anchor="ctr"/>
          <a:lstStyle/>
          <a:p>
            <a:pPr marL="0" indent="0">
              <a:buNone/>
            </a:pPr>
            <a:r>
              <a:rPr lang="en-US" sz="1100" i="1" dirty="0">
                <a:solidFill>
                  <a:srgbClr val="5B6475"/>
                </a:solidFill>
              </a:rPr>
              <a:t>Measured in example C1</a:t>
            </a:r>
            <a:endParaRPr lang="en-US" sz="11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r"/>
            <a:fld id="{F7021451-1387-4CA6-816F-3879F97B5CBC}" type="slidenum">
              <a:rPr lang="en-US" b="0"/>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marL="0" indent="0">
              <a:buNone/>
            </a:pPr>
            <a:r>
              <a:rPr lang="en-US" sz="1200" b="1" kern="0" spc="200" dirty="0">
                <a:solidFill>
                  <a:srgbClr val="0F8B8D"/>
                </a:solidFill>
              </a:rPr>
              <a:t>REQUIREMENT 6 · CODE</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marL="0" indent="0">
              <a:buNone/>
            </a:pPr>
            <a:r>
              <a:rPr lang="en-US" sz="3000" b="1" dirty="0">
                <a:solidFill>
                  <a:srgbClr val="1F2937"/>
                </a:solidFill>
              </a:rPr>
              <a:t>Try it yourself</a:t>
            </a:r>
            <a:endParaRPr lang="en-US" sz="3000" dirty="0"/>
          </a:p>
        </p:txBody>
      </p:sp>
      <p:sp>
        <p:nvSpPr>
          <p:cNvPr id="5" name="Shape 2"/>
          <p:cNvSpPr/>
          <p:nvPr/>
        </p:nvSpPr>
        <p:spPr>
          <a:xfrm>
            <a:off x="457200" y="1371600"/>
            <a:ext cx="11247120" cy="2468880"/>
          </a:xfrm>
          <a:prstGeom prst="rect">
            <a:avLst/>
          </a:prstGeom>
          <a:solidFill>
            <a:srgbClr val="F6F8FA"/>
          </a:solidFill>
          <a:ln w="12700">
            <a:solidFill>
              <a:srgbClr val="D0D7DE"/>
            </a:solidFill>
            <a:prstDash val="solid"/>
          </a:ln>
        </p:spPr>
        <p:txBody>
          <a:bodyPr/>
          <a:lstStyle/>
          <a:p>
            <a:endParaRPr lang="en-VN"/>
          </a:p>
        </p:txBody>
      </p:sp>
      <p:sp>
        <p:nvSpPr>
          <p:cNvPr id="6" name="Text 3"/>
          <p:cNvSpPr txBox="1"/>
          <p:nvPr/>
        </p:nvSpPr>
        <p:spPr>
          <a:xfrm>
            <a:off x="594360" y="1463040"/>
            <a:ext cx="10972800" cy="2286000"/>
          </a:xfrm>
          <a:prstGeom prst="rect">
            <a:avLst/>
          </a:prstGeom>
          <a:noFill/>
          <a:ln/>
        </p:spPr>
        <p:txBody>
          <a:bodyPr wrap="square" lIns="0" tIns="0" rIns="0" bIns="0" rtlCol="0" anchor="t"/>
          <a:lstStyle/>
          <a:p>
            <a:pPr marL="0" indent="0">
              <a:buNone/>
            </a:pPr>
            <a:r>
              <a:rPr lang="en-US" sz="1500" dirty="0">
                <a:solidFill>
                  <a:srgbClr val="24292F"/>
                </a:solidFill>
                <a:latin typeface="Courier New" pitchFamily="34" charset="0"/>
                <a:ea typeface="Courier New" pitchFamily="34" charset="-122"/>
                <a:cs typeface="Courier New" pitchFamily="34" charset="-120"/>
              </a:rPr>
              <a:t>git clone https://github.com/HaHiepThanh/mcp-ts.git</a:t>
            </a:r>
            <a:endParaRPr lang="en-US" sz="1500" dirty="0"/>
          </a:p>
          <a:p>
            <a:pPr marL="0" indent="0">
              <a:buNone/>
            </a:pPr>
            <a:r>
              <a:rPr lang="en-US" sz="1500" dirty="0">
                <a:solidFill>
                  <a:srgbClr val="24292F"/>
                </a:solidFill>
                <a:latin typeface="Courier New" pitchFamily="34" charset="0"/>
                <a:ea typeface="Courier New" pitchFamily="34" charset="-122"/>
                <a:cs typeface="Courier New" pitchFamily="34" charset="-120"/>
              </a:rPr>
              <a:t>cd mcp-ts/mcp-academic</a:t>
            </a:r>
            <a:endParaRPr lang="en-US" sz="1500" dirty="0"/>
          </a:p>
          <a:p>
            <a:pPr marL="0" indent="0">
              <a:buNone/>
            </a:pPr>
            <a:r>
              <a:rPr lang="en-US" sz="1500" dirty="0">
                <a:solidFill>
                  <a:srgbClr val="24292F"/>
                </a:solidFill>
                <a:latin typeface="Courier New" pitchFamily="34" charset="0"/>
                <a:ea typeface="Courier New" pitchFamily="34" charset="-122"/>
                <a:cs typeface="Courier New" pitchFamily="34" charset="-120"/>
              </a:rPr>
              <a:t>npm install</a:t>
            </a:r>
            <a:endParaRPr lang="en-US" sz="1500" dirty="0"/>
          </a:p>
          <a:p>
            <a:pPr marL="0" indent="0">
              <a:buNone/>
            </a:pPr>
            <a:endParaRPr lang="en-US" sz="1500" dirty="0"/>
          </a:p>
          <a:p>
            <a:pPr marL="0" indent="0">
              <a:buNone/>
            </a:pPr>
            <a:r>
              <a:rPr lang="en-US" sz="1500" dirty="0">
                <a:solidFill>
                  <a:srgbClr val="24292F"/>
                </a:solidFill>
                <a:latin typeface="Courier New" pitchFamily="34" charset="0"/>
                <a:ea typeface="Courier New" pitchFamily="34" charset="-122"/>
                <a:cs typeface="Courier New" pitchFamily="34" charset="-120"/>
              </a:rPr>
              <a:t>npm run examples        # 13 SDK examples, no LLM needed → 13/13 passed</a:t>
            </a:r>
            <a:endParaRPr lang="en-US" sz="1500" dirty="0"/>
          </a:p>
          <a:p>
            <a:pPr marL="0" indent="0">
              <a:buNone/>
            </a:pPr>
            <a:r>
              <a:rPr lang="en-US" sz="1500" dirty="0">
                <a:solidFill>
                  <a:srgbClr val="24292F"/>
                </a:solidFill>
                <a:latin typeface="Courier New" pitchFamily="34" charset="0"/>
                <a:ea typeface="Courier New" pitchFamily="34" charset="-122"/>
                <a:cs typeface="Courier New" pitchFamily="34" charset="-120"/>
              </a:rPr>
              <a:t>npm run chat            # chat with Gemini (needs GEMINI_API_KEY in .env)</a:t>
            </a:r>
            <a:endParaRPr lang="en-US" sz="1500" dirty="0"/>
          </a:p>
          <a:p>
            <a:pPr marL="0" indent="0">
              <a:buNone/>
            </a:pPr>
            <a:r>
              <a:rPr lang="en-US" sz="1500" dirty="0">
                <a:solidFill>
                  <a:srgbClr val="24292F"/>
                </a:solidFill>
                <a:latin typeface="Courier New" pitchFamily="34" charset="0"/>
                <a:ea typeface="Courier New" pitchFamily="34" charset="-122"/>
                <a:cs typeface="Courier New" pitchFamily="34" charset="-120"/>
              </a:rPr>
              <a:t>npm run chat -- --config config/host.qwen.json   # local Qwen via Ollama</a:t>
            </a:r>
            <a:endParaRPr lang="en-US" sz="15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457200" y="4206240"/>
          <a:ext cx="11247120" cy="914400"/>
        </p:xfrm>
        <a:graphic>
          <a:graphicData uri="http://schemas.openxmlformats.org/drawingml/2006/table">
            <a:tbl>
              <a:tblPr/>
              <a:tblGrid>
                <a:gridCol w="2194560">
                  <a:extLst>
                    <a:ext uri="{9D8B030D-6E8A-4147-A177-3AD203B41FA5}">
                      <a16:colId xmlns:a16="http://schemas.microsoft.com/office/drawing/2014/main" val="20000"/>
                    </a:ext>
                  </a:extLst>
                </a:gridCol>
                <a:gridCol w="9052560">
                  <a:extLst>
                    <a:ext uri="{9D8B030D-6E8A-4147-A177-3AD203B41FA5}">
                      <a16:colId xmlns:a16="http://schemas.microsoft.com/office/drawing/2014/main" val="20001"/>
                    </a:ext>
                  </a:extLst>
                </a:gridCol>
              </a:tblGrid>
              <a:tr h="0">
                <a:tc>
                  <a:txBody>
                    <a:bodyPr/>
                    <a:lstStyle/>
                    <a:p>
                      <a:pPr marL="0" indent="0">
                        <a:buNone/>
                      </a:pPr>
                      <a:r>
                        <a:rPr lang="en-US" sz="1400" b="1" dirty="0">
                          <a:solidFill>
                            <a:srgbClr val="FFFFFF"/>
                          </a:solidFill>
                        </a:rPr>
                        <a:t>Example</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rPr>
                        <a:t>Shows</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0">
                <a:tc>
                  <a:txBody>
                    <a:bodyPr/>
                    <a:lstStyle/>
                    <a:p>
                      <a:pPr marL="0" indent="0">
                        <a:buNone/>
                      </a:pPr>
                      <a:r>
                        <a:rPr lang="en-US" sz="1400" dirty="0">
                          <a:solidFill>
                            <a:srgbClr val="1F2937"/>
                          </a:solidFill>
                        </a:rPr>
                        <a:t>S1–S8 (server)</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400" dirty="0">
                          <a:solidFill>
                            <a:srgbClr val="1F2937"/>
                          </a:solidFill>
                        </a:rPr>
                        <a:t>McpServer · registerTool · tool lifecycle · resources · prompts · progress/cancel · elicitation/sampling · transports</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400" dirty="0">
                          <a:solidFill>
                            <a:srgbClr val="1F2937"/>
                          </a:solidFill>
                        </a:rPr>
                        <a:t>C1–C5 (client)</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marL="0" indent="0">
                        <a:buNone/>
                      </a:pPr>
                      <a:r>
                        <a:rPr lang="en-US" sz="1400" dirty="0">
                          <a:solidFill>
                            <a:srgbClr val="1F2937"/>
                          </a:solidFill>
                        </a:rPr>
                        <a:t>connect options · timeouts &amp; errors · subscriptions · caching · wire trace</a:t>
                      </a:r>
                      <a:endParaRPr lang="en-US" sz="14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bl>
          </a:graphicData>
        </a:graphic>
      </p:graphicFrame>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r"/>
            <a:fld id="{F7021451-1387-4CA6-816F-3879F97B5CBC}" type="slidenum">
              <a:rPr lang="en-US" b="0"/>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731520" y="1828800"/>
            <a:ext cx="2743200" cy="1097280"/>
          </a:xfrm>
          <a:prstGeom prst="rect">
            <a:avLst/>
          </a:prstGeom>
          <a:noFill/>
          <a:ln/>
        </p:spPr>
        <p:txBody>
          <a:bodyPr wrap="square" lIns="0" tIns="0" rIns="0" bIns="0" rtlCol="0" anchor="ctr"/>
          <a:lstStyle/>
          <a:p>
            <a:pPr marL="0" indent="0">
              <a:buNone/>
            </a:pPr>
            <a:r>
              <a:rPr lang="en-US" sz="7200" b="1" dirty="0">
                <a:solidFill>
                  <a:srgbClr val="0F8B8D"/>
                </a:solidFill>
              </a:rPr>
              <a:t>▶</a:t>
            </a:r>
            <a:endParaRPr lang="en-US" sz="7200" dirty="0"/>
          </a:p>
        </p:txBody>
      </p:sp>
      <p:sp>
        <p:nvSpPr>
          <p:cNvPr id="3" name="Text 1"/>
          <p:cNvSpPr txBox="1"/>
          <p:nvPr/>
        </p:nvSpPr>
        <p:spPr>
          <a:xfrm>
            <a:off x="731520" y="2926080"/>
            <a:ext cx="10515600" cy="822960"/>
          </a:xfrm>
          <a:prstGeom prst="rect">
            <a:avLst/>
          </a:prstGeom>
          <a:noFill/>
          <a:ln/>
        </p:spPr>
        <p:txBody>
          <a:bodyPr wrap="square" lIns="0" tIns="0" rIns="0" bIns="0" rtlCol="0" anchor="ctr"/>
          <a:lstStyle/>
          <a:p>
            <a:pPr marL="0" indent="0">
              <a:buNone/>
            </a:pPr>
            <a:r>
              <a:rPr lang="en-US" sz="4000" b="1" dirty="0">
                <a:solidFill>
                  <a:srgbClr val="FFFFFF"/>
                </a:solidFill>
              </a:rPr>
              <a:t>Demo &amp; results</a:t>
            </a:r>
            <a:endParaRPr lang="en-US" sz="4000" dirty="0"/>
          </a:p>
        </p:txBody>
      </p:sp>
      <p:sp>
        <p:nvSpPr>
          <p:cNvPr id="4" name="Text 2"/>
          <p:cNvSpPr txBox="1"/>
          <p:nvPr/>
        </p:nvSpPr>
        <p:spPr>
          <a:xfrm>
            <a:off x="731520" y="3794760"/>
            <a:ext cx="10515600" cy="548640"/>
          </a:xfrm>
          <a:prstGeom prst="rect">
            <a:avLst/>
          </a:prstGeom>
          <a:noFill/>
          <a:ln/>
        </p:spPr>
        <p:txBody>
          <a:bodyPr wrap="square" lIns="0" tIns="0" rIns="0" bIns="0" rtlCol="0" anchor="ctr"/>
          <a:lstStyle/>
          <a:p>
            <a:pPr marL="0" indent="0">
              <a:buNone/>
            </a:pPr>
            <a:r>
              <a:rPr lang="en-US" sz="1800" dirty="0">
                <a:solidFill>
                  <a:srgbClr val="C9D3E6"/>
                </a:solidFill>
              </a:rPr>
              <a:t>Same servers · two hosts · two LLMs</a:t>
            </a:r>
            <a:endParaRPr lang="en-US" sz="1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marL="0" indent="0">
              <a:buNone/>
            </a:pPr>
            <a:r>
              <a:rPr lang="en-US" sz="1200" b="1" kern="0" spc="200" dirty="0">
                <a:solidFill>
                  <a:srgbClr val="0F8B8D"/>
                </a:solidFill>
              </a:rPr>
              <a:t>DEMO</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marL="0" indent="0">
              <a:buNone/>
            </a:pPr>
            <a:r>
              <a:rPr lang="en-US" sz="3000" b="1" dirty="0">
                <a:solidFill>
                  <a:srgbClr val="1F2937"/>
                </a:solidFill>
              </a:rPr>
              <a:t>Configuration is all a host needs</a:t>
            </a:r>
            <a:endParaRPr lang="en-US" sz="3000" dirty="0"/>
          </a:p>
        </p:txBody>
      </p:sp>
      <p:sp>
        <p:nvSpPr>
          <p:cNvPr id="5" name="Shape 2"/>
          <p:cNvSpPr/>
          <p:nvPr/>
        </p:nvSpPr>
        <p:spPr>
          <a:xfrm>
            <a:off x="457200" y="1371600"/>
            <a:ext cx="5486400" cy="4206240"/>
          </a:xfrm>
          <a:prstGeom prst="rect">
            <a:avLst/>
          </a:prstGeom>
          <a:solidFill>
            <a:srgbClr val="F6F8FA"/>
          </a:solidFill>
          <a:ln w="12700">
            <a:solidFill>
              <a:srgbClr val="D0D7DE"/>
            </a:solidFill>
            <a:prstDash val="solid"/>
          </a:ln>
        </p:spPr>
        <p:txBody>
          <a:bodyPr/>
          <a:lstStyle/>
          <a:p>
            <a:endParaRPr lang="en-VN"/>
          </a:p>
        </p:txBody>
      </p:sp>
      <p:sp>
        <p:nvSpPr>
          <p:cNvPr id="6" name="Text 3"/>
          <p:cNvSpPr txBox="1"/>
          <p:nvPr/>
        </p:nvSpPr>
        <p:spPr>
          <a:xfrm>
            <a:off x="594360" y="1463040"/>
            <a:ext cx="5212080" cy="4023360"/>
          </a:xfrm>
          <a:prstGeom prst="rect">
            <a:avLst/>
          </a:prstGeom>
          <a:noFill/>
          <a:ln/>
        </p:spPr>
        <p:txBody>
          <a:bodyPr wrap="square" lIns="0" tIns="0" rIns="0" bIns="0" rtlCol="0" anchor="t"/>
          <a:lstStyle/>
          <a:p>
            <a:pPr marL="0" indent="0">
              <a:buNone/>
            </a:pPr>
            <a:r>
              <a:rPr lang="en-US" sz="1300" dirty="0">
                <a:solidFill>
                  <a:srgbClr val="24292F"/>
                </a:solidFill>
                <a:latin typeface="Courier New" pitchFamily="34" charset="0"/>
                <a:ea typeface="Courier New" pitchFamily="34" charset="-122"/>
                <a:cs typeface="Courier New" pitchFamily="34" charset="-120"/>
              </a:rPr>
              <a:t>// config/host.json — our chat host</a:t>
            </a:r>
            <a:endParaRPr lang="en-US" sz="1300" dirty="0"/>
          </a:p>
          <a:p>
            <a:pPr marL="0" indent="0">
              <a:buNone/>
            </a:pPr>
            <a:r>
              <a:rPr lang="en-US" sz="1300" dirty="0">
                <a:solidFill>
                  <a:srgbClr val="24292F"/>
                </a:solidFill>
                <a:latin typeface="Courier New" pitchFamily="34" charset="0"/>
                <a:ea typeface="Courier New" pitchFamily="34" charset="-122"/>
                <a:cs typeface="Courier New" pitchFamily="34" charset="-120"/>
              </a:rPr>
              <a:t>{</a:t>
            </a:r>
            <a:endParaRPr lang="en-US" sz="1300" dirty="0"/>
          </a:p>
          <a:p>
            <a:pPr marL="0" indent="0">
              <a:buNone/>
            </a:pPr>
            <a:r>
              <a:rPr lang="en-US" sz="1300" dirty="0">
                <a:solidFill>
                  <a:srgbClr val="24292F"/>
                </a:solidFill>
                <a:latin typeface="Courier New" pitchFamily="34" charset="0"/>
                <a:ea typeface="Courier New" pitchFamily="34" charset="-122"/>
                <a:cs typeface="Courier New" pitchFamily="34" charset="-120"/>
              </a:rPr>
              <a:t>  "llm": { "provider": "gemini",</a:t>
            </a:r>
            <a:endParaRPr lang="en-US" sz="1300" dirty="0"/>
          </a:p>
          <a:p>
            <a:pPr marL="0" indent="0">
              <a:buNone/>
            </a:pPr>
            <a:r>
              <a:rPr lang="en-US" sz="1300" dirty="0">
                <a:solidFill>
                  <a:srgbClr val="24292F"/>
                </a:solidFill>
                <a:latin typeface="Courier New" pitchFamily="34" charset="0"/>
                <a:ea typeface="Courier New" pitchFamily="34" charset="-122"/>
                <a:cs typeface="Courier New" pitchFamily="34" charset="-120"/>
              </a:rPr>
              <a:t>           "model": "gemini-3.5-flash-lite" },</a:t>
            </a:r>
            <a:endParaRPr lang="en-US" sz="1300" dirty="0"/>
          </a:p>
          <a:p>
            <a:pPr marL="0" indent="0">
              <a:buNone/>
            </a:pPr>
            <a:r>
              <a:rPr lang="en-US" sz="1300" dirty="0">
                <a:solidFill>
                  <a:srgbClr val="24292F"/>
                </a:solidFill>
                <a:latin typeface="Courier New" pitchFamily="34" charset="0"/>
                <a:ea typeface="Courier New" pitchFamily="34" charset="-122"/>
                <a:cs typeface="Courier New" pitchFamily="34" charset="-120"/>
              </a:rPr>
              <a:t>  "mcpServers": {</a:t>
            </a:r>
            <a:endParaRPr lang="en-US" sz="1300" dirty="0"/>
          </a:p>
          <a:p>
            <a:pPr marL="0" indent="0">
              <a:buNone/>
            </a:pPr>
            <a:r>
              <a:rPr lang="en-US" sz="1300" dirty="0">
                <a:solidFill>
                  <a:srgbClr val="24292F"/>
                </a:solidFill>
                <a:latin typeface="Courier New" pitchFamily="34" charset="0"/>
                <a:ea typeface="Courier New" pitchFamily="34" charset="-122"/>
                <a:cs typeface="Courier New" pitchFamily="34" charset="-120"/>
              </a:rPr>
              <a:t>    "academic": { "command": "node",</a:t>
            </a:r>
            <a:endParaRPr lang="en-US" sz="1300" dirty="0"/>
          </a:p>
          <a:p>
            <a:pPr marL="0" indent="0">
              <a:buNone/>
            </a:pPr>
            <a:r>
              <a:rPr lang="en-US" sz="1300" dirty="0">
                <a:solidFill>
                  <a:srgbClr val="24292F"/>
                </a:solidFill>
                <a:latin typeface="Courier New" pitchFamily="34" charset="0"/>
                <a:ea typeface="Courier New" pitchFamily="34" charset="-122"/>
                <a:cs typeface="Courier New" pitchFamily="34" charset="-120"/>
              </a:rPr>
              <a:t>      "args": ["--import", "tsx",</a:t>
            </a:r>
            <a:endParaRPr lang="en-US" sz="1300" dirty="0"/>
          </a:p>
          <a:p>
            <a:pPr marL="0" indent="0">
              <a:buNone/>
            </a:pPr>
            <a:r>
              <a:rPr lang="en-US" sz="1300" dirty="0">
                <a:solidFill>
                  <a:srgbClr val="24292F"/>
                </a:solidFill>
                <a:latin typeface="Courier New" pitchFamily="34" charset="0"/>
                <a:ea typeface="Courier New" pitchFamily="34" charset="-122"/>
                <a:cs typeface="Courier New" pitchFamily="34" charset="-120"/>
              </a:rPr>
              <a:t>               "src/server/academic/main.ts"] },</a:t>
            </a:r>
            <a:endParaRPr lang="en-US" sz="1300" dirty="0"/>
          </a:p>
          <a:p>
            <a:pPr marL="0" indent="0">
              <a:buNone/>
            </a:pPr>
            <a:r>
              <a:rPr lang="en-US" sz="1300" dirty="0">
                <a:solidFill>
                  <a:srgbClr val="24292F"/>
                </a:solidFill>
                <a:latin typeface="Courier New" pitchFamily="34" charset="0"/>
                <a:ea typeface="Courier New" pitchFamily="34" charset="-122"/>
                <a:cs typeface="Courier New" pitchFamily="34" charset="-120"/>
              </a:rPr>
              <a:t>    "utility": { ... }</a:t>
            </a:r>
            <a:endParaRPr lang="en-US" sz="1300" dirty="0"/>
          </a:p>
          <a:p>
            <a:pPr marL="0" indent="0">
              <a:buNone/>
            </a:pPr>
            <a:r>
              <a:rPr lang="en-US" sz="1300" dirty="0">
                <a:solidFill>
                  <a:srgbClr val="24292F"/>
                </a:solidFill>
                <a:latin typeface="Courier New" pitchFamily="34" charset="0"/>
                <a:ea typeface="Courier New" pitchFamily="34" charset="-122"/>
                <a:cs typeface="Courier New" pitchFamily="34" charset="-120"/>
              </a:rPr>
              <a:t>  },</a:t>
            </a:r>
            <a:endParaRPr lang="en-US" sz="1300" dirty="0"/>
          </a:p>
          <a:p>
            <a:pPr marL="0" indent="0">
              <a:buNone/>
            </a:pPr>
            <a:r>
              <a:rPr lang="en-US" sz="1300" dirty="0">
                <a:solidFill>
                  <a:srgbClr val="24292F"/>
                </a:solidFill>
                <a:latin typeface="Courier New" pitchFamily="34" charset="0"/>
                <a:ea typeface="Courier New" pitchFamily="34" charset="-122"/>
                <a:cs typeface="Courier New" pitchFamily="34" charset="-120"/>
              </a:rPr>
              <a:t>  "agent": { "maxToolRounds": 8 }</a:t>
            </a:r>
            <a:endParaRPr lang="en-US" sz="1300" dirty="0"/>
          </a:p>
          <a:p>
            <a:pPr marL="0" indent="0">
              <a:buNone/>
            </a:pPr>
            <a:r>
              <a:rPr lang="en-US" sz="1300" dirty="0">
                <a:solidFill>
                  <a:srgbClr val="24292F"/>
                </a:solidFill>
                <a:latin typeface="Courier New" pitchFamily="34" charset="0"/>
                <a:ea typeface="Courier New" pitchFamily="34" charset="-122"/>
                <a:cs typeface="Courier New" pitchFamily="34" charset="-120"/>
              </a:rPr>
              <a:t>}</a:t>
            </a:r>
            <a:endParaRPr lang="en-US" sz="1300" dirty="0"/>
          </a:p>
        </p:txBody>
      </p:sp>
      <p:sp>
        <p:nvSpPr>
          <p:cNvPr id="7" name="Shape 4"/>
          <p:cNvSpPr/>
          <p:nvPr/>
        </p:nvSpPr>
        <p:spPr>
          <a:xfrm>
            <a:off x="6217920" y="1371600"/>
            <a:ext cx="5486400" cy="4206240"/>
          </a:xfrm>
          <a:prstGeom prst="rect">
            <a:avLst/>
          </a:prstGeom>
          <a:solidFill>
            <a:srgbClr val="F6F8FA"/>
          </a:solidFill>
          <a:ln w="12700">
            <a:solidFill>
              <a:srgbClr val="D0D7DE"/>
            </a:solidFill>
            <a:prstDash val="solid"/>
          </a:ln>
        </p:spPr>
        <p:txBody>
          <a:bodyPr/>
          <a:lstStyle/>
          <a:p>
            <a:endParaRPr lang="en-VN"/>
          </a:p>
        </p:txBody>
      </p:sp>
      <p:sp>
        <p:nvSpPr>
          <p:cNvPr id="8" name="Text 5"/>
          <p:cNvSpPr txBox="1"/>
          <p:nvPr/>
        </p:nvSpPr>
        <p:spPr>
          <a:xfrm>
            <a:off x="6355080" y="1463040"/>
            <a:ext cx="5212080" cy="4023360"/>
          </a:xfrm>
          <a:prstGeom prst="rect">
            <a:avLst/>
          </a:prstGeom>
          <a:noFill/>
          <a:ln/>
        </p:spPr>
        <p:txBody>
          <a:bodyPr wrap="square" lIns="0" tIns="0" rIns="0" bIns="0" rtlCol="0" anchor="t"/>
          <a:lstStyle/>
          <a:p>
            <a:pPr marL="0" indent="0">
              <a:buNone/>
            </a:pPr>
            <a:r>
              <a:rPr lang="en-US" sz="1300" dirty="0">
                <a:solidFill>
                  <a:srgbClr val="24292F"/>
                </a:solidFill>
                <a:latin typeface="Courier New" pitchFamily="34" charset="0"/>
                <a:ea typeface="Courier New" pitchFamily="34" charset="-122"/>
                <a:cs typeface="Courier New" pitchFamily="34" charset="-120"/>
              </a:rPr>
              <a:t>// .vscode/mcp.json — VS Code Copilot</a:t>
            </a:r>
            <a:endParaRPr lang="en-US" sz="1300" dirty="0"/>
          </a:p>
          <a:p>
            <a:pPr marL="0" indent="0">
              <a:buNone/>
            </a:pPr>
            <a:r>
              <a:rPr lang="en-US" sz="1300" dirty="0">
                <a:solidFill>
                  <a:srgbClr val="24292F"/>
                </a:solidFill>
                <a:latin typeface="Courier New" pitchFamily="34" charset="0"/>
                <a:ea typeface="Courier New" pitchFamily="34" charset="-122"/>
                <a:cs typeface="Courier New" pitchFamily="34" charset="-120"/>
              </a:rPr>
              <a:t>{</a:t>
            </a:r>
            <a:endParaRPr lang="en-US" sz="1300" dirty="0"/>
          </a:p>
          <a:p>
            <a:pPr marL="0" indent="0">
              <a:buNone/>
            </a:pPr>
            <a:r>
              <a:rPr lang="en-US" sz="1300" dirty="0">
                <a:solidFill>
                  <a:srgbClr val="24292F"/>
                </a:solidFill>
                <a:latin typeface="Courier New" pitchFamily="34" charset="0"/>
                <a:ea typeface="Courier New" pitchFamily="34" charset="-122"/>
                <a:cs typeface="Courier New" pitchFamily="34" charset="-120"/>
              </a:rPr>
              <a:t>  "servers": {</a:t>
            </a:r>
            <a:endParaRPr lang="en-US" sz="1300" dirty="0"/>
          </a:p>
          <a:p>
            <a:pPr marL="0" indent="0">
              <a:buNone/>
            </a:pPr>
            <a:r>
              <a:rPr lang="en-US" sz="1300" dirty="0">
                <a:solidFill>
                  <a:srgbClr val="24292F"/>
                </a:solidFill>
                <a:latin typeface="Courier New" pitchFamily="34" charset="0"/>
                <a:ea typeface="Courier New" pitchFamily="34" charset="-122"/>
                <a:cs typeface="Courier New" pitchFamily="34" charset="-120"/>
              </a:rPr>
              <a:t>    "academic": { "type": "stdio",</a:t>
            </a:r>
            <a:endParaRPr lang="en-US" sz="1300" dirty="0"/>
          </a:p>
          <a:p>
            <a:pPr marL="0" indent="0">
              <a:buNone/>
            </a:pPr>
            <a:r>
              <a:rPr lang="en-US" sz="1300" dirty="0">
                <a:solidFill>
                  <a:srgbClr val="24292F"/>
                </a:solidFill>
                <a:latin typeface="Courier New" pitchFamily="34" charset="0"/>
                <a:ea typeface="Courier New" pitchFamily="34" charset="-122"/>
                <a:cs typeface="Courier New" pitchFamily="34" charset="-120"/>
              </a:rPr>
              <a:t>      "command": "node",</a:t>
            </a:r>
            <a:endParaRPr lang="en-US" sz="1300" dirty="0"/>
          </a:p>
          <a:p>
            <a:pPr marL="0" indent="0">
              <a:buNone/>
            </a:pPr>
            <a:r>
              <a:rPr lang="en-US" sz="1300" dirty="0">
                <a:solidFill>
                  <a:srgbClr val="24292F"/>
                </a:solidFill>
                <a:latin typeface="Courier New" pitchFamily="34" charset="0"/>
                <a:ea typeface="Courier New" pitchFamily="34" charset="-122"/>
                <a:cs typeface="Courier New" pitchFamily="34" charset="-120"/>
              </a:rPr>
              <a:t>      "args": ["--import", "tsx",</a:t>
            </a:r>
            <a:endParaRPr lang="en-US" sz="1300" dirty="0"/>
          </a:p>
          <a:p>
            <a:pPr marL="0" indent="0">
              <a:buNone/>
            </a:pPr>
            <a:r>
              <a:rPr lang="en-US" sz="1300" dirty="0">
                <a:solidFill>
                  <a:srgbClr val="24292F"/>
                </a:solidFill>
                <a:latin typeface="Courier New" pitchFamily="34" charset="0"/>
                <a:ea typeface="Courier New" pitchFamily="34" charset="-122"/>
                <a:cs typeface="Courier New" pitchFamily="34" charset="-120"/>
              </a:rPr>
              <a:t>               "src/server/academic/main.ts"],</a:t>
            </a:r>
            <a:endParaRPr lang="en-US" sz="1300" dirty="0"/>
          </a:p>
          <a:p>
            <a:pPr marL="0" indent="0">
              <a:buNone/>
            </a:pPr>
            <a:r>
              <a:rPr lang="en-US" sz="1300" dirty="0">
                <a:solidFill>
                  <a:srgbClr val="24292F"/>
                </a:solidFill>
                <a:latin typeface="Courier New" pitchFamily="34" charset="0"/>
                <a:ea typeface="Courier New" pitchFamily="34" charset="-122"/>
                <a:cs typeface="Courier New" pitchFamily="34" charset="-120"/>
              </a:rPr>
              <a:t>      "cwd": "${workspaceFolder}/mcp-academic" },</a:t>
            </a:r>
            <a:endParaRPr lang="en-US" sz="1300" dirty="0"/>
          </a:p>
          <a:p>
            <a:pPr marL="0" indent="0">
              <a:buNone/>
            </a:pPr>
            <a:r>
              <a:rPr lang="en-US" sz="1300" dirty="0">
                <a:solidFill>
                  <a:srgbClr val="24292F"/>
                </a:solidFill>
                <a:latin typeface="Courier New" pitchFamily="34" charset="0"/>
                <a:ea typeface="Courier New" pitchFamily="34" charset="-122"/>
                <a:cs typeface="Courier New" pitchFamily="34" charset="-120"/>
              </a:rPr>
              <a:t>    "utility": { ... }</a:t>
            </a:r>
            <a:endParaRPr lang="en-US" sz="1300" dirty="0"/>
          </a:p>
          <a:p>
            <a:pPr marL="0" indent="0">
              <a:buNone/>
            </a:pPr>
            <a:r>
              <a:rPr lang="en-US" sz="1300" dirty="0">
                <a:solidFill>
                  <a:srgbClr val="24292F"/>
                </a:solidFill>
                <a:latin typeface="Courier New" pitchFamily="34" charset="0"/>
                <a:ea typeface="Courier New" pitchFamily="34" charset="-122"/>
                <a:cs typeface="Courier New" pitchFamily="34" charset="-120"/>
              </a:rPr>
              <a:t>  }</a:t>
            </a:r>
            <a:endParaRPr lang="en-US" sz="1300" dirty="0"/>
          </a:p>
          <a:p>
            <a:pPr marL="0" indent="0">
              <a:buNone/>
            </a:pPr>
            <a:r>
              <a:rPr lang="en-US" sz="1300" dirty="0">
                <a:solidFill>
                  <a:srgbClr val="24292F"/>
                </a:solidFill>
                <a:latin typeface="Courier New" pitchFamily="34" charset="0"/>
                <a:ea typeface="Courier New" pitchFamily="34" charset="-122"/>
                <a:cs typeface="Courier New" pitchFamily="34" charset="-120"/>
              </a:rPr>
              <a:t>}</a:t>
            </a:r>
            <a:endParaRPr lang="en-US" sz="1300" dirty="0"/>
          </a:p>
        </p:txBody>
      </p:sp>
      <p:sp>
        <p:nvSpPr>
          <p:cNvPr id="9" name="Text 6"/>
          <p:cNvSpPr txBox="1"/>
          <p:nvPr/>
        </p:nvSpPr>
        <p:spPr>
          <a:xfrm>
            <a:off x="457200" y="5897880"/>
            <a:ext cx="11247120" cy="365760"/>
          </a:xfrm>
          <a:prstGeom prst="rect">
            <a:avLst/>
          </a:prstGeom>
          <a:noFill/>
          <a:ln/>
        </p:spPr>
        <p:txBody>
          <a:bodyPr wrap="square" lIns="0" tIns="0" rIns="0" bIns="0" rtlCol="0" anchor="ctr"/>
          <a:lstStyle/>
          <a:p>
            <a:pPr marL="0" indent="0">
              <a:buNone/>
            </a:pPr>
            <a:r>
              <a:rPr lang="en-US" sz="1500" b="1" dirty="0">
                <a:solidFill>
                  <a:srgbClr val="1F2937"/>
                </a:solidFill>
              </a:rPr>
              <a:t>Swap the LLM: config/host.qwen.json changes only the "llm" block → Qwen3 4B on Ollama.</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r"/>
            <a:fld id="{F7021451-1387-4CA6-816F-3879F97B5CBC}" type="slidenum">
              <a:rPr lang="en-US" b="0"/>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marL="0" indent="0">
              <a:buNone/>
            </a:pPr>
            <a:r>
              <a:rPr lang="en-US" sz="1200" b="1" kern="0" spc="200" dirty="0">
                <a:solidFill>
                  <a:srgbClr val="0F8B8D"/>
                </a:solidFill>
              </a:rPr>
              <a:t>DEMO</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marL="0" indent="0">
              <a:buNone/>
            </a:pPr>
            <a:r>
              <a:rPr lang="en-US" sz="3000" b="1" dirty="0">
                <a:solidFill>
                  <a:srgbClr val="1F2937"/>
                </a:solidFill>
              </a:rPr>
              <a:t>Live demo plan</a:t>
            </a:r>
            <a:endParaRPr lang="en-US" sz="30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11247120" cy="914400"/>
        </p:xfrm>
        <a:graphic>
          <a:graphicData uri="http://schemas.openxmlformats.org/drawingml/2006/table">
            <a:tbl>
              <a:tblPr/>
              <a:tblGrid>
                <a:gridCol w="457200">
                  <a:extLst>
                    <a:ext uri="{9D8B030D-6E8A-4147-A177-3AD203B41FA5}">
                      <a16:colId xmlns:a16="http://schemas.microsoft.com/office/drawing/2014/main" val="20000"/>
                    </a:ext>
                  </a:extLst>
                </a:gridCol>
                <a:gridCol w="5852160">
                  <a:extLst>
                    <a:ext uri="{9D8B030D-6E8A-4147-A177-3AD203B41FA5}">
                      <a16:colId xmlns:a16="http://schemas.microsoft.com/office/drawing/2014/main" val="20001"/>
                    </a:ext>
                  </a:extLst>
                </a:gridCol>
                <a:gridCol w="4937760">
                  <a:extLst>
                    <a:ext uri="{9D8B030D-6E8A-4147-A177-3AD203B41FA5}">
                      <a16:colId xmlns:a16="http://schemas.microsoft.com/office/drawing/2014/main" val="20002"/>
                    </a:ext>
                  </a:extLst>
                </a:gridCol>
              </a:tblGrid>
              <a:tr h="502920">
                <a:tc>
                  <a:txBody>
                    <a:bodyPr/>
                    <a:lstStyle/>
                    <a:p>
                      <a:pPr marL="0" indent="0">
                        <a:buNone/>
                      </a:pPr>
                      <a:r>
                        <a:rPr lang="en-US" sz="1300" b="1" dirty="0">
                          <a:solidFill>
                            <a:srgbClr val="FFFFFF"/>
                          </a:solidFill>
                        </a:rPr>
                        <a:t>#</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rPr>
                        <a:t>Type this</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rPr>
                        <a:t>Point out</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2920">
                <a:tc>
                  <a:txBody>
                    <a:bodyPr/>
                    <a:lstStyle/>
                    <a:p>
                      <a:pPr marL="0" indent="0">
                        <a:buNone/>
                      </a:pPr>
                      <a:r>
                        <a:rPr lang="en-US" sz="1300" dirty="0">
                          <a:solidFill>
                            <a:srgbClr val="1F2937"/>
                          </a:solidFill>
                        </a:rPr>
                        <a:t>1</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/tools</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300" dirty="0">
                          <a:solidFill>
                            <a:srgbClr val="1F2937"/>
                          </a:solidFill>
                        </a:rPr>
                        <a:t>13 tools from two independent servers</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300" dirty="0">
                          <a:solidFill>
                            <a:srgbClr val="1F2937"/>
                          </a:solidFill>
                        </a:rPr>
                        <a:t>2</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What is the cumulative GPA of student 2201010?</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300" dirty="0">
                          <a:solidFill>
                            <a:srgbClr val="1F2937"/>
                          </a:solidFill>
                        </a:rPr>
                        <a:t>model chooses calculate_gpa → 2.06 Average</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502920">
                <a:tc>
                  <a:txBody>
                    <a:bodyPr/>
                    <a:lstStyle/>
                    <a:p>
                      <a:pPr marL="0" indent="0">
                        <a:buNone/>
                      </a:pPr>
                      <a:r>
                        <a:rPr lang="en-US" sz="1300" dirty="0">
                          <a:solidFill>
                            <a:srgbClr val="1F2937"/>
                          </a:solidFill>
                        </a:rPr>
                        <a:t>3</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What grades did Hải get in semester 2024-1?</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300" dirty="0">
                          <a:solidFill>
                            <a:srgbClr val="1F2937"/>
                          </a:solidFill>
                        </a:rPr>
                        <a:t>name only → search_students → get_transcript</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300" dirty="0">
                          <a:solidFill>
                            <a:srgbClr val="1F2937"/>
                          </a:solidFill>
                        </a:rPr>
                        <a:t>4</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Change the final score of 2201005 in CS202, 2025-1, to 8.</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300" dirty="0">
                          <a:solidFill>
                            <a:srgbClr val="1F2937"/>
                          </a:solidFill>
                        </a:rPr>
                        <a:t>elicitation: server asks us to confirm</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extLst>
                  <a:ext uri="{0D108BD9-81ED-4DB2-BD59-A6C34878D82A}">
                    <a16:rowId xmlns:a16="http://schemas.microsoft.com/office/drawing/2014/main" val="10004"/>
                  </a:ext>
                </a:extLst>
              </a:tr>
              <a:tr h="502920">
                <a:tc>
                  <a:txBody>
                    <a:bodyPr/>
                    <a:lstStyle/>
                    <a:p>
                      <a:pPr marL="0" indent="0">
                        <a:buNone/>
                      </a:pPr>
                      <a:r>
                        <a:rPr lang="en-US" sz="1300" dirty="0">
                          <a:solidFill>
                            <a:srgbClr val="1F2937"/>
                          </a:solidFill>
                        </a:rPr>
                        <a:t>5</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200" dirty="0">
                          <a:solidFill>
                            <a:srgbClr val="1F2937"/>
                          </a:solidFill>
                          <a:latin typeface="Courier New" pitchFamily="34" charset="0"/>
                          <a:ea typeface="Courier New" pitchFamily="34" charset="-122"/>
                          <a:cs typeface="Courier New" pitchFamily="34" charset="-120"/>
                        </a:rPr>
                        <a:t>Write a performance report for class IT01 and save it.</a:t>
                      </a:r>
                      <a:endParaRPr lang="en-US" sz="1200" dirty="0">
                        <a:latin typeface="Courier New" charset="0"/>
                        <a:ea typeface="Courier New" charset="0"/>
                        <a:cs typeface="Courier New" charset="0"/>
                      </a:endParaRPr>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tcPr>
                </a:tc>
                <a:tc>
                  <a:txBody>
                    <a:bodyPr/>
                    <a:lstStyle/>
                    <a:p>
                      <a:pPr marL="0" indent="0">
                        <a:buNone/>
                      </a:pPr>
                      <a:r>
                        <a:rPr lang="en-US" sz="1300" dirty="0">
                          <a:solidFill>
                            <a:srgbClr val="1F2937"/>
                          </a:solidFill>
                        </a:rPr>
                        <a:t>two servers combined; file saved</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buNone/>
                      </a:pPr>
                      <a:r>
                        <a:rPr lang="en-US" sz="1300" dirty="0">
                          <a:solidFill>
                            <a:srgbClr val="1F2937"/>
                          </a:solidFill>
                        </a:rPr>
                        <a:t>6</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marL="0" indent="0">
                        <a:buNone/>
                      </a:pPr>
                      <a:r>
                        <a:rPr lang="en-US" sz="1300" dirty="0">
                          <a:solidFill>
                            <a:srgbClr val="1F2937"/>
                          </a:solidFill>
                        </a:rPr>
                        <a:t>VS Code → Agent mode → ask a ranking question</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marL="0" indent="0">
                        <a:buNone/>
                      </a:pPr>
                      <a:r>
                        <a:rPr lang="en-US" sz="1300" dirty="0">
                          <a:solidFill>
                            <a:srgbClr val="1F2937"/>
                          </a:solidFill>
                        </a:rPr>
                        <a:t>same servers, another host</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extLst>
                  <a:ext uri="{0D108BD9-81ED-4DB2-BD59-A6C34878D82A}">
                    <a16:rowId xmlns:a16="http://schemas.microsoft.com/office/drawing/2014/main" val="10006"/>
                  </a:ext>
                </a:extLst>
              </a:tr>
            </a:tbl>
          </a:graphicData>
        </a:graphic>
      </p:graphicFrame>
      <p:sp>
        <p:nvSpPr>
          <p:cNvPr id="6" name="Shape 2"/>
          <p:cNvSpPr/>
          <p:nvPr/>
        </p:nvSpPr>
        <p:spPr>
          <a:xfrm>
            <a:off x="457200" y="5120640"/>
            <a:ext cx="11247120" cy="822960"/>
          </a:xfrm>
          <a:prstGeom prst="rect">
            <a:avLst/>
          </a:prstGeom>
          <a:solidFill>
            <a:srgbClr val="FFF4E6"/>
          </a:solidFill>
          <a:ln w="25400">
            <a:solidFill>
              <a:srgbClr val="D9480F"/>
            </a:solidFill>
            <a:prstDash val="dash"/>
          </a:ln>
        </p:spPr>
        <p:txBody>
          <a:bodyPr/>
          <a:lstStyle/>
          <a:p>
            <a:endParaRPr lang="en-VN"/>
          </a:p>
        </p:txBody>
      </p:sp>
      <p:sp>
        <p:nvSpPr>
          <p:cNvPr id="7" name="Text 3"/>
          <p:cNvSpPr txBox="1"/>
          <p:nvPr/>
        </p:nvSpPr>
        <p:spPr>
          <a:xfrm>
            <a:off x="640080" y="5120640"/>
            <a:ext cx="10881360" cy="822960"/>
          </a:xfrm>
          <a:prstGeom prst="rect">
            <a:avLst/>
          </a:prstGeom>
          <a:noFill/>
          <a:ln/>
        </p:spPr>
        <p:txBody>
          <a:bodyPr wrap="square" lIns="0" tIns="0" rIns="0" bIns="0" rtlCol="0" anchor="ctr"/>
          <a:lstStyle/>
          <a:p>
            <a:pPr marL="0" indent="0" algn="ctr">
              <a:buNone/>
            </a:pPr>
            <a:r>
              <a:rPr lang="en-US" sz="1400" b="1" dirty="0">
                <a:solidFill>
                  <a:srgbClr val="D9480F"/>
                </a:solidFill>
              </a:rPr>
              <a:t>TODO (Thanh): </a:t>
            </a:r>
            <a:r>
              <a:rPr lang="en-US" sz="1400" dirty="0">
                <a:solidFill>
                  <a:srgbClr val="D9480F"/>
                </a:solidFill>
              </a:rPr>
              <a:t>record the backup video and put its link here (Drive team/video/demo-phase1.mp4)</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r"/>
            <a:fld id="{F7021451-1387-4CA6-816F-3879F97B5CBC}" type="slidenum">
              <a:rPr lang="en-US" b="0"/>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marL="0" indent="0">
              <a:buNone/>
            </a:pPr>
            <a:r>
              <a:rPr lang="en-US" sz="1200" b="1" kern="0" spc="200" dirty="0">
                <a:solidFill>
                  <a:srgbClr val="0F8B8D"/>
                </a:solidFill>
              </a:rPr>
              <a:t>DEMO</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marL="0" indent="0">
              <a:buNone/>
            </a:pPr>
            <a:r>
              <a:rPr lang="en-US" sz="3000" b="1" dirty="0">
                <a:solidFill>
                  <a:srgbClr val="1F2937"/>
                </a:solidFill>
              </a:rPr>
              <a:t>Demo screenshots (backup if the live demo fails)</a:t>
            </a:r>
            <a:endParaRPr lang="en-US" sz="3000" dirty="0"/>
          </a:p>
        </p:txBody>
      </p:sp>
      <p:sp>
        <p:nvSpPr>
          <p:cNvPr id="5" name="Shape 2"/>
          <p:cNvSpPr/>
          <p:nvPr/>
        </p:nvSpPr>
        <p:spPr>
          <a:xfrm>
            <a:off x="457200" y="1371600"/>
            <a:ext cx="5486400" cy="4480560"/>
          </a:xfrm>
          <a:prstGeom prst="rect">
            <a:avLst/>
          </a:prstGeom>
          <a:solidFill>
            <a:srgbClr val="FFF4E6"/>
          </a:solidFill>
          <a:ln w="25400">
            <a:solidFill>
              <a:srgbClr val="D9480F"/>
            </a:solidFill>
            <a:prstDash val="dash"/>
          </a:ln>
        </p:spPr>
        <p:txBody>
          <a:bodyPr/>
          <a:lstStyle/>
          <a:p>
            <a:endParaRPr lang="en-VN"/>
          </a:p>
        </p:txBody>
      </p:sp>
      <p:sp>
        <p:nvSpPr>
          <p:cNvPr id="6" name="Text 3"/>
          <p:cNvSpPr txBox="1"/>
          <p:nvPr/>
        </p:nvSpPr>
        <p:spPr>
          <a:xfrm>
            <a:off x="640080" y="1371600"/>
            <a:ext cx="5120640" cy="4480560"/>
          </a:xfrm>
          <a:prstGeom prst="rect">
            <a:avLst/>
          </a:prstGeom>
          <a:noFill/>
          <a:ln/>
        </p:spPr>
        <p:txBody>
          <a:bodyPr wrap="square" lIns="0" tIns="0" rIns="0" bIns="0" rtlCol="0" anchor="ctr"/>
          <a:lstStyle/>
          <a:p>
            <a:pPr marL="0" indent="0" algn="ctr">
              <a:buNone/>
            </a:pPr>
            <a:r>
              <a:rPr lang="en-US" sz="1400" b="1" dirty="0">
                <a:solidFill>
                  <a:srgbClr val="D9480F"/>
                </a:solidFill>
              </a:rPr>
              <a:t>TODO (Thanh): </a:t>
            </a:r>
            <a:r>
              <a:rPr lang="en-US" sz="1400" dirty="0">
                <a:solidFill>
                  <a:srgbClr val="D9480F"/>
                </a:solidFill>
              </a:rPr>
              <a:t>screenshot of the terminal: npm run chat, question 2 (GPA of 2201010) showing the ⚙ academic.calculate_gpa line and the answer 2.06 Average</a:t>
            </a:r>
            <a:endParaRPr lang="en-US" sz="1400" dirty="0"/>
          </a:p>
        </p:txBody>
      </p:sp>
      <p:sp>
        <p:nvSpPr>
          <p:cNvPr id="7" name="Shape 4"/>
          <p:cNvSpPr/>
          <p:nvPr/>
        </p:nvSpPr>
        <p:spPr>
          <a:xfrm>
            <a:off x="6217920" y="1371600"/>
            <a:ext cx="5486400" cy="4480560"/>
          </a:xfrm>
          <a:prstGeom prst="rect">
            <a:avLst/>
          </a:prstGeom>
          <a:solidFill>
            <a:srgbClr val="FFF4E6"/>
          </a:solidFill>
          <a:ln w="25400">
            <a:solidFill>
              <a:srgbClr val="D9480F"/>
            </a:solidFill>
            <a:prstDash val="dash"/>
          </a:ln>
        </p:spPr>
        <p:txBody>
          <a:bodyPr/>
          <a:lstStyle/>
          <a:p>
            <a:endParaRPr lang="en-VN"/>
          </a:p>
        </p:txBody>
      </p:sp>
      <p:sp>
        <p:nvSpPr>
          <p:cNvPr id="8" name="Text 5"/>
          <p:cNvSpPr txBox="1"/>
          <p:nvPr/>
        </p:nvSpPr>
        <p:spPr>
          <a:xfrm>
            <a:off x="6400800" y="1371600"/>
            <a:ext cx="5120640" cy="4480560"/>
          </a:xfrm>
          <a:prstGeom prst="rect">
            <a:avLst/>
          </a:prstGeom>
          <a:noFill/>
          <a:ln/>
        </p:spPr>
        <p:txBody>
          <a:bodyPr wrap="square" lIns="0" tIns="0" rIns="0" bIns="0" rtlCol="0" anchor="ctr"/>
          <a:lstStyle/>
          <a:p>
            <a:pPr marL="0" indent="0" algn="ctr">
              <a:buNone/>
            </a:pPr>
            <a:r>
              <a:rPr lang="en-US" sz="1400" b="1" dirty="0">
                <a:solidFill>
                  <a:srgbClr val="D9480F"/>
                </a:solidFill>
              </a:rPr>
              <a:t>TODO (Thanh): </a:t>
            </a:r>
            <a:r>
              <a:rPr lang="en-US" sz="1400" dirty="0">
                <a:solidFill>
                  <a:srgbClr val="D9480F"/>
                </a:solidFill>
              </a:rPr>
              <a:t>screenshot of VS Code Copilot Chat (Agent mode) with the academic tools in the tool picker and an answer</a:t>
            </a:r>
            <a:endParaRPr lang="en-US" sz="14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r"/>
            <a:fld id="{F7021451-1387-4CA6-816F-3879F97B5CBC}" type="slidenum">
              <a:rPr lang="en-US" b="0"/>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marL="0" indent="0">
              <a:buNone/>
            </a:pPr>
            <a:r>
              <a:rPr lang="en-US" sz="1200" b="1" kern="0" spc="200" dirty="0">
                <a:solidFill>
                  <a:srgbClr val="0F8B8D"/>
                </a:solidFill>
              </a:rPr>
              <a:t>RESULTS</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marL="0" indent="0">
              <a:buNone/>
            </a:pPr>
            <a:r>
              <a:rPr lang="en-US" sz="3000" b="1" dirty="0">
                <a:solidFill>
                  <a:srgbClr val="1F2937"/>
                </a:solidFill>
              </a:rPr>
              <a:t>Results: two LLMs, same servers</a:t>
            </a:r>
            <a:endParaRPr lang="en-US" sz="3000" dirty="0"/>
          </a:p>
        </p:txBody>
      </p:sp>
      <p:graphicFrame>
        <p:nvGraphicFramePr>
          <p:cNvPr id="5" name="Chart 0"/>
          <p:cNvGraphicFramePr/>
          <p:nvPr/>
        </p:nvGraphicFramePr>
        <p:xfrm>
          <a:off x="457200" y="1371600"/>
          <a:ext cx="6035040" cy="43891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6766560" y="1371600"/>
          <a:ext cx="4937760" cy="1231392"/>
        </p:xfrm>
        <a:graphic>
          <a:graphicData uri="http://schemas.openxmlformats.org/drawingml/2006/table">
            <a:tbl>
              <a:tblPr/>
              <a:tblGrid>
                <a:gridCol w="219456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0">
                <a:tc>
                  <a:txBody>
                    <a:bodyPr/>
                    <a:lstStyle/>
                    <a:p>
                      <a:pPr marL="0" indent="0">
                        <a:buNone/>
                      </a:pPr>
                      <a:r>
                        <a:rPr lang="en-US" sz="1300" b="1" dirty="0">
                          <a:solidFill>
                            <a:srgbClr val="FFFFFF"/>
                          </a:solidFill>
                        </a:rPr>
                        <a:t>Model</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rPr>
                        <a:t>Accuracy</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rPr>
                        <a:t>Output tokens</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0">
                <a:tc>
                  <a:txBody>
                    <a:bodyPr/>
                    <a:lstStyle/>
                    <a:p>
                      <a:pPr marL="0" indent="0">
                        <a:buNone/>
                      </a:pPr>
                      <a:r>
                        <a:rPr lang="en-US" sz="1300" dirty="0">
                          <a:solidFill>
                            <a:srgbClr val="1F2937"/>
                          </a:solidFill>
                        </a:rPr>
                        <a:t>Gemini 3.5 Flash-Lite</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rPr>
                        <a:t>100 % (22/22)</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rPr>
                        <a:t>127</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300" dirty="0">
                          <a:solidFill>
                            <a:srgbClr val="1F2937"/>
                          </a:solidFill>
                        </a:rPr>
                        <a:t>Qwen3 4B Instruct</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marL="0" indent="0">
                        <a:buNone/>
                      </a:pPr>
                      <a:r>
                        <a:rPr lang="en-US" sz="1300" dirty="0">
                          <a:solidFill>
                            <a:srgbClr val="1F2937"/>
                          </a:solidFill>
                        </a:rPr>
                        <a:t>100 % (22/22)</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tc>
                  <a:txBody>
                    <a:bodyPr/>
                    <a:lstStyle/>
                    <a:p>
                      <a:pPr marL="0" indent="0">
                        <a:buNone/>
                      </a:pPr>
                      <a:r>
                        <a:rPr lang="en-US" sz="1300" dirty="0">
                          <a:solidFill>
                            <a:srgbClr val="1F2937"/>
                          </a:solidFill>
                        </a:rPr>
                        <a:t>109</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7F9FB"/>
                    </a:solidFill>
                  </a:tcPr>
                </a:tc>
                <a:extLst>
                  <a:ext uri="{0D108BD9-81ED-4DB2-BD59-A6C34878D82A}">
                    <a16:rowId xmlns:a16="http://schemas.microsoft.com/office/drawing/2014/main" val="10002"/>
                  </a:ext>
                </a:extLst>
              </a:tr>
              <a:tr h="0">
                <a:tc>
                  <a:txBody>
                    <a:bodyPr/>
                    <a:lstStyle/>
                    <a:p>
                      <a:pPr marL="0" indent="0">
                        <a:buNone/>
                      </a:pPr>
                      <a:r>
                        <a:rPr lang="en-US" sz="1300" dirty="0">
                          <a:solidFill>
                            <a:srgbClr val="1F2937"/>
                          </a:solidFill>
                        </a:rPr>
                        <a:t>Qwen3 4B Thinking</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rPr>
                        <a:t>100 % (22/22)</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marL="0" indent="0">
                        <a:buNone/>
                      </a:pPr>
                      <a:r>
                        <a:rPr lang="en-US" sz="1300" dirty="0">
                          <a:solidFill>
                            <a:srgbClr val="1F2937"/>
                          </a:solidFill>
                        </a:rPr>
                        <a:t>1468</a:t>
                      </a:r>
                      <a:endParaRPr lang="en-US" sz="1300" dirty="0"/>
                    </a:p>
                  </a:txBody>
                  <a:tcPr marL="54864" marR="54864" marT="54864" marB="54864" anchor="ctr">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Shape 2"/>
          <p:cNvSpPr/>
          <p:nvPr/>
        </p:nvSpPr>
        <p:spPr>
          <a:xfrm>
            <a:off x="6766560" y="3291840"/>
            <a:ext cx="4937760" cy="2468880"/>
          </a:xfrm>
          <a:prstGeom prst="roundRect">
            <a:avLst>
              <a:gd name="adj" fmla="val 2963"/>
            </a:avLst>
          </a:prstGeom>
          <a:solidFill>
            <a:srgbClr val="EEF2F6"/>
          </a:solidFill>
          <a:ln w="12700">
            <a:solidFill>
              <a:srgbClr val="EEF2F6"/>
            </a:solidFill>
            <a:prstDash val="solid"/>
          </a:ln>
        </p:spPr>
        <p:txBody>
          <a:bodyPr/>
          <a:lstStyle/>
          <a:p>
            <a:endParaRPr lang="en-VN"/>
          </a:p>
        </p:txBody>
      </p:sp>
      <p:sp>
        <p:nvSpPr>
          <p:cNvPr id="8" name="Text 3"/>
          <p:cNvSpPr txBox="1"/>
          <p:nvPr/>
        </p:nvSpPr>
        <p:spPr>
          <a:xfrm>
            <a:off x="6949440" y="3429000"/>
            <a:ext cx="4572000" cy="457200"/>
          </a:xfrm>
          <a:prstGeom prst="rect">
            <a:avLst/>
          </a:prstGeom>
          <a:noFill/>
          <a:ln/>
        </p:spPr>
        <p:txBody>
          <a:bodyPr wrap="square" lIns="0" tIns="0" rIns="0" bIns="0" rtlCol="0" anchor="t"/>
          <a:lstStyle/>
          <a:p>
            <a:pPr marL="0" indent="0">
              <a:buNone/>
            </a:pPr>
            <a:r>
              <a:rPr lang="en-US" sz="1800" b="1" dirty="0">
                <a:solidFill>
                  <a:srgbClr val="0F8B8D"/>
                </a:solidFill>
              </a:rPr>
              <a:t>Where the time goes</a:t>
            </a:r>
            <a:endParaRPr lang="en-US" sz="1800" dirty="0"/>
          </a:p>
        </p:txBody>
      </p:sp>
      <p:sp>
        <p:nvSpPr>
          <p:cNvPr id="9" name="Text 4"/>
          <p:cNvSpPr txBox="1"/>
          <p:nvPr/>
        </p:nvSpPr>
        <p:spPr>
          <a:xfrm>
            <a:off x="6949440" y="3931920"/>
            <a:ext cx="4572000" cy="1691640"/>
          </a:xfrm>
          <a:prstGeom prst="rect">
            <a:avLst/>
          </a:prstGeom>
          <a:noFill/>
          <a:ln/>
        </p:spPr>
        <p:txBody>
          <a:bodyPr wrap="square" lIns="0" tIns="0" rIns="0" bIns="0" rtlCol="0" anchor="t"/>
          <a:lstStyle/>
          <a:p>
            <a:pPr marL="0" indent="0">
              <a:buNone/>
            </a:pPr>
            <a:r>
              <a:rPr lang="en-US" sz="1500" dirty="0">
                <a:solidFill>
                  <a:srgbClr val="1F2937"/>
                </a:solidFill>
              </a:rPr>
              <a:t>LLM ≈ 99.3 % of a turn</a:t>
            </a:r>
            <a:endParaRPr lang="en-US" sz="1500" dirty="0"/>
          </a:p>
          <a:p>
            <a:pPr marL="0" indent="0">
              <a:buNone/>
            </a:pPr>
            <a:r>
              <a:rPr lang="en-US" sz="1500" dirty="0">
                <a:solidFill>
                  <a:srgbClr val="1F2937"/>
                </a:solidFill>
              </a:rPr>
              <a:t>MCP tool calls ≈ 0.7 % (2–40 ms)</a:t>
            </a:r>
            <a:endParaRPr lang="en-US" sz="1500" dirty="0"/>
          </a:p>
          <a:p>
            <a:pPr marL="0" indent="0">
              <a:buNone/>
            </a:pPr>
            <a:endParaRPr lang="en-US" sz="1500" dirty="0"/>
          </a:p>
          <a:p>
            <a:pPr marL="0" indent="0">
              <a:buNone/>
            </a:pPr>
            <a:r>
              <a:rPr lang="en-US" sz="1500" dirty="0">
                <a:solidFill>
                  <a:srgbClr val="1F2937"/>
                </a:solidFill>
              </a:rPr>
              <a:t>11 questions × 2 runs · answers checked against the tools · docs/model-comparison.md</a:t>
            </a:r>
            <a:endParaRPr lang="en-US" sz="15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r"/>
            <a:fld id="{F7021451-1387-4CA6-816F-3879F97B5CBC}" type="slidenum">
              <a:rPr lang="en-US" b="0"/>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txBox="1"/>
          <p:nvPr/>
        </p:nvSpPr>
        <p:spPr>
          <a:xfrm>
            <a:off x="457200" y="274320"/>
            <a:ext cx="11247120" cy="274320"/>
          </a:xfrm>
          <a:prstGeom prst="rect">
            <a:avLst/>
          </a:prstGeom>
          <a:noFill/>
          <a:ln/>
        </p:spPr>
        <p:txBody>
          <a:bodyPr wrap="square" lIns="0" tIns="0" rIns="0" bIns="0" rtlCol="0" anchor="ctr"/>
          <a:lstStyle/>
          <a:p>
            <a:pPr marL="0" indent="0">
              <a:buNone/>
            </a:pPr>
            <a:r>
              <a:rPr lang="en-US" sz="1200" b="1" kern="0" spc="200" dirty="0">
                <a:solidFill>
                  <a:srgbClr val="0F8B8D"/>
                </a:solidFill>
              </a:rPr>
              <a:t>RESULTS</a:t>
            </a:r>
            <a:endParaRPr lang="en-US" sz="1200" dirty="0"/>
          </a:p>
        </p:txBody>
      </p:sp>
      <p:sp>
        <p:nvSpPr>
          <p:cNvPr id="3" name="Text 1"/>
          <p:cNvSpPr txBox="1"/>
          <p:nvPr/>
        </p:nvSpPr>
        <p:spPr>
          <a:xfrm>
            <a:off x="457200" y="548640"/>
            <a:ext cx="11247120" cy="640080"/>
          </a:xfrm>
          <a:prstGeom prst="rect">
            <a:avLst/>
          </a:prstGeom>
          <a:noFill/>
          <a:ln/>
        </p:spPr>
        <p:txBody>
          <a:bodyPr wrap="square" lIns="0" tIns="0" rIns="0" bIns="0" rtlCol="0" anchor="ctr"/>
          <a:lstStyle/>
          <a:p>
            <a:pPr marL="0" indent="0">
              <a:buNone/>
            </a:pPr>
            <a:r>
              <a:rPr lang="en-US" sz="3000" b="1" dirty="0">
                <a:solidFill>
                  <a:srgbClr val="1F2937"/>
                </a:solidFill>
              </a:rPr>
              <a:t>Lessons learned</a:t>
            </a:r>
            <a:endParaRPr lang="en-US" sz="3000" dirty="0"/>
          </a:p>
        </p:txBody>
      </p:sp>
      <p:sp>
        <p:nvSpPr>
          <p:cNvPr id="5" name="Shape 2"/>
          <p:cNvSpPr/>
          <p:nvPr/>
        </p:nvSpPr>
        <p:spPr>
          <a:xfrm>
            <a:off x="457200" y="1463040"/>
            <a:ext cx="3566160" cy="3108960"/>
          </a:xfrm>
          <a:prstGeom prst="roundRect">
            <a:avLst>
              <a:gd name="adj" fmla="val 2353"/>
            </a:avLst>
          </a:prstGeom>
          <a:solidFill>
            <a:srgbClr val="EEF2F6"/>
          </a:solidFill>
          <a:ln w="12700">
            <a:solidFill>
              <a:srgbClr val="EEF2F6"/>
            </a:solidFill>
            <a:prstDash val="solid"/>
          </a:ln>
        </p:spPr>
        <p:txBody>
          <a:bodyPr/>
          <a:lstStyle/>
          <a:p>
            <a:endParaRPr lang="en-VN"/>
          </a:p>
        </p:txBody>
      </p:sp>
      <p:sp>
        <p:nvSpPr>
          <p:cNvPr id="6" name="Text 3"/>
          <p:cNvSpPr txBox="1"/>
          <p:nvPr/>
        </p:nvSpPr>
        <p:spPr>
          <a:xfrm>
            <a:off x="640080" y="1600200"/>
            <a:ext cx="3200400" cy="457200"/>
          </a:xfrm>
          <a:prstGeom prst="rect">
            <a:avLst/>
          </a:prstGeom>
          <a:noFill/>
          <a:ln/>
        </p:spPr>
        <p:txBody>
          <a:bodyPr wrap="square" lIns="0" tIns="0" rIns="0" bIns="0" rtlCol="0" anchor="t"/>
          <a:lstStyle/>
          <a:p>
            <a:pPr marL="0" indent="0">
              <a:buNone/>
            </a:pPr>
            <a:r>
              <a:rPr lang="en-US" sz="1800" b="1" dirty="0">
                <a:solidFill>
                  <a:srgbClr val="0F8B8D"/>
                </a:solidFill>
              </a:rPr>
              <a:t>Tool design &gt; model size</a:t>
            </a:r>
            <a:endParaRPr lang="en-US" sz="1800" dirty="0"/>
          </a:p>
        </p:txBody>
      </p:sp>
      <p:sp>
        <p:nvSpPr>
          <p:cNvPr id="7" name="Text 4"/>
          <p:cNvSpPr txBox="1"/>
          <p:nvPr/>
        </p:nvSpPr>
        <p:spPr>
          <a:xfrm>
            <a:off x="640080" y="2103120"/>
            <a:ext cx="3200400" cy="2331720"/>
          </a:xfrm>
          <a:prstGeom prst="rect">
            <a:avLst/>
          </a:prstGeom>
          <a:noFill/>
          <a:ln/>
        </p:spPr>
        <p:txBody>
          <a:bodyPr wrap="square" lIns="0" tIns="0" rIns="0" bIns="0" rtlCol="0" anchor="t"/>
          <a:lstStyle/>
          <a:p>
            <a:pPr marL="0" indent="0">
              <a:buNone/>
            </a:pPr>
            <a:r>
              <a:rPr lang="en-US" sz="1800" dirty="0">
                <a:solidFill>
                  <a:srgbClr val="1F2937"/>
                </a:solidFill>
              </a:rPr>
              <a:t>Clear names, descriptions and Zod schemas let a 4B local model reach 100 %. Errors returned as isError let the model fix itself.</a:t>
            </a:r>
            <a:endParaRPr lang="en-US" sz="1800" dirty="0"/>
          </a:p>
        </p:txBody>
      </p:sp>
      <p:sp>
        <p:nvSpPr>
          <p:cNvPr id="8" name="Shape 5"/>
          <p:cNvSpPr/>
          <p:nvPr/>
        </p:nvSpPr>
        <p:spPr>
          <a:xfrm>
            <a:off x="4297680" y="1463040"/>
            <a:ext cx="3566160" cy="3108960"/>
          </a:xfrm>
          <a:prstGeom prst="roundRect">
            <a:avLst>
              <a:gd name="adj" fmla="val 2353"/>
            </a:avLst>
          </a:prstGeom>
          <a:solidFill>
            <a:srgbClr val="EEF2F6"/>
          </a:solidFill>
          <a:ln w="12700">
            <a:solidFill>
              <a:srgbClr val="EEF2F6"/>
            </a:solidFill>
            <a:prstDash val="solid"/>
          </a:ln>
        </p:spPr>
        <p:txBody>
          <a:bodyPr/>
          <a:lstStyle/>
          <a:p>
            <a:endParaRPr lang="en-VN"/>
          </a:p>
        </p:txBody>
      </p:sp>
      <p:sp>
        <p:nvSpPr>
          <p:cNvPr id="9" name="Text 6"/>
          <p:cNvSpPr txBox="1"/>
          <p:nvPr/>
        </p:nvSpPr>
        <p:spPr>
          <a:xfrm>
            <a:off x="4480560" y="1600200"/>
            <a:ext cx="3200400" cy="457200"/>
          </a:xfrm>
          <a:prstGeom prst="rect">
            <a:avLst/>
          </a:prstGeom>
          <a:noFill/>
          <a:ln/>
        </p:spPr>
        <p:txBody>
          <a:bodyPr wrap="square" lIns="0" tIns="0" rIns="0" bIns="0" rtlCol="0" anchor="t"/>
          <a:lstStyle/>
          <a:p>
            <a:pPr marL="0" indent="0">
              <a:buNone/>
            </a:pPr>
            <a:r>
              <a:rPr lang="en-US" sz="1800" b="1" dirty="0">
                <a:solidFill>
                  <a:srgbClr val="0F8B8D"/>
                </a:solidFill>
              </a:rPr>
              <a:t>Humans must confirm writes</a:t>
            </a:r>
            <a:endParaRPr lang="en-US" sz="1800" dirty="0"/>
          </a:p>
        </p:txBody>
      </p:sp>
      <p:sp>
        <p:nvSpPr>
          <p:cNvPr id="10" name="Text 7"/>
          <p:cNvSpPr txBox="1"/>
          <p:nvPr/>
        </p:nvSpPr>
        <p:spPr>
          <a:xfrm>
            <a:off x="4480560" y="2103120"/>
            <a:ext cx="3200400" cy="2331720"/>
          </a:xfrm>
          <a:prstGeom prst="rect">
            <a:avLst/>
          </a:prstGeom>
          <a:noFill/>
          <a:ln/>
        </p:spPr>
        <p:txBody>
          <a:bodyPr wrap="square" lIns="0" tIns="0" rIns="0" bIns="0" rtlCol="0" anchor="t"/>
          <a:lstStyle/>
          <a:p>
            <a:pPr marL="0" indent="0">
              <a:buNone/>
            </a:pPr>
            <a:r>
              <a:rPr lang="en-US" sz="1600" dirty="0">
                <a:solidFill>
                  <a:srgbClr val="1F2937"/>
                </a:solidFill>
              </a:rPr>
              <a:t>Elicitation caught the LLM inventing process_score: 0 on update_grade. Destructive tools must always ask.</a:t>
            </a:r>
            <a:endParaRPr lang="en-US" sz="1600" dirty="0"/>
          </a:p>
        </p:txBody>
      </p:sp>
      <p:sp>
        <p:nvSpPr>
          <p:cNvPr id="11" name="Shape 8"/>
          <p:cNvSpPr/>
          <p:nvPr/>
        </p:nvSpPr>
        <p:spPr>
          <a:xfrm>
            <a:off x="8138160" y="1463040"/>
            <a:ext cx="3566160" cy="3108960"/>
          </a:xfrm>
          <a:prstGeom prst="roundRect">
            <a:avLst>
              <a:gd name="adj" fmla="val 2353"/>
            </a:avLst>
          </a:prstGeom>
          <a:solidFill>
            <a:srgbClr val="EEF2F6"/>
          </a:solidFill>
          <a:ln w="12700">
            <a:solidFill>
              <a:srgbClr val="EEF2F6"/>
            </a:solidFill>
            <a:prstDash val="solid"/>
          </a:ln>
        </p:spPr>
        <p:txBody>
          <a:bodyPr/>
          <a:lstStyle/>
          <a:p>
            <a:endParaRPr lang="en-VN"/>
          </a:p>
        </p:txBody>
      </p:sp>
      <p:sp>
        <p:nvSpPr>
          <p:cNvPr id="12" name="Text 9"/>
          <p:cNvSpPr txBox="1"/>
          <p:nvPr/>
        </p:nvSpPr>
        <p:spPr>
          <a:xfrm>
            <a:off x="8321040" y="1600200"/>
            <a:ext cx="3200400" cy="457200"/>
          </a:xfrm>
          <a:prstGeom prst="rect">
            <a:avLst/>
          </a:prstGeom>
          <a:noFill/>
          <a:ln/>
        </p:spPr>
        <p:txBody>
          <a:bodyPr wrap="square" lIns="0" tIns="0" rIns="0" bIns="0" rtlCol="0" anchor="t"/>
          <a:lstStyle/>
          <a:p>
            <a:pPr marL="0" indent="0">
              <a:buNone/>
            </a:pPr>
            <a:r>
              <a:rPr lang="en-US" sz="1800" b="1" dirty="0">
                <a:solidFill>
                  <a:srgbClr val="0F8B8D"/>
                </a:solidFill>
              </a:rPr>
              <a:t>Thinking ≠ better here</a:t>
            </a:r>
            <a:endParaRPr lang="en-US" sz="1800" dirty="0"/>
          </a:p>
        </p:txBody>
      </p:sp>
      <p:sp>
        <p:nvSpPr>
          <p:cNvPr id="13" name="Text 10"/>
          <p:cNvSpPr txBox="1"/>
          <p:nvPr/>
        </p:nvSpPr>
        <p:spPr>
          <a:xfrm>
            <a:off x="8321040" y="2103120"/>
            <a:ext cx="3200400" cy="2331720"/>
          </a:xfrm>
          <a:prstGeom prst="rect">
            <a:avLst/>
          </a:prstGeom>
          <a:noFill/>
          <a:ln/>
        </p:spPr>
        <p:txBody>
          <a:bodyPr wrap="square" lIns="0" tIns="0" rIns="0" bIns="0" rtlCol="0" anchor="t"/>
          <a:lstStyle/>
          <a:p>
            <a:pPr marL="0" indent="0">
              <a:buNone/>
            </a:pPr>
            <a:r>
              <a:rPr lang="en-US" sz="1600" dirty="0">
                <a:solidFill>
                  <a:srgbClr val="1F2937"/>
                </a:solidFill>
              </a:rPr>
              <a:t>Qwen thinking: same accuracy, 10× slower, 13× more tokens. Free Gemini quotas were the real limit — bound and log every run.</a:t>
            </a:r>
            <a:endParaRPr lang="en-US" sz="1600" dirty="0"/>
          </a:p>
        </p:txBody>
      </p:sp>
      <p:sp>
        <p:nvSpPr>
          <p:cNvPr id="25" name="Slide Number Placeholder 0"/>
          <p:cNvSpPr>
            <a:spLocks noGrp="1"/>
          </p:cNvSpPr>
          <p:nvPr>
            <p:ph type="sldNum" sz="quarter" idx="4294967295"/>
          </p:nvPr>
        </p:nvSpPr>
        <p:spPr>
          <a:xfrm>
            <a:off x="11247120" y="644652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5B6475"/>
                </a:solidFill>
              </a:defRPr>
            </a:lvl1pPr>
          </a:lstStyle>
          <a:p>
            <a:pPr algn="r"/>
            <a:fld id="{F7021451-1387-4CA6-816F-3879F97B5CBC}" type="slidenum">
              <a:rPr lang="en-US" b="0"/>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txBox="1"/>
          <p:nvPr/>
        </p:nvSpPr>
        <p:spPr>
          <a:xfrm>
            <a:off x="731520" y="640080"/>
            <a:ext cx="10515600" cy="822960"/>
          </a:xfrm>
          <a:prstGeom prst="rect">
            <a:avLst/>
          </a:prstGeom>
          <a:noFill/>
          <a:ln/>
        </p:spPr>
        <p:txBody>
          <a:bodyPr wrap="square" lIns="0" tIns="0" rIns="0" bIns="0" rtlCol="0" anchor="ctr"/>
          <a:lstStyle/>
          <a:p>
            <a:pPr marL="0" indent="0">
              <a:buNone/>
            </a:pPr>
            <a:r>
              <a:rPr lang="en-US" sz="4000" b="1" dirty="0">
                <a:solidFill>
                  <a:srgbClr val="FFFFFF"/>
                </a:solidFill>
              </a:rPr>
              <a:t>Summary</a:t>
            </a:r>
            <a:endParaRPr lang="en-US" sz="4000" dirty="0"/>
          </a:p>
        </p:txBody>
      </p:sp>
      <p:sp>
        <p:nvSpPr>
          <p:cNvPr id="3" name="Text 1"/>
          <p:cNvSpPr txBox="1"/>
          <p:nvPr/>
        </p:nvSpPr>
        <p:spPr>
          <a:xfrm>
            <a:off x="731520" y="1737360"/>
            <a:ext cx="2651760" cy="1097280"/>
          </a:xfrm>
          <a:prstGeom prst="rect">
            <a:avLst/>
          </a:prstGeom>
          <a:noFill/>
          <a:ln/>
        </p:spPr>
        <p:txBody>
          <a:bodyPr wrap="square" lIns="0" tIns="0" rIns="0" bIns="0" rtlCol="0" anchor="ctr"/>
          <a:lstStyle/>
          <a:p>
            <a:pPr marL="0" indent="0">
              <a:buNone/>
            </a:pPr>
            <a:r>
              <a:rPr lang="en-US" sz="3000" b="1" dirty="0">
                <a:solidFill>
                  <a:srgbClr val="0F8B8D"/>
                </a:solidFill>
              </a:rPr>
              <a:t>THINK</a:t>
            </a:r>
            <a:endParaRPr lang="en-US" sz="3000" dirty="0"/>
          </a:p>
          <a:p>
            <a:pPr marL="0" indent="0">
              <a:buNone/>
            </a:pPr>
            <a:r>
              <a:rPr lang="en-US" sz="1800" dirty="0">
                <a:solidFill>
                  <a:srgbClr val="C9D3E6"/>
                </a:solidFill>
              </a:rPr>
              <a:t>LLM</a:t>
            </a:r>
            <a:endParaRPr lang="en-US" sz="3000" dirty="0"/>
          </a:p>
        </p:txBody>
      </p:sp>
      <p:sp>
        <p:nvSpPr>
          <p:cNvPr id="4" name="Text 2"/>
          <p:cNvSpPr txBox="1"/>
          <p:nvPr/>
        </p:nvSpPr>
        <p:spPr>
          <a:xfrm>
            <a:off x="3520440" y="1737360"/>
            <a:ext cx="2651760" cy="1097280"/>
          </a:xfrm>
          <a:prstGeom prst="rect">
            <a:avLst/>
          </a:prstGeom>
          <a:noFill/>
          <a:ln/>
        </p:spPr>
        <p:txBody>
          <a:bodyPr wrap="square" lIns="0" tIns="0" rIns="0" bIns="0" rtlCol="0" anchor="ctr"/>
          <a:lstStyle/>
          <a:p>
            <a:pPr marL="0" indent="0">
              <a:buNone/>
            </a:pPr>
            <a:r>
              <a:rPr lang="en-US" sz="3000" b="1" dirty="0">
                <a:solidFill>
                  <a:srgbClr val="0F8B8D"/>
                </a:solidFill>
              </a:rPr>
              <a:t>KNOW</a:t>
            </a:r>
            <a:endParaRPr lang="en-US" sz="3000" dirty="0"/>
          </a:p>
          <a:p>
            <a:pPr marL="0" indent="0">
              <a:buNone/>
            </a:pPr>
            <a:r>
              <a:rPr lang="en-US" sz="1800" dirty="0">
                <a:solidFill>
                  <a:srgbClr val="C9D3E6"/>
                </a:solidFill>
              </a:rPr>
              <a:t>Data</a:t>
            </a:r>
            <a:endParaRPr lang="en-US" sz="3000" dirty="0"/>
          </a:p>
        </p:txBody>
      </p:sp>
      <p:sp>
        <p:nvSpPr>
          <p:cNvPr id="5" name="Text 3"/>
          <p:cNvSpPr txBox="1"/>
          <p:nvPr/>
        </p:nvSpPr>
        <p:spPr>
          <a:xfrm>
            <a:off x="6309360" y="1737360"/>
            <a:ext cx="2651760" cy="1097280"/>
          </a:xfrm>
          <a:prstGeom prst="rect">
            <a:avLst/>
          </a:prstGeom>
          <a:noFill/>
          <a:ln/>
        </p:spPr>
        <p:txBody>
          <a:bodyPr wrap="square" lIns="0" tIns="0" rIns="0" bIns="0" rtlCol="0" anchor="ctr"/>
          <a:lstStyle/>
          <a:p>
            <a:pPr marL="0" indent="0">
              <a:buNone/>
            </a:pPr>
            <a:r>
              <a:rPr lang="en-US" sz="3000" b="1" dirty="0">
                <a:solidFill>
                  <a:srgbClr val="0F8B8D"/>
                </a:solidFill>
              </a:rPr>
              <a:t>ACT</a:t>
            </a:r>
            <a:endParaRPr lang="en-US" sz="3000" dirty="0"/>
          </a:p>
          <a:p>
            <a:pPr marL="0" indent="0">
              <a:buNone/>
            </a:pPr>
            <a:r>
              <a:rPr lang="en-US" sz="1800" dirty="0">
                <a:solidFill>
                  <a:srgbClr val="C9D3E6"/>
                </a:solidFill>
              </a:rPr>
              <a:t>Tools</a:t>
            </a:r>
            <a:endParaRPr lang="en-US" sz="3000" dirty="0"/>
          </a:p>
        </p:txBody>
      </p:sp>
      <p:sp>
        <p:nvSpPr>
          <p:cNvPr id="6" name="Text 4"/>
          <p:cNvSpPr txBox="1"/>
          <p:nvPr/>
        </p:nvSpPr>
        <p:spPr>
          <a:xfrm>
            <a:off x="9098280" y="1737360"/>
            <a:ext cx="2651760" cy="1097280"/>
          </a:xfrm>
          <a:prstGeom prst="rect">
            <a:avLst/>
          </a:prstGeom>
          <a:noFill/>
          <a:ln/>
        </p:spPr>
        <p:txBody>
          <a:bodyPr wrap="square" lIns="0" tIns="0" rIns="0" bIns="0" rtlCol="0" anchor="ctr"/>
          <a:lstStyle/>
          <a:p>
            <a:pPr marL="0" indent="0">
              <a:buNone/>
            </a:pPr>
            <a:r>
              <a:rPr lang="en-US" sz="3000" b="1" dirty="0">
                <a:solidFill>
                  <a:srgbClr val="E07A1F"/>
                </a:solidFill>
              </a:rPr>
              <a:t>CONNECT</a:t>
            </a:r>
            <a:endParaRPr lang="en-US" sz="3000" dirty="0"/>
          </a:p>
          <a:p>
            <a:pPr marL="0" indent="0">
              <a:buNone/>
            </a:pPr>
            <a:r>
              <a:rPr lang="en-US" sz="1800" dirty="0">
                <a:solidFill>
                  <a:srgbClr val="C9D3E6"/>
                </a:solidFill>
              </a:rPr>
              <a:t>MCP</a:t>
            </a:r>
            <a:endParaRPr lang="en-US" sz="3000" dirty="0"/>
          </a:p>
        </p:txBody>
      </p:sp>
      <p:sp>
        <p:nvSpPr>
          <p:cNvPr id="7" name="Text 5"/>
          <p:cNvSpPr txBox="1"/>
          <p:nvPr/>
        </p:nvSpPr>
        <p:spPr>
          <a:xfrm>
            <a:off x="731520" y="3108960"/>
            <a:ext cx="10698480" cy="1280160"/>
          </a:xfrm>
          <a:prstGeom prst="rect">
            <a:avLst/>
          </a:prstGeom>
          <a:noFill/>
          <a:ln/>
        </p:spPr>
        <p:txBody>
          <a:bodyPr wrap="square" lIns="0" tIns="0" rIns="0" bIns="0" rtlCol="0" anchor="ctr"/>
          <a:lstStyle/>
          <a:p>
            <a:pPr marL="0" indent="0">
              <a:buNone/>
            </a:pPr>
            <a:r>
              <a:rPr lang="en-US" sz="1800" dirty="0">
                <a:solidFill>
                  <a:srgbClr val="FFFFFF"/>
                </a:solidFill>
              </a:rPr>
              <a:t>MCP separates what data and tools exist (servers) from who reasons (hosts + LLMs). The TypeScript SDK v2 gives a small API, two protocol eras and two transports — we used it to build 2 servers that work unchanged with 2 hosts and 2 LLMs.</a:t>
            </a:r>
            <a:endParaRPr lang="en-US" sz="1800" dirty="0"/>
          </a:p>
        </p:txBody>
      </p:sp>
      <p:sp>
        <p:nvSpPr>
          <p:cNvPr id="8" name="Text 6"/>
          <p:cNvSpPr txBox="1"/>
          <p:nvPr/>
        </p:nvSpPr>
        <p:spPr>
          <a:xfrm>
            <a:off x="731520" y="4572000"/>
            <a:ext cx="5486400" cy="731520"/>
          </a:xfrm>
          <a:prstGeom prst="rect">
            <a:avLst/>
          </a:prstGeom>
          <a:noFill/>
          <a:ln/>
        </p:spPr>
        <p:txBody>
          <a:bodyPr wrap="square" lIns="0" tIns="0" rIns="0" bIns="0" rtlCol="0" anchor="ctr"/>
          <a:lstStyle/>
          <a:p>
            <a:pPr marL="0" indent="0">
              <a:buNone/>
            </a:pPr>
            <a:r>
              <a:rPr lang="en-US" sz="3200" b="1" dirty="0">
                <a:solidFill>
                  <a:srgbClr val="FFFFFF"/>
                </a:solidFill>
              </a:rPr>
              <a:t>Questions?</a:t>
            </a:r>
            <a:endParaRPr lang="en-US" sz="3200" dirty="0"/>
          </a:p>
        </p:txBody>
      </p:sp>
      <p:sp>
        <p:nvSpPr>
          <p:cNvPr id="9" name="Text 7"/>
          <p:cNvSpPr txBox="1"/>
          <p:nvPr/>
        </p:nvSpPr>
        <p:spPr>
          <a:xfrm>
            <a:off x="731520" y="5486400"/>
            <a:ext cx="10698480" cy="548640"/>
          </a:xfrm>
          <a:prstGeom prst="rect">
            <a:avLst/>
          </a:prstGeom>
          <a:noFill/>
          <a:ln/>
        </p:spPr>
        <p:txBody>
          <a:bodyPr wrap="square" lIns="0" tIns="0" rIns="0" bIns="0" rtlCol="0" anchor="ctr"/>
          <a:lstStyle/>
          <a:p>
            <a:pPr marL="0" indent="0">
              <a:buNone/>
            </a:pPr>
            <a:r>
              <a:rPr lang="en-US" sz="1300" dirty="0">
                <a:solidFill>
                  <a:srgbClr val="C9D3E6"/>
                </a:solidFill>
              </a:rPr>
              <a:t>modelcontextprotocol.io/specification/2026-07-28 · github.com/modelcontextprotocol/typescript-sdk · our code: github.com/HaHiepThanh/mcp-ts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7877</Words>
  <Application>Microsoft Macintosh PowerPoint</Application>
  <PresentationFormat>Widescreen</PresentationFormat>
  <Paragraphs>984</Paragraphs>
  <Slides>46</Slides>
  <Notes>46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46</vt:i4>
      </vt:variant>
    </vt:vector>
  </HeadingPairs>
  <TitlesOfParts>
    <vt:vector size="50"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MCP.2502 - MCP TypeScript SDK - Phase 1</dc:title>
  <dc:subject>PptxGenJS Presentation</dc:subject>
  <dc:creator>PptxGenJS</dc:creator>
  <cp:lastModifiedBy>Thanh Hà</cp:lastModifiedBy>
  <cp:revision>1</cp:revision>
  <dcterms:created xsi:type="dcterms:W3CDTF">2026-10-16T13:52:08Z</dcterms:created>
  <dcterms:modified xsi:type="dcterms:W3CDTF">2026-10-16T13:55:58Z</dcterms:modified>
</cp:coreProperties>
</file>