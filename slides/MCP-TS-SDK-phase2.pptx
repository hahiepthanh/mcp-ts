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1d238b0942440c" /><Relationship Type="http://schemas.openxmlformats.org/officeDocument/2006/relationships/extended-properties" Target="/docProps/app.xml" Id="R3e5fbd32874f4b80" /><Relationship Type="http://schemas.openxmlformats.org/officeDocument/2006/relationships/officeDocument" Target="/ppt/presentation.xml" Id="R83743855b1ee415c" /></Relationships>
</file>

<file path=ppt/presentation.xml><?xml version="1.0" encoding="utf-8"?>
<p:presentation xmlns:p="http://schemas.openxmlformats.org/presentationml/2006/main">
  <p:sldMasterIdLst>
    <p:sldMasterId xmlns:r="http://schemas.openxmlformats.org/officeDocument/2006/relationships" id="2147483648" r:id="R12622b96985747b7"/>
  </p:sldMasterIdLst>
  <p:notesMasterIdLst>
    <p:notesMasterId xmlns:r="http://schemas.openxmlformats.org/officeDocument/2006/relationships" r:id="R6fa8e3daaf3946b9"/>
  </p:notesMasterIdLst>
  <p:sldIdLst>
    <p:sldId xmlns:r="http://schemas.openxmlformats.org/officeDocument/2006/relationships" id="256" r:id="R340ca38c1cbe4611"/>
    <p:sldId xmlns:r="http://schemas.openxmlformats.org/officeDocument/2006/relationships" id="257" r:id="R8962559e98d04529"/>
    <p:sldId xmlns:r="http://schemas.openxmlformats.org/officeDocument/2006/relationships" id="258" r:id="Rcb1284dfc9a143af"/>
    <p:sldId xmlns:r="http://schemas.openxmlformats.org/officeDocument/2006/relationships" id="259" r:id="R7618fe76b1204c55"/>
    <p:sldId xmlns:r="http://schemas.openxmlformats.org/officeDocument/2006/relationships" id="260" r:id="R08a56e2dab8b4c89"/>
    <p:sldId xmlns:r="http://schemas.openxmlformats.org/officeDocument/2006/relationships" id="261" r:id="R36a5ac42b3684b31"/>
    <p:sldId xmlns:r="http://schemas.openxmlformats.org/officeDocument/2006/relationships" id="262" r:id="Rc9eb1f7f8c8c44b5"/>
    <p:sldId xmlns:r="http://schemas.openxmlformats.org/officeDocument/2006/relationships" id="263" r:id="Rda686bec987943f4"/>
    <p:sldId xmlns:r="http://schemas.openxmlformats.org/officeDocument/2006/relationships" id="264" r:id="Rdb7fb36d9ba640d1"/>
    <p:sldId xmlns:r="http://schemas.openxmlformats.org/officeDocument/2006/relationships" id="265" r:id="R699cf0eca479448b"/>
    <p:sldId xmlns:r="http://schemas.openxmlformats.org/officeDocument/2006/relationships" id="266" r:id="Rd8eebde1cd5f43ad"/>
    <p:sldId xmlns:r="http://schemas.openxmlformats.org/officeDocument/2006/relationships" id="267" r:id="Rb1e41b5c6fde489d"/>
    <p:sldId xmlns:r="http://schemas.openxmlformats.org/officeDocument/2006/relationships" id="268" r:id="R6ec6ee17575747eb"/>
    <p:sldId xmlns:r="http://schemas.openxmlformats.org/officeDocument/2006/relationships" id="269" r:id="R192fde0d686f4eb5"/>
    <p:sldId xmlns:r="http://schemas.openxmlformats.org/officeDocument/2006/relationships" id="270" r:id="R2edee8e728d042b4"/>
    <p:sldId xmlns:r="http://schemas.openxmlformats.org/officeDocument/2006/relationships" id="271" r:id="R5a92d42f26bb40d6"/>
    <p:sldId xmlns:r="http://schemas.openxmlformats.org/officeDocument/2006/relationships" id="272" r:id="R28c307ec47964b6f"/>
    <p:sldId xmlns:r="http://schemas.openxmlformats.org/officeDocument/2006/relationships" id="273" r:id="R4c30c12fdcc74a62"/>
    <p:sldId xmlns:r="http://schemas.openxmlformats.org/officeDocument/2006/relationships" id="274" r:id="R721cd9ee4d424285"/>
    <p:sldId xmlns:r="http://schemas.openxmlformats.org/officeDocument/2006/relationships" id="275" r:id="Rc4a5f528807d4142"/>
    <p:sldId xmlns:r="http://schemas.openxmlformats.org/officeDocument/2006/relationships" id="276" r:id="Re1ee067dcb864494"/>
    <p:sldId xmlns:r="http://schemas.openxmlformats.org/officeDocument/2006/relationships" id="277" r:id="Rbed13f6829b1407d"/>
    <p:sldId xmlns:r="http://schemas.openxmlformats.org/officeDocument/2006/relationships" id="278" r:id="R6f160742aaf8447f"/>
    <p:sldId xmlns:r="http://schemas.openxmlformats.org/officeDocument/2006/relationships" id="279" r:id="R894b84e4e38143b4"/>
    <p:sldId xmlns:r="http://schemas.openxmlformats.org/officeDocument/2006/relationships" id="280" r:id="R2608770f42dc4ca7"/>
    <p:sldId xmlns:r="http://schemas.openxmlformats.org/officeDocument/2006/relationships" id="281" r:id="Rff63c97d709d49d3"/>
    <p:sldId xmlns:r="http://schemas.openxmlformats.org/officeDocument/2006/relationships" id="282" r:id="R65093cc3233649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0a10a22107411c" /><Relationship Type="http://schemas.openxmlformats.org/officeDocument/2006/relationships/slideMaster" Target="/ppt/slideMasters/slideMaster1.xml" Id="R12622b96985747b7" /><Relationship Type="http://schemas.openxmlformats.org/officeDocument/2006/relationships/notesMaster" Target="/ppt/notesMasters/notesMaster1.xml" Id="R6fa8e3daaf3946b9" /><Relationship Type="http://schemas.openxmlformats.org/officeDocument/2006/relationships/presProps" Target="/ppt/presProps.xml" Id="R545af6b07f10435e" /><Relationship Type="http://schemas.openxmlformats.org/officeDocument/2006/relationships/tableStyles" Target="/ppt/tableStyles.xml" Id="R93446103dfdb41fc" /><Relationship Type="http://schemas.openxmlformats.org/officeDocument/2006/relationships/slide" Target="/ppt/slides/slide1.xml" Id="R340ca38c1cbe4611" /><Relationship Type="http://schemas.openxmlformats.org/officeDocument/2006/relationships/slide" Target="/ppt/slides/slide2.xml" Id="R8962559e98d04529" /><Relationship Type="http://schemas.openxmlformats.org/officeDocument/2006/relationships/slide" Target="/ppt/slides/slide3.xml" Id="Rcb1284dfc9a143af" /><Relationship Type="http://schemas.openxmlformats.org/officeDocument/2006/relationships/slide" Target="/ppt/slides/slide4.xml" Id="R7618fe76b1204c55" /><Relationship Type="http://schemas.openxmlformats.org/officeDocument/2006/relationships/slide" Target="/ppt/slides/slide5.xml" Id="R08a56e2dab8b4c89" /><Relationship Type="http://schemas.openxmlformats.org/officeDocument/2006/relationships/slide" Target="/ppt/slides/slide6.xml" Id="R36a5ac42b3684b31" /><Relationship Type="http://schemas.openxmlformats.org/officeDocument/2006/relationships/slide" Target="/ppt/slides/slide7.xml" Id="Rc9eb1f7f8c8c44b5" /><Relationship Type="http://schemas.openxmlformats.org/officeDocument/2006/relationships/slide" Target="/ppt/slides/slide8.xml" Id="Rda686bec987943f4" /><Relationship Type="http://schemas.openxmlformats.org/officeDocument/2006/relationships/slide" Target="/ppt/slides/slide9.xml" Id="Rdb7fb36d9ba640d1" /><Relationship Type="http://schemas.openxmlformats.org/officeDocument/2006/relationships/slide" Target="/ppt/slides/slide10.xml" Id="R699cf0eca479448b" /><Relationship Type="http://schemas.openxmlformats.org/officeDocument/2006/relationships/slide" Target="/ppt/slides/slide11.xml" Id="Rd8eebde1cd5f43ad" /><Relationship Type="http://schemas.openxmlformats.org/officeDocument/2006/relationships/slide" Target="/ppt/slides/slide12.xml" Id="Rb1e41b5c6fde489d" /><Relationship Type="http://schemas.openxmlformats.org/officeDocument/2006/relationships/slide" Target="/ppt/slides/slide13.xml" Id="R6ec6ee17575747eb" /><Relationship Type="http://schemas.openxmlformats.org/officeDocument/2006/relationships/slide" Target="/ppt/slides/slide14.xml" Id="R192fde0d686f4eb5" /><Relationship Type="http://schemas.openxmlformats.org/officeDocument/2006/relationships/slide" Target="/ppt/slides/slide15.xml" Id="R2edee8e728d042b4" /><Relationship Type="http://schemas.openxmlformats.org/officeDocument/2006/relationships/slide" Target="/ppt/slides/slide16.xml" Id="R5a92d42f26bb40d6" /><Relationship Type="http://schemas.openxmlformats.org/officeDocument/2006/relationships/slide" Target="/ppt/slides/slide17.xml" Id="R28c307ec47964b6f" /><Relationship Type="http://schemas.openxmlformats.org/officeDocument/2006/relationships/slide" Target="/ppt/slides/slide18.xml" Id="R4c30c12fdcc74a62" /><Relationship Type="http://schemas.openxmlformats.org/officeDocument/2006/relationships/slide" Target="/ppt/slides/slide19.xml" Id="R721cd9ee4d424285" /><Relationship Type="http://schemas.openxmlformats.org/officeDocument/2006/relationships/slide" Target="/ppt/slides/slide20.xml" Id="Rc4a5f528807d4142" /><Relationship Type="http://schemas.openxmlformats.org/officeDocument/2006/relationships/slide" Target="/ppt/slides/slide21.xml" Id="Re1ee067dcb864494" /><Relationship Type="http://schemas.openxmlformats.org/officeDocument/2006/relationships/slide" Target="/ppt/slides/slide22.xml" Id="Rbed13f6829b1407d" /><Relationship Type="http://schemas.openxmlformats.org/officeDocument/2006/relationships/slide" Target="/ppt/slides/slide23.xml" Id="R6f160742aaf8447f" /><Relationship Type="http://schemas.openxmlformats.org/officeDocument/2006/relationships/slide" Target="/ppt/slides/slide24.xml" Id="R894b84e4e38143b4" /><Relationship Type="http://schemas.openxmlformats.org/officeDocument/2006/relationships/slide" Target="/ppt/slides/slide25.xml" Id="R2608770f42dc4ca7" /><Relationship Type="http://schemas.openxmlformats.org/officeDocument/2006/relationships/slide" Target="/ppt/slides/slide26.xml" Id="Rff63c97d709d49d3" /><Relationship Type="http://schemas.openxmlformats.org/officeDocument/2006/relationships/slide" Target="/ppt/slides/slide27.xml" Id="R65093cc3233649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e72cbc31c748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4bd44d780c498a" /><Relationship Type="http://schemas.openxmlformats.org/officeDocument/2006/relationships/notesMaster" Target="/ppt/notesMasters/notesMaster1.xml" Id="R50111b01430a40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1cee9e89fe4f7f" /><Relationship Type="http://schemas.openxmlformats.org/officeDocument/2006/relationships/notesMaster" Target="/ppt/notesMasters/notesMaster1.xml" Id="R47644773cf9f4f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d091e28cb04754" /><Relationship Type="http://schemas.openxmlformats.org/officeDocument/2006/relationships/notesMaster" Target="/ppt/notesMasters/notesMaster1.xml" Id="R082416c8d88943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f76cd575b4421c" /><Relationship Type="http://schemas.openxmlformats.org/officeDocument/2006/relationships/notesMaster" Target="/ppt/notesMasters/notesMaster1.xml" Id="R524be2cf0c2545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8a800d26fa43c1" /><Relationship Type="http://schemas.openxmlformats.org/officeDocument/2006/relationships/notesMaster" Target="/ppt/notesMasters/notesMaster1.xml" Id="R68d2ac23673c49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1f312f1279417f" /><Relationship Type="http://schemas.openxmlformats.org/officeDocument/2006/relationships/notesMaster" Target="/ppt/notesMasters/notesMaster1.xml" Id="R8cbc43e6c4a444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36ddd4f8a2433c" /><Relationship Type="http://schemas.openxmlformats.org/officeDocument/2006/relationships/notesMaster" Target="/ppt/notesMasters/notesMaster1.xml" Id="R04c03f02de124f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2adf7d64e544c3" /><Relationship Type="http://schemas.openxmlformats.org/officeDocument/2006/relationships/notesMaster" Target="/ppt/notesMasters/notesMaster1.xml" Id="R2b712cd42d704c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cd0db6271447ed" /><Relationship Type="http://schemas.openxmlformats.org/officeDocument/2006/relationships/notesMaster" Target="/ppt/notesMasters/notesMaster1.xml" Id="Rfe3cbeab993749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71c445bb044db9" /><Relationship Type="http://schemas.openxmlformats.org/officeDocument/2006/relationships/notesMaster" Target="/ppt/notesMasters/notesMaster1.xml" Id="R214e2fb3e7ad4b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58cc5e45e947f7" /><Relationship Type="http://schemas.openxmlformats.org/officeDocument/2006/relationships/notesMaster" Target="/ppt/notesMasters/notesMaster1.xml" Id="Ra98d59e92c8641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b0deca45ec4234" /><Relationship Type="http://schemas.openxmlformats.org/officeDocument/2006/relationships/notesMaster" Target="/ppt/notesMasters/notesMaster1.xml" Id="Rc2f7bf3380b445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dccacb9e0b43a7" /><Relationship Type="http://schemas.openxmlformats.org/officeDocument/2006/relationships/notesMaster" Target="/ppt/notesMasters/notesMaster1.xml" Id="R7f0c3fa3e9f74b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882f9217e148f4" /><Relationship Type="http://schemas.openxmlformats.org/officeDocument/2006/relationships/notesMaster" Target="/ppt/notesMasters/notesMaster1.xml" Id="R42f98f87be9b40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ea9b9bdc5d4552" /><Relationship Type="http://schemas.openxmlformats.org/officeDocument/2006/relationships/notesMaster" Target="/ppt/notesMasters/notesMaster1.xml" Id="R65709fe1cfae42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614a3281ae4064" /><Relationship Type="http://schemas.openxmlformats.org/officeDocument/2006/relationships/notesMaster" Target="/ppt/notesMasters/notesMaster1.xml" Id="R7a9e81eb59cf44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347a7c8ac64e08" /><Relationship Type="http://schemas.openxmlformats.org/officeDocument/2006/relationships/notesMaster" Target="/ppt/notesMasters/notesMaster1.xml" Id="R2cac712f069b4b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64f1e04ec64759" /><Relationship Type="http://schemas.openxmlformats.org/officeDocument/2006/relationships/notesMaster" Target="/ppt/notesMasters/notesMaster1.xml" Id="R5706b068b07345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70a0133deed45b5" /><Relationship Type="http://schemas.openxmlformats.org/officeDocument/2006/relationships/notesMaster" Target="/ppt/notesMasters/notesMaster1.xml" Id="Rdf1edce0e30349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f8f9220f1b49be" /><Relationship Type="http://schemas.openxmlformats.org/officeDocument/2006/relationships/notesMaster" Target="/ppt/notesMasters/notesMaster1.xml" Id="Rfafda617c99446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70c184c5dd4561" /><Relationship Type="http://schemas.openxmlformats.org/officeDocument/2006/relationships/notesMaster" Target="/ppt/notesMasters/notesMaster1.xml" Id="R6c4abcdc88644e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12e43b4033146ad" /><Relationship Type="http://schemas.openxmlformats.org/officeDocument/2006/relationships/notesMaster" Target="/ppt/notesMasters/notesMaster1.xml" Id="R80b59f9eb3f34a9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4a19fffe8954f0b" /><Relationship Type="http://schemas.openxmlformats.org/officeDocument/2006/relationships/notesMaster" Target="/ppt/notesMasters/notesMaster1.xml" Id="R8ae8ae6fd759431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02fe16394644873" /><Relationship Type="http://schemas.openxmlformats.org/officeDocument/2006/relationships/notesMaster" Target="/ppt/notesMasters/notesMaster1.xml" Id="R3f1d3b4adfa0420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8033bcf81cc4bf1" /><Relationship Type="http://schemas.openxmlformats.org/officeDocument/2006/relationships/notesMaster" Target="/ppt/notesMasters/notesMaster1.xml" Id="R3d308dc8a4ce4f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36595017dee4eee" /><Relationship Type="http://schemas.openxmlformats.org/officeDocument/2006/relationships/notesMaster" Target="/ppt/notesMasters/notesMaster1.xml" Id="Ref2a8f6f30f748c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56699f2251a4364" /><Relationship Type="http://schemas.openxmlformats.org/officeDocument/2006/relationships/notesMaster" Target="/ppt/notesMasters/notesMaster1.xml" Id="Re6e5c5d317924a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Phase Two submission for our MCP academic assistant. The focus is validation and integration: realistic questions, independently checked answers, recorded measurements and evidence for the presentation. All records in this demonstration are generated sample data.</a:t>
            </a:r>
          </a:p>
          <a:p xmlns:a="http://schemas.openxmlformats.org/drawingml/2006/main">
            <a:r>
              <a:t/>
            </a:r>
          </a:p>
          <a:p xmlns:a="http://schemas.openxmlformats.org/drawingml/2006/main">
            <a:r>
              <a:t>Sources: TASKS.md; phase2/KHOA-HANDOFF.md</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Phu and Hoang provide the academic features already on main. Tien’s finance work remains in pull request two. This branch contains Khoa’s questions and delivery artifacts. It does not merge or rewrite the other members’ server implementations.</a:t>
            </a:r>
          </a:p>
          <a:p xmlns:a="http://schemas.openxmlformats.org/drawingml/2006/main">
            <a:r>
              <a:t/>
            </a:r>
          </a:p>
          <a:p xmlns:a="http://schemas.openxmlformats.org/drawingml/2006/main">
            <a:r>
              <a:t>Sources: TASKS.md; phase2/KHOA-HANDOFF.md</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user asks a natural-language question. The host gives the model the enabled tool schemas. The model selects a tool and arguments, and the host calls the corresponding MCP server. The server calculates the result, and the model presents it to the user.</a:t>
            </a:r>
          </a:p>
          <a:p xmlns:a="http://schemas.openxmlformats.org/drawingml/2006/main">
            <a:r>
              <a:t/>
            </a:r>
          </a:p>
          <a:p xmlns:a="http://schemas.openxmlformats.org/drawingml/2006/main">
            <a:r>
              <a:t>Sources: mcp-academic/docs/architecture.md; src/host/host.ts</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academic answer key is pinned to commit 2c4110a. It includes forty valid students, twenty teachers and forty-one sections. Six invalid grade rows are excluded from academic calculations. The manifest records the source commit and file hashes so the expected answers can be reproduced.</a:t>
            </a:r>
          </a:p>
          <a:p xmlns:a="http://schemas.openxmlformats.org/drawingml/2006/main">
            <a:r>
              <a:t/>
            </a:r>
          </a:p>
          <a:p xmlns:a="http://schemas.openxmlformats.org/drawingml/2006/main">
            <a:r>
              <a:t>Sources: phase2/reference-manifest.json; mcp-academic/data/sample/README_data.md</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pack contains thirty-one natural English questions. Twenty-six can run against main. Five finance cases preserve expected values from the finance pull request and are skipped on main. The workbook supplies fifty-nine formula metrics and independent CSV cross-checks.</a:t>
            </a:r>
          </a:p>
          <a:p xmlns:a="http://schemas.openxmlformats.org/drawingml/2006/main">
            <a:r>
              <a:t/>
            </a:r>
          </a:p>
          <a:p xmlns:a="http://schemas.openxmlformats.org/drawingml/2006/main">
            <a:r>
              <a:t>Sources: phase2/test-cases.csv; phase2/test-reference.xlsx</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builder does not import the server’s business-rule functions. The workbook shows the CSV inputs, visible thresholds and formula steps. Every expected metric agrees with an independent CSV calculation under the artifact formula engine. A human review in Microsoft Excel is still required before claiming manual verification.</a:t>
            </a:r>
          </a:p>
          <a:p xmlns:a="http://schemas.openxmlformats.org/drawingml/2006/main">
            <a:r>
              <a:t/>
            </a:r>
          </a:p>
          <a:p xmlns:a="http://schemas.openxmlformats.org/drawingml/2006/main">
            <a:r>
              <a:t>Sources: phase2/scripts/prepare-reference.py; phase2/scripts/build-reference.mjs</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feature block covers teacher search and class schedules. Search supports several filters and a result limit. The timetable for class IT zero one in semester twenty twenty-four dash one contains three sections. A nonexistent class produces an error instead of a fabricated schedule.</a:t>
            </a:r>
          </a:p>
          <a:p xmlns:a="http://schemas.openxmlformats.org/drawingml/2006/main">
            <a:r>
              <a:t/>
            </a:r>
          </a:p>
          <a:p xmlns:a="http://schemas.openxmlformats.org/drawingml/2006/main">
            <a:r>
              <a:t>Sources: mcp-academic/src/server/academic/tools.ts; test cases P2-01–P2-07</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workload counts assigned sections and weekly periods. T zero zero one has three sections and nine weekly periods in the first semester shown. A later semester has six sections and eighteen periods. A valid teacher with no assignments has a real zero workload, which differs from an unknown teacher.</a:t>
            </a:r>
          </a:p>
          <a:p xmlns:a="http://schemas.openxmlformats.org/drawingml/2006/main">
            <a:r>
              <a:t/>
            </a:r>
          </a:p>
          <a:p xmlns:a="http://schemas.openxmlformats.org/drawingml/2006/main">
            <a:r>
              <a:t>Sources: phase2/test-reference.xlsx; test cases P2-08–P2-10</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grade report aggregates graded enrolments across a teacher’s sections. It does not count unique students. Each course total first uses the configured component weights and rounding. The report then averages those totals and calculates the pass percentage. The workbook preserves those intermediate calculations.</a:t>
            </a:r>
          </a:p>
          <a:p xmlns:a="http://schemas.openxmlformats.org/drawingml/2006/main">
            <a:r>
              <a:t/>
            </a:r>
          </a:p>
          <a:p xmlns:a="http://schemas.openxmlformats.org/drawingml/2006/main">
            <a:r>
              <a:t>Sources: test case P2-12; src/server/academic/tools.ts, teacher_grade_report</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two recorded attendance cases test the exact boundary. Three absences out of fifteen meetings equal twenty percent, so the strict greater-than rule does not ban the student. Four absences produce about twenty-six point seven percent and trigger an exam ban in that section.</a:t>
            </a:r>
          </a:p>
          <a:p xmlns:a="http://schemas.openxmlformats.org/drawingml/2006/main">
            <a:r>
              <a:t/>
            </a:r>
          </a:p>
          <a:p xmlns:a="http://schemas.openxmlformats.org/drawingml/2006/main">
            <a:r>
              <a:t>Sources: config/academic-rules.json; test cases P2-13 and P2-14</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the absent status currently contributes to the configured absence ratio. Late and excused attendance remain separate. The overall percentage summarizes a student’s records, but the exam restriction is evaluated per section. A low overall average can therefore hide a problematic individual section.</a:t>
            </a:r>
          </a:p>
          <a:p xmlns:a="http://schemas.openxmlformats.org/drawingml/2006/main">
            <a:r>
              <a:t/>
            </a:r>
          </a:p>
          <a:p xmlns:a="http://schemas.openxmlformats.org/drawingml/2006/main">
            <a:r>
              <a:t>Sources: mcp-academic/config/academic-rules.json; src/server/academic/tools.ts, attendance_summary</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Conduct classification comes from the rule file. The lower boundary belongs to the higher band: a score of fifty is Average, while ninety is Excellent. The test cases also cover a student’s history and a semester with no conduct record, which must remain unavailable rather than becoming zero.</a:t>
            </a:r>
          </a:p>
          <a:p xmlns:a="http://schemas.openxmlformats.org/drawingml/2006/main">
            <a:r>
              <a:t/>
            </a:r>
          </a:p>
          <a:p xmlns:a="http://schemas.openxmlformats.org/drawingml/2006/main">
            <a:r>
              <a:t>Sources: mcp-academic/config/academic-rules.json; test cases P2-18–P2-22</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risk tool flags a student when any configured condition applies. It does not require all three conditions together. In this snapshot, two of ten students in IT zero one are flagged, and four of twenty in Business Administration are flagged. Reasons must explain each student’s actual risk factors.</a:t>
            </a:r>
          </a:p>
          <a:p xmlns:a="http://schemas.openxmlformats.org/drawingml/2006/main">
            <a:r>
              <a:t/>
            </a:r>
          </a:p>
          <a:p xmlns:a="http://schemas.openxmlformats.org/drawingml/2006/main">
            <a:r>
              <a:t>Sources: test cases P2-23–P2-25; src/server/academic/tools.ts, at_risk_students</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finance feature is a separate dependency. Its human-resources and conduct data differ from main, so mixing the two snapshots would change expected values. The workbook keeps finance source sheets separate. The five finance cases are ready for review but are not reported as executed on main.</a:t>
            </a:r>
          </a:p>
          <a:p xmlns:a="http://schemas.openxmlformats.org/drawingml/2006/main">
            <a:r>
              <a:t/>
            </a:r>
          </a:p>
          <a:p xmlns:a="http://schemas.openxmlformats.org/drawingml/2006/main">
            <a:r>
              <a:t>Sources: https://github.com/HaHiepThanh/mcp-ts/pull/2; phase2/reference-manifest.json</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tuition example is calculated from the finance pull request’s sample CSV. The visible formula subtracts the paid amount from the amount due. Student twenty-two zero one zero zero two has an unpaid balance in the selected semester. This slide explains the reference calculation; it is not a claim that the finance tool ran on main.</a:t>
            </a:r>
          </a:p>
          <a:p xmlns:a="http://schemas.openxmlformats.org/drawingml/2006/main">
            <a:r>
              <a:t/>
            </a:r>
          </a:p>
          <a:p xmlns:a="http://schemas.openxmlformats.org/drawingml/2006/main">
            <a:r>
              <a:t>Sources: finance PR #2 snapshot; test cases P2-26–P2-28</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pay combines the payroll row with teaching periods from the matching finance snapshot. Title rates, weeks per month and the overtime threshold come from finance configuration. The workbook calculates each component before net pay. These are fictional payroll records for testing.</a:t>
            </a:r>
          </a:p>
          <a:p xmlns:a="http://schemas.openxmlformats.org/drawingml/2006/main">
            <a:r>
              <a:t/>
            </a:r>
          </a:p>
          <a:p xmlns:a="http://schemas.openxmlformats.org/drawingml/2006/main">
            <a:r>
              <a:t>Sources: finance PR #2, config/finance.json and rules.ts; test cases P2-29–P2-30</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advising scenario combines several sources. The model must obtain the transcript, attendance summary and conduct score for the same student and semester. The trace records the tool calls. A human reviewer must still check that the final briefing includes every relevant restriction and does not lose a risk reason.</a:t>
            </a:r>
          </a:p>
          <a:p xmlns:a="http://schemas.openxmlformats.org/drawingml/2006/main">
            <a:r>
              <a:t/>
            </a:r>
          </a:p>
          <a:p xmlns:a="http://schemas.openxmlformats.org/drawingml/2006/main">
            <a:r>
              <a:t>Sources: phase2/test-cases.csv, P2-31; recorded LLM traces</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changes the transport while keeping the model, temperature, tool-round limit and system prompt fixed. Each question starts a fresh conversation. Fallback is disabled so every model call has an unambiguous attribution. Both configurations enable only the academic and utility servers.</a:t>
            </a:r>
          </a:p>
          <a:p xmlns:a="http://schemas.openxmlformats.org/drawingml/2006/main">
            <a:r>
              <a:t/>
            </a:r>
          </a:p>
          <a:p xmlns:a="http://schemas.openxmlformats.org/drawingml/2006/main">
            <a:r>
              <a:t>Sources: phase2/configs/gemini-stdio.json; phase2/configs/gemini-http.json</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independent numeric subset checks passed all twenty-six executable academic cases over both transports. These direct tests do not use a language model. They verify the MCP route, expected argument handling, numeric outputs and expected error behavior. The five finance cases remain explicitly skipped.</a:t>
            </a:r>
          </a:p>
          <a:p xmlns:a="http://schemas.openxmlformats.org/drawingml/2006/main">
            <a:r>
              <a:t/>
            </a:r>
          </a:p>
          <a:p xmlns:a="http://schemas.openxmlformats.org/drawingml/2006/main">
            <a:r>
              <a:t>Sources: phase2/runs/khoa/comparison.csv; selected direct MCP traces</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recorded Gemini results. The strict subset score checks requested tools, required argument values and selected structured values. It is not a complete semantic answer score. Latency includes API retry time within each question, so a slow outlier must not automatically be attributed to HTTP.</a:t>
            </a:r>
          </a:p>
          <a:p xmlns:a="http://schemas.openxmlformats.org/drawingml/2006/main">
            <a:r>
              <a:t/>
            </a:r>
          </a:p>
          <a:p xmlns:a="http://schemas.openxmlformats.org/drawingml/2006/main">
            <a:r>
              <a:t>Sources: phase2/runs/khoa/comparison.csv; README.md, scoring limits</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token totals come from the recorded provider usage for these twenty-six questions. They include repeated tool schemas and the conversation rounds. The model receives more than the user’s question alone. A complete three-server context-budget experiment still requires the finance integration and its actual tool list.</a:t>
            </a:r>
          </a:p>
          <a:p xmlns:a="http://schemas.openxmlformats.org/drawingml/2006/main">
            <a:r>
              <a:t/>
            </a:r>
          </a:p>
          <a:p xmlns:a="http://schemas.openxmlformats.org/drawingml/2006/main">
            <a:r>
              <a:t>Sources: phase2/runs/khoa/comparison.json; per-turn usage and llmCalls</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limit test exposes a useful distinction. A model may retrieve fifty teachers and then show one person, satisfying much of the visible question while ignoring the intended retrieval limit. That increases unnecessary context. The report preserves the strict argument failure and leaves semantic correctness for review.</a:t>
            </a:r>
          </a:p>
          <a:p xmlns:a="http://schemas.openxmlformats.org/drawingml/2006/main">
            <a:r>
              <a:t/>
            </a:r>
          </a:p>
          <a:p xmlns:a="http://schemas.openxmlformats.org/drawingml/2006/main">
            <a:r>
              <a:t>Sources: P2-03 in recorded Gemini traces; phase2/runs/khoa/README.md</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sweep per transport is enough to report what happened, but not enough to establish a general speed ranking. Retries, network conditions and warm-up all matter. Repeated randomized sweeps are the next step. Historical model-comparison results from another machine must remain separate from these measurements.</a:t>
            </a:r>
          </a:p>
          <a:p xmlns:a="http://schemas.openxmlformats.org/drawingml/2006/main">
            <a:r>
              <a:t/>
            </a:r>
          </a:p>
          <a:p xmlns:a="http://schemas.openxmlformats.org/drawingml/2006/main">
            <a:r>
              <a:t>Sources: phase2/runs/khoa/README.md; historical docs/experiments.md</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adds an independent reference, full tool-result capture, source hashes and fresh conversations. These changes make failures easier to diagnose. The original model observations and improvement log remain useful context, but their historical scores are not relabelled as new Phase Two measurements.</a:t>
            </a:r>
          </a:p>
          <a:p xmlns:a="http://schemas.openxmlformats.org/drawingml/2006/main">
            <a:r>
              <a:t/>
            </a:r>
          </a:p>
          <a:p xmlns:a="http://schemas.openxmlformats.org/drawingml/2006/main">
            <a:r>
              <a:t>Sources: phase2/scripts/; phase2/improvements.md; docs/model-observations.md</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remaining gates are explicit: human review of the Excel key and final answers, finance integration with a refreshed reference, a local Qwen run when Ollama is available, and a genuine tool-description experiment. A terse host prompt alone does not shorten the registered tool schemas.</a:t>
            </a:r>
          </a:p>
          <a:p xmlns:a="http://schemas.openxmlformats.org/drawingml/2006/main">
            <a:r>
              <a:t/>
            </a:r>
          </a:p>
          <a:p xmlns:a="http://schemas.openxmlformats.org/drawingml/2006/main">
            <a:r>
              <a:t>Sources: phase2/KHOA-HANDOFF.md; mcp-academic/docs/experiments.md</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backup video is a narrated replay of recorded evidence. It shows selected questions, tool arguments and observed answers, with English synthetic narration and subtitles. It is labelled as a replay so it cannot be mistaken for a fresh live run or a recording spoken by Khoa.</a:t>
            </a:r>
          </a:p>
          <a:p xmlns:a="http://schemas.openxmlformats.org/drawingml/2006/main">
            <a:r>
              <a:t/>
            </a:r>
          </a:p>
          <a:p xmlns:a="http://schemas.openxmlformats.org/drawingml/2006/main">
            <a:r>
              <a:t>Sources: video/demo-phase2.mp4; video/demo-phase2.srt; recorded LLM JSONL</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delivery contains the test CSV, formula workbook, configuration snapshots, raw traces, comparison tables, editable slides, quiz and backup video. The pull request isolates Khoa’s work from main. The handoff guide explains reproduction and identifies the review steps that still require the team.</a:t>
            </a:r>
          </a:p>
          <a:p xmlns:a="http://schemas.openxmlformats.org/drawingml/2006/main">
            <a:r>
              <a:t/>
            </a:r>
          </a:p>
          <a:p xmlns:a="http://schemas.openxmlformats.org/drawingml/2006/main">
            <a:r>
              <a:t>Sources: phase2/KHOA-HANDOFF.md</a:t>
            </a:r>
          </a:p>
          <a:p xmlns:a="http://schemas.openxmlformats.org/drawingml/2006/main">
            <a:r>
              <a:t>Data is synthetic. Finance slides describe PR #2 expectations and are not execution claims on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db799da52546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94f0c1118145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491b54a4d842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5d6942b77144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62d20fcf3148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fdf3a45fc743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6B2D9C-6459-44CC-9CA0-C90F411D6A1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726758-26CE-4E3F-870F-CD82A93957D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6329DA-9B45-4C2D-A78C-018658F362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952A6C-BC24-4795-A4B5-4E1393BB0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0166D8-69E6-4CA5-99CC-0FCCF5D8B8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1C4386-E029-401F-A0B3-36F72D8750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9D7243-60BB-4343-8057-C741F81C31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BB411B-7B07-41C9-9183-A9A57C5532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BB8104-2013-4872-8FA4-4A909AE80F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4AC41B-3924-42C8-B8E9-18097D9DBB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0dc18b03b74fb4" /><Relationship Type="http://schemas.openxmlformats.org/officeDocument/2006/relationships/slideLayout" Target="/ppt/slideLayouts/slideLayout1.xml" Id="Rc4ebb205d6504267" /><Relationship Type="http://schemas.openxmlformats.org/officeDocument/2006/relationships/slideLayout" Target="/ppt/slideLayouts/slideLayout2.xml" Id="Rafa17d71f4cf4e0b" /><Relationship Type="http://schemas.openxmlformats.org/officeDocument/2006/relationships/slideLayout" Target="/ppt/slideLayouts/slideLayout3.xml" Id="R53dc36cf210e4352" /><Relationship Type="http://schemas.openxmlformats.org/officeDocument/2006/relationships/slideLayout" Target="/ppt/slideLayouts/slideLayout4.xml" Id="R42b07440892646fc" /><Relationship Type="http://schemas.openxmlformats.org/officeDocument/2006/relationships/slideLayout" Target="/ppt/slideLayouts/slideLayout5.xml" Id="Rdd9fccb4f24b457e" /><Relationship Type="http://schemas.openxmlformats.org/officeDocument/2006/relationships/slideLayout" Target="/ppt/slideLayouts/slideLayout6.xml" Id="R550a88ddc8c14a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ebb205d6504267"/>
    <p:sldLayoutId xmlns:r="http://schemas.openxmlformats.org/officeDocument/2006/relationships" id="2147483650" r:id="Rafa17d71f4cf4e0b"/>
    <p:sldLayoutId xmlns:r="http://schemas.openxmlformats.org/officeDocument/2006/relationships" id="2147483651" r:id="R53dc36cf210e4352"/>
    <p:sldLayoutId xmlns:r="http://schemas.openxmlformats.org/officeDocument/2006/relationships" id="2147483652" r:id="R42b07440892646fc"/>
    <p:sldLayoutId xmlns:r="http://schemas.openxmlformats.org/officeDocument/2006/relationships" id="2147483653" r:id="Rdd9fccb4f24b457e"/>
    <p:sldLayoutId xmlns:r="http://schemas.openxmlformats.org/officeDocument/2006/relationships" id="2147483654" r:id="R550a88ddc8c14a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97475abc5e462a" /><Relationship Type="http://schemas.openxmlformats.org/officeDocument/2006/relationships/notesSlide" Target="/ppt/notesSlides/notesSlide1.xml" Id="Rb6d87263e4ca4b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26bdd4005f4466" /><Relationship Type="http://schemas.openxmlformats.org/officeDocument/2006/relationships/notesSlide" Target="/ppt/notesSlides/notesSlide2.xml" Id="R457733ff62b34b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bf6c104f4c4b83" /><Relationship Type="http://schemas.openxmlformats.org/officeDocument/2006/relationships/notesSlide" Target="/ppt/notesSlides/notesSlide3.xml" Id="R45c710429b7845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6ab212b5b0436a" /><Relationship Type="http://schemas.openxmlformats.org/officeDocument/2006/relationships/notesSlide" Target="/ppt/notesSlides/notesSlide4.xml" Id="R6ef12d8ec67b4e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342f9b77aa4af7" /><Relationship Type="http://schemas.openxmlformats.org/officeDocument/2006/relationships/notesSlide" Target="/ppt/notesSlides/notesSlide5.xml" Id="R328ade812ccd4c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1343410c0b4371" /><Relationship Type="http://schemas.openxmlformats.org/officeDocument/2006/relationships/notesSlide" Target="/ppt/notesSlides/notesSlide6.xml" Id="R7e5fee25df6940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d9dfa4551b44d6" /><Relationship Type="http://schemas.openxmlformats.org/officeDocument/2006/relationships/notesSlide" Target="/ppt/notesSlides/notesSlide7.xml" Id="R72090c91762f48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caea9abbc246f0" /><Relationship Type="http://schemas.openxmlformats.org/officeDocument/2006/relationships/notesSlide" Target="/ppt/notesSlides/notesSlide8.xml" Id="R5aac1f2eb08b4b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541a46441f145a7" /><Relationship Type="http://schemas.openxmlformats.org/officeDocument/2006/relationships/notesSlide" Target="/ppt/notesSlides/notesSlide9.xml" Id="R3f165785e6274f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891a13202a840d4" /><Relationship Type="http://schemas.openxmlformats.org/officeDocument/2006/relationships/notesSlide" Target="/ppt/notesSlides/notesSlide10.xml" Id="Rcf3ceaaa6fc844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5fc5b666b574aab" /><Relationship Type="http://schemas.openxmlformats.org/officeDocument/2006/relationships/notesSlide" Target="/ppt/notesSlides/notesSlide11.xml" Id="R492d880da03a4e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aa7eec489646f4" /><Relationship Type="http://schemas.openxmlformats.org/officeDocument/2006/relationships/notesSlide" Target="/ppt/notesSlides/notesSlide12.xml" Id="R979e07e9e5da4e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d53ec22253b47d0" /><Relationship Type="http://schemas.openxmlformats.org/officeDocument/2006/relationships/notesSlide" Target="/ppt/notesSlides/notesSlide13.xml" Id="R33683941b51549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ba99898566e4ab3" /><Relationship Type="http://schemas.openxmlformats.org/officeDocument/2006/relationships/notesSlide" Target="/ppt/notesSlides/notesSlide14.xml" Id="Re7fc6eb53eb145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f2e7e0b6e9a4407" /><Relationship Type="http://schemas.openxmlformats.org/officeDocument/2006/relationships/notesSlide" Target="/ppt/notesSlides/notesSlide15.xml" Id="R9024eff66deb4d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667699f982144a7" /><Relationship Type="http://schemas.openxmlformats.org/officeDocument/2006/relationships/notesSlide" Target="/ppt/notesSlides/notesSlide16.xml" Id="R57cc2ec1ccbf4f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28504af165140f7" /><Relationship Type="http://schemas.openxmlformats.org/officeDocument/2006/relationships/notesSlide" Target="/ppt/notesSlides/notesSlide17.xml" Id="R42a916d1510843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c5e22ef5bd14d5f" /><Relationship Type="http://schemas.openxmlformats.org/officeDocument/2006/relationships/notesSlide" Target="/ppt/notesSlides/notesSlide18.xml" Id="Rb865f4e7574a40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cfd90bea0c544f1" /><Relationship Type="http://schemas.openxmlformats.org/officeDocument/2006/relationships/notesSlide" Target="/ppt/notesSlides/notesSlide19.xml" Id="Ra518864411fc45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79eb30040fc4f3c" /><Relationship Type="http://schemas.openxmlformats.org/officeDocument/2006/relationships/notesSlide" Target="/ppt/notesSlides/notesSlide20.xml" Id="R4b769ebb989e40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3b3ba52cef143a5" /><Relationship Type="http://schemas.openxmlformats.org/officeDocument/2006/relationships/notesSlide" Target="/ppt/notesSlides/notesSlide21.xml" Id="Re3feb589d4a049c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26398022f7d400f" /><Relationship Type="http://schemas.openxmlformats.org/officeDocument/2006/relationships/notesSlide" Target="/ppt/notesSlides/notesSlide22.xml" Id="R377e7f56ff7341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7e0c5fcc7e74972" /><Relationship Type="http://schemas.openxmlformats.org/officeDocument/2006/relationships/notesSlide" Target="/ppt/notesSlides/notesSlide23.xml" Id="R55761e8513b8454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69997fd22474c09" /><Relationship Type="http://schemas.openxmlformats.org/officeDocument/2006/relationships/notesSlide" Target="/ppt/notesSlides/notesSlide24.xml" Id="R2ab963bf638745d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cdd1f690f6e4801" /><Relationship Type="http://schemas.openxmlformats.org/officeDocument/2006/relationships/notesSlide" Target="/ppt/notesSlides/notesSlide25.xml" Id="Rfe82463086c8497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744fce8c36c4d64" /><Relationship Type="http://schemas.openxmlformats.org/officeDocument/2006/relationships/notesSlide" Target="/ppt/notesSlides/notesSlide26.xml" Id="Rc26f702c4e7242e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676191390fa4333" /><Relationship Type="http://schemas.openxmlformats.org/officeDocument/2006/relationships/notesSlide" Target="/ppt/notesSlides/notesSlide27.xml" Id="R2058d221d75948d2" /></Relationships>
</file>

<file path=ppt/slides/slide1.xml><?xml version="1.0" encoding="utf-8"?>
<p:sld xmlns:p="http://schemas.openxmlformats.org/presentationml/2006/main">
  <p:cSld>
    <p:bg>
      <p:bgPr>
        <a:solidFill xmlns:a="http://schemas.openxmlformats.org/drawingml/2006/main">
          <a:srgbClr val="12324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C860D8-4741-4785-80D3-1457C32F6537}"/>
              </a:ext>
            </a:extLst>
          </p:cNvPr>
          <p:cNvSpPr>
            <a:spLocks xmlns:a="http://schemas.openxmlformats.org/drawingml/2006/main" noGrp="1"/>
          </p:cNvSpPr>
          <p:nvPr/>
        </p:nvSpPr>
        <p:spPr>
          <a:xfrm xmlns:a="http://schemas.openxmlformats.org/drawingml/2006/main">
            <a:off x="762000" y="1095375"/>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MCP academic assistant</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Phase 2</a:t>
            </a:r>
          </a:p>
        </p:txBody>
      </p:sp>
      <p:sp>
        <p:nvSpPr>
          <p:cNvPr id="2" name="">
            <a:extLst xmlns:a="http://schemas.openxmlformats.org/drawingml/2006/main">
              <a:ext uri="{FF2B5EF4-FFF2-40B4-BE49-F238E27FC236}">
                <a16:creationId xmlns:a16="http://schemas.microsoft.com/office/drawing/2014/main" id="{93161F94-6848-4F16-9117-21050EFF704F}"/>
              </a:ext>
            </a:extLst>
          </p:cNvPr>
          <p:cNvSpPr>
            <a:spLocks xmlns:a="http://schemas.openxmlformats.org/drawingml/2006/main" noGrp="1"/>
          </p:cNvSpPr>
          <p:nvPr/>
        </p:nvSpPr>
        <p:spPr>
          <a:xfrm xmlns:a="http://schemas.openxmlformats.org/drawingml/2006/main">
            <a:off x="762000" y="3514725"/>
            <a:ext cx="2095500" cy="57150"/>
          </a:xfrm>
          <a:prstGeom xmlns:a="http://schemas.openxmlformats.org/drawingml/2006/main" prst="rect">
            <a:avLst/>
          </a:prstGeom>
          <a:solidFill xmlns:a="http://schemas.openxmlformats.org/drawingml/2006/main">
            <a:srgbClr val="63C5B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2B8D86-7A8F-4C27-BD0F-1CEC25C912C1}"/>
              </a:ext>
            </a:extLst>
          </p:cNvPr>
          <p:cNvSpPr>
            <a:spLocks xmlns:a="http://schemas.openxmlformats.org/drawingml/2006/main" noGrp="1"/>
          </p:cNvSpPr>
          <p:nvPr/>
        </p:nvSpPr>
        <p:spPr>
          <a:xfrm xmlns:a="http://schemas.openxmlformats.org/drawingml/2006/main">
            <a:off x="762000" y="3857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4F0EF"/>
                </a:solidFill>
                <a:latin typeface="Arial"/>
                <a:ea typeface="Arial"/>
                <a:cs typeface="Arial"/>
              </a:defRPr>
            </a:defPPr>
            <a:lvl1pPr>
              <a:defRPr sz="2250" b="0">
                <a:solidFill>
                  <a:srgbClr val="E4F0EF"/>
                </a:solidFill>
                <a:latin typeface="Arial"/>
                <a:ea typeface="Arial"/>
                <a:cs typeface="Arial"/>
              </a:defRPr>
            </a:lvl1pPr>
            <a:lvl2pPr>
              <a:defRPr sz="2250" b="0">
                <a:solidFill>
                  <a:srgbClr val="E4F0EF"/>
                </a:solidFill>
                <a:latin typeface="Arial"/>
                <a:ea typeface="Arial"/>
                <a:cs typeface="Arial"/>
              </a:defRPr>
            </a:lvl2pPr>
            <a:lvl3pPr>
              <a:defRPr sz="2250" b="0">
                <a:solidFill>
                  <a:srgbClr val="E4F0EF"/>
                </a:solidFill>
                <a:latin typeface="Arial"/>
                <a:ea typeface="Arial"/>
                <a:cs typeface="Arial"/>
              </a:defRPr>
            </a:lvl3pPr>
            <a:lvl4pPr>
              <a:defRPr sz="2250" b="0">
                <a:solidFill>
                  <a:srgbClr val="E4F0EF"/>
                </a:solidFill>
                <a:latin typeface="Arial"/>
                <a:ea typeface="Arial"/>
                <a:cs typeface="Arial"/>
              </a:defRPr>
            </a:lvl4pPr>
            <a:lvl5pPr>
              <a:defRPr sz="2250" b="0">
                <a:solidFill>
                  <a:srgbClr val="E4F0EF"/>
                </a:solidFill>
                <a:latin typeface="Arial"/>
                <a:ea typeface="Arial"/>
                <a:cs typeface="Arial"/>
              </a:defRPr>
            </a:lvl5pPr>
            <a:lvl6pPr>
              <a:defRPr sz="2250" b="0">
                <a:solidFill>
                  <a:srgbClr val="E4F0EF"/>
                </a:solidFill>
                <a:latin typeface="Arial"/>
                <a:ea typeface="Arial"/>
                <a:cs typeface="Arial"/>
              </a:defRPr>
            </a:lvl6pPr>
            <a:lvl7pPr>
              <a:defRPr sz="2250" b="0">
                <a:solidFill>
                  <a:srgbClr val="E4F0EF"/>
                </a:solidFill>
                <a:latin typeface="Arial"/>
                <a:ea typeface="Arial"/>
                <a:cs typeface="Arial"/>
              </a:defRPr>
            </a:lvl7pPr>
            <a:lvl8pPr>
              <a:defRPr sz="2250" b="0">
                <a:solidFill>
                  <a:srgbClr val="E4F0EF"/>
                </a:solidFill>
                <a:latin typeface="Arial"/>
                <a:ea typeface="Arial"/>
                <a:cs typeface="Arial"/>
              </a:defRPr>
            </a:lvl8pPr>
            <a:lvl9pPr>
              <a:defRPr sz="2250" b="0">
                <a:solidFill>
                  <a:srgbClr val="E4F0EF"/>
                </a:solidFill>
                <a:latin typeface="Arial"/>
                <a:ea typeface="Arial"/>
                <a:cs typeface="Arial"/>
              </a:defRPr>
            </a:lvl9pPr>
          </a:lstStyle>
          <a:p xmlns:a="http://schemas.openxmlformats.org/drawingml/2006/main">
            <a:pPr>
              <a:defRPr sz="2250" b="0">
                <a:solidFill>
                  <a:srgbClr val="E4F0EF"/>
                </a:solidFill>
                <a:latin typeface="Arial"/>
                <a:ea typeface="Arial"/>
                <a:cs typeface="Arial"/>
              </a:defRPr>
            </a:pPr>
            <a:r>
              <a:rPr sz="2250" b="0">
                <a:solidFill>
                  <a:srgbClr val="E4F0EF"/>
                </a:solidFill>
                <a:latin typeface="Arial"/>
                <a:ea typeface="Arial"/>
                <a:cs typeface="Arial"/>
              </a:rPr>
              <a:t>Test scenarios, measured results and integration</a:t>
            </a:r>
          </a:p>
        </p:txBody>
      </p:sp>
      <p:sp>
        <p:nvSpPr>
          <p:cNvPr id="4" name="">
            <a:extLst xmlns:a="http://schemas.openxmlformats.org/drawingml/2006/main">
              <a:ext uri="{FF2B5EF4-FFF2-40B4-BE49-F238E27FC236}">
                <a16:creationId xmlns:a16="http://schemas.microsoft.com/office/drawing/2014/main" id="{07BF19FA-8139-490C-B27C-CEB81E3DB8DE}"/>
              </a:ext>
            </a:extLst>
          </p:cNvPr>
          <p:cNvSpPr>
            <a:spLocks xmlns:a="http://schemas.openxmlformats.org/drawingml/2006/main" noGrp="1"/>
          </p:cNvSpPr>
          <p:nvPr/>
        </p:nvSpPr>
        <p:spPr>
          <a:xfrm xmlns:a="http://schemas.openxmlformats.org/drawingml/2006/main">
            <a:off x="762000" y="52197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8D7D8"/>
                </a:solidFill>
                <a:latin typeface="Arial"/>
                <a:ea typeface="Arial"/>
                <a:cs typeface="Arial"/>
              </a:defRPr>
            </a:defPPr>
            <a:lvl1pPr>
              <a:defRPr sz="1725" b="0">
                <a:solidFill>
                  <a:srgbClr val="B8D7D8"/>
                </a:solidFill>
                <a:latin typeface="Arial"/>
                <a:ea typeface="Arial"/>
                <a:cs typeface="Arial"/>
              </a:defRPr>
            </a:lvl1pPr>
            <a:lvl2pPr>
              <a:defRPr sz="1725" b="0">
                <a:solidFill>
                  <a:srgbClr val="B8D7D8"/>
                </a:solidFill>
                <a:latin typeface="Arial"/>
                <a:ea typeface="Arial"/>
                <a:cs typeface="Arial"/>
              </a:defRPr>
            </a:lvl2pPr>
            <a:lvl3pPr>
              <a:defRPr sz="1725" b="0">
                <a:solidFill>
                  <a:srgbClr val="B8D7D8"/>
                </a:solidFill>
                <a:latin typeface="Arial"/>
                <a:ea typeface="Arial"/>
                <a:cs typeface="Arial"/>
              </a:defRPr>
            </a:lvl3pPr>
            <a:lvl4pPr>
              <a:defRPr sz="1725" b="0">
                <a:solidFill>
                  <a:srgbClr val="B8D7D8"/>
                </a:solidFill>
                <a:latin typeface="Arial"/>
                <a:ea typeface="Arial"/>
                <a:cs typeface="Arial"/>
              </a:defRPr>
            </a:lvl4pPr>
            <a:lvl5pPr>
              <a:defRPr sz="1725" b="0">
                <a:solidFill>
                  <a:srgbClr val="B8D7D8"/>
                </a:solidFill>
                <a:latin typeface="Arial"/>
                <a:ea typeface="Arial"/>
                <a:cs typeface="Arial"/>
              </a:defRPr>
            </a:lvl5pPr>
            <a:lvl6pPr>
              <a:defRPr sz="1725" b="0">
                <a:solidFill>
                  <a:srgbClr val="B8D7D8"/>
                </a:solidFill>
                <a:latin typeface="Arial"/>
                <a:ea typeface="Arial"/>
                <a:cs typeface="Arial"/>
              </a:defRPr>
            </a:lvl6pPr>
            <a:lvl7pPr>
              <a:defRPr sz="1725" b="0">
                <a:solidFill>
                  <a:srgbClr val="B8D7D8"/>
                </a:solidFill>
                <a:latin typeface="Arial"/>
                <a:ea typeface="Arial"/>
                <a:cs typeface="Arial"/>
              </a:defRPr>
            </a:lvl7pPr>
            <a:lvl8pPr>
              <a:defRPr sz="1725" b="0">
                <a:solidFill>
                  <a:srgbClr val="B8D7D8"/>
                </a:solidFill>
                <a:latin typeface="Arial"/>
                <a:ea typeface="Arial"/>
                <a:cs typeface="Arial"/>
              </a:defRPr>
            </a:lvl8pPr>
            <a:lvl9pPr>
              <a:defRPr sz="1725" b="0">
                <a:solidFill>
                  <a:srgbClr val="B8D7D8"/>
                </a:solidFill>
                <a:latin typeface="Arial"/>
                <a:ea typeface="Arial"/>
                <a:cs typeface="Arial"/>
              </a:defRPr>
            </a:lvl9pPr>
          </a:lstStyle>
          <a:p xmlns:a="http://schemas.openxmlformats.org/drawingml/2006/main">
            <a:pPr>
              <a:defRPr sz="1725" b="0">
                <a:solidFill>
                  <a:srgbClr val="B8D7D8"/>
                </a:solidFill>
                <a:latin typeface="Arial"/>
                <a:ea typeface="Arial"/>
                <a:cs typeface="Arial"/>
              </a:defRPr>
            </a:pPr>
            <a:r>
              <a:rPr sz="1725" b="0">
                <a:solidFill>
                  <a:srgbClr val="B8D7D8"/>
                </a:solidFill>
                <a:latin typeface="Arial"/>
                <a:ea typeface="Arial"/>
                <a:cs typeface="Arial"/>
              </a:rPr>
              <a:t>Khoa’s submission, 18 October 2026</a:t>
            </a:r>
          </a:p>
        </p:txBody>
      </p:sp>
    </p:spTree>
    <p:extLst>
      <p:ext uri="{BB962C8B-B14F-4D97-AF65-F5344CB8AC3E}">
        <p14:creationId xmlns:p14="http://schemas.microsoft.com/office/powerpoint/2010/main" val="207942694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11F93B-3F74-42CF-BF4A-BAD6AEA04EFF}"/>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Scope and integration status</a:t>
            </a:r>
          </a:p>
        </p:txBody>
      </p:sp>
      <p:sp>
        <p:nvSpPr>
          <p:cNvPr id="2" name="">
            <a:extLst xmlns:a="http://schemas.openxmlformats.org/drawingml/2006/main">
              <a:ext uri="{FF2B5EF4-FFF2-40B4-BE49-F238E27FC236}">
                <a16:creationId xmlns:a16="http://schemas.microsoft.com/office/drawing/2014/main" id="{A18811D4-A510-4D08-AC5E-7D44B7C924EE}"/>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DE427775-813B-46DD-8B1F-D30886A5DD27}"/>
              </a:ext>
            </a:extLst>
          </p:cNvPr>
          <p:cNvGraphicFramePr/>
          <p:nvPr/>
        </p:nvGraphicFramePr>
        <p:xfrm>
          <a:off xmlns:a="http://schemas.openxmlformats.org/drawingml/2006/main" x="762000" y="2000250"/>
          <a:ext xmlns:a="http://schemas.openxmlformats.org/drawingml/2006/main" cx="10668000" cy="3048000"/>
        </p:xfrm>
        <a:graphic xmlns:a="http://schemas.openxmlformats.org/drawingml/2006/main">
          <a:graphicData uri="http://schemas.openxmlformats.org/drawingml/2006/table">
            <a:tbl>
              <a:tblPr/>
              <a:tblGrid>
                <a:gridCol w="3556000"/>
                <a:gridCol w="3556000"/>
                <a:gridCol w="3556000"/>
              </a:tblGrid>
              <a:tr h="609600">
                <a:tc>
                  <a:txBody>
                    <a:bodyPr/>
                    <a:lstStyle/>
                    <a:p>
                      <a:r>
                        <a:rPr sz="1800" b="1">
                          <a:solidFill>
                            <a:srgbClr val="FFFFFF"/>
                          </a:solidFill>
                          <a:latin typeface="Arial"/>
                          <a:ea typeface="Arial"/>
                          <a:cs typeface="Arial"/>
                        </a:rPr>
                        <a:t>Member</a:t>
                      </a:r>
                    </a:p>
                  </a:txBody>
                  <a:tcPr marL="91440" marR="91440" marT="45720" marB="45720">
                    <a:solidFill>
                      <a:srgbClr val="12324A"/>
                    </a:solidFill>
                  </a:tcPr>
                </a:tc>
                <a:tc>
                  <a:txBody>
                    <a:bodyPr/>
                    <a:lstStyle/>
                    <a:p>
                      <a:r>
                        <a:rPr sz="1800" b="1">
                          <a:solidFill>
                            <a:srgbClr val="FFFFFF"/>
                          </a:solidFill>
                          <a:latin typeface="Arial"/>
                          <a:ea typeface="Arial"/>
                          <a:cs typeface="Arial"/>
                        </a:rPr>
                        <a:t>Feature contribution</a:t>
                      </a:r>
                    </a:p>
                  </a:txBody>
                  <a:tcPr marL="91440" marR="91440" marT="45720" marB="45720">
                    <a:solidFill>
                      <a:srgbClr val="12324A"/>
                    </a:solidFill>
                  </a:tcPr>
                </a:tc>
                <a:tc>
                  <a:txBody>
                    <a:bodyPr/>
                    <a:lstStyle/>
                    <a:p>
                      <a:r>
                        <a:rPr sz="1800" b="1">
                          <a:solidFill>
                            <a:srgbClr val="FFFFFF"/>
                          </a:solidFill>
                          <a:latin typeface="Arial"/>
                          <a:ea typeface="Arial"/>
                          <a:cs typeface="Arial"/>
                        </a:rPr>
                        <a:t>Status in this submission</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Phú</a:t>
                      </a:r>
                    </a:p>
                  </a:txBody>
                  <a:tcPr marL="91440" marR="91440" marT="45720" marB="45720">
                    <a:solidFill>
                      <a:srgbClr val="FFFFFF"/>
                    </a:solidFill>
                  </a:tcPr>
                </a:tc>
                <a:tc>
                  <a:txBody>
                    <a:bodyPr/>
                    <a:lstStyle/>
                    <a:p>
                      <a:r>
                        <a:rPr sz="1800" b="0">
                          <a:solidFill>
                            <a:srgbClr val="203747"/>
                          </a:solidFill>
                          <a:latin typeface="Arial"/>
                          <a:ea typeface="Arial"/>
                          <a:cs typeface="Arial"/>
                        </a:rPr>
                        <a:t>Teachers and course sections</a:t>
                      </a:r>
                    </a:p>
                  </a:txBody>
                  <a:tcPr marL="91440" marR="91440" marT="45720" marB="45720">
                    <a:solidFill>
                      <a:srgbClr val="FFFFFF"/>
                    </a:solidFill>
                  </a:tcPr>
                </a:tc>
                <a:tc>
                  <a:txBody>
                    <a:bodyPr/>
                    <a:lstStyle/>
                    <a:p>
                      <a:r>
                        <a:rPr sz="1800" b="0">
                          <a:solidFill>
                            <a:srgbClr val="203747"/>
                          </a:solidFill>
                          <a:latin typeface="Arial"/>
                          <a:ea typeface="Arial"/>
                          <a:cs typeface="Arial"/>
                        </a:rPr>
                        <a:t>Available on main</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Hoàng</a:t>
                      </a:r>
                    </a:p>
                  </a:txBody>
                  <a:tcPr marL="91440" marR="91440" marT="45720" marB="45720">
                    <a:solidFill>
                      <a:srgbClr val="EDF2F0"/>
                    </a:solidFill>
                  </a:tcPr>
                </a:tc>
                <a:tc>
                  <a:txBody>
                    <a:bodyPr/>
                    <a:lstStyle/>
                    <a:p>
                      <a:r>
                        <a:rPr sz="1800" b="0">
                          <a:solidFill>
                            <a:srgbClr val="203747"/>
                          </a:solidFill>
                          <a:latin typeface="Arial"/>
                          <a:ea typeface="Arial"/>
                          <a:cs typeface="Arial"/>
                        </a:rPr>
                        <a:t>Attendance, conduct and risk</a:t>
                      </a:r>
                    </a:p>
                  </a:txBody>
                  <a:tcPr marL="91440" marR="91440" marT="45720" marB="45720">
                    <a:solidFill>
                      <a:srgbClr val="EDF2F0"/>
                    </a:solidFill>
                  </a:tcPr>
                </a:tc>
                <a:tc>
                  <a:txBody>
                    <a:bodyPr/>
                    <a:lstStyle/>
                    <a:p>
                      <a:r>
                        <a:rPr sz="1800" b="0">
                          <a:solidFill>
                            <a:srgbClr val="203747"/>
                          </a:solidFill>
                          <a:latin typeface="Arial"/>
                          <a:ea typeface="Arial"/>
                          <a:cs typeface="Arial"/>
                        </a:rPr>
                        <a:t>Available on main</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Tiến</a:t>
                      </a:r>
                    </a:p>
                  </a:txBody>
                  <a:tcPr marL="91440" marR="91440" marT="45720" marB="45720">
                    <a:solidFill>
                      <a:srgbClr val="FFFFFF"/>
                    </a:solidFill>
                  </a:tcPr>
                </a:tc>
                <a:tc>
                  <a:txBody>
                    <a:bodyPr/>
                    <a:lstStyle/>
                    <a:p>
                      <a:r>
                        <a:rPr sz="1800" b="0">
                          <a:solidFill>
                            <a:srgbClr val="203747"/>
                          </a:solidFill>
                          <a:latin typeface="Arial"/>
                          <a:ea typeface="Arial"/>
                          <a:cs typeface="Arial"/>
                        </a:rPr>
                        <a:t>Tuition, scholarships and payroll</a:t>
                      </a:r>
                    </a:p>
                  </a:txBody>
                  <a:tcPr marL="91440" marR="91440" marT="45720" marB="45720">
                    <a:solidFill>
                      <a:srgbClr val="FFFFFF"/>
                    </a:solidFill>
                  </a:tcPr>
                </a:tc>
                <a:tc>
                  <a:txBody>
                    <a:bodyPr/>
                    <a:lstStyle/>
                    <a:p>
                      <a:r>
                        <a:rPr sz="1800" b="0">
                          <a:solidFill>
                            <a:srgbClr val="203747"/>
                          </a:solidFill>
                          <a:latin typeface="Arial"/>
                          <a:ea typeface="Arial"/>
                          <a:cs typeface="Arial"/>
                        </a:rPr>
                        <a:t>Separate PR #2 snapshot</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Khoa</a:t>
                      </a:r>
                    </a:p>
                  </a:txBody>
                  <a:tcPr marL="91440" marR="91440" marT="45720" marB="45720">
                    <a:solidFill>
                      <a:srgbClr val="EDF2F0"/>
                    </a:solidFill>
                  </a:tcPr>
                </a:tc>
                <a:tc>
                  <a:txBody>
                    <a:bodyPr/>
                    <a:lstStyle/>
                    <a:p>
                      <a:r>
                        <a:rPr sz="1800" b="0">
                          <a:solidFill>
                            <a:srgbClr val="203747"/>
                          </a:solidFill>
                          <a:latin typeface="Arial"/>
                          <a:ea typeface="Arial"/>
                          <a:cs typeface="Arial"/>
                        </a:rPr>
                        <a:t>Questions, evidence, slides, quiz, video</a:t>
                      </a:r>
                    </a:p>
                  </a:txBody>
                  <a:tcPr marL="91440" marR="91440" marT="45720" marB="45720">
                    <a:solidFill>
                      <a:srgbClr val="EDF2F0"/>
                    </a:solidFill>
                  </a:tcPr>
                </a:tc>
                <a:tc>
                  <a:txBody>
                    <a:bodyPr/>
                    <a:lstStyle/>
                    <a:p>
                      <a:r>
                        <a:rPr sz="1800" b="0">
                          <a:solidFill>
                            <a:srgbClr val="203747"/>
                          </a:solidFill>
                          <a:latin typeface="Arial"/>
                          <a:ea typeface="Arial"/>
                          <a:cs typeface="Arial"/>
                        </a:rPr>
                        <a:t>This branch</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751396CB-D3A5-4D78-A59A-801A9304041C}"/>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02</a:t>
            </a:r>
          </a:p>
        </p:txBody>
      </p:sp>
    </p:spTree>
    <p:extLst>
      <p:ext uri="{BB962C8B-B14F-4D97-AF65-F5344CB8AC3E}">
        <p14:creationId xmlns:p14="http://schemas.microsoft.com/office/powerpoint/2010/main" val="812376828"/>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CC2A064-DB88-4ABB-85EB-AC00E42F72D4}"/>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A model calls the same MCP servers</a:t>
            </a:r>
          </a:p>
        </p:txBody>
      </p:sp>
      <p:sp>
        <p:nvSpPr>
          <p:cNvPr id="2" name="">
            <a:extLst xmlns:a="http://schemas.openxmlformats.org/drawingml/2006/main">
              <a:ext uri="{FF2B5EF4-FFF2-40B4-BE49-F238E27FC236}">
                <a16:creationId xmlns:a16="http://schemas.microsoft.com/office/drawing/2014/main" id="{8DC62C70-4A79-4486-8672-2F25D408FE5B}"/>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A671A2C-CCE4-461C-95AB-339996A2E175}"/>
              </a:ext>
            </a:extLst>
          </p:cNvPr>
          <p:cNvSpPr>
            <a:spLocks xmlns:a="http://schemas.openxmlformats.org/drawingml/2006/main" noGrp="1"/>
          </p:cNvSpPr>
          <p:nvPr/>
        </p:nvSpPr>
        <p:spPr>
          <a:xfrm xmlns:a="http://schemas.openxmlformats.org/drawingml/2006/main">
            <a:off x="762000" y="2190750"/>
            <a:ext cx="4857750" cy="9525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B16AE5-32D5-4D01-9B16-82FBE3FC01DA}"/>
              </a:ext>
            </a:extLst>
          </p:cNvPr>
          <p:cNvSpPr>
            <a:spLocks xmlns:a="http://schemas.openxmlformats.org/drawingml/2006/main" noGrp="1"/>
          </p:cNvSpPr>
          <p:nvPr/>
        </p:nvSpPr>
        <p:spPr>
          <a:xfrm xmlns:a="http://schemas.openxmlformats.org/drawingml/2006/main">
            <a:off x="1000125" y="24384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English question</a:t>
            </a:r>
          </a:p>
        </p:txBody>
      </p:sp>
      <p:sp>
        <p:nvSpPr>
          <p:cNvPr id="5" name="">
            <a:extLst xmlns:a="http://schemas.openxmlformats.org/drawingml/2006/main">
              <a:ext uri="{FF2B5EF4-FFF2-40B4-BE49-F238E27FC236}">
                <a16:creationId xmlns:a16="http://schemas.microsoft.com/office/drawing/2014/main" id="{1417308F-0544-45AC-B0F3-A4EACF511205}"/>
              </a:ext>
            </a:extLst>
          </p:cNvPr>
          <p:cNvSpPr>
            <a:spLocks xmlns:a="http://schemas.openxmlformats.org/drawingml/2006/main" noGrp="1"/>
          </p:cNvSpPr>
          <p:nvPr/>
        </p:nvSpPr>
        <p:spPr>
          <a:xfrm xmlns:a="http://schemas.openxmlformats.org/drawingml/2006/main">
            <a:off x="6477000" y="2190750"/>
            <a:ext cx="4857750" cy="9525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555C77E-56E8-43CF-B24D-A386DD6C1250}"/>
              </a:ext>
            </a:extLst>
          </p:cNvPr>
          <p:cNvSpPr>
            <a:spLocks xmlns:a="http://schemas.openxmlformats.org/drawingml/2006/main" noGrp="1"/>
          </p:cNvSpPr>
          <p:nvPr/>
        </p:nvSpPr>
        <p:spPr>
          <a:xfrm xmlns:a="http://schemas.openxmlformats.org/drawingml/2006/main">
            <a:off x="6715125" y="24384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Host and model</a:t>
            </a:r>
          </a:p>
        </p:txBody>
      </p:sp>
      <p:sp>
        <p:nvSpPr>
          <p:cNvPr id="7" name="">
            <a:extLst xmlns:a="http://schemas.openxmlformats.org/drawingml/2006/main">
              <a:ext uri="{FF2B5EF4-FFF2-40B4-BE49-F238E27FC236}">
                <a16:creationId xmlns:a16="http://schemas.microsoft.com/office/drawing/2014/main" id="{C817BFEC-8CC7-424E-B77E-881603D00F64}"/>
              </a:ext>
            </a:extLst>
          </p:cNvPr>
          <p:cNvSpPr>
            <a:spLocks xmlns:a="http://schemas.openxmlformats.org/drawingml/2006/main" noGrp="1"/>
          </p:cNvSpPr>
          <p:nvPr/>
        </p:nvSpPr>
        <p:spPr>
          <a:xfrm xmlns:a="http://schemas.openxmlformats.org/drawingml/2006/main">
            <a:off x="6477000" y="4095750"/>
            <a:ext cx="4857750" cy="9525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F7BF90-A213-4F4B-A106-8D0F3B9A367D}"/>
              </a:ext>
            </a:extLst>
          </p:cNvPr>
          <p:cNvSpPr>
            <a:spLocks xmlns:a="http://schemas.openxmlformats.org/drawingml/2006/main" noGrp="1"/>
          </p:cNvSpPr>
          <p:nvPr/>
        </p:nvSpPr>
        <p:spPr>
          <a:xfrm xmlns:a="http://schemas.openxmlformats.org/drawingml/2006/main">
            <a:off x="6715125" y="43434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Academic and utility tools</a:t>
            </a:r>
          </a:p>
        </p:txBody>
      </p:sp>
      <p:sp>
        <p:nvSpPr>
          <p:cNvPr id="9" name="">
            <a:extLst xmlns:a="http://schemas.openxmlformats.org/drawingml/2006/main">
              <a:ext uri="{FF2B5EF4-FFF2-40B4-BE49-F238E27FC236}">
                <a16:creationId xmlns:a16="http://schemas.microsoft.com/office/drawing/2014/main" id="{BABB7826-1C85-40E8-B9EB-B4E1F071E3B2}"/>
              </a:ext>
            </a:extLst>
          </p:cNvPr>
          <p:cNvSpPr>
            <a:spLocks xmlns:a="http://schemas.openxmlformats.org/drawingml/2006/main" noGrp="1"/>
          </p:cNvSpPr>
          <p:nvPr/>
        </p:nvSpPr>
        <p:spPr>
          <a:xfrm xmlns:a="http://schemas.openxmlformats.org/drawingml/2006/main">
            <a:off x="762000" y="4095750"/>
            <a:ext cx="4857750" cy="9525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858CC45-6A6A-4DDA-BE1D-938B06B65106}"/>
              </a:ext>
            </a:extLst>
          </p:cNvPr>
          <p:cNvSpPr>
            <a:spLocks xmlns:a="http://schemas.openxmlformats.org/drawingml/2006/main" noGrp="1"/>
          </p:cNvSpPr>
          <p:nvPr/>
        </p:nvSpPr>
        <p:spPr>
          <a:xfrm xmlns:a="http://schemas.openxmlformats.org/drawingml/2006/main">
            <a:off x="1000125" y="43434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Structured result and answer</a:t>
            </a:r>
          </a:p>
        </p:txBody>
      </p:sp>
      <p:sp>
        <p:nvSpPr>
          <p:cNvPr id="11" name="">
            <a:extLst xmlns:a="http://schemas.openxmlformats.org/drawingml/2006/main">
              <a:ext uri="{FF2B5EF4-FFF2-40B4-BE49-F238E27FC236}">
                <a16:creationId xmlns:a16="http://schemas.microsoft.com/office/drawing/2014/main" id="{52382A38-5F78-487F-A4E4-292BF6C01E75}"/>
              </a:ext>
            </a:extLst>
          </p:cNvPr>
          <p:cNvSpPr>
            <a:spLocks xmlns:a="http://schemas.openxmlformats.org/drawingml/2006/main" noGrp="1"/>
          </p:cNvSpPr>
          <p:nvPr/>
        </p:nvSpPr>
        <p:spPr>
          <a:xfrm xmlns:a="http://schemas.openxmlformats.org/drawingml/2006/main">
            <a:off x="809625" y="1866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575"/>
                </a:solidFill>
                <a:latin typeface="Arial"/>
                <a:ea typeface="Arial"/>
                <a:cs typeface="Arial"/>
              </a:defRPr>
            </a:defPPr>
            <a:lvl1pPr>
              <a:defRPr sz="1500" b="0">
                <a:solidFill>
                  <a:srgbClr val="4C6575"/>
                </a:solidFill>
                <a:latin typeface="Arial"/>
                <a:ea typeface="Arial"/>
                <a:cs typeface="Arial"/>
              </a:defRPr>
            </a:lvl1pPr>
            <a:lvl2pPr>
              <a:defRPr sz="1500" b="0">
                <a:solidFill>
                  <a:srgbClr val="4C6575"/>
                </a:solidFill>
                <a:latin typeface="Arial"/>
                <a:ea typeface="Arial"/>
                <a:cs typeface="Arial"/>
              </a:defRPr>
            </a:lvl2pPr>
            <a:lvl3pPr>
              <a:defRPr sz="1500" b="0">
                <a:solidFill>
                  <a:srgbClr val="4C6575"/>
                </a:solidFill>
                <a:latin typeface="Arial"/>
                <a:ea typeface="Arial"/>
                <a:cs typeface="Arial"/>
              </a:defRPr>
            </a:lvl3pPr>
            <a:lvl4pPr>
              <a:defRPr sz="1500" b="0">
                <a:solidFill>
                  <a:srgbClr val="4C6575"/>
                </a:solidFill>
                <a:latin typeface="Arial"/>
                <a:ea typeface="Arial"/>
                <a:cs typeface="Arial"/>
              </a:defRPr>
            </a:lvl4pPr>
            <a:lvl5pPr>
              <a:defRPr sz="1500" b="0">
                <a:solidFill>
                  <a:srgbClr val="4C6575"/>
                </a:solidFill>
                <a:latin typeface="Arial"/>
                <a:ea typeface="Arial"/>
                <a:cs typeface="Arial"/>
              </a:defRPr>
            </a:lvl5pPr>
            <a:lvl6pPr>
              <a:defRPr sz="1500" b="0">
                <a:solidFill>
                  <a:srgbClr val="4C6575"/>
                </a:solidFill>
                <a:latin typeface="Arial"/>
                <a:ea typeface="Arial"/>
                <a:cs typeface="Arial"/>
              </a:defRPr>
            </a:lvl6pPr>
            <a:lvl7pPr>
              <a:defRPr sz="1500" b="0">
                <a:solidFill>
                  <a:srgbClr val="4C6575"/>
                </a:solidFill>
                <a:latin typeface="Arial"/>
                <a:ea typeface="Arial"/>
                <a:cs typeface="Arial"/>
              </a:defRPr>
            </a:lvl7pPr>
            <a:lvl8pPr>
              <a:defRPr sz="1500" b="0">
                <a:solidFill>
                  <a:srgbClr val="4C6575"/>
                </a:solidFill>
                <a:latin typeface="Arial"/>
                <a:ea typeface="Arial"/>
                <a:cs typeface="Arial"/>
              </a:defRPr>
            </a:lvl8pPr>
            <a:lvl9pPr>
              <a:defRPr sz="1500" b="0">
                <a:solidFill>
                  <a:srgbClr val="4C6575"/>
                </a:solidFill>
                <a:latin typeface="Arial"/>
                <a:ea typeface="Arial"/>
                <a:cs typeface="Arial"/>
              </a:defRPr>
            </a:lvl9pPr>
          </a:lstStyle>
          <a:p xmlns:a="http://schemas.openxmlformats.org/drawingml/2006/main">
            <a:pPr>
              <a:defRPr sz="1500" b="0">
                <a:solidFill>
                  <a:srgbClr val="4C6575"/>
                </a:solidFill>
                <a:latin typeface="Arial"/>
                <a:ea typeface="Arial"/>
                <a:cs typeface="Arial"/>
              </a:defRPr>
            </a:pPr>
            <a:r>
              <a:rPr sz="1500" b="0">
                <a:solidFill>
                  <a:srgbClr val="4C6575"/>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FCA1F3E4-807F-4A98-9401-E9874643DD16}"/>
              </a:ext>
            </a:extLst>
          </p:cNvPr>
          <p:cNvSpPr>
            <a:spLocks xmlns:a="http://schemas.openxmlformats.org/drawingml/2006/main" noGrp="1"/>
          </p:cNvSpPr>
          <p:nvPr/>
        </p:nvSpPr>
        <p:spPr>
          <a:xfrm xmlns:a="http://schemas.openxmlformats.org/drawingml/2006/main">
            <a:off x="6524625" y="1866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575"/>
                </a:solidFill>
                <a:latin typeface="Arial"/>
                <a:ea typeface="Arial"/>
                <a:cs typeface="Arial"/>
              </a:defRPr>
            </a:defPPr>
            <a:lvl1pPr>
              <a:defRPr sz="1500" b="0">
                <a:solidFill>
                  <a:srgbClr val="4C6575"/>
                </a:solidFill>
                <a:latin typeface="Arial"/>
                <a:ea typeface="Arial"/>
                <a:cs typeface="Arial"/>
              </a:defRPr>
            </a:lvl1pPr>
            <a:lvl2pPr>
              <a:defRPr sz="1500" b="0">
                <a:solidFill>
                  <a:srgbClr val="4C6575"/>
                </a:solidFill>
                <a:latin typeface="Arial"/>
                <a:ea typeface="Arial"/>
                <a:cs typeface="Arial"/>
              </a:defRPr>
            </a:lvl2pPr>
            <a:lvl3pPr>
              <a:defRPr sz="1500" b="0">
                <a:solidFill>
                  <a:srgbClr val="4C6575"/>
                </a:solidFill>
                <a:latin typeface="Arial"/>
                <a:ea typeface="Arial"/>
                <a:cs typeface="Arial"/>
              </a:defRPr>
            </a:lvl3pPr>
            <a:lvl4pPr>
              <a:defRPr sz="1500" b="0">
                <a:solidFill>
                  <a:srgbClr val="4C6575"/>
                </a:solidFill>
                <a:latin typeface="Arial"/>
                <a:ea typeface="Arial"/>
                <a:cs typeface="Arial"/>
              </a:defRPr>
            </a:lvl4pPr>
            <a:lvl5pPr>
              <a:defRPr sz="1500" b="0">
                <a:solidFill>
                  <a:srgbClr val="4C6575"/>
                </a:solidFill>
                <a:latin typeface="Arial"/>
                <a:ea typeface="Arial"/>
                <a:cs typeface="Arial"/>
              </a:defRPr>
            </a:lvl5pPr>
            <a:lvl6pPr>
              <a:defRPr sz="1500" b="0">
                <a:solidFill>
                  <a:srgbClr val="4C6575"/>
                </a:solidFill>
                <a:latin typeface="Arial"/>
                <a:ea typeface="Arial"/>
                <a:cs typeface="Arial"/>
              </a:defRPr>
            </a:lvl6pPr>
            <a:lvl7pPr>
              <a:defRPr sz="1500" b="0">
                <a:solidFill>
                  <a:srgbClr val="4C6575"/>
                </a:solidFill>
                <a:latin typeface="Arial"/>
                <a:ea typeface="Arial"/>
                <a:cs typeface="Arial"/>
              </a:defRPr>
            </a:lvl7pPr>
            <a:lvl8pPr>
              <a:defRPr sz="1500" b="0">
                <a:solidFill>
                  <a:srgbClr val="4C6575"/>
                </a:solidFill>
                <a:latin typeface="Arial"/>
                <a:ea typeface="Arial"/>
                <a:cs typeface="Arial"/>
              </a:defRPr>
            </a:lvl8pPr>
            <a:lvl9pPr>
              <a:defRPr sz="1500" b="0">
                <a:solidFill>
                  <a:srgbClr val="4C6575"/>
                </a:solidFill>
                <a:latin typeface="Arial"/>
                <a:ea typeface="Arial"/>
                <a:cs typeface="Arial"/>
              </a:defRPr>
            </a:lvl9pPr>
          </a:lstStyle>
          <a:p xmlns:a="http://schemas.openxmlformats.org/drawingml/2006/main">
            <a:pPr>
              <a:defRPr sz="1500" b="0">
                <a:solidFill>
                  <a:srgbClr val="4C6575"/>
                </a:solidFill>
                <a:latin typeface="Arial"/>
                <a:ea typeface="Arial"/>
                <a:cs typeface="Arial"/>
              </a:defRPr>
            </a:pPr>
            <a:r>
              <a:rPr sz="1500" b="0">
                <a:solidFill>
                  <a:srgbClr val="4C6575"/>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C4F228EF-5EA6-4798-BC3C-4D779005508E}"/>
              </a:ext>
            </a:extLst>
          </p:cNvPr>
          <p:cNvSpPr>
            <a:spLocks xmlns:a="http://schemas.openxmlformats.org/drawingml/2006/main" noGrp="1"/>
          </p:cNvSpPr>
          <p:nvPr/>
        </p:nvSpPr>
        <p:spPr>
          <a:xfrm xmlns:a="http://schemas.openxmlformats.org/drawingml/2006/main">
            <a:off x="65246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575"/>
                </a:solidFill>
                <a:latin typeface="Arial"/>
                <a:ea typeface="Arial"/>
                <a:cs typeface="Arial"/>
              </a:defRPr>
            </a:defPPr>
            <a:lvl1pPr>
              <a:defRPr sz="1500" b="0">
                <a:solidFill>
                  <a:srgbClr val="4C6575"/>
                </a:solidFill>
                <a:latin typeface="Arial"/>
                <a:ea typeface="Arial"/>
                <a:cs typeface="Arial"/>
              </a:defRPr>
            </a:lvl1pPr>
            <a:lvl2pPr>
              <a:defRPr sz="1500" b="0">
                <a:solidFill>
                  <a:srgbClr val="4C6575"/>
                </a:solidFill>
                <a:latin typeface="Arial"/>
                <a:ea typeface="Arial"/>
                <a:cs typeface="Arial"/>
              </a:defRPr>
            </a:lvl2pPr>
            <a:lvl3pPr>
              <a:defRPr sz="1500" b="0">
                <a:solidFill>
                  <a:srgbClr val="4C6575"/>
                </a:solidFill>
                <a:latin typeface="Arial"/>
                <a:ea typeface="Arial"/>
                <a:cs typeface="Arial"/>
              </a:defRPr>
            </a:lvl3pPr>
            <a:lvl4pPr>
              <a:defRPr sz="1500" b="0">
                <a:solidFill>
                  <a:srgbClr val="4C6575"/>
                </a:solidFill>
                <a:latin typeface="Arial"/>
                <a:ea typeface="Arial"/>
                <a:cs typeface="Arial"/>
              </a:defRPr>
            </a:lvl4pPr>
            <a:lvl5pPr>
              <a:defRPr sz="1500" b="0">
                <a:solidFill>
                  <a:srgbClr val="4C6575"/>
                </a:solidFill>
                <a:latin typeface="Arial"/>
                <a:ea typeface="Arial"/>
                <a:cs typeface="Arial"/>
              </a:defRPr>
            </a:lvl5pPr>
            <a:lvl6pPr>
              <a:defRPr sz="1500" b="0">
                <a:solidFill>
                  <a:srgbClr val="4C6575"/>
                </a:solidFill>
                <a:latin typeface="Arial"/>
                <a:ea typeface="Arial"/>
                <a:cs typeface="Arial"/>
              </a:defRPr>
            </a:lvl6pPr>
            <a:lvl7pPr>
              <a:defRPr sz="1500" b="0">
                <a:solidFill>
                  <a:srgbClr val="4C6575"/>
                </a:solidFill>
                <a:latin typeface="Arial"/>
                <a:ea typeface="Arial"/>
                <a:cs typeface="Arial"/>
              </a:defRPr>
            </a:lvl7pPr>
            <a:lvl8pPr>
              <a:defRPr sz="1500" b="0">
                <a:solidFill>
                  <a:srgbClr val="4C6575"/>
                </a:solidFill>
                <a:latin typeface="Arial"/>
                <a:ea typeface="Arial"/>
                <a:cs typeface="Arial"/>
              </a:defRPr>
            </a:lvl8pPr>
            <a:lvl9pPr>
              <a:defRPr sz="1500" b="0">
                <a:solidFill>
                  <a:srgbClr val="4C6575"/>
                </a:solidFill>
                <a:latin typeface="Arial"/>
                <a:ea typeface="Arial"/>
                <a:cs typeface="Arial"/>
              </a:defRPr>
            </a:lvl9pPr>
          </a:lstStyle>
          <a:p xmlns:a="http://schemas.openxmlformats.org/drawingml/2006/main">
            <a:pPr>
              <a:defRPr sz="1500" b="0">
                <a:solidFill>
                  <a:srgbClr val="4C6575"/>
                </a:solidFill>
                <a:latin typeface="Arial"/>
                <a:ea typeface="Arial"/>
                <a:cs typeface="Arial"/>
              </a:defRPr>
            </a:pPr>
            <a:r>
              <a:rPr sz="1500" b="0">
                <a:solidFill>
                  <a:srgbClr val="4C6575"/>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FB90557E-FC04-4B1F-9AF6-DE48566869AF}"/>
              </a:ext>
            </a:extLst>
          </p:cNvPr>
          <p:cNvSpPr>
            <a:spLocks xmlns:a="http://schemas.openxmlformats.org/drawingml/2006/main" noGrp="1"/>
          </p:cNvSpPr>
          <p:nvPr/>
        </p:nvSpPr>
        <p:spPr>
          <a:xfrm xmlns:a="http://schemas.openxmlformats.org/drawingml/2006/main">
            <a:off x="809625" y="37719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575"/>
                </a:solidFill>
                <a:latin typeface="Arial"/>
                <a:ea typeface="Arial"/>
                <a:cs typeface="Arial"/>
              </a:defRPr>
            </a:defPPr>
            <a:lvl1pPr>
              <a:defRPr sz="1500" b="0">
                <a:solidFill>
                  <a:srgbClr val="4C6575"/>
                </a:solidFill>
                <a:latin typeface="Arial"/>
                <a:ea typeface="Arial"/>
                <a:cs typeface="Arial"/>
              </a:defRPr>
            </a:lvl1pPr>
            <a:lvl2pPr>
              <a:defRPr sz="1500" b="0">
                <a:solidFill>
                  <a:srgbClr val="4C6575"/>
                </a:solidFill>
                <a:latin typeface="Arial"/>
                <a:ea typeface="Arial"/>
                <a:cs typeface="Arial"/>
              </a:defRPr>
            </a:lvl2pPr>
            <a:lvl3pPr>
              <a:defRPr sz="1500" b="0">
                <a:solidFill>
                  <a:srgbClr val="4C6575"/>
                </a:solidFill>
                <a:latin typeface="Arial"/>
                <a:ea typeface="Arial"/>
                <a:cs typeface="Arial"/>
              </a:defRPr>
            </a:lvl3pPr>
            <a:lvl4pPr>
              <a:defRPr sz="1500" b="0">
                <a:solidFill>
                  <a:srgbClr val="4C6575"/>
                </a:solidFill>
                <a:latin typeface="Arial"/>
                <a:ea typeface="Arial"/>
                <a:cs typeface="Arial"/>
              </a:defRPr>
            </a:lvl4pPr>
            <a:lvl5pPr>
              <a:defRPr sz="1500" b="0">
                <a:solidFill>
                  <a:srgbClr val="4C6575"/>
                </a:solidFill>
                <a:latin typeface="Arial"/>
                <a:ea typeface="Arial"/>
                <a:cs typeface="Arial"/>
              </a:defRPr>
            </a:lvl5pPr>
            <a:lvl6pPr>
              <a:defRPr sz="1500" b="0">
                <a:solidFill>
                  <a:srgbClr val="4C6575"/>
                </a:solidFill>
                <a:latin typeface="Arial"/>
                <a:ea typeface="Arial"/>
                <a:cs typeface="Arial"/>
              </a:defRPr>
            </a:lvl6pPr>
            <a:lvl7pPr>
              <a:defRPr sz="1500" b="0">
                <a:solidFill>
                  <a:srgbClr val="4C6575"/>
                </a:solidFill>
                <a:latin typeface="Arial"/>
                <a:ea typeface="Arial"/>
                <a:cs typeface="Arial"/>
              </a:defRPr>
            </a:lvl7pPr>
            <a:lvl8pPr>
              <a:defRPr sz="1500" b="0">
                <a:solidFill>
                  <a:srgbClr val="4C6575"/>
                </a:solidFill>
                <a:latin typeface="Arial"/>
                <a:ea typeface="Arial"/>
                <a:cs typeface="Arial"/>
              </a:defRPr>
            </a:lvl8pPr>
            <a:lvl9pPr>
              <a:defRPr sz="1500" b="0">
                <a:solidFill>
                  <a:srgbClr val="4C6575"/>
                </a:solidFill>
                <a:latin typeface="Arial"/>
                <a:ea typeface="Arial"/>
                <a:cs typeface="Arial"/>
              </a:defRPr>
            </a:lvl9pPr>
          </a:lstStyle>
          <a:p xmlns:a="http://schemas.openxmlformats.org/drawingml/2006/main">
            <a:pPr>
              <a:defRPr sz="1500" b="0">
                <a:solidFill>
                  <a:srgbClr val="4C6575"/>
                </a:solidFill>
                <a:latin typeface="Arial"/>
                <a:ea typeface="Arial"/>
                <a:cs typeface="Arial"/>
              </a:defRPr>
            </a:pPr>
            <a:r>
              <a:rPr sz="1500" b="0">
                <a:solidFill>
                  <a:srgbClr val="4C6575"/>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91BE954C-F793-4AED-98A3-BBABAC7ADFD1}"/>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03</a:t>
            </a:r>
          </a:p>
        </p:txBody>
      </p:sp>
    </p:spTree>
    <p:extLst>
      <p:ext uri="{BB962C8B-B14F-4D97-AF65-F5344CB8AC3E}">
        <p14:creationId xmlns:p14="http://schemas.microsoft.com/office/powerpoint/2010/main" val="89474973"/>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90B9B0-B434-4E4B-B33E-6425CF9EC9EE}"/>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The source snapshot is reproducible</a:t>
            </a:r>
          </a:p>
        </p:txBody>
      </p:sp>
      <p:sp>
        <p:nvSpPr>
          <p:cNvPr id="2" name="">
            <a:extLst xmlns:a="http://schemas.openxmlformats.org/drawingml/2006/main">
              <a:ext uri="{FF2B5EF4-FFF2-40B4-BE49-F238E27FC236}">
                <a16:creationId xmlns:a16="http://schemas.microsoft.com/office/drawing/2014/main" id="{FD2E11C0-226E-4E6F-BA0E-F67785CF8728}"/>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3720A041-5031-4269-89A4-F1C29744DE01}"/>
              </a:ext>
            </a:extLst>
          </p:cNvPr>
          <p:cNvGraphicFramePr/>
          <p:nvPr/>
        </p:nvGraphicFramePr>
        <p:xfrm>
          <a:off xmlns:a="http://schemas.openxmlformats.org/drawingml/2006/main" x="762000" y="2000250"/>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Academic input</a:t>
                      </a:r>
                    </a:p>
                  </a:txBody>
                  <a:tcPr marL="91440" marR="91440" marT="45720" marB="45720">
                    <a:solidFill>
                      <a:srgbClr val="12324A"/>
                    </a:solidFill>
                  </a:tcPr>
                </a:tc>
                <a:tc>
                  <a:txBody>
                    <a:bodyPr/>
                    <a:lstStyle/>
                    <a:p>
                      <a:r>
                        <a:rPr sz="1800" b="1">
                          <a:solidFill>
                            <a:srgbClr val="FFFFFF"/>
                          </a:solidFill>
                          <a:latin typeface="Arial"/>
                          <a:ea typeface="Arial"/>
                          <a:cs typeface="Arial"/>
                        </a:rPr>
                        <a:t>Validated / raw rows</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Students</a:t>
                      </a:r>
                    </a:p>
                  </a:txBody>
                  <a:tcPr marL="91440" marR="91440" marT="45720" marB="45720">
                    <a:solidFill>
                      <a:srgbClr val="FFFFFF"/>
                    </a:solidFill>
                  </a:tcPr>
                </a:tc>
                <a:tc>
                  <a:txBody>
                    <a:bodyPr/>
                    <a:lstStyle/>
                    <a:p>
                      <a:r>
                        <a:rPr sz="1800" b="0">
                          <a:solidFill>
                            <a:srgbClr val="203747"/>
                          </a:solidFill>
                          <a:latin typeface="Arial"/>
                          <a:ea typeface="Arial"/>
                          <a:cs typeface="Arial"/>
                        </a:rPr>
                        <a:t>40 valid, 41 raw</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Teachers / sections</a:t>
                      </a:r>
                    </a:p>
                  </a:txBody>
                  <a:tcPr marL="91440" marR="91440" marT="45720" marB="45720">
                    <a:solidFill>
                      <a:srgbClr val="EDF2F0"/>
                    </a:solidFill>
                  </a:tcPr>
                </a:tc>
                <a:tc>
                  <a:txBody>
                    <a:bodyPr/>
                    <a:lstStyle/>
                    <a:p>
                      <a:r>
                        <a:rPr sz="1800" b="0">
                          <a:solidFill>
                            <a:srgbClr val="203747"/>
                          </a:solidFill>
                          <a:latin typeface="Arial"/>
                          <a:ea typeface="Arial"/>
                          <a:cs typeface="Arial"/>
                        </a:rPr>
                        <a:t>20 / 41</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Grades</a:t>
                      </a:r>
                    </a:p>
                  </a:txBody>
                  <a:tcPr marL="91440" marR="91440" marT="45720" marB="45720">
                    <a:solidFill>
                      <a:srgbClr val="FFFFFF"/>
                    </a:solidFill>
                  </a:tcPr>
                </a:tc>
                <a:tc>
                  <a:txBody>
                    <a:bodyPr/>
                    <a:lstStyle/>
                    <a:p>
                      <a:r>
                        <a:rPr sz="1800" b="0">
                          <a:solidFill>
                            <a:srgbClr val="203747"/>
                          </a:solidFill>
                          <a:latin typeface="Arial"/>
                          <a:ea typeface="Arial"/>
                          <a:cs typeface="Arial"/>
                        </a:rPr>
                        <a:t>261 valid, 267 raw</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Attendance / conduct</a:t>
                      </a:r>
                    </a:p>
                  </a:txBody>
                  <a:tcPr marL="91440" marR="91440" marT="45720" marB="45720">
                    <a:solidFill>
                      <a:srgbClr val="EDF2F0"/>
                    </a:solidFill>
                  </a:tcPr>
                </a:tc>
                <a:tc>
                  <a:txBody>
                    <a:bodyPr/>
                    <a:lstStyle/>
                    <a:p>
                      <a:r>
                        <a:rPr sz="1800" b="0">
                          <a:solidFill>
                            <a:srgbClr val="203747"/>
                          </a:solidFill>
                          <a:latin typeface="Arial"/>
                          <a:ea typeface="Arial"/>
                          <a:cs typeface="Arial"/>
                        </a:rPr>
                        <a:t>3,915 / 120</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C2CAF86A-36FB-4595-89DF-FAEF4C8AE204}"/>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04</a:t>
            </a:r>
          </a:p>
        </p:txBody>
      </p:sp>
    </p:spTree>
    <p:extLst>
      <p:ext uri="{BB962C8B-B14F-4D97-AF65-F5344CB8AC3E}">
        <p14:creationId xmlns:p14="http://schemas.microsoft.com/office/powerpoint/2010/main" val="1909194377"/>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360FD4-CB6B-490B-91A2-70423318DF32}"/>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The test pack contains 31 questions</a:t>
            </a:r>
          </a:p>
        </p:txBody>
      </p:sp>
      <p:sp>
        <p:nvSpPr>
          <p:cNvPr id="2" name="">
            <a:extLst xmlns:a="http://schemas.openxmlformats.org/drawingml/2006/main">
              <a:ext uri="{FF2B5EF4-FFF2-40B4-BE49-F238E27FC236}">
                <a16:creationId xmlns:a16="http://schemas.microsoft.com/office/drawing/2014/main" id="{4AE21349-D259-44D2-97A2-EDF8F590F1A6}"/>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B12F55-180D-4503-BFDB-74A06AA00B21}"/>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45F4844-C4C0-4FA9-B18D-9F8DE7332F30}"/>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26 academic cases execute on main</a:t>
            </a:r>
          </a:p>
        </p:txBody>
      </p:sp>
      <p:sp>
        <p:nvSpPr>
          <p:cNvPr id="5" name="">
            <a:extLst xmlns:a="http://schemas.openxmlformats.org/drawingml/2006/main">
              <a:ext uri="{FF2B5EF4-FFF2-40B4-BE49-F238E27FC236}">
                <a16:creationId xmlns:a16="http://schemas.microsoft.com/office/drawing/2014/main" id="{93011671-4D1E-4D2C-9026-521046E7E7DB}"/>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46F82C8-9ECE-4A81-B734-E0F4ABCD8897}"/>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5 finance cases use the matching PR #2 snapshot</a:t>
            </a:r>
          </a:p>
        </p:txBody>
      </p:sp>
      <p:sp>
        <p:nvSpPr>
          <p:cNvPr id="7" name="">
            <a:extLst xmlns:a="http://schemas.openxmlformats.org/drawingml/2006/main">
              <a:ext uri="{FF2B5EF4-FFF2-40B4-BE49-F238E27FC236}">
                <a16:creationId xmlns:a16="http://schemas.microsoft.com/office/drawing/2014/main" id="{F2D5FA8A-0C84-4D4E-9066-26E993AB8DEC}"/>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76C37A23-8D4B-417A-A65A-CB87C3B268D0}"/>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59 Excel formula metrics cross-checked against CSV calculations</a:t>
            </a:r>
          </a:p>
        </p:txBody>
      </p:sp>
      <p:sp>
        <p:nvSpPr>
          <p:cNvPr id="9" name="">
            <a:extLst xmlns:a="http://schemas.openxmlformats.org/drawingml/2006/main">
              <a:ext uri="{FF2B5EF4-FFF2-40B4-BE49-F238E27FC236}">
                <a16:creationId xmlns:a16="http://schemas.microsoft.com/office/drawing/2014/main" id="{4A5C8BA3-78A5-4FE9-AFDD-0982FF15E844}"/>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ED8A7F31-C312-445E-862D-E8F82EDFCBFD}"/>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Valid inputs, boundary cases, missing records and a multi-tool briefing</a:t>
            </a:r>
          </a:p>
        </p:txBody>
      </p:sp>
      <p:sp>
        <p:nvSpPr>
          <p:cNvPr id="11" name="">
            <a:extLst xmlns:a="http://schemas.openxmlformats.org/drawingml/2006/main">
              <a:ext uri="{FF2B5EF4-FFF2-40B4-BE49-F238E27FC236}">
                <a16:creationId xmlns:a16="http://schemas.microsoft.com/office/drawing/2014/main" id="{2F980D9A-11DB-442A-B118-B624DD1F3B86}"/>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05</a:t>
            </a:r>
          </a:p>
        </p:txBody>
      </p:sp>
    </p:spTree>
    <p:extLst>
      <p:ext uri="{BB962C8B-B14F-4D97-AF65-F5344CB8AC3E}">
        <p14:creationId xmlns:p14="http://schemas.microsoft.com/office/powerpoint/2010/main" val="2097784082"/>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6CA728-7BFA-489F-A60A-3878DEE11FE6}"/>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The Excel key is independent of the tools</a:t>
            </a:r>
          </a:p>
        </p:txBody>
      </p:sp>
      <p:sp>
        <p:nvSpPr>
          <p:cNvPr id="2" name="">
            <a:extLst xmlns:a="http://schemas.openxmlformats.org/drawingml/2006/main">
              <a:ext uri="{FF2B5EF4-FFF2-40B4-BE49-F238E27FC236}">
                <a16:creationId xmlns:a16="http://schemas.microsoft.com/office/drawing/2014/main" id="{A47C2675-DFD0-418C-A409-C3A8827929F4}"/>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610B40-E521-40FD-A6C0-892E8A25F628}"/>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D40503A-D92C-41DA-ACB1-465CF2B9A556}"/>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CSV inputs and visible rule thresholds</a:t>
            </a:r>
          </a:p>
        </p:txBody>
      </p:sp>
      <p:sp>
        <p:nvSpPr>
          <p:cNvPr id="5" name="">
            <a:extLst xmlns:a="http://schemas.openxmlformats.org/drawingml/2006/main">
              <a:ext uri="{FF2B5EF4-FFF2-40B4-BE49-F238E27FC236}">
                <a16:creationId xmlns:a16="http://schemas.microsoft.com/office/drawing/2014/main" id="{942ABACD-C69D-48D3-A278-D0A81D68708C}"/>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C4FC4FFE-E8A1-46B2-93AA-6FB108A651F4}"/>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Formula steps for totals, grade points, GPA and absence ratios</a:t>
            </a:r>
          </a:p>
        </p:txBody>
      </p:sp>
      <p:sp>
        <p:nvSpPr>
          <p:cNvPr id="7" name="">
            <a:extLst xmlns:a="http://schemas.openxmlformats.org/drawingml/2006/main">
              <a:ext uri="{FF2B5EF4-FFF2-40B4-BE49-F238E27FC236}">
                <a16:creationId xmlns:a16="http://schemas.microsoft.com/office/drawing/2014/main" id="{36089F20-58BC-46D3-B166-BCB95BA0FAE8}"/>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3FA20E3B-63EC-4273-AE9F-4D84C5974586}"/>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An independent CSV calculation beside each expected answer</a:t>
            </a:r>
          </a:p>
        </p:txBody>
      </p:sp>
      <p:sp>
        <p:nvSpPr>
          <p:cNvPr id="9" name="">
            <a:extLst xmlns:a="http://schemas.openxmlformats.org/drawingml/2006/main">
              <a:ext uri="{FF2B5EF4-FFF2-40B4-BE49-F238E27FC236}">
                <a16:creationId xmlns:a16="http://schemas.microsoft.com/office/drawing/2014/main" id="{73367D30-501C-4E45-AED0-4F024AE49493}"/>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051C4242-9168-46AC-93F8-76036938F7D3}"/>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Human review in Microsoft Excel remains pending</a:t>
            </a:r>
          </a:p>
        </p:txBody>
      </p:sp>
      <p:sp>
        <p:nvSpPr>
          <p:cNvPr id="11" name="">
            <a:extLst xmlns:a="http://schemas.openxmlformats.org/drawingml/2006/main">
              <a:ext uri="{FF2B5EF4-FFF2-40B4-BE49-F238E27FC236}">
                <a16:creationId xmlns:a16="http://schemas.microsoft.com/office/drawing/2014/main" id="{CD7D416B-E009-435A-9B54-18CD41D90882}"/>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06</a:t>
            </a:r>
          </a:p>
        </p:txBody>
      </p:sp>
    </p:spTree>
    <p:extLst>
      <p:ext uri="{BB962C8B-B14F-4D97-AF65-F5344CB8AC3E}">
        <p14:creationId xmlns:p14="http://schemas.microsoft.com/office/powerpoint/2010/main" val="731420494"/>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C5E4F5-99CE-423A-A72A-D413D5EB9585}"/>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Phú: teacher search and class schedules</a:t>
            </a:r>
          </a:p>
        </p:txBody>
      </p:sp>
      <p:sp>
        <p:nvSpPr>
          <p:cNvPr id="2" name="">
            <a:extLst xmlns:a="http://schemas.openxmlformats.org/drawingml/2006/main">
              <a:ext uri="{FF2B5EF4-FFF2-40B4-BE49-F238E27FC236}">
                <a16:creationId xmlns:a16="http://schemas.microsoft.com/office/drawing/2014/main" id="{A2BD0CAC-7B58-4453-B702-5398F850AFBE}"/>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B729F8-59A4-4B29-AD07-938747047A3B}"/>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AD7C432-4DE2-4FFF-9CFB-FD0CC51886A6}"/>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search_teachers supports keyword, faculty, title and limit</a:t>
            </a:r>
          </a:p>
        </p:txBody>
      </p:sp>
      <p:sp>
        <p:nvSpPr>
          <p:cNvPr id="5" name="">
            <a:extLst xmlns:a="http://schemas.openxmlformats.org/drawingml/2006/main">
              <a:ext uri="{FF2B5EF4-FFF2-40B4-BE49-F238E27FC236}">
                <a16:creationId xmlns:a16="http://schemas.microsoft.com/office/drawing/2014/main" id="{39ADAE49-412E-4D9F-B280-A0FACB745DE3}"/>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1BC3D05D-7D4C-45A2-A1FC-79BA73373AB2}"/>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class_timetable joins course, semester and class</a:t>
            </a:r>
          </a:p>
        </p:txBody>
      </p:sp>
      <p:sp>
        <p:nvSpPr>
          <p:cNvPr id="7" name="">
            <a:extLst xmlns:a="http://schemas.openxmlformats.org/drawingml/2006/main">
              <a:ext uri="{FF2B5EF4-FFF2-40B4-BE49-F238E27FC236}">
                <a16:creationId xmlns:a16="http://schemas.microsoft.com/office/drawing/2014/main" id="{8A2BEB0D-F498-479F-AFEF-8C3B9BA68958}"/>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58DD049-E948-442B-B87E-9CA67252F9DB}"/>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IT01 in 2024-1 has 3 scheduled sections</a:t>
            </a:r>
          </a:p>
        </p:txBody>
      </p:sp>
      <p:sp>
        <p:nvSpPr>
          <p:cNvPr id="9" name="">
            <a:extLst xmlns:a="http://schemas.openxmlformats.org/drawingml/2006/main">
              <a:ext uri="{FF2B5EF4-FFF2-40B4-BE49-F238E27FC236}">
                <a16:creationId xmlns:a16="http://schemas.microsoft.com/office/drawing/2014/main" id="{AE260D16-ED15-4FDF-B6FA-B88085346DDC}"/>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905D15D1-F998-4054-93D9-40E0EADE6B27}"/>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Unknown classes return a clear error</a:t>
            </a:r>
          </a:p>
        </p:txBody>
      </p:sp>
      <p:sp>
        <p:nvSpPr>
          <p:cNvPr id="11" name="">
            <a:extLst xmlns:a="http://schemas.openxmlformats.org/drawingml/2006/main">
              <a:ext uri="{FF2B5EF4-FFF2-40B4-BE49-F238E27FC236}">
                <a16:creationId xmlns:a16="http://schemas.microsoft.com/office/drawing/2014/main" id="{558E5B8A-DAF2-439F-9A1D-8B1DF60DE9EB}"/>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07</a:t>
            </a:r>
          </a:p>
        </p:txBody>
      </p:sp>
    </p:spTree>
    <p:extLst>
      <p:ext uri="{BB962C8B-B14F-4D97-AF65-F5344CB8AC3E}">
        <p14:creationId xmlns:p14="http://schemas.microsoft.com/office/powerpoint/2010/main" val="748069107"/>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30D911-A113-485B-A5E2-749A7A2B9B72}"/>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Phú: teaching periods stay explicit</a:t>
            </a:r>
          </a:p>
        </p:txBody>
      </p:sp>
      <p:sp>
        <p:nvSpPr>
          <p:cNvPr id="2" name="">
            <a:extLst xmlns:a="http://schemas.openxmlformats.org/drawingml/2006/main">
              <a:ext uri="{FF2B5EF4-FFF2-40B4-BE49-F238E27FC236}">
                <a16:creationId xmlns:a16="http://schemas.microsoft.com/office/drawing/2014/main" id="{49091A1D-E6E4-4CE3-9DAE-285CC2CCDEFF}"/>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35B9B34B-7F49-461D-92B3-46E8855DE1FE}"/>
              </a:ext>
            </a:extLst>
          </p:cNvPr>
          <p:cNvGraphicFramePr/>
          <p:nvPr/>
        </p:nvGraphicFramePr>
        <p:xfrm>
          <a:off xmlns:a="http://schemas.openxmlformats.org/drawingml/2006/main" x="762000" y="2000250"/>
          <a:ext xmlns:a="http://schemas.openxmlformats.org/drawingml/2006/main" cx="10668000" cy="2438400"/>
        </p:xfrm>
        <a:graphic xmlns:a="http://schemas.openxmlformats.org/drawingml/2006/main">
          <a:graphicData uri="http://schemas.openxmlformats.org/drawingml/2006/table">
            <a:tbl>
              <a:tblPr/>
              <a:tblGrid>
                <a:gridCol w="3556000"/>
                <a:gridCol w="3556000"/>
                <a:gridCol w="3556000"/>
              </a:tblGrid>
              <a:tr h="609600">
                <a:tc>
                  <a:txBody>
                    <a:bodyPr/>
                    <a:lstStyle/>
                    <a:p>
                      <a:r>
                        <a:rPr sz="1800" b="1">
                          <a:solidFill>
                            <a:srgbClr val="FFFFFF"/>
                          </a:solidFill>
                          <a:latin typeface="Arial"/>
                          <a:ea typeface="Arial"/>
                          <a:cs typeface="Arial"/>
                        </a:rPr>
                        <a:t>Teacher / semester</a:t>
                      </a:r>
                    </a:p>
                  </a:txBody>
                  <a:tcPr marL="91440" marR="91440" marT="45720" marB="45720">
                    <a:solidFill>
                      <a:srgbClr val="12324A"/>
                    </a:solidFill>
                  </a:tcPr>
                </a:tc>
                <a:tc>
                  <a:txBody>
                    <a:bodyPr/>
                    <a:lstStyle/>
                    <a:p>
                      <a:r>
                        <a:rPr sz="1800" b="1">
                          <a:solidFill>
                            <a:srgbClr val="FFFFFF"/>
                          </a:solidFill>
                          <a:latin typeface="Arial"/>
                          <a:ea typeface="Arial"/>
                          <a:cs typeface="Arial"/>
                        </a:rPr>
                        <a:t>Sections</a:t>
                      </a:r>
                    </a:p>
                  </a:txBody>
                  <a:tcPr marL="91440" marR="91440" marT="45720" marB="45720">
                    <a:solidFill>
                      <a:srgbClr val="12324A"/>
                    </a:solidFill>
                  </a:tcPr>
                </a:tc>
                <a:tc>
                  <a:txBody>
                    <a:bodyPr/>
                    <a:lstStyle/>
                    <a:p>
                      <a:r>
                        <a:rPr sz="1800" b="1">
                          <a:solidFill>
                            <a:srgbClr val="FFFFFF"/>
                          </a:solidFill>
                          <a:latin typeface="Arial"/>
                          <a:ea typeface="Arial"/>
                          <a:cs typeface="Arial"/>
                        </a:rPr>
                        <a:t>Periods per week</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T001 / 2024-1</a:t>
                      </a:r>
                    </a:p>
                  </a:txBody>
                  <a:tcPr marL="91440" marR="91440" marT="45720" marB="45720">
                    <a:solidFill>
                      <a:srgbClr val="FFFFFF"/>
                    </a:solidFill>
                  </a:tcPr>
                </a:tc>
                <a:tc>
                  <a:txBody>
                    <a:bodyPr/>
                    <a:lstStyle/>
                    <a:p>
                      <a:r>
                        <a:rPr sz="1800" b="0">
                          <a:solidFill>
                            <a:srgbClr val="203747"/>
                          </a:solidFill>
                          <a:latin typeface="Arial"/>
                          <a:ea typeface="Arial"/>
                          <a:cs typeface="Arial"/>
                        </a:rPr>
                        <a:t>3</a:t>
                      </a:r>
                    </a:p>
                  </a:txBody>
                  <a:tcPr marL="91440" marR="91440" marT="45720" marB="45720">
                    <a:solidFill>
                      <a:srgbClr val="FFFFFF"/>
                    </a:solidFill>
                  </a:tcPr>
                </a:tc>
                <a:tc>
                  <a:txBody>
                    <a:bodyPr/>
                    <a:lstStyle/>
                    <a:p>
                      <a:r>
                        <a:rPr sz="1800" b="0">
                          <a:solidFill>
                            <a:srgbClr val="203747"/>
                          </a:solidFill>
                          <a:latin typeface="Arial"/>
                          <a:ea typeface="Arial"/>
                          <a:cs typeface="Arial"/>
                        </a:rPr>
                        <a:t>9</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T001 / 2025-1</a:t>
                      </a:r>
                    </a:p>
                  </a:txBody>
                  <a:tcPr marL="91440" marR="91440" marT="45720" marB="45720">
                    <a:solidFill>
                      <a:srgbClr val="EDF2F0"/>
                    </a:solidFill>
                  </a:tcPr>
                </a:tc>
                <a:tc>
                  <a:txBody>
                    <a:bodyPr/>
                    <a:lstStyle/>
                    <a:p>
                      <a:r>
                        <a:rPr sz="1800" b="0">
                          <a:solidFill>
                            <a:srgbClr val="203747"/>
                          </a:solidFill>
                          <a:latin typeface="Arial"/>
                          <a:ea typeface="Arial"/>
                          <a:cs typeface="Arial"/>
                        </a:rPr>
                        <a:t>6</a:t>
                      </a:r>
                    </a:p>
                  </a:txBody>
                  <a:tcPr marL="91440" marR="91440" marT="45720" marB="45720">
                    <a:solidFill>
                      <a:srgbClr val="EDF2F0"/>
                    </a:solidFill>
                  </a:tcPr>
                </a:tc>
                <a:tc>
                  <a:txBody>
                    <a:bodyPr/>
                    <a:lstStyle/>
                    <a:p>
                      <a:r>
                        <a:rPr sz="1800" b="0">
                          <a:solidFill>
                            <a:srgbClr val="203747"/>
                          </a:solidFill>
                          <a:latin typeface="Arial"/>
                          <a:ea typeface="Arial"/>
                          <a:cs typeface="Arial"/>
                        </a:rPr>
                        <a:t>18</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T001 / 2099-1</a:t>
                      </a:r>
                    </a:p>
                  </a:txBody>
                  <a:tcPr marL="91440" marR="91440" marT="45720" marB="45720">
                    <a:solidFill>
                      <a:srgbClr val="FFFFFF"/>
                    </a:solidFill>
                  </a:tcPr>
                </a:tc>
                <a:tc>
                  <a:txBody>
                    <a:bodyPr/>
                    <a:lstStyle/>
                    <a:p>
                      <a:r>
                        <a:rPr sz="1800" b="0">
                          <a:solidFill>
                            <a:srgbClr val="203747"/>
                          </a:solidFill>
                          <a:latin typeface="Arial"/>
                          <a:ea typeface="Arial"/>
                          <a:cs typeface="Arial"/>
                        </a:rPr>
                        <a:t>0</a:t>
                      </a:r>
                    </a:p>
                  </a:txBody>
                  <a:tcPr marL="91440" marR="91440" marT="45720" marB="45720">
                    <a:solidFill>
                      <a:srgbClr val="FFFFFF"/>
                    </a:solidFill>
                  </a:tcPr>
                </a:tc>
                <a:tc>
                  <a:txBody>
                    <a:bodyPr/>
                    <a:lstStyle/>
                    <a:p>
                      <a:r>
                        <a:rPr sz="1800" b="0">
                          <a:solidFill>
                            <a:srgbClr val="203747"/>
                          </a:solidFill>
                          <a:latin typeface="Arial"/>
                          <a:ea typeface="Arial"/>
                          <a:cs typeface="Arial"/>
                        </a:rPr>
                        <a:t>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A426CF7-A7E3-4F84-A176-D0A9F15614D8}"/>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08</a:t>
            </a:r>
          </a:p>
        </p:txBody>
      </p:sp>
    </p:spTree>
    <p:extLst>
      <p:ext uri="{BB962C8B-B14F-4D97-AF65-F5344CB8AC3E}">
        <p14:creationId xmlns:p14="http://schemas.microsoft.com/office/powerpoint/2010/main" val="1666662087"/>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4D4DE47-EE76-49F2-AF54-94727CC44B65}"/>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Phú: grade reports count enrolments</a:t>
            </a:r>
          </a:p>
        </p:txBody>
      </p:sp>
      <p:sp>
        <p:nvSpPr>
          <p:cNvPr id="2" name="">
            <a:extLst xmlns:a="http://schemas.openxmlformats.org/drawingml/2006/main">
              <a:ext uri="{FF2B5EF4-FFF2-40B4-BE49-F238E27FC236}">
                <a16:creationId xmlns:a16="http://schemas.microsoft.com/office/drawing/2014/main" id="{8BD1A75C-D34E-4BC2-BA76-D00BC8F310DA}"/>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647A1F-16B4-4A32-AA1C-A87430D5AAB3}"/>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4E43FF7-BAD8-493F-8B1D-3BB2E991B8EF}"/>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T001, 2024-1: 30 graded enrolments</a:t>
            </a:r>
          </a:p>
        </p:txBody>
      </p:sp>
      <p:sp>
        <p:nvSpPr>
          <p:cNvPr id="5" name="">
            <a:extLst xmlns:a="http://schemas.openxmlformats.org/drawingml/2006/main">
              <a:ext uri="{FF2B5EF4-FFF2-40B4-BE49-F238E27FC236}">
                <a16:creationId xmlns:a16="http://schemas.microsoft.com/office/drawing/2014/main" id="{8E1F429C-14E3-4245-9D76-67259D9CBE22}"/>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ED71A1C-558F-495E-8DC9-98E473B12C68}"/>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Mean course score: 7.4 out of 10</a:t>
            </a:r>
          </a:p>
        </p:txBody>
      </p:sp>
      <p:sp>
        <p:nvSpPr>
          <p:cNvPr id="7" name="">
            <a:extLst xmlns:a="http://schemas.openxmlformats.org/drawingml/2006/main">
              <a:ext uri="{FF2B5EF4-FFF2-40B4-BE49-F238E27FC236}">
                <a16:creationId xmlns:a16="http://schemas.microsoft.com/office/drawing/2014/main" id="{3ABB641E-EEFA-4547-ABF0-87D986EE1809}"/>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D2CC19AF-2BDE-4AA0-8557-56A2CDBE529C}"/>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Pass rate: 90.0%</a:t>
            </a:r>
          </a:p>
        </p:txBody>
      </p:sp>
      <p:sp>
        <p:nvSpPr>
          <p:cNvPr id="9" name="">
            <a:extLst xmlns:a="http://schemas.openxmlformats.org/drawingml/2006/main">
              <a:ext uri="{FF2B5EF4-FFF2-40B4-BE49-F238E27FC236}">
                <a16:creationId xmlns:a16="http://schemas.microsoft.com/office/drawing/2014/main" id="{03CCF2CE-DD38-4F7C-BCBA-15F1A826C60E}"/>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38B3E48E-B918-481A-824A-E2F574A35B63}"/>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One student can appear in several sections</a:t>
            </a:r>
          </a:p>
        </p:txBody>
      </p:sp>
      <p:sp>
        <p:nvSpPr>
          <p:cNvPr id="11" name="">
            <a:extLst xmlns:a="http://schemas.openxmlformats.org/drawingml/2006/main">
              <a:ext uri="{FF2B5EF4-FFF2-40B4-BE49-F238E27FC236}">
                <a16:creationId xmlns:a16="http://schemas.microsoft.com/office/drawing/2014/main" id="{068BE93E-17D2-4B51-ACFC-471A5D4B12F3}"/>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09</a:t>
            </a:r>
          </a:p>
        </p:txBody>
      </p:sp>
    </p:spTree>
    <p:extLst>
      <p:ext uri="{BB962C8B-B14F-4D97-AF65-F5344CB8AC3E}">
        <p14:creationId xmlns:p14="http://schemas.microsoft.com/office/powerpoint/2010/main" val="1568504868"/>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411BBC-F2DD-4BDC-83BC-EA90293518AA}"/>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Hoàng: the absence boundary matters</a:t>
            </a:r>
          </a:p>
        </p:txBody>
      </p:sp>
      <p:sp>
        <p:nvSpPr>
          <p:cNvPr id="2" name="">
            <a:extLst xmlns:a="http://schemas.openxmlformats.org/drawingml/2006/main">
              <a:ext uri="{FF2B5EF4-FFF2-40B4-BE49-F238E27FC236}">
                <a16:creationId xmlns:a16="http://schemas.microsoft.com/office/drawing/2014/main" id="{C2D3FA3C-1423-4436-8C7E-6AE2F325A0FE}"/>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56F16FD8-EF0E-4F4B-9450-6E5EEB473F91}"/>
              </a:ext>
            </a:extLst>
          </p:cNvPr>
          <p:cNvGraphicFramePr/>
          <p:nvPr/>
        </p:nvGraphicFramePr>
        <p:xfrm>
          <a:off xmlns:a="http://schemas.openxmlformats.org/drawingml/2006/main" x="762000" y="2000250"/>
          <a:ext xmlns:a="http://schemas.openxmlformats.org/drawingml/2006/main" cx="10668000" cy="1828800"/>
        </p:xfrm>
        <a:graphic xmlns:a="http://schemas.openxmlformats.org/drawingml/2006/main">
          <a:graphicData uri="http://schemas.openxmlformats.org/drawingml/2006/table">
            <a:tbl>
              <a:tblPr/>
              <a:tblGrid>
                <a:gridCol w="2667000"/>
                <a:gridCol w="2667000"/>
                <a:gridCol w="2667000"/>
                <a:gridCol w="2667000"/>
              </a:tblGrid>
              <a:tr h="609600">
                <a:tc>
                  <a:txBody>
                    <a:bodyPr/>
                    <a:lstStyle/>
                    <a:p>
                      <a:r>
                        <a:rPr sz="1575" b="1">
                          <a:solidFill>
                            <a:srgbClr val="FFFFFF"/>
                          </a:solidFill>
                          <a:latin typeface="Arial"/>
                          <a:ea typeface="Arial"/>
                          <a:cs typeface="Arial"/>
                        </a:rPr>
                        <a:t>Recorded meetings</a:t>
                      </a:r>
                    </a:p>
                  </a:txBody>
                  <a:tcPr marL="91440" marR="91440" marT="45720" marB="45720">
                    <a:solidFill>
                      <a:srgbClr val="12324A"/>
                    </a:solidFill>
                  </a:tcPr>
                </a:tc>
                <a:tc>
                  <a:txBody>
                    <a:bodyPr/>
                    <a:lstStyle/>
                    <a:p>
                      <a:r>
                        <a:rPr sz="1575" b="1">
                          <a:solidFill>
                            <a:srgbClr val="FFFFFF"/>
                          </a:solidFill>
                          <a:latin typeface="Arial"/>
                          <a:ea typeface="Arial"/>
                          <a:cs typeface="Arial"/>
                        </a:rPr>
                        <a:t>Absences</a:t>
                      </a:r>
                    </a:p>
                  </a:txBody>
                  <a:tcPr marL="91440" marR="91440" marT="45720" marB="45720">
                    <a:solidFill>
                      <a:srgbClr val="12324A"/>
                    </a:solidFill>
                  </a:tcPr>
                </a:tc>
                <a:tc>
                  <a:txBody>
                    <a:bodyPr/>
                    <a:lstStyle/>
                    <a:p>
                      <a:r>
                        <a:rPr sz="1575" b="1">
                          <a:solidFill>
                            <a:srgbClr val="FFFFFF"/>
                          </a:solidFill>
                          <a:latin typeface="Arial"/>
                          <a:ea typeface="Arial"/>
                          <a:cs typeface="Arial"/>
                        </a:rPr>
                        <a:t>Ratio</a:t>
                      </a:r>
                    </a:p>
                  </a:txBody>
                  <a:tcPr marL="91440" marR="91440" marT="45720" marB="45720">
                    <a:solidFill>
                      <a:srgbClr val="12324A"/>
                    </a:solidFill>
                  </a:tcPr>
                </a:tc>
                <a:tc>
                  <a:txBody>
                    <a:bodyPr/>
                    <a:lstStyle/>
                    <a:p>
                      <a:r>
                        <a:rPr sz="1575" b="1">
                          <a:solidFill>
                            <a:srgbClr val="FFFFFF"/>
                          </a:solidFill>
                          <a:latin typeface="Arial"/>
                          <a:ea typeface="Arial"/>
                          <a:cs typeface="Arial"/>
                        </a:rPr>
                        <a:t>Exam ban</a:t>
                      </a:r>
                    </a:p>
                  </a:txBody>
                  <a:tcPr marL="91440" marR="91440" marT="45720" marB="45720">
                    <a:solidFill>
                      <a:srgbClr val="12324A"/>
                    </a:solidFill>
                  </a:tcPr>
                </a:tc>
              </a:tr>
              <a:tr h="609600">
                <a:tc>
                  <a:txBody>
                    <a:bodyPr/>
                    <a:lstStyle/>
                    <a:p>
                      <a:r>
                        <a:rPr sz="1575" b="0">
                          <a:solidFill>
                            <a:srgbClr val="203747"/>
                          </a:solidFill>
                          <a:latin typeface="Arial"/>
                          <a:ea typeface="Arial"/>
                          <a:cs typeface="Arial"/>
                        </a:rPr>
                        <a:t>15</a:t>
                      </a:r>
                    </a:p>
                  </a:txBody>
                  <a:tcPr marL="91440" marR="91440" marT="45720" marB="45720">
                    <a:solidFill>
                      <a:srgbClr val="FFFFFF"/>
                    </a:solidFill>
                  </a:tcPr>
                </a:tc>
                <a:tc>
                  <a:txBody>
                    <a:bodyPr/>
                    <a:lstStyle/>
                    <a:p>
                      <a:r>
                        <a:rPr sz="1575" b="0">
                          <a:solidFill>
                            <a:srgbClr val="203747"/>
                          </a:solidFill>
                          <a:latin typeface="Arial"/>
                          <a:ea typeface="Arial"/>
                          <a:cs typeface="Arial"/>
                        </a:rPr>
                        <a:t>3</a:t>
                      </a:r>
                    </a:p>
                  </a:txBody>
                  <a:tcPr marL="91440" marR="91440" marT="45720" marB="45720">
                    <a:solidFill>
                      <a:srgbClr val="FFFFFF"/>
                    </a:solidFill>
                  </a:tcPr>
                </a:tc>
                <a:tc>
                  <a:txBody>
                    <a:bodyPr/>
                    <a:lstStyle/>
                    <a:p>
                      <a:r>
                        <a:rPr sz="1575" b="0">
                          <a:solidFill>
                            <a:srgbClr val="203747"/>
                          </a:solidFill>
                          <a:latin typeface="Arial"/>
                          <a:ea typeface="Arial"/>
                          <a:cs typeface="Arial"/>
                        </a:rPr>
                        <a:t>20.0%</a:t>
                      </a:r>
                    </a:p>
                  </a:txBody>
                  <a:tcPr marL="91440" marR="91440" marT="45720" marB="45720">
                    <a:solidFill>
                      <a:srgbClr val="FFFFFF"/>
                    </a:solidFill>
                  </a:tcPr>
                </a:tc>
                <a:tc>
                  <a:txBody>
                    <a:bodyPr/>
                    <a:lstStyle/>
                    <a:p>
                      <a:r>
                        <a:rPr sz="1575" b="0">
                          <a:solidFill>
                            <a:srgbClr val="203747"/>
                          </a:solidFill>
                          <a:latin typeface="Arial"/>
                          <a:ea typeface="Arial"/>
                          <a:cs typeface="Arial"/>
                        </a:rPr>
                        <a:t>No</a:t>
                      </a:r>
                    </a:p>
                  </a:txBody>
                  <a:tcPr marL="91440" marR="91440" marT="45720" marB="45720">
                    <a:solidFill>
                      <a:srgbClr val="FFFFFF"/>
                    </a:solidFill>
                  </a:tcPr>
                </a:tc>
              </a:tr>
              <a:tr h="609600">
                <a:tc>
                  <a:txBody>
                    <a:bodyPr/>
                    <a:lstStyle/>
                    <a:p>
                      <a:r>
                        <a:rPr sz="1575" b="0">
                          <a:solidFill>
                            <a:srgbClr val="203747"/>
                          </a:solidFill>
                          <a:latin typeface="Arial"/>
                          <a:ea typeface="Arial"/>
                          <a:cs typeface="Arial"/>
                        </a:rPr>
                        <a:t>15</a:t>
                      </a:r>
                    </a:p>
                  </a:txBody>
                  <a:tcPr marL="91440" marR="91440" marT="45720" marB="45720">
                    <a:solidFill>
                      <a:srgbClr val="EDF2F0"/>
                    </a:solidFill>
                  </a:tcPr>
                </a:tc>
                <a:tc>
                  <a:txBody>
                    <a:bodyPr/>
                    <a:lstStyle/>
                    <a:p>
                      <a:r>
                        <a:rPr sz="1575" b="0">
                          <a:solidFill>
                            <a:srgbClr val="203747"/>
                          </a:solidFill>
                          <a:latin typeface="Arial"/>
                          <a:ea typeface="Arial"/>
                          <a:cs typeface="Arial"/>
                        </a:rPr>
                        <a:t>4</a:t>
                      </a:r>
                    </a:p>
                  </a:txBody>
                  <a:tcPr marL="91440" marR="91440" marT="45720" marB="45720">
                    <a:solidFill>
                      <a:srgbClr val="EDF2F0"/>
                    </a:solidFill>
                  </a:tcPr>
                </a:tc>
                <a:tc>
                  <a:txBody>
                    <a:bodyPr/>
                    <a:lstStyle/>
                    <a:p>
                      <a:r>
                        <a:rPr sz="1575" b="0">
                          <a:solidFill>
                            <a:srgbClr val="203747"/>
                          </a:solidFill>
                          <a:latin typeface="Arial"/>
                          <a:ea typeface="Arial"/>
                          <a:cs typeface="Arial"/>
                        </a:rPr>
                        <a:t>26.7%</a:t>
                      </a:r>
                    </a:p>
                  </a:txBody>
                  <a:tcPr marL="91440" marR="91440" marT="45720" marB="45720">
                    <a:solidFill>
                      <a:srgbClr val="EDF2F0"/>
                    </a:solidFill>
                  </a:tcPr>
                </a:tc>
                <a:tc>
                  <a:txBody>
                    <a:bodyPr/>
                    <a:lstStyle/>
                    <a:p>
                      <a:r>
                        <a:rPr sz="1575" b="0">
                          <a:solidFill>
                            <a:srgbClr val="203747"/>
                          </a:solidFill>
                          <a:latin typeface="Arial"/>
                          <a:ea typeface="Arial"/>
                          <a:cs typeface="Arial"/>
                        </a:rPr>
                        <a:t>Yes</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556274DD-DFD5-4487-96DB-DDB998333D06}"/>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10</a:t>
            </a:r>
          </a:p>
        </p:txBody>
      </p:sp>
    </p:spTree>
    <p:extLst>
      <p:ext uri="{BB962C8B-B14F-4D97-AF65-F5344CB8AC3E}">
        <p14:creationId xmlns:p14="http://schemas.microsoft.com/office/powerpoint/2010/main" val="1931167385"/>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AA9ABD-0447-4A14-A17C-ED57E0BA2D2E}"/>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Hoàng: exam bans are per section</a:t>
            </a:r>
          </a:p>
        </p:txBody>
      </p:sp>
      <p:sp>
        <p:nvSpPr>
          <p:cNvPr id="2" name="">
            <a:extLst xmlns:a="http://schemas.openxmlformats.org/drawingml/2006/main">
              <a:ext uri="{FF2B5EF4-FFF2-40B4-BE49-F238E27FC236}">
                <a16:creationId xmlns:a16="http://schemas.microsoft.com/office/drawing/2014/main" id="{275CBBC5-7389-4278-A991-96EE561846C7}"/>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F65766-022D-4CB3-86B2-6F74266746AA}"/>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397530F-E9FA-46FA-861A-4C2B848E424A}"/>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Only the configured absent status counts</a:t>
            </a:r>
          </a:p>
        </p:txBody>
      </p:sp>
      <p:sp>
        <p:nvSpPr>
          <p:cNvPr id="5" name="">
            <a:extLst xmlns:a="http://schemas.openxmlformats.org/drawingml/2006/main">
              <a:ext uri="{FF2B5EF4-FFF2-40B4-BE49-F238E27FC236}">
                <a16:creationId xmlns:a16="http://schemas.microsoft.com/office/drawing/2014/main" id="{DC9789B4-3C5D-46C2-A924-DE27B4964698}"/>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A992B52F-FCCD-4F6A-B28C-CFAF6C8A000E}"/>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Late and excused records stay distinct</a:t>
            </a:r>
          </a:p>
        </p:txBody>
      </p:sp>
      <p:sp>
        <p:nvSpPr>
          <p:cNvPr id="7" name="">
            <a:extLst xmlns:a="http://schemas.openxmlformats.org/drawingml/2006/main">
              <a:ext uri="{FF2B5EF4-FFF2-40B4-BE49-F238E27FC236}">
                <a16:creationId xmlns:a16="http://schemas.microsoft.com/office/drawing/2014/main" id="{360DA26D-AACD-4BFB-9A5E-B680556B628E}"/>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9F14FC4D-AAD8-43C0-9760-ECAB6580685C}"/>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Overall absence percentage is useful context</a:t>
            </a:r>
          </a:p>
        </p:txBody>
      </p:sp>
      <p:sp>
        <p:nvSpPr>
          <p:cNvPr id="9" name="">
            <a:extLst xmlns:a="http://schemas.openxmlformats.org/drawingml/2006/main">
              <a:ext uri="{FF2B5EF4-FFF2-40B4-BE49-F238E27FC236}">
                <a16:creationId xmlns:a16="http://schemas.microsoft.com/office/drawing/2014/main" id="{592036B3-E056-4181-8219-0D61719A9EC5}"/>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60AFC1BE-161B-43DB-8A1E-F1BD51CA5877}"/>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The exam restriction is evaluated for each section</a:t>
            </a:r>
          </a:p>
        </p:txBody>
      </p:sp>
      <p:sp>
        <p:nvSpPr>
          <p:cNvPr id="11" name="">
            <a:extLst xmlns:a="http://schemas.openxmlformats.org/drawingml/2006/main">
              <a:ext uri="{FF2B5EF4-FFF2-40B4-BE49-F238E27FC236}">
                <a16:creationId xmlns:a16="http://schemas.microsoft.com/office/drawing/2014/main" id="{31914AC4-29EB-43F8-ABF0-08ABC70B9B8B}"/>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11</a:t>
            </a:r>
          </a:p>
        </p:txBody>
      </p:sp>
    </p:spTree>
    <p:extLst>
      <p:ext uri="{BB962C8B-B14F-4D97-AF65-F5344CB8AC3E}">
        <p14:creationId xmlns:p14="http://schemas.microsoft.com/office/powerpoint/2010/main" val="1557905380"/>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43589F-4293-496D-83A5-4C9A96EA6494}"/>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Hoàng: conduct uses configured bands</a:t>
            </a:r>
          </a:p>
        </p:txBody>
      </p:sp>
      <p:sp>
        <p:nvSpPr>
          <p:cNvPr id="2" name="">
            <a:extLst xmlns:a="http://schemas.openxmlformats.org/drawingml/2006/main">
              <a:ext uri="{FF2B5EF4-FFF2-40B4-BE49-F238E27FC236}">
                <a16:creationId xmlns:a16="http://schemas.microsoft.com/office/drawing/2014/main" id="{B34F04E4-C0E5-42D4-B0E4-BE0D382D607C}"/>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A318141C-6468-4E1D-B47C-87BBE5310FF6}"/>
              </a:ext>
            </a:extLst>
          </p:cNvPr>
          <p:cNvGraphicFramePr/>
          <p:nvPr/>
        </p:nvGraphicFramePr>
        <p:xfrm>
          <a:off xmlns:a="http://schemas.openxmlformats.org/drawingml/2006/main" x="762000" y="2000250"/>
          <a:ext xmlns:a="http://schemas.openxmlformats.org/drawingml/2006/main" cx="10668000" cy="36576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Minimum score</a:t>
                      </a:r>
                    </a:p>
                  </a:txBody>
                  <a:tcPr marL="91440" marR="91440" marT="45720" marB="45720">
                    <a:solidFill>
                      <a:srgbClr val="12324A"/>
                    </a:solidFill>
                  </a:tcPr>
                </a:tc>
                <a:tc>
                  <a:txBody>
                    <a:bodyPr/>
                    <a:lstStyle/>
                    <a:p>
                      <a:r>
                        <a:rPr sz="1800" b="1">
                          <a:solidFill>
                            <a:srgbClr val="FFFFFF"/>
                          </a:solidFill>
                          <a:latin typeface="Arial"/>
                          <a:ea typeface="Arial"/>
                          <a:cs typeface="Arial"/>
                        </a:rPr>
                        <a:t>Classification</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90</a:t>
                      </a:r>
                    </a:p>
                  </a:txBody>
                  <a:tcPr marL="91440" marR="91440" marT="45720" marB="45720">
                    <a:solidFill>
                      <a:srgbClr val="FFFFFF"/>
                    </a:solidFill>
                  </a:tcPr>
                </a:tc>
                <a:tc>
                  <a:txBody>
                    <a:bodyPr/>
                    <a:lstStyle/>
                    <a:p>
                      <a:r>
                        <a:rPr sz="1800" b="0">
                          <a:solidFill>
                            <a:srgbClr val="203747"/>
                          </a:solidFill>
                          <a:latin typeface="Arial"/>
                          <a:ea typeface="Arial"/>
                          <a:cs typeface="Arial"/>
                        </a:rPr>
                        <a:t>Excellent</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80</a:t>
                      </a:r>
                    </a:p>
                  </a:txBody>
                  <a:tcPr marL="91440" marR="91440" marT="45720" marB="45720">
                    <a:solidFill>
                      <a:srgbClr val="EDF2F0"/>
                    </a:solidFill>
                  </a:tcPr>
                </a:tc>
                <a:tc>
                  <a:txBody>
                    <a:bodyPr/>
                    <a:lstStyle/>
                    <a:p>
                      <a:r>
                        <a:rPr sz="1800" b="0">
                          <a:solidFill>
                            <a:srgbClr val="203747"/>
                          </a:solidFill>
                          <a:latin typeface="Arial"/>
                          <a:ea typeface="Arial"/>
                          <a:cs typeface="Arial"/>
                        </a:rPr>
                        <a:t>Good</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65</a:t>
                      </a:r>
                    </a:p>
                  </a:txBody>
                  <a:tcPr marL="91440" marR="91440" marT="45720" marB="45720">
                    <a:solidFill>
                      <a:srgbClr val="FFFFFF"/>
                    </a:solidFill>
                  </a:tcPr>
                </a:tc>
                <a:tc>
                  <a:txBody>
                    <a:bodyPr/>
                    <a:lstStyle/>
                    <a:p>
                      <a:r>
                        <a:rPr sz="1800" b="0">
                          <a:solidFill>
                            <a:srgbClr val="203747"/>
                          </a:solidFill>
                          <a:latin typeface="Arial"/>
                          <a:ea typeface="Arial"/>
                          <a:cs typeface="Arial"/>
                        </a:rPr>
                        <a:t>Fairly good</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50</a:t>
                      </a:r>
                    </a:p>
                  </a:txBody>
                  <a:tcPr marL="91440" marR="91440" marT="45720" marB="45720">
                    <a:solidFill>
                      <a:srgbClr val="EDF2F0"/>
                    </a:solidFill>
                  </a:tcPr>
                </a:tc>
                <a:tc>
                  <a:txBody>
                    <a:bodyPr/>
                    <a:lstStyle/>
                    <a:p>
                      <a:r>
                        <a:rPr sz="1800" b="0">
                          <a:solidFill>
                            <a:srgbClr val="203747"/>
                          </a:solidFill>
                          <a:latin typeface="Arial"/>
                          <a:ea typeface="Arial"/>
                          <a:cs typeface="Arial"/>
                        </a:rPr>
                        <a:t>Average</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0</a:t>
                      </a:r>
                    </a:p>
                  </a:txBody>
                  <a:tcPr marL="91440" marR="91440" marT="45720" marB="45720">
                    <a:solidFill>
                      <a:srgbClr val="FFFFFF"/>
                    </a:solidFill>
                  </a:tcPr>
                </a:tc>
                <a:tc>
                  <a:txBody>
                    <a:bodyPr/>
                    <a:lstStyle/>
                    <a:p>
                      <a:r>
                        <a:rPr sz="1800" b="0">
                          <a:solidFill>
                            <a:srgbClr val="203747"/>
                          </a:solidFill>
                          <a:latin typeface="Arial"/>
                          <a:ea typeface="Arial"/>
                          <a:cs typeface="Arial"/>
                        </a:rPr>
                        <a:t>Weak</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8441609-4706-4CBE-B5A0-E5B46CF3E957}"/>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12</a:t>
            </a:r>
          </a:p>
        </p:txBody>
      </p:sp>
    </p:spTree>
    <p:extLst>
      <p:ext uri="{BB962C8B-B14F-4D97-AF65-F5344CB8AC3E}">
        <p14:creationId xmlns:p14="http://schemas.microsoft.com/office/powerpoint/2010/main" val="513307234"/>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29F932-321D-47A6-B7F1-B2FC0C8A726A}"/>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Hoàng: one risk condition is enough</a:t>
            </a:r>
          </a:p>
        </p:txBody>
      </p:sp>
      <p:sp>
        <p:nvSpPr>
          <p:cNvPr id="2" name="">
            <a:extLst xmlns:a="http://schemas.openxmlformats.org/drawingml/2006/main">
              <a:ext uri="{FF2B5EF4-FFF2-40B4-BE49-F238E27FC236}">
                <a16:creationId xmlns:a16="http://schemas.microsoft.com/office/drawing/2014/main" id="{E56C1595-E285-4191-AAA4-10FCF2A159E2}"/>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810EA1-BEF4-42BB-9D47-2A8F8B6AB329}"/>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29B0228-CB9A-4AE2-8350-DD868C20D049}"/>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IT01, 2024-1: 2 of 10 students flagged</a:t>
            </a:r>
          </a:p>
        </p:txBody>
      </p:sp>
      <p:sp>
        <p:nvSpPr>
          <p:cNvPr id="5" name="">
            <a:extLst xmlns:a="http://schemas.openxmlformats.org/drawingml/2006/main">
              <a:ext uri="{FF2B5EF4-FFF2-40B4-BE49-F238E27FC236}">
                <a16:creationId xmlns:a16="http://schemas.microsoft.com/office/drawing/2014/main" id="{DBF6BD18-CB75-42B1-B2A7-1BED06911E0E}"/>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4B277F7A-CE79-4045-926A-9C2DE1F2BF39}"/>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Business Administration: 4 of 20 flagged</a:t>
            </a:r>
          </a:p>
        </p:txBody>
      </p:sp>
      <p:sp>
        <p:nvSpPr>
          <p:cNvPr id="7" name="">
            <a:extLst xmlns:a="http://schemas.openxmlformats.org/drawingml/2006/main">
              <a:ext uri="{FF2B5EF4-FFF2-40B4-BE49-F238E27FC236}">
                <a16:creationId xmlns:a16="http://schemas.microsoft.com/office/drawing/2014/main" id="{9BB29B92-E526-4D18-9ABA-9741412467D9}"/>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83FA7EF2-0DA4-428C-AA08-67149E0353F1}"/>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Current implementation uses GPA OR absence OR conduct</a:t>
            </a:r>
          </a:p>
        </p:txBody>
      </p:sp>
      <p:sp>
        <p:nvSpPr>
          <p:cNvPr id="9" name="">
            <a:extLst xmlns:a="http://schemas.openxmlformats.org/drawingml/2006/main">
              <a:ext uri="{FF2B5EF4-FFF2-40B4-BE49-F238E27FC236}">
                <a16:creationId xmlns:a16="http://schemas.microsoft.com/office/drawing/2014/main" id="{341E6A70-6FFA-4EBF-B7B1-AF1EDE746EE4}"/>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6CDC56ED-D5B3-48BA-B011-ADEBB07A0EE0}"/>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Each flagged student includes reasons</a:t>
            </a:r>
          </a:p>
        </p:txBody>
      </p:sp>
      <p:sp>
        <p:nvSpPr>
          <p:cNvPr id="11" name="">
            <a:extLst xmlns:a="http://schemas.openxmlformats.org/drawingml/2006/main">
              <a:ext uri="{FF2B5EF4-FFF2-40B4-BE49-F238E27FC236}">
                <a16:creationId xmlns:a16="http://schemas.microsoft.com/office/drawing/2014/main" id="{C0E369C6-66FC-44DE-86EA-5D6A4C4C1357}"/>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13</a:t>
            </a:r>
          </a:p>
        </p:txBody>
      </p:sp>
    </p:spTree>
    <p:extLst>
      <p:ext uri="{BB962C8B-B14F-4D97-AF65-F5344CB8AC3E}">
        <p14:creationId xmlns:p14="http://schemas.microsoft.com/office/powerpoint/2010/main" val="1212376083"/>
      </p:ext>
    </p:extLst>
  </p:cSld>
</p:sld>
</file>

<file path=ppt/slides/slide1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09DEBB-A2DE-4A66-B747-935D5B78D7EC}"/>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Tiến: finance stays behind its own server</a:t>
            </a:r>
          </a:p>
        </p:txBody>
      </p:sp>
      <p:sp>
        <p:nvSpPr>
          <p:cNvPr id="2" name="">
            <a:extLst xmlns:a="http://schemas.openxmlformats.org/drawingml/2006/main">
              <a:ext uri="{FF2B5EF4-FFF2-40B4-BE49-F238E27FC236}">
                <a16:creationId xmlns:a16="http://schemas.microsoft.com/office/drawing/2014/main" id="{B05320A0-3AD0-46E4-BDB1-4500D8AED224}"/>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89CAF6B-1ACE-4166-A1A7-9FFC73B374C0}"/>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01D8726-4F9E-47AA-A995-2C386F533EA2}"/>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Finance PR #2 is not merged into main</a:t>
            </a:r>
          </a:p>
        </p:txBody>
      </p:sp>
      <p:sp>
        <p:nvSpPr>
          <p:cNvPr id="5" name="">
            <a:extLst xmlns:a="http://schemas.openxmlformats.org/drawingml/2006/main">
              <a:ext uri="{FF2B5EF4-FFF2-40B4-BE49-F238E27FC236}">
                <a16:creationId xmlns:a16="http://schemas.microsoft.com/office/drawing/2014/main" id="{D60317BD-0055-4C3C-A634-21B822E78FBB}"/>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089C9C58-966A-4EB4-B8D9-E82890CC020C}"/>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Its teacher, section and conduct CSVs differ from main</a:t>
            </a:r>
          </a:p>
        </p:txBody>
      </p:sp>
      <p:sp>
        <p:nvSpPr>
          <p:cNvPr id="7" name="">
            <a:extLst xmlns:a="http://schemas.openxmlformats.org/drawingml/2006/main">
              <a:ext uri="{FF2B5EF4-FFF2-40B4-BE49-F238E27FC236}">
                <a16:creationId xmlns:a16="http://schemas.microsoft.com/office/drawing/2014/main" id="{D8F40853-16BC-458E-9E8A-6AD362BB4AFE}"/>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3874DDFB-80C9-40A6-BD1B-CC2F71A8174C}"/>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Finance expected values keep the complete PR snapshot</a:t>
            </a:r>
          </a:p>
        </p:txBody>
      </p:sp>
      <p:sp>
        <p:nvSpPr>
          <p:cNvPr id="9" name="">
            <a:extLst xmlns:a="http://schemas.openxmlformats.org/drawingml/2006/main">
              <a:ext uri="{FF2B5EF4-FFF2-40B4-BE49-F238E27FC236}">
                <a16:creationId xmlns:a16="http://schemas.microsoft.com/office/drawing/2014/main" id="{AB63E845-09F9-40DA-A3FF-4CEA6ECC9465}"/>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6EB295BF-A9C8-48F5-9C4C-0273BAD85DD7}"/>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Five finance cases are skipped in these main-branch runs</a:t>
            </a:r>
          </a:p>
        </p:txBody>
      </p:sp>
      <p:sp>
        <p:nvSpPr>
          <p:cNvPr id="11" name="">
            <a:extLst xmlns:a="http://schemas.openxmlformats.org/drawingml/2006/main">
              <a:ext uri="{FF2B5EF4-FFF2-40B4-BE49-F238E27FC236}">
                <a16:creationId xmlns:a16="http://schemas.microsoft.com/office/drawing/2014/main" id="{2D744651-D430-4A7A-BCCA-7B45187FCBEF}"/>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14</a:t>
            </a:r>
          </a:p>
        </p:txBody>
      </p:sp>
    </p:spTree>
    <p:extLst>
      <p:ext uri="{BB962C8B-B14F-4D97-AF65-F5344CB8AC3E}">
        <p14:creationId xmlns:p14="http://schemas.microsoft.com/office/powerpoint/2010/main" val="460572571"/>
      </p:ext>
    </p:extLst>
  </p:cSld>
</p:sld>
</file>

<file path=ppt/slides/slide1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EDCF7A-E0DE-45E4-81AE-56D0B17E4CFB}"/>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Tiến: tuition balances have a visible formula</a:t>
            </a:r>
          </a:p>
        </p:txBody>
      </p:sp>
      <p:sp>
        <p:nvSpPr>
          <p:cNvPr id="2" name="">
            <a:extLst xmlns:a="http://schemas.openxmlformats.org/drawingml/2006/main">
              <a:ext uri="{FF2B5EF4-FFF2-40B4-BE49-F238E27FC236}">
                <a16:creationId xmlns:a16="http://schemas.microsoft.com/office/drawing/2014/main" id="{C11E0237-4985-4F52-973A-3868061A8E4A}"/>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F8FAF8-AE0A-45B7-958D-8F4BC7B67F14}"/>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4007774-E879-4E21-B3B1-8DC0990C657F}"/>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Student 2201002, 2024-1: due 8,400,000 VND</a:t>
            </a:r>
          </a:p>
        </p:txBody>
      </p:sp>
      <p:sp>
        <p:nvSpPr>
          <p:cNvPr id="5" name="">
            <a:extLst xmlns:a="http://schemas.openxmlformats.org/drawingml/2006/main">
              <a:ext uri="{FF2B5EF4-FFF2-40B4-BE49-F238E27FC236}">
                <a16:creationId xmlns:a16="http://schemas.microsoft.com/office/drawing/2014/main" id="{5BF10FC9-E11D-409D-A580-6A25CE6F33A0}"/>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B5C95F7B-E477-4C88-8019-1FC8F49ADF7B}"/>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Paid 0 VND</a:t>
            </a:r>
          </a:p>
        </p:txBody>
      </p:sp>
      <p:sp>
        <p:nvSpPr>
          <p:cNvPr id="7" name="">
            <a:extLst xmlns:a="http://schemas.openxmlformats.org/drawingml/2006/main">
              <a:ext uri="{FF2B5EF4-FFF2-40B4-BE49-F238E27FC236}">
                <a16:creationId xmlns:a16="http://schemas.microsoft.com/office/drawing/2014/main" id="{EEA2498E-CBD4-4F04-B0EF-949994824561}"/>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32E41082-13A3-4332-84EA-04AB605606A9}"/>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Balance 8,400,000 VND</a:t>
            </a:r>
          </a:p>
        </p:txBody>
      </p:sp>
      <p:sp>
        <p:nvSpPr>
          <p:cNvPr id="9" name="">
            <a:extLst xmlns:a="http://schemas.openxmlformats.org/drawingml/2006/main">
              <a:ext uri="{FF2B5EF4-FFF2-40B4-BE49-F238E27FC236}">
                <a16:creationId xmlns:a16="http://schemas.microsoft.com/office/drawing/2014/main" id="{7061A641-FE6D-42C7-8DE5-56E809E4AC52}"/>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F4C5F5A0-5EB8-4E4C-9FD0-2AF6BA45403B}"/>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Balance equals amount due minus amount paid</a:t>
            </a:r>
          </a:p>
        </p:txBody>
      </p:sp>
      <p:sp>
        <p:nvSpPr>
          <p:cNvPr id="11" name="">
            <a:extLst xmlns:a="http://schemas.openxmlformats.org/drawingml/2006/main">
              <a:ext uri="{FF2B5EF4-FFF2-40B4-BE49-F238E27FC236}">
                <a16:creationId xmlns:a16="http://schemas.microsoft.com/office/drawing/2014/main" id="{8EC2AD10-6C63-4936-8857-E683AAACAE9B}"/>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15</a:t>
            </a:r>
          </a:p>
        </p:txBody>
      </p:sp>
    </p:spTree>
    <p:extLst>
      <p:ext uri="{BB962C8B-B14F-4D97-AF65-F5344CB8AC3E}">
        <p14:creationId xmlns:p14="http://schemas.microsoft.com/office/powerpoint/2010/main" val="146326710"/>
      </p:ext>
    </p:extLst>
  </p:cSld>
</p:sld>
</file>

<file path=ppt/slides/slide1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035590-6974-4CE2-BDD5-A1501F2B2B4C}"/>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Tiến: teacher pay uses its matching sections</a:t>
            </a:r>
          </a:p>
        </p:txBody>
      </p:sp>
      <p:sp>
        <p:nvSpPr>
          <p:cNvPr id="2" name="">
            <a:extLst xmlns:a="http://schemas.openxmlformats.org/drawingml/2006/main">
              <a:ext uri="{FF2B5EF4-FFF2-40B4-BE49-F238E27FC236}">
                <a16:creationId xmlns:a16="http://schemas.microsoft.com/office/drawing/2014/main" id="{26CB26DB-8F20-418B-80A1-0C55E56B905F}"/>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684A97-978B-4485-8838-99E2DC7B7480}"/>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1F69180-0091-4081-BDE1-C2AD1AE2F45A}"/>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Monthly periods = weekly assigned periods × weeks per month</a:t>
            </a:r>
          </a:p>
        </p:txBody>
      </p:sp>
      <p:sp>
        <p:nvSpPr>
          <p:cNvPr id="5" name="">
            <a:extLst xmlns:a="http://schemas.openxmlformats.org/drawingml/2006/main">
              <a:ext uri="{FF2B5EF4-FFF2-40B4-BE49-F238E27FC236}">
                <a16:creationId xmlns:a16="http://schemas.microsoft.com/office/drawing/2014/main" id="{14701DE4-563F-49CA-A3DE-CB6643BBAB49}"/>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3463C071-5728-4BAE-899A-49F5366034EB}"/>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Teaching pay = monthly periods × title rate</a:t>
            </a:r>
          </a:p>
        </p:txBody>
      </p:sp>
      <p:sp>
        <p:nvSpPr>
          <p:cNvPr id="7" name="">
            <a:extLst xmlns:a="http://schemas.openxmlformats.org/drawingml/2006/main">
              <a:ext uri="{FF2B5EF4-FFF2-40B4-BE49-F238E27FC236}">
                <a16:creationId xmlns:a16="http://schemas.microsoft.com/office/drawing/2014/main" id="{2912095E-5AD5-4F76-8A6B-CD2772FF1743}"/>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BD4EFF8-E57C-44AB-8D07-737AF1D22572}"/>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Overtime adds the configured bonus above the standard</a:t>
            </a:r>
          </a:p>
        </p:txBody>
      </p:sp>
      <p:sp>
        <p:nvSpPr>
          <p:cNvPr id="9" name="">
            <a:extLst xmlns:a="http://schemas.openxmlformats.org/drawingml/2006/main">
              <a:ext uri="{FF2B5EF4-FFF2-40B4-BE49-F238E27FC236}">
                <a16:creationId xmlns:a16="http://schemas.microsoft.com/office/drawing/2014/main" id="{3A8BDD9A-172A-4659-9C89-0665BB154A70}"/>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99290F0D-A268-4DA3-B73E-171435524AC9}"/>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Net pay = base + teaching + overtime + bonus − deductions</a:t>
            </a:r>
          </a:p>
        </p:txBody>
      </p:sp>
      <p:sp>
        <p:nvSpPr>
          <p:cNvPr id="11" name="">
            <a:extLst xmlns:a="http://schemas.openxmlformats.org/drawingml/2006/main">
              <a:ext uri="{FF2B5EF4-FFF2-40B4-BE49-F238E27FC236}">
                <a16:creationId xmlns:a16="http://schemas.microsoft.com/office/drawing/2014/main" id="{BC04AAB9-FEFD-4958-9957-8DADEAF88836}"/>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16</a:t>
            </a:r>
          </a:p>
        </p:txBody>
      </p:sp>
    </p:spTree>
    <p:extLst>
      <p:ext uri="{BB962C8B-B14F-4D97-AF65-F5344CB8AC3E}">
        <p14:creationId xmlns:p14="http://schemas.microsoft.com/office/powerpoint/2010/main" val="185840395"/>
      </p:ext>
    </p:extLst>
  </p:cSld>
</p:sld>
</file>

<file path=ppt/slides/slide1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78E02DD-FF70-4838-BEEA-84B1137650C4}"/>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An advising briefing needs several tools</a:t>
            </a:r>
          </a:p>
        </p:txBody>
      </p:sp>
      <p:sp>
        <p:nvSpPr>
          <p:cNvPr id="2" name="">
            <a:extLst xmlns:a="http://schemas.openxmlformats.org/drawingml/2006/main">
              <a:ext uri="{FF2B5EF4-FFF2-40B4-BE49-F238E27FC236}">
                <a16:creationId xmlns:a16="http://schemas.microsoft.com/office/drawing/2014/main" id="{DCD75F62-7696-4B0B-B42D-9ED63D31D860}"/>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387247-61F1-43F6-AA56-916611CD72A4}"/>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59EE5FF-4955-4875-A3EA-792487823D99}"/>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P2-31 asks about student 2201005 in 2024-1</a:t>
            </a:r>
          </a:p>
        </p:txBody>
      </p:sp>
      <p:sp>
        <p:nvSpPr>
          <p:cNvPr id="5" name="">
            <a:extLst xmlns:a="http://schemas.openxmlformats.org/drawingml/2006/main">
              <a:ext uri="{FF2B5EF4-FFF2-40B4-BE49-F238E27FC236}">
                <a16:creationId xmlns:a16="http://schemas.microsoft.com/office/drawing/2014/main" id="{918A4DE2-AA56-4036-BA0A-952D07CAF023}"/>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9E7100E-E74F-4423-8E6F-B064FFC38E98}"/>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get_transcript supplies academic results</a:t>
            </a:r>
          </a:p>
        </p:txBody>
      </p:sp>
      <p:sp>
        <p:nvSpPr>
          <p:cNvPr id="7" name="">
            <a:extLst xmlns:a="http://schemas.openxmlformats.org/drawingml/2006/main">
              <a:ext uri="{FF2B5EF4-FFF2-40B4-BE49-F238E27FC236}">
                <a16:creationId xmlns:a16="http://schemas.microsoft.com/office/drawing/2014/main" id="{DBA0AC0A-6A03-4997-8D01-BEA92E39E879}"/>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ACDE7778-BB31-4E33-AFDA-245FDA31FA85}"/>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attendance_summary supplies meetings and exam restrictions</a:t>
            </a:r>
          </a:p>
        </p:txBody>
      </p:sp>
      <p:sp>
        <p:nvSpPr>
          <p:cNvPr id="9" name="">
            <a:extLst xmlns:a="http://schemas.openxmlformats.org/drawingml/2006/main">
              <a:ext uri="{FF2B5EF4-FFF2-40B4-BE49-F238E27FC236}">
                <a16:creationId xmlns:a16="http://schemas.microsoft.com/office/drawing/2014/main" id="{25E10F2A-EA87-4A8A-899B-51370DA7FD38}"/>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55419128-30D5-4E6F-97DF-149AE78F57A3}"/>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conduct_score supplies conduct and classification</a:t>
            </a:r>
          </a:p>
        </p:txBody>
      </p:sp>
      <p:sp>
        <p:nvSpPr>
          <p:cNvPr id="11" name="">
            <a:extLst xmlns:a="http://schemas.openxmlformats.org/drawingml/2006/main">
              <a:ext uri="{FF2B5EF4-FFF2-40B4-BE49-F238E27FC236}">
                <a16:creationId xmlns:a16="http://schemas.microsoft.com/office/drawing/2014/main" id="{9E074BE0-401B-4A3B-A4C0-51F0DB493CBA}"/>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17</a:t>
            </a:r>
          </a:p>
        </p:txBody>
      </p:sp>
    </p:spTree>
    <p:extLst>
      <p:ext uri="{BB962C8B-B14F-4D97-AF65-F5344CB8AC3E}">
        <p14:creationId xmlns:p14="http://schemas.microsoft.com/office/powerpoint/2010/main" val="652393472"/>
      </p:ext>
    </p:extLst>
  </p:cSld>
</p:sld>
</file>

<file path=ppt/slides/slide1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677B1F-D853-41ED-BAAA-81D127B933A4}"/>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The transport comparison holds settings fixed</a:t>
            </a:r>
          </a:p>
        </p:txBody>
      </p:sp>
      <p:sp>
        <p:nvSpPr>
          <p:cNvPr id="2" name="">
            <a:extLst xmlns:a="http://schemas.openxmlformats.org/drawingml/2006/main">
              <a:ext uri="{FF2B5EF4-FFF2-40B4-BE49-F238E27FC236}">
                <a16:creationId xmlns:a16="http://schemas.microsoft.com/office/drawing/2014/main" id="{A711BFDE-156B-440A-9117-4F8749D811A2}"/>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E016A1B3-FDB0-461C-9E72-89FEA58CA693}"/>
              </a:ext>
            </a:extLst>
          </p:cNvPr>
          <p:cNvGraphicFramePr/>
          <p:nvPr/>
        </p:nvGraphicFramePr>
        <p:xfrm>
          <a:off xmlns:a="http://schemas.openxmlformats.org/drawingml/2006/main" x="762000" y="2000250"/>
          <a:ext xmlns:a="http://schemas.openxmlformats.org/drawingml/2006/main" cx="10668000" cy="3657600"/>
        </p:xfrm>
        <a:graphic xmlns:a="http://schemas.openxmlformats.org/drawingml/2006/main">
          <a:graphicData uri="http://schemas.openxmlformats.org/drawingml/2006/table">
            <a:tbl>
              <a:tblPr/>
              <a:tblGrid>
                <a:gridCol w="5334000"/>
                <a:gridCol w="5334000"/>
              </a:tblGrid>
              <a:tr h="609600">
                <a:tc>
                  <a:txBody>
                    <a:bodyPr/>
                    <a:lstStyle/>
                    <a:p>
                      <a:r>
                        <a:rPr sz="1800" b="1">
                          <a:solidFill>
                            <a:srgbClr val="FFFFFF"/>
                          </a:solidFill>
                          <a:latin typeface="Arial"/>
                          <a:ea typeface="Arial"/>
                          <a:cs typeface="Arial"/>
                        </a:rPr>
                        <a:t>Setting</a:t>
                      </a:r>
                    </a:p>
                  </a:txBody>
                  <a:tcPr marL="91440" marR="91440" marT="45720" marB="45720">
                    <a:solidFill>
                      <a:srgbClr val="12324A"/>
                    </a:solidFill>
                  </a:tcPr>
                </a:tc>
                <a:tc>
                  <a:txBody>
                    <a:bodyPr/>
                    <a:lstStyle/>
                    <a:p>
                      <a:r>
                        <a:rPr sz="1800" b="1">
                          <a:solidFill>
                            <a:srgbClr val="FFFFFF"/>
                          </a:solidFill>
                          <a:latin typeface="Arial"/>
                          <a:ea typeface="Arial"/>
                          <a:cs typeface="Arial"/>
                        </a:rPr>
                        <a:t>Both configurations</a:t>
                      </a:r>
                    </a:p>
                  </a:txBody>
                  <a:tcPr marL="91440" marR="91440" marT="45720" marB="45720">
                    <a:solidFill>
                      <a:srgbClr val="12324A"/>
                    </a:solidFill>
                  </a:tcPr>
                </a:tc>
              </a:tr>
              <a:tr h="609600">
                <a:tc>
                  <a:txBody>
                    <a:bodyPr/>
                    <a:lstStyle/>
                    <a:p>
                      <a:r>
                        <a:rPr sz="1800" b="0">
                          <a:solidFill>
                            <a:srgbClr val="203747"/>
                          </a:solidFill>
                          <a:latin typeface="Arial"/>
                          <a:ea typeface="Arial"/>
                          <a:cs typeface="Arial"/>
                        </a:rPr>
                        <a:t>Model</a:t>
                      </a:r>
                    </a:p>
                  </a:txBody>
                  <a:tcPr marL="91440" marR="91440" marT="45720" marB="45720">
                    <a:solidFill>
                      <a:srgbClr val="FFFFFF"/>
                    </a:solidFill>
                  </a:tcPr>
                </a:tc>
                <a:tc>
                  <a:txBody>
                    <a:bodyPr/>
                    <a:lstStyle/>
                    <a:p>
                      <a:r>
                        <a:rPr sz="1800" b="0">
                          <a:solidFill>
                            <a:srgbClr val="203747"/>
                          </a:solidFill>
                          <a:latin typeface="Arial"/>
                          <a:ea typeface="Arial"/>
                          <a:cs typeface="Arial"/>
                        </a:rPr>
                        <a:t>gemini-3.5-flash-lite</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Temperature / rounds</a:t>
                      </a:r>
                    </a:p>
                  </a:txBody>
                  <a:tcPr marL="91440" marR="91440" marT="45720" marB="45720">
                    <a:solidFill>
                      <a:srgbClr val="EDF2F0"/>
                    </a:solidFill>
                  </a:tcPr>
                </a:tc>
                <a:tc>
                  <a:txBody>
                    <a:bodyPr/>
                    <a:lstStyle/>
                    <a:p>
                      <a:r>
                        <a:rPr sz="1800" b="0">
                          <a:solidFill>
                            <a:srgbClr val="203747"/>
                          </a:solidFill>
                          <a:latin typeface="Arial"/>
                          <a:ea typeface="Arial"/>
                          <a:cs typeface="Arial"/>
                        </a:rPr>
                        <a:t>0.2 / 8</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Conversation</a:t>
                      </a:r>
                    </a:p>
                  </a:txBody>
                  <a:tcPr marL="91440" marR="91440" marT="45720" marB="45720">
                    <a:solidFill>
                      <a:srgbClr val="FFFFFF"/>
                    </a:solidFill>
                  </a:tcPr>
                </a:tc>
                <a:tc>
                  <a:txBody>
                    <a:bodyPr/>
                    <a:lstStyle/>
                    <a:p>
                      <a:r>
                        <a:rPr sz="1800" b="0">
                          <a:solidFill>
                            <a:srgbClr val="203747"/>
                          </a:solidFill>
                          <a:latin typeface="Arial"/>
                          <a:ea typeface="Arial"/>
                          <a:cs typeface="Arial"/>
                        </a:rPr>
                        <a:t>Fresh for each question</a:t>
                      </a:r>
                    </a:p>
                  </a:txBody>
                  <a:tcPr marL="91440" marR="91440" marT="45720" marB="45720">
                    <a:solidFill>
                      <a:srgbClr val="FFFFFF"/>
                    </a:solidFill>
                  </a:tcPr>
                </a:tc>
              </a:tr>
              <a:tr h="609600">
                <a:tc>
                  <a:txBody>
                    <a:bodyPr/>
                    <a:lstStyle/>
                    <a:p>
                      <a:r>
                        <a:rPr sz="1800" b="0">
                          <a:solidFill>
                            <a:srgbClr val="203747"/>
                          </a:solidFill>
                          <a:latin typeface="Arial"/>
                          <a:ea typeface="Arial"/>
                          <a:cs typeface="Arial"/>
                        </a:rPr>
                        <a:t>Model fallback</a:t>
                      </a:r>
                    </a:p>
                  </a:txBody>
                  <a:tcPr marL="91440" marR="91440" marT="45720" marB="45720">
                    <a:solidFill>
                      <a:srgbClr val="EDF2F0"/>
                    </a:solidFill>
                  </a:tcPr>
                </a:tc>
                <a:tc>
                  <a:txBody>
                    <a:bodyPr/>
                    <a:lstStyle/>
                    <a:p>
                      <a:r>
                        <a:rPr sz="1800" b="0">
                          <a:solidFill>
                            <a:srgbClr val="203747"/>
                          </a:solidFill>
                          <a:latin typeface="Arial"/>
                          <a:ea typeface="Arial"/>
                          <a:cs typeface="Arial"/>
                        </a:rPr>
                        <a:t>Disabled</a:t>
                      </a:r>
                    </a:p>
                  </a:txBody>
                  <a:tcPr marL="91440" marR="91440" marT="45720" marB="45720">
                    <a:solidFill>
                      <a:srgbClr val="EDF2F0"/>
                    </a:solidFill>
                  </a:tcPr>
                </a:tc>
              </a:tr>
              <a:tr h="609600">
                <a:tc>
                  <a:txBody>
                    <a:bodyPr/>
                    <a:lstStyle/>
                    <a:p>
                      <a:r>
                        <a:rPr sz="1800" b="0">
                          <a:solidFill>
                            <a:srgbClr val="203747"/>
                          </a:solidFill>
                          <a:latin typeface="Arial"/>
                          <a:ea typeface="Arial"/>
                          <a:cs typeface="Arial"/>
                        </a:rPr>
                        <a:t>Enabled servers</a:t>
                      </a:r>
                    </a:p>
                  </a:txBody>
                  <a:tcPr marL="91440" marR="91440" marT="45720" marB="45720">
                    <a:solidFill>
                      <a:srgbClr val="FFFFFF"/>
                    </a:solidFill>
                  </a:tcPr>
                </a:tc>
                <a:tc>
                  <a:txBody>
                    <a:bodyPr/>
                    <a:lstStyle/>
                    <a:p>
                      <a:r>
                        <a:rPr sz="1800" b="0">
                          <a:solidFill>
                            <a:srgbClr val="203747"/>
                          </a:solidFill>
                          <a:latin typeface="Arial"/>
                          <a:ea typeface="Arial"/>
                          <a:cs typeface="Arial"/>
                        </a:rPr>
                        <a:t>academic and utility</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B5F2B1E-0630-46FB-9AE9-41E3BA2BA17B}"/>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18</a:t>
            </a:r>
          </a:p>
        </p:txBody>
      </p:sp>
    </p:spTree>
    <p:extLst>
      <p:ext uri="{BB962C8B-B14F-4D97-AF65-F5344CB8AC3E}">
        <p14:creationId xmlns:p14="http://schemas.microsoft.com/office/powerpoint/2010/main" val="590072861"/>
      </p:ext>
    </p:extLst>
  </p:cSld>
</p:sld>
</file>

<file path=ppt/slides/slide1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E96BF8-8757-41AC-A486-636664A8E30B}"/>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Direct MCP checks passed on both transports</a:t>
            </a:r>
          </a:p>
        </p:txBody>
      </p:sp>
      <p:sp>
        <p:nvSpPr>
          <p:cNvPr id="2" name="">
            <a:extLst xmlns:a="http://schemas.openxmlformats.org/drawingml/2006/main">
              <a:ext uri="{FF2B5EF4-FFF2-40B4-BE49-F238E27FC236}">
                <a16:creationId xmlns:a16="http://schemas.microsoft.com/office/drawing/2014/main" id="{A985B74C-8950-44D1-ABE2-517E75E949AB}"/>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1A28E62F-B80D-4FD2-A338-3E5FF44339BE}"/>
              </a:ext>
            </a:extLst>
          </p:cNvPr>
          <p:cNvGraphicFramePr/>
          <p:nvPr/>
        </p:nvGraphicFramePr>
        <p:xfrm>
          <a:off xmlns:a="http://schemas.openxmlformats.org/drawingml/2006/main" x="762000" y="2000250"/>
          <a:ext xmlns:a="http://schemas.openxmlformats.org/drawingml/2006/main" cx="10668000" cy="1828800"/>
        </p:xfrm>
        <a:graphic xmlns:a="http://schemas.openxmlformats.org/drawingml/2006/main">
          <a:graphicData uri="http://schemas.openxmlformats.org/drawingml/2006/table">
            <a:tbl>
              <a:tblPr/>
              <a:tblGrid>
                <a:gridCol w="2667000"/>
                <a:gridCol w="2667000"/>
                <a:gridCol w="2667000"/>
                <a:gridCol w="2667000"/>
              </a:tblGrid>
              <a:tr h="609600">
                <a:tc>
                  <a:txBody>
                    <a:bodyPr/>
                    <a:lstStyle/>
                    <a:p>
                      <a:r>
                        <a:rPr sz="1575" b="1">
                          <a:solidFill>
                            <a:srgbClr val="FFFFFF"/>
                          </a:solidFill>
                          <a:latin typeface="Arial"/>
                          <a:ea typeface="Arial"/>
                          <a:cs typeface="Arial"/>
                        </a:rPr>
                        <a:t>Configuration</a:t>
                      </a:r>
                    </a:p>
                  </a:txBody>
                  <a:tcPr marL="91440" marR="91440" marT="45720" marB="45720">
                    <a:solidFill>
                      <a:srgbClr val="12324A"/>
                    </a:solidFill>
                  </a:tcPr>
                </a:tc>
                <a:tc>
                  <a:txBody>
                    <a:bodyPr/>
                    <a:lstStyle/>
                    <a:p>
                      <a:r>
                        <a:rPr sz="1575" b="1">
                          <a:solidFill>
                            <a:srgbClr val="FFFFFF"/>
                          </a:solidFill>
                          <a:latin typeface="Arial"/>
                          <a:ea typeface="Arial"/>
                          <a:cs typeface="Arial"/>
                        </a:rPr>
                        <a:t>Executed</a:t>
                      </a:r>
                    </a:p>
                  </a:txBody>
                  <a:tcPr marL="91440" marR="91440" marT="45720" marB="45720">
                    <a:solidFill>
                      <a:srgbClr val="12324A"/>
                    </a:solidFill>
                  </a:tcPr>
                </a:tc>
                <a:tc>
                  <a:txBody>
                    <a:bodyPr/>
                    <a:lstStyle/>
                    <a:p>
                      <a:r>
                        <a:rPr sz="1575" b="1">
                          <a:solidFill>
                            <a:srgbClr val="FFFFFF"/>
                          </a:solidFill>
                          <a:latin typeface="Arial"/>
                          <a:ea typeface="Arial"/>
                          <a:cs typeface="Arial"/>
                        </a:rPr>
                        <a:t>Passed</a:t>
                      </a:r>
                    </a:p>
                  </a:txBody>
                  <a:tcPr marL="91440" marR="91440" marT="45720" marB="45720">
                    <a:solidFill>
                      <a:srgbClr val="12324A"/>
                    </a:solidFill>
                  </a:tcPr>
                </a:tc>
                <a:tc>
                  <a:txBody>
                    <a:bodyPr/>
                    <a:lstStyle/>
                    <a:p>
                      <a:r>
                        <a:rPr sz="1575" b="1">
                          <a:solidFill>
                            <a:srgbClr val="FFFFFF"/>
                          </a:solidFill>
                          <a:latin typeface="Arial"/>
                          <a:ea typeface="Arial"/>
                          <a:cs typeface="Arial"/>
                        </a:rPr>
                        <a:t>Finance skipped</a:t>
                      </a:r>
                    </a:p>
                  </a:txBody>
                  <a:tcPr marL="91440" marR="91440" marT="45720" marB="45720">
                    <a:solidFill>
                      <a:srgbClr val="12324A"/>
                    </a:solidFill>
                  </a:tcPr>
                </a:tc>
              </a:tr>
              <a:tr h="609600">
                <a:tc>
                  <a:txBody>
                    <a:bodyPr/>
                    <a:lstStyle/>
                    <a:p>
                      <a:r>
                        <a:rPr sz="1575" b="0">
                          <a:solidFill>
                            <a:srgbClr val="203747"/>
                          </a:solidFill>
                          <a:latin typeface="Arial"/>
                          <a:ea typeface="Arial"/>
                          <a:cs typeface="Arial"/>
                        </a:rPr>
                        <a:t>stdio</a:t>
                      </a:r>
                    </a:p>
                  </a:txBody>
                  <a:tcPr marL="91440" marR="91440" marT="45720" marB="45720">
                    <a:solidFill>
                      <a:srgbClr val="FFFFFF"/>
                    </a:solidFill>
                  </a:tcPr>
                </a:tc>
                <a:tc>
                  <a:txBody>
                    <a:bodyPr/>
                    <a:lstStyle/>
                    <a:p>
                      <a:r>
                        <a:rPr sz="1575" b="0">
                          <a:solidFill>
                            <a:srgbClr val="203747"/>
                          </a:solidFill>
                          <a:latin typeface="Arial"/>
                          <a:ea typeface="Arial"/>
                          <a:cs typeface="Arial"/>
                        </a:rPr>
                        <a:t>26</a:t>
                      </a:r>
                    </a:p>
                  </a:txBody>
                  <a:tcPr marL="91440" marR="91440" marT="45720" marB="45720">
                    <a:solidFill>
                      <a:srgbClr val="FFFFFF"/>
                    </a:solidFill>
                  </a:tcPr>
                </a:tc>
                <a:tc>
                  <a:txBody>
                    <a:bodyPr/>
                    <a:lstStyle/>
                    <a:p>
                      <a:r>
                        <a:rPr sz="1575" b="0">
                          <a:solidFill>
                            <a:srgbClr val="203747"/>
                          </a:solidFill>
                          <a:latin typeface="Arial"/>
                          <a:ea typeface="Arial"/>
                          <a:cs typeface="Arial"/>
                        </a:rPr>
                        <a:t>26</a:t>
                      </a:r>
                    </a:p>
                  </a:txBody>
                  <a:tcPr marL="91440" marR="91440" marT="45720" marB="45720">
                    <a:solidFill>
                      <a:srgbClr val="FFFFFF"/>
                    </a:solidFill>
                  </a:tcPr>
                </a:tc>
                <a:tc>
                  <a:txBody>
                    <a:bodyPr/>
                    <a:lstStyle/>
                    <a:p>
                      <a:r>
                        <a:rPr sz="1575" b="0">
                          <a:solidFill>
                            <a:srgbClr val="203747"/>
                          </a:solidFill>
                          <a:latin typeface="Arial"/>
                          <a:ea typeface="Arial"/>
                          <a:cs typeface="Arial"/>
                        </a:rPr>
                        <a:t>5</a:t>
                      </a:r>
                    </a:p>
                  </a:txBody>
                  <a:tcPr marL="91440" marR="91440" marT="45720" marB="45720">
                    <a:solidFill>
                      <a:srgbClr val="FFFFFF"/>
                    </a:solidFill>
                  </a:tcPr>
                </a:tc>
              </a:tr>
              <a:tr h="609600">
                <a:tc>
                  <a:txBody>
                    <a:bodyPr/>
                    <a:lstStyle/>
                    <a:p>
                      <a:r>
                        <a:rPr sz="1575" b="0">
                          <a:solidFill>
                            <a:srgbClr val="203747"/>
                          </a:solidFill>
                          <a:latin typeface="Arial"/>
                          <a:ea typeface="Arial"/>
                          <a:cs typeface="Arial"/>
                        </a:rPr>
                        <a:t>HTTP</a:t>
                      </a:r>
                    </a:p>
                  </a:txBody>
                  <a:tcPr marL="91440" marR="91440" marT="45720" marB="45720">
                    <a:solidFill>
                      <a:srgbClr val="EDF2F0"/>
                    </a:solidFill>
                  </a:tcPr>
                </a:tc>
                <a:tc>
                  <a:txBody>
                    <a:bodyPr/>
                    <a:lstStyle/>
                    <a:p>
                      <a:r>
                        <a:rPr sz="1575" b="0">
                          <a:solidFill>
                            <a:srgbClr val="203747"/>
                          </a:solidFill>
                          <a:latin typeface="Arial"/>
                          <a:ea typeface="Arial"/>
                          <a:cs typeface="Arial"/>
                        </a:rPr>
                        <a:t>26</a:t>
                      </a:r>
                    </a:p>
                  </a:txBody>
                  <a:tcPr marL="91440" marR="91440" marT="45720" marB="45720">
                    <a:solidFill>
                      <a:srgbClr val="EDF2F0"/>
                    </a:solidFill>
                  </a:tcPr>
                </a:tc>
                <a:tc>
                  <a:txBody>
                    <a:bodyPr/>
                    <a:lstStyle/>
                    <a:p>
                      <a:r>
                        <a:rPr sz="1575" b="0">
                          <a:solidFill>
                            <a:srgbClr val="203747"/>
                          </a:solidFill>
                          <a:latin typeface="Arial"/>
                          <a:ea typeface="Arial"/>
                          <a:cs typeface="Arial"/>
                        </a:rPr>
                        <a:t>26</a:t>
                      </a:r>
                    </a:p>
                  </a:txBody>
                  <a:tcPr marL="91440" marR="91440" marT="45720" marB="45720">
                    <a:solidFill>
                      <a:srgbClr val="EDF2F0"/>
                    </a:solidFill>
                  </a:tcPr>
                </a:tc>
                <a:tc>
                  <a:txBody>
                    <a:bodyPr/>
                    <a:lstStyle/>
                    <a:p>
                      <a:r>
                        <a:rPr sz="1575" b="0">
                          <a:solidFill>
                            <a:srgbClr val="203747"/>
                          </a:solidFill>
                          <a:latin typeface="Arial"/>
                          <a:ea typeface="Arial"/>
                          <a:cs typeface="Arial"/>
                        </a:rPr>
                        <a:t>5</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20B99483-3637-4898-928D-2A7F61C58B3C}"/>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19</a:t>
            </a:r>
          </a:p>
        </p:txBody>
      </p:sp>
    </p:spTree>
    <p:extLst>
      <p:ext uri="{BB962C8B-B14F-4D97-AF65-F5344CB8AC3E}">
        <p14:creationId xmlns:p14="http://schemas.microsoft.com/office/powerpoint/2010/main" val="1810982363"/>
      </p:ext>
    </p:extLst>
  </p:cSld>
</p:sld>
</file>

<file path=ppt/slides/slide2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37C0C5-7A1E-4899-B333-0E6A4DD1FF34}"/>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Gemini results retain strict failures</a:t>
            </a:r>
          </a:p>
        </p:txBody>
      </p:sp>
      <p:sp>
        <p:nvSpPr>
          <p:cNvPr id="2" name="">
            <a:extLst xmlns:a="http://schemas.openxmlformats.org/drawingml/2006/main">
              <a:ext uri="{FF2B5EF4-FFF2-40B4-BE49-F238E27FC236}">
                <a16:creationId xmlns:a16="http://schemas.microsoft.com/office/drawing/2014/main" id="{81A7CABD-60C6-4580-A55F-025DB083FC03}"/>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F98D2710-5C71-4F9B-9513-FABFACCEE889}"/>
              </a:ext>
            </a:extLst>
          </p:cNvPr>
          <p:cNvGraphicFramePr/>
          <p:nvPr/>
        </p:nvGraphicFramePr>
        <p:xfrm>
          <a:off xmlns:a="http://schemas.openxmlformats.org/drawingml/2006/main" x="762000" y="2000250"/>
          <a:ext xmlns:a="http://schemas.openxmlformats.org/drawingml/2006/main" cx="10668000" cy="1828800"/>
        </p:xfrm>
        <a:graphic xmlns:a="http://schemas.openxmlformats.org/drawingml/2006/main">
          <a:graphicData uri="http://schemas.openxmlformats.org/drawingml/2006/table">
            <a:tbl>
              <a:tblPr/>
              <a:tblGrid>
                <a:gridCol w="2667000"/>
                <a:gridCol w="2667000"/>
                <a:gridCol w="2667000"/>
                <a:gridCol w="2667000"/>
              </a:tblGrid>
              <a:tr h="609600">
                <a:tc>
                  <a:txBody>
                    <a:bodyPr/>
                    <a:lstStyle/>
                    <a:p>
                      <a:r>
                        <a:rPr sz="1575" b="1">
                          <a:solidFill>
                            <a:srgbClr val="FFFFFF"/>
                          </a:solidFill>
                          <a:latin typeface="Arial"/>
                          <a:ea typeface="Arial"/>
                          <a:cs typeface="Arial"/>
                        </a:rPr>
                        <a:t>Transport</a:t>
                      </a:r>
                    </a:p>
                  </a:txBody>
                  <a:tcPr marL="91440" marR="91440" marT="45720" marB="45720">
                    <a:solidFill>
                      <a:srgbClr val="12324A"/>
                    </a:solidFill>
                  </a:tcPr>
                </a:tc>
                <a:tc>
                  <a:txBody>
                    <a:bodyPr/>
                    <a:lstStyle/>
                    <a:p>
                      <a:r>
                        <a:rPr sz="1575" b="1">
                          <a:solidFill>
                            <a:srgbClr val="FFFFFF"/>
                          </a:solidFill>
                          <a:latin typeface="Arial"/>
                          <a:ea typeface="Arial"/>
                          <a:cs typeface="Arial"/>
                        </a:rPr>
                        <a:t>Strict subset</a:t>
                      </a:r>
                    </a:p>
                  </a:txBody>
                  <a:tcPr marL="91440" marR="91440" marT="45720" marB="45720">
                    <a:solidFill>
                      <a:srgbClr val="12324A"/>
                    </a:solidFill>
                  </a:tcPr>
                </a:tc>
                <a:tc>
                  <a:txBody>
                    <a:bodyPr/>
                    <a:lstStyle/>
                    <a:p>
                      <a:r>
                        <a:rPr sz="1575" b="1">
                          <a:solidFill>
                            <a:srgbClr val="FFFFFF"/>
                          </a:solidFill>
                          <a:latin typeface="Arial"/>
                          <a:ea typeface="Arial"/>
                          <a:cs typeface="Arial"/>
                        </a:rPr>
                        <a:t>Median E2E</a:t>
                      </a:r>
                    </a:p>
                  </a:txBody>
                  <a:tcPr marL="91440" marR="91440" marT="45720" marB="45720">
                    <a:solidFill>
                      <a:srgbClr val="12324A"/>
                    </a:solidFill>
                  </a:tcPr>
                </a:tc>
                <a:tc>
                  <a:txBody>
                    <a:bodyPr/>
                    <a:lstStyle/>
                    <a:p>
                      <a:r>
                        <a:rPr sz="1575" b="1">
                          <a:solidFill>
                            <a:srgbClr val="FFFFFF"/>
                          </a:solidFill>
                          <a:latin typeface="Arial"/>
                          <a:ea typeface="Arial"/>
                          <a:cs typeface="Arial"/>
                        </a:rPr>
                        <a:t>Extra attempts</a:t>
                      </a:r>
                    </a:p>
                  </a:txBody>
                  <a:tcPr marL="91440" marR="91440" marT="45720" marB="45720">
                    <a:solidFill>
                      <a:srgbClr val="12324A"/>
                    </a:solidFill>
                  </a:tcPr>
                </a:tc>
              </a:tr>
              <a:tr h="609600">
                <a:tc>
                  <a:txBody>
                    <a:bodyPr/>
                    <a:lstStyle/>
                    <a:p>
                      <a:r>
                        <a:rPr sz="1575" b="0">
                          <a:solidFill>
                            <a:srgbClr val="203747"/>
                          </a:solidFill>
                          <a:latin typeface="Arial"/>
                          <a:ea typeface="Arial"/>
                          <a:cs typeface="Arial"/>
                        </a:rPr>
                        <a:t>stdio</a:t>
                      </a:r>
                    </a:p>
                  </a:txBody>
                  <a:tcPr marL="91440" marR="91440" marT="45720" marB="45720">
                    <a:solidFill>
                      <a:srgbClr val="FFFFFF"/>
                    </a:solidFill>
                  </a:tcPr>
                </a:tc>
                <a:tc>
                  <a:txBody>
                    <a:bodyPr/>
                    <a:lstStyle/>
                    <a:p>
                      <a:r>
                        <a:rPr sz="1575" b="0">
                          <a:solidFill>
                            <a:srgbClr val="203747"/>
                          </a:solidFill>
                          <a:latin typeface="Arial"/>
                          <a:ea typeface="Arial"/>
                          <a:cs typeface="Arial"/>
                        </a:rPr>
                        <a:t>25/26</a:t>
                      </a:r>
                    </a:p>
                  </a:txBody>
                  <a:tcPr marL="91440" marR="91440" marT="45720" marB="45720">
                    <a:solidFill>
                      <a:srgbClr val="FFFFFF"/>
                    </a:solidFill>
                  </a:tcPr>
                </a:tc>
                <a:tc>
                  <a:txBody>
                    <a:bodyPr/>
                    <a:lstStyle/>
                    <a:p>
                      <a:r>
                        <a:rPr sz="1575" b="0">
                          <a:solidFill>
                            <a:srgbClr val="203747"/>
                          </a:solidFill>
                          <a:latin typeface="Arial"/>
                          <a:ea typeface="Arial"/>
                          <a:cs typeface="Arial"/>
                        </a:rPr>
                        <a:t>2.07 s</a:t>
                      </a:r>
                    </a:p>
                  </a:txBody>
                  <a:tcPr marL="91440" marR="91440" marT="45720" marB="45720">
                    <a:solidFill>
                      <a:srgbClr val="FFFFFF"/>
                    </a:solidFill>
                  </a:tcPr>
                </a:tc>
                <a:tc>
                  <a:txBody>
                    <a:bodyPr/>
                    <a:lstStyle/>
                    <a:p>
                      <a:r>
                        <a:rPr sz="1575" b="0">
                          <a:solidFill>
                            <a:srgbClr val="203747"/>
                          </a:solidFill>
                          <a:latin typeface="Arial"/>
                          <a:ea typeface="Arial"/>
                          <a:cs typeface="Arial"/>
                        </a:rPr>
                        <a:t>4</a:t>
                      </a:r>
                    </a:p>
                  </a:txBody>
                  <a:tcPr marL="91440" marR="91440" marT="45720" marB="45720">
                    <a:solidFill>
                      <a:srgbClr val="FFFFFF"/>
                    </a:solidFill>
                  </a:tcPr>
                </a:tc>
              </a:tr>
              <a:tr h="609600">
                <a:tc>
                  <a:txBody>
                    <a:bodyPr/>
                    <a:lstStyle/>
                    <a:p>
                      <a:r>
                        <a:rPr sz="1575" b="0">
                          <a:solidFill>
                            <a:srgbClr val="203747"/>
                          </a:solidFill>
                          <a:latin typeface="Arial"/>
                          <a:ea typeface="Arial"/>
                          <a:cs typeface="Arial"/>
                        </a:rPr>
                        <a:t>http</a:t>
                      </a:r>
                    </a:p>
                  </a:txBody>
                  <a:tcPr marL="91440" marR="91440" marT="45720" marB="45720">
                    <a:solidFill>
                      <a:srgbClr val="EDF2F0"/>
                    </a:solidFill>
                  </a:tcPr>
                </a:tc>
                <a:tc>
                  <a:txBody>
                    <a:bodyPr/>
                    <a:lstStyle/>
                    <a:p>
                      <a:r>
                        <a:rPr sz="1575" b="0">
                          <a:solidFill>
                            <a:srgbClr val="203747"/>
                          </a:solidFill>
                          <a:latin typeface="Arial"/>
                          <a:ea typeface="Arial"/>
                          <a:cs typeface="Arial"/>
                        </a:rPr>
                        <a:t>26/26</a:t>
                      </a:r>
                    </a:p>
                  </a:txBody>
                  <a:tcPr marL="91440" marR="91440" marT="45720" marB="45720">
                    <a:solidFill>
                      <a:srgbClr val="EDF2F0"/>
                    </a:solidFill>
                  </a:tcPr>
                </a:tc>
                <a:tc>
                  <a:txBody>
                    <a:bodyPr/>
                    <a:lstStyle/>
                    <a:p>
                      <a:r>
                        <a:rPr sz="1575" b="0">
                          <a:solidFill>
                            <a:srgbClr val="203747"/>
                          </a:solidFill>
                          <a:latin typeface="Arial"/>
                          <a:ea typeface="Arial"/>
                          <a:cs typeface="Arial"/>
                        </a:rPr>
                        <a:t>2.01 s</a:t>
                      </a:r>
                    </a:p>
                  </a:txBody>
                  <a:tcPr marL="91440" marR="91440" marT="45720" marB="45720">
                    <a:solidFill>
                      <a:srgbClr val="EDF2F0"/>
                    </a:solidFill>
                  </a:tcPr>
                </a:tc>
                <a:tc>
                  <a:txBody>
                    <a:bodyPr/>
                    <a:lstStyle/>
                    <a:p>
                      <a:r>
                        <a:rPr sz="1575" b="0">
                          <a:solidFill>
                            <a:srgbClr val="203747"/>
                          </a:solidFill>
                          <a:latin typeface="Arial"/>
                          <a:ea typeface="Arial"/>
                          <a:cs typeface="Arial"/>
                        </a:rPr>
                        <a:t>6</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68059E46-0504-4DA8-B497-2952485E5372}"/>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20</a:t>
            </a:r>
          </a:p>
        </p:txBody>
      </p:sp>
    </p:spTree>
    <p:extLst>
      <p:ext uri="{BB962C8B-B14F-4D97-AF65-F5344CB8AC3E}">
        <p14:creationId xmlns:p14="http://schemas.microsoft.com/office/powerpoint/2010/main" val="1687629399"/>
      </p:ext>
    </p:extLst>
  </p:cSld>
</p:sld>
</file>

<file path=ppt/slides/slide2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959C7E-87EA-4870-B0CD-B9F126D89B66}"/>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Token totals describe this measured workload</a:t>
            </a:r>
          </a:p>
        </p:txBody>
      </p:sp>
      <p:sp>
        <p:nvSpPr>
          <p:cNvPr id="2" name="">
            <a:extLst xmlns:a="http://schemas.openxmlformats.org/drawingml/2006/main">
              <a:ext uri="{FF2B5EF4-FFF2-40B4-BE49-F238E27FC236}">
                <a16:creationId xmlns:a16="http://schemas.microsoft.com/office/drawing/2014/main" id="{865CCA44-B5E9-4C78-8F4B-A712AFB1574B}"/>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graphicFrame>
        <p:nvGraphicFramePr>
          <p:cNvPr id="3" name="">
            <a:extLst xmlns:a="http://schemas.openxmlformats.org/drawingml/2006/main">
              <a:ext uri="{FF2B5EF4-FFF2-40B4-BE49-F238E27FC236}">
                <a16:creationId xmlns:a16="http://schemas.microsoft.com/office/drawing/2014/main" id="{488FDC06-8BFD-4FCE-9551-49A995AEB9ED}"/>
              </a:ext>
            </a:extLst>
          </p:cNvPr>
          <p:cNvGraphicFramePr/>
          <p:nvPr/>
        </p:nvGraphicFramePr>
        <p:xfrm>
          <a:off xmlns:a="http://schemas.openxmlformats.org/drawingml/2006/main" x="762000" y="2000250"/>
          <a:ext xmlns:a="http://schemas.openxmlformats.org/drawingml/2006/main" cx="10668000" cy="1828800"/>
        </p:xfrm>
        <a:graphic xmlns:a="http://schemas.openxmlformats.org/drawingml/2006/main">
          <a:graphicData uri="http://schemas.openxmlformats.org/drawingml/2006/table">
            <a:tbl>
              <a:tblPr/>
              <a:tblGrid>
                <a:gridCol w="2667000"/>
                <a:gridCol w="2667000"/>
                <a:gridCol w="2667000"/>
                <a:gridCol w="2667000"/>
              </a:tblGrid>
              <a:tr h="609600">
                <a:tc>
                  <a:txBody>
                    <a:bodyPr/>
                    <a:lstStyle/>
                    <a:p>
                      <a:r>
                        <a:rPr sz="1575" b="1">
                          <a:solidFill>
                            <a:srgbClr val="FFFFFF"/>
                          </a:solidFill>
                          <a:latin typeface="Arial"/>
                          <a:ea typeface="Arial"/>
                          <a:cs typeface="Arial"/>
                        </a:rPr>
                        <a:t>Transport</a:t>
                      </a:r>
                    </a:p>
                  </a:txBody>
                  <a:tcPr marL="91440" marR="91440" marT="45720" marB="45720">
                    <a:solidFill>
                      <a:srgbClr val="12324A"/>
                    </a:solidFill>
                  </a:tcPr>
                </a:tc>
                <a:tc>
                  <a:txBody>
                    <a:bodyPr/>
                    <a:lstStyle/>
                    <a:p>
                      <a:r>
                        <a:rPr sz="1575" b="1">
                          <a:solidFill>
                            <a:srgbClr val="FFFFFF"/>
                          </a:solidFill>
                          <a:latin typeface="Arial"/>
                          <a:ea typeface="Arial"/>
                          <a:cs typeface="Arial"/>
                        </a:rPr>
                        <a:t>Input tokens</a:t>
                      </a:r>
                    </a:p>
                  </a:txBody>
                  <a:tcPr marL="91440" marR="91440" marT="45720" marB="45720">
                    <a:solidFill>
                      <a:srgbClr val="12324A"/>
                    </a:solidFill>
                  </a:tcPr>
                </a:tc>
                <a:tc>
                  <a:txBody>
                    <a:bodyPr/>
                    <a:lstStyle/>
                    <a:p>
                      <a:r>
                        <a:rPr sz="1575" b="1">
                          <a:solidFill>
                            <a:srgbClr val="FFFFFF"/>
                          </a:solidFill>
                          <a:latin typeface="Arial"/>
                          <a:ea typeface="Arial"/>
                          <a:cs typeface="Arial"/>
                        </a:rPr>
                        <a:t>Output tokens</a:t>
                      </a:r>
                    </a:p>
                  </a:txBody>
                  <a:tcPr marL="91440" marR="91440" marT="45720" marB="45720">
                    <a:solidFill>
                      <a:srgbClr val="12324A"/>
                    </a:solidFill>
                  </a:tcPr>
                </a:tc>
                <a:tc>
                  <a:txBody>
                    <a:bodyPr/>
                    <a:lstStyle/>
                    <a:p>
                      <a:r>
                        <a:rPr sz="1575" b="1">
                          <a:solidFill>
                            <a:srgbClr val="FFFFFF"/>
                          </a:solidFill>
                          <a:latin typeface="Arial"/>
                          <a:ea typeface="Arial"/>
                          <a:cs typeface="Arial"/>
                        </a:rPr>
                        <a:t>Median tool time</a:t>
                      </a:r>
                    </a:p>
                  </a:txBody>
                  <a:tcPr marL="91440" marR="91440" marT="45720" marB="45720">
                    <a:solidFill>
                      <a:srgbClr val="12324A"/>
                    </a:solidFill>
                  </a:tcPr>
                </a:tc>
              </a:tr>
              <a:tr h="609600">
                <a:tc>
                  <a:txBody>
                    <a:bodyPr/>
                    <a:lstStyle/>
                    <a:p>
                      <a:r>
                        <a:rPr sz="1575" b="0">
                          <a:solidFill>
                            <a:srgbClr val="203747"/>
                          </a:solidFill>
                          <a:latin typeface="Arial"/>
                          <a:ea typeface="Arial"/>
                          <a:cs typeface="Arial"/>
                        </a:rPr>
                        <a:t>stdio</a:t>
                      </a:r>
                    </a:p>
                  </a:txBody>
                  <a:tcPr marL="91440" marR="91440" marT="45720" marB="45720">
                    <a:solidFill>
                      <a:srgbClr val="FFFFFF"/>
                    </a:solidFill>
                  </a:tcPr>
                </a:tc>
                <a:tc>
                  <a:txBody>
                    <a:bodyPr/>
                    <a:lstStyle/>
                    <a:p>
                      <a:r>
                        <a:rPr sz="1575" b="0">
                          <a:solidFill>
                            <a:srgbClr val="203747"/>
                          </a:solidFill>
                          <a:latin typeface="Arial"/>
                          <a:ea typeface="Arial"/>
                          <a:cs typeface="Arial"/>
                        </a:rPr>
                        <a:t>188,089</a:t>
                      </a:r>
                    </a:p>
                  </a:txBody>
                  <a:tcPr marL="91440" marR="91440" marT="45720" marB="45720">
                    <a:solidFill>
                      <a:srgbClr val="FFFFFF"/>
                    </a:solidFill>
                  </a:tcPr>
                </a:tc>
                <a:tc>
                  <a:txBody>
                    <a:bodyPr/>
                    <a:lstStyle/>
                    <a:p>
                      <a:r>
                        <a:rPr sz="1575" b="0">
                          <a:solidFill>
                            <a:srgbClr val="203747"/>
                          </a:solidFill>
                          <a:latin typeface="Arial"/>
                          <a:ea typeface="Arial"/>
                          <a:cs typeface="Arial"/>
                        </a:rPr>
                        <a:t>3,595</a:t>
                      </a:r>
                    </a:p>
                  </a:txBody>
                  <a:tcPr marL="91440" marR="91440" marT="45720" marB="45720">
                    <a:solidFill>
                      <a:srgbClr val="FFFFFF"/>
                    </a:solidFill>
                  </a:tcPr>
                </a:tc>
                <a:tc>
                  <a:txBody>
                    <a:bodyPr/>
                    <a:lstStyle/>
                    <a:p>
                      <a:r>
                        <a:rPr sz="1575" b="0">
                          <a:solidFill>
                            <a:srgbClr val="203747"/>
                          </a:solidFill>
                          <a:latin typeface="Arial"/>
                          <a:ea typeface="Arial"/>
                          <a:cs typeface="Arial"/>
                        </a:rPr>
                        <a:t>2 ms</a:t>
                      </a:r>
                    </a:p>
                  </a:txBody>
                  <a:tcPr marL="91440" marR="91440" marT="45720" marB="45720">
                    <a:solidFill>
                      <a:srgbClr val="FFFFFF"/>
                    </a:solidFill>
                  </a:tcPr>
                </a:tc>
              </a:tr>
              <a:tr h="609600">
                <a:tc>
                  <a:txBody>
                    <a:bodyPr/>
                    <a:lstStyle/>
                    <a:p>
                      <a:r>
                        <a:rPr sz="1575" b="0">
                          <a:solidFill>
                            <a:srgbClr val="203747"/>
                          </a:solidFill>
                          <a:latin typeface="Arial"/>
                          <a:ea typeface="Arial"/>
                          <a:cs typeface="Arial"/>
                        </a:rPr>
                        <a:t>http</a:t>
                      </a:r>
                    </a:p>
                  </a:txBody>
                  <a:tcPr marL="91440" marR="91440" marT="45720" marB="45720">
                    <a:solidFill>
                      <a:srgbClr val="EDF2F0"/>
                    </a:solidFill>
                  </a:tcPr>
                </a:tc>
                <a:tc>
                  <a:txBody>
                    <a:bodyPr/>
                    <a:lstStyle/>
                    <a:p>
                      <a:r>
                        <a:rPr sz="1575" b="0">
                          <a:solidFill>
                            <a:srgbClr val="203747"/>
                          </a:solidFill>
                          <a:latin typeface="Arial"/>
                          <a:ea typeface="Arial"/>
                          <a:cs typeface="Arial"/>
                        </a:rPr>
                        <a:t>188,014</a:t>
                      </a:r>
                    </a:p>
                  </a:txBody>
                  <a:tcPr marL="91440" marR="91440" marT="45720" marB="45720">
                    <a:solidFill>
                      <a:srgbClr val="EDF2F0"/>
                    </a:solidFill>
                  </a:tcPr>
                </a:tc>
                <a:tc>
                  <a:txBody>
                    <a:bodyPr/>
                    <a:lstStyle/>
                    <a:p>
                      <a:r>
                        <a:rPr sz="1575" b="0">
                          <a:solidFill>
                            <a:srgbClr val="203747"/>
                          </a:solidFill>
                          <a:latin typeface="Arial"/>
                          <a:ea typeface="Arial"/>
                          <a:cs typeface="Arial"/>
                        </a:rPr>
                        <a:t>3,625</a:t>
                      </a:r>
                    </a:p>
                  </a:txBody>
                  <a:tcPr marL="91440" marR="91440" marT="45720" marB="45720">
                    <a:solidFill>
                      <a:srgbClr val="EDF2F0"/>
                    </a:solidFill>
                  </a:tcPr>
                </a:tc>
                <a:tc>
                  <a:txBody>
                    <a:bodyPr/>
                    <a:lstStyle/>
                    <a:p>
                      <a:r>
                        <a:rPr sz="1575" b="0">
                          <a:solidFill>
                            <a:srgbClr val="203747"/>
                          </a:solidFill>
                          <a:latin typeface="Arial"/>
                          <a:ea typeface="Arial"/>
                          <a:cs typeface="Arial"/>
                        </a:rPr>
                        <a:t>7 ms</a:t>
                      </a:r>
                    </a:p>
                  </a:txBody>
                  <a:tcPr marL="91440" marR="91440" marT="45720" marB="45720">
                    <a:solidFill>
                      <a:srgbClr val="EDF2F0"/>
                    </a:solidFill>
                  </a:tcPr>
                </a:tc>
              </a:tr>
            </a:tbl>
          </a:graphicData>
        </a:graphic>
      </p:graphicFrame>
      <p:sp>
        <p:nvSpPr>
          <p:cNvPr id="4" name="">
            <a:extLst xmlns:a="http://schemas.openxmlformats.org/drawingml/2006/main">
              <a:ext uri="{FF2B5EF4-FFF2-40B4-BE49-F238E27FC236}">
                <a16:creationId xmlns:a16="http://schemas.microsoft.com/office/drawing/2014/main" id="{4DBF4537-5A11-4A9C-8234-AC5BC29985E9}"/>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21</a:t>
            </a:r>
          </a:p>
        </p:txBody>
      </p:sp>
    </p:spTree>
    <p:extLst>
      <p:ext uri="{BB962C8B-B14F-4D97-AF65-F5344CB8AC3E}">
        <p14:creationId xmlns:p14="http://schemas.microsoft.com/office/powerpoint/2010/main" val="1091761820"/>
      </p:ext>
    </p:extLst>
  </p:cSld>
</p:sld>
</file>

<file path=ppt/slides/slide2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72BE93B-BF19-496D-B7AA-758427025F99}"/>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Retrieval limits need a separate check</a:t>
            </a:r>
          </a:p>
        </p:txBody>
      </p:sp>
      <p:sp>
        <p:nvSpPr>
          <p:cNvPr id="2" name="">
            <a:extLst xmlns:a="http://schemas.openxmlformats.org/drawingml/2006/main">
              <a:ext uri="{FF2B5EF4-FFF2-40B4-BE49-F238E27FC236}">
                <a16:creationId xmlns:a16="http://schemas.microsoft.com/office/drawing/2014/main" id="{37D4AD6B-B71F-4C2D-8ABF-FD69A9DF9016}"/>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0D725B-31D2-4613-8E8C-5D4F5B1A8D7A}"/>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E0D2DC7-8520-4324-9635-BCA4612573CE}"/>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P2-03 asks for one teacher and the total count</a:t>
            </a:r>
          </a:p>
        </p:txBody>
      </p:sp>
      <p:sp>
        <p:nvSpPr>
          <p:cNvPr id="5" name="">
            <a:extLst xmlns:a="http://schemas.openxmlformats.org/drawingml/2006/main">
              <a:ext uri="{FF2B5EF4-FFF2-40B4-BE49-F238E27FC236}">
                <a16:creationId xmlns:a16="http://schemas.microsoft.com/office/drawing/2014/main" id="{D90D3940-2322-4AF1-A4E1-F0801298D03F}"/>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BA19849A-7956-4221-9424-0C9355BDAB5B}"/>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Some runs retrieve limit 50, then display one teacher</a:t>
            </a:r>
          </a:p>
        </p:txBody>
      </p:sp>
      <p:sp>
        <p:nvSpPr>
          <p:cNvPr id="7" name="">
            <a:extLst xmlns:a="http://schemas.openxmlformats.org/drawingml/2006/main">
              <a:ext uri="{FF2B5EF4-FFF2-40B4-BE49-F238E27FC236}">
                <a16:creationId xmlns:a16="http://schemas.microsoft.com/office/drawing/2014/main" id="{994B04D5-EA3F-44E3-9B8C-7E3EE62D052C}"/>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658351F0-A0C2-4A07-8D9F-79D1A51EF4B3}"/>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The final answer can be useful while retrieval is excessive</a:t>
            </a:r>
          </a:p>
        </p:txBody>
      </p:sp>
      <p:sp>
        <p:nvSpPr>
          <p:cNvPr id="9" name="">
            <a:extLst xmlns:a="http://schemas.openxmlformats.org/drawingml/2006/main">
              <a:ext uri="{FF2B5EF4-FFF2-40B4-BE49-F238E27FC236}">
                <a16:creationId xmlns:a16="http://schemas.microsoft.com/office/drawing/2014/main" id="{8EEDA633-2074-4818-A5F2-A2F65331F36A}"/>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AD246DC6-3C3E-4016-9D20-3215A9D4A6AD}"/>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Report argument compliance separately from semantic correctness</a:t>
            </a:r>
          </a:p>
        </p:txBody>
      </p:sp>
      <p:sp>
        <p:nvSpPr>
          <p:cNvPr id="11" name="">
            <a:extLst xmlns:a="http://schemas.openxmlformats.org/drawingml/2006/main">
              <a:ext uri="{FF2B5EF4-FFF2-40B4-BE49-F238E27FC236}">
                <a16:creationId xmlns:a16="http://schemas.microsoft.com/office/drawing/2014/main" id="{B5A9B2F1-31BC-4D7F-8669-E76EDC29D4DC}"/>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22</a:t>
            </a:r>
          </a:p>
        </p:txBody>
      </p:sp>
    </p:spTree>
    <p:extLst>
      <p:ext uri="{BB962C8B-B14F-4D97-AF65-F5344CB8AC3E}">
        <p14:creationId xmlns:p14="http://schemas.microsoft.com/office/powerpoint/2010/main" val="857786412"/>
      </p:ext>
    </p:extLst>
  </p:cSld>
</p:sld>
</file>

<file path=ppt/slides/slide2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CE48E1-F316-4AEF-90D4-39C398615CF1}"/>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A single sweep cannot rank transports generally</a:t>
            </a:r>
          </a:p>
        </p:txBody>
      </p:sp>
      <p:sp>
        <p:nvSpPr>
          <p:cNvPr id="2" name="">
            <a:extLst xmlns:a="http://schemas.openxmlformats.org/drawingml/2006/main">
              <a:ext uri="{FF2B5EF4-FFF2-40B4-BE49-F238E27FC236}">
                <a16:creationId xmlns:a16="http://schemas.microsoft.com/office/drawing/2014/main" id="{BE0F7425-D788-4460-B7B1-D033C39E609A}"/>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45D156-2A2A-4C68-B085-DB064429A394}"/>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40FB2BF-C012-4201-A2CB-934575277859}"/>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Cloud retries and network variability affect total time</a:t>
            </a:r>
          </a:p>
        </p:txBody>
      </p:sp>
      <p:sp>
        <p:nvSpPr>
          <p:cNvPr id="5" name="">
            <a:extLst xmlns:a="http://schemas.openxmlformats.org/drawingml/2006/main">
              <a:ext uri="{FF2B5EF4-FFF2-40B4-BE49-F238E27FC236}">
                <a16:creationId xmlns:a16="http://schemas.microsoft.com/office/drawing/2014/main" id="{0D1E062C-01F6-4843-AC21-49C6EF075CAF}"/>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2D4FB48-9929-4C2A-BDE1-5C85320BC74F}"/>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Server startup is outside the per-question measurement</a:t>
            </a:r>
          </a:p>
        </p:txBody>
      </p:sp>
      <p:sp>
        <p:nvSpPr>
          <p:cNvPr id="7" name="">
            <a:extLst xmlns:a="http://schemas.openxmlformats.org/drawingml/2006/main">
              <a:ext uri="{FF2B5EF4-FFF2-40B4-BE49-F238E27FC236}">
                <a16:creationId xmlns:a16="http://schemas.microsoft.com/office/drawing/2014/main" id="{AFBC10F0-B8F3-4D43-B37E-0507FEE80F3B}"/>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317AA532-EB81-4F31-BC48-65D35C1EC8D0}"/>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The first calls can include cache warm-up</a:t>
            </a:r>
          </a:p>
        </p:txBody>
      </p:sp>
      <p:sp>
        <p:nvSpPr>
          <p:cNvPr id="9" name="">
            <a:extLst xmlns:a="http://schemas.openxmlformats.org/drawingml/2006/main">
              <a:ext uri="{FF2B5EF4-FFF2-40B4-BE49-F238E27FC236}">
                <a16:creationId xmlns:a16="http://schemas.microsoft.com/office/drawing/2014/main" id="{B2660033-F0B7-498A-A519-E6A3529F7B64}"/>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6D8141A6-B9AE-4496-97E2-CA0D06948EDD}"/>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Repeat randomized sweeps before making a speed claim</a:t>
            </a:r>
          </a:p>
        </p:txBody>
      </p:sp>
      <p:sp>
        <p:nvSpPr>
          <p:cNvPr id="11" name="">
            <a:extLst xmlns:a="http://schemas.openxmlformats.org/drawingml/2006/main">
              <a:ext uri="{FF2B5EF4-FFF2-40B4-BE49-F238E27FC236}">
                <a16:creationId xmlns:a16="http://schemas.microsoft.com/office/drawing/2014/main" id="{F796A462-AAF7-4E5E-8889-6BB60C8E2006}"/>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23</a:t>
            </a:r>
          </a:p>
        </p:txBody>
      </p:sp>
    </p:spTree>
    <p:extLst>
      <p:ext uri="{BB962C8B-B14F-4D97-AF65-F5344CB8AC3E}">
        <p14:creationId xmlns:p14="http://schemas.microsoft.com/office/powerpoint/2010/main" val="1796009777"/>
      </p:ext>
    </p:extLst>
  </p:cSld>
</p:sld>
</file>

<file path=ppt/slides/slide2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809E81-A9F9-4029-8237-FE74531A4E32}"/>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Evidence led to submission improvements</a:t>
            </a:r>
          </a:p>
        </p:txBody>
      </p:sp>
      <p:sp>
        <p:nvSpPr>
          <p:cNvPr id="2" name="">
            <a:extLst xmlns:a="http://schemas.openxmlformats.org/drawingml/2006/main">
              <a:ext uri="{FF2B5EF4-FFF2-40B4-BE49-F238E27FC236}">
                <a16:creationId xmlns:a16="http://schemas.microsoft.com/office/drawing/2014/main" id="{D62FC32A-24E1-416E-AACD-DA430EB5F2F6}"/>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BEF9D0-7871-4794-AA96-4546088A542F}"/>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7D378F4-0A00-4C97-AC18-002350D80C18}"/>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Independent Excel expectations reduce shared-oracle errors</a:t>
            </a:r>
          </a:p>
        </p:txBody>
      </p:sp>
      <p:sp>
        <p:nvSpPr>
          <p:cNvPr id="5" name="">
            <a:extLst xmlns:a="http://schemas.openxmlformats.org/drawingml/2006/main">
              <a:ext uri="{FF2B5EF4-FFF2-40B4-BE49-F238E27FC236}">
                <a16:creationId xmlns:a16="http://schemas.microsoft.com/office/drawing/2014/main" id="{48C53BE0-3905-4743-BF2F-5C2BE6019252}"/>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D8EB691-92F2-4DFE-B6D1-2625CEAD4D60}"/>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Full MCP results avoid truncated-output grading errors</a:t>
            </a:r>
          </a:p>
        </p:txBody>
      </p:sp>
      <p:sp>
        <p:nvSpPr>
          <p:cNvPr id="7" name="">
            <a:extLst xmlns:a="http://schemas.openxmlformats.org/drawingml/2006/main">
              <a:ext uri="{FF2B5EF4-FFF2-40B4-BE49-F238E27FC236}">
                <a16:creationId xmlns:a16="http://schemas.microsoft.com/office/drawing/2014/main" id="{AAEDF619-5422-4480-AB6C-5CC628A21D3E}"/>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BF6EF91A-06A3-460B-AB65-B38605189388}"/>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Pinned source hashes prevent accidental dataset mixing</a:t>
            </a:r>
          </a:p>
        </p:txBody>
      </p:sp>
      <p:sp>
        <p:nvSpPr>
          <p:cNvPr id="9" name="">
            <a:extLst xmlns:a="http://schemas.openxmlformats.org/drawingml/2006/main">
              <a:ext uri="{FF2B5EF4-FFF2-40B4-BE49-F238E27FC236}">
                <a16:creationId xmlns:a16="http://schemas.microsoft.com/office/drawing/2014/main" id="{BF99C776-CC72-42FF-8C52-FEC7E7CF897C}"/>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CAD39E8F-2C7C-4A8B-80CE-AC31DC1ADE2A}"/>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Fresh conversations reduce contamination between questions</a:t>
            </a:r>
          </a:p>
        </p:txBody>
      </p:sp>
      <p:sp>
        <p:nvSpPr>
          <p:cNvPr id="11" name="">
            <a:extLst xmlns:a="http://schemas.openxmlformats.org/drawingml/2006/main">
              <a:ext uri="{FF2B5EF4-FFF2-40B4-BE49-F238E27FC236}">
                <a16:creationId xmlns:a16="http://schemas.microsoft.com/office/drawing/2014/main" id="{1E43B609-112E-4469-B5EC-75D7DEE8F5BC}"/>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24</a:t>
            </a:r>
          </a:p>
        </p:txBody>
      </p:sp>
    </p:spTree>
    <p:extLst>
      <p:ext uri="{BB962C8B-B14F-4D97-AF65-F5344CB8AC3E}">
        <p14:creationId xmlns:p14="http://schemas.microsoft.com/office/powerpoint/2010/main" val="169474212"/>
      </p:ext>
    </p:extLst>
  </p:cSld>
</p:sld>
</file>

<file path=ppt/slides/slide2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10C15B-3E3B-421A-AB8A-351BC6376EA2}"/>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Remaining integration gates are explicit</a:t>
            </a:r>
          </a:p>
        </p:txBody>
      </p:sp>
      <p:sp>
        <p:nvSpPr>
          <p:cNvPr id="2" name="">
            <a:extLst xmlns:a="http://schemas.openxmlformats.org/drawingml/2006/main">
              <a:ext uri="{FF2B5EF4-FFF2-40B4-BE49-F238E27FC236}">
                <a16:creationId xmlns:a16="http://schemas.microsoft.com/office/drawing/2014/main" id="{EB6B009E-3C94-4270-A09A-B70D55E6D82E}"/>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3A071B-855F-4AB0-8D41-E6C69E49DA7E}"/>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243A68F-CC74-4B20-ACE3-79D7AA69B098}"/>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Human Excel review and semantic answer review</a:t>
            </a:r>
          </a:p>
        </p:txBody>
      </p:sp>
      <p:sp>
        <p:nvSpPr>
          <p:cNvPr id="5" name="">
            <a:extLst xmlns:a="http://schemas.openxmlformats.org/drawingml/2006/main">
              <a:ext uri="{FF2B5EF4-FFF2-40B4-BE49-F238E27FC236}">
                <a16:creationId xmlns:a16="http://schemas.microsoft.com/office/drawing/2014/main" id="{37DA2463-4AB4-48CD-A006-6976BA674F0E}"/>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062E4E83-D104-44BB-9853-27B85CDA0C17}"/>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Finance PR merge, then refresh and execute finance cases</a:t>
            </a:r>
          </a:p>
        </p:txBody>
      </p:sp>
      <p:sp>
        <p:nvSpPr>
          <p:cNvPr id="7" name="">
            <a:extLst xmlns:a="http://schemas.openxmlformats.org/drawingml/2006/main">
              <a:ext uri="{FF2B5EF4-FFF2-40B4-BE49-F238E27FC236}">
                <a16:creationId xmlns:a16="http://schemas.microsoft.com/office/drawing/2014/main" id="{2B95B1EA-3B2D-44A8-8C43-E0FCD1DF079F}"/>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A4D405A5-E977-4CF0-849E-97D20E63EE6D}"/>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Qwen run when Ollama is available</a:t>
            </a:r>
          </a:p>
        </p:txBody>
      </p:sp>
      <p:sp>
        <p:nvSpPr>
          <p:cNvPr id="9" name="">
            <a:extLst xmlns:a="http://schemas.openxmlformats.org/drawingml/2006/main">
              <a:ext uri="{FF2B5EF4-FFF2-40B4-BE49-F238E27FC236}">
                <a16:creationId xmlns:a16="http://schemas.microsoft.com/office/drawing/2014/main" id="{737E84B5-ABCE-4AE7-99C9-9EF624B9A234}"/>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CCE9EF93-E58E-406D-ABD2-B006E8A78A75}"/>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True terse tool schemas and the full temperature/round matrix</a:t>
            </a:r>
          </a:p>
        </p:txBody>
      </p:sp>
      <p:sp>
        <p:nvSpPr>
          <p:cNvPr id="11" name="">
            <a:extLst xmlns:a="http://schemas.openxmlformats.org/drawingml/2006/main">
              <a:ext uri="{FF2B5EF4-FFF2-40B4-BE49-F238E27FC236}">
                <a16:creationId xmlns:a16="http://schemas.microsoft.com/office/drawing/2014/main" id="{FAA8CBC6-8DB7-4001-92FE-914DB76EDC1F}"/>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25</a:t>
            </a:r>
          </a:p>
        </p:txBody>
      </p:sp>
    </p:spTree>
    <p:extLst>
      <p:ext uri="{BB962C8B-B14F-4D97-AF65-F5344CB8AC3E}">
        <p14:creationId xmlns:p14="http://schemas.microsoft.com/office/powerpoint/2010/main" val="887973035"/>
      </p:ext>
    </p:extLst>
  </p:cSld>
</p:sld>
</file>

<file path=ppt/slides/slide2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F2B607-302C-4206-8A64-DF2A6DCDF50D}"/>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The backup demo replays recorded evidence</a:t>
            </a:r>
          </a:p>
        </p:txBody>
      </p:sp>
      <p:sp>
        <p:nvSpPr>
          <p:cNvPr id="2" name="">
            <a:extLst xmlns:a="http://schemas.openxmlformats.org/drawingml/2006/main">
              <a:ext uri="{FF2B5EF4-FFF2-40B4-BE49-F238E27FC236}">
                <a16:creationId xmlns:a16="http://schemas.microsoft.com/office/drawing/2014/main" id="{56AAB3D5-427C-4DC3-B5C7-6AD09FCF08E8}"/>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4ED5DF-42CA-4856-9C72-DF7DB3A648EC}"/>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29A6538-3BDC-43BB-B2D4-B4FFE550408E}"/>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Recorded Gemini questions and complete tool results</a:t>
            </a:r>
          </a:p>
        </p:txBody>
      </p:sp>
      <p:sp>
        <p:nvSpPr>
          <p:cNvPr id="5" name="">
            <a:extLst xmlns:a="http://schemas.openxmlformats.org/drawingml/2006/main">
              <a:ext uri="{FF2B5EF4-FFF2-40B4-BE49-F238E27FC236}">
                <a16:creationId xmlns:a16="http://schemas.microsoft.com/office/drawing/2014/main" id="{D101BB6D-BAE5-45E5-85F5-08D4ECB48CA3}"/>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9AAE6956-1E85-4524-A2AB-FB32B951A769}"/>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Teacher report, attendance boundaries and advising examples</a:t>
            </a:r>
          </a:p>
        </p:txBody>
      </p:sp>
      <p:sp>
        <p:nvSpPr>
          <p:cNvPr id="7" name="">
            <a:extLst xmlns:a="http://schemas.openxmlformats.org/drawingml/2006/main">
              <a:ext uri="{FF2B5EF4-FFF2-40B4-BE49-F238E27FC236}">
                <a16:creationId xmlns:a16="http://schemas.microsoft.com/office/drawing/2014/main" id="{544C94FF-6910-4AFA-BD48-7A1A68D6E953}"/>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78A61E66-7FC1-4970-BE08-C67D46E6F103}"/>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English synthetic narration with captions</a:t>
            </a:r>
          </a:p>
        </p:txBody>
      </p:sp>
      <p:sp>
        <p:nvSpPr>
          <p:cNvPr id="9" name="">
            <a:extLst xmlns:a="http://schemas.openxmlformats.org/drawingml/2006/main">
              <a:ext uri="{FF2B5EF4-FFF2-40B4-BE49-F238E27FC236}">
                <a16:creationId xmlns:a16="http://schemas.microsoft.com/office/drawing/2014/main" id="{9CF6984A-F6A4-465C-AC73-28E8AB0EFB1F}"/>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86BAEABB-855B-4D75-8CD4-71A4568F5DCD}"/>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Replay format is labelled throughout</a:t>
            </a:r>
          </a:p>
        </p:txBody>
      </p:sp>
      <p:sp>
        <p:nvSpPr>
          <p:cNvPr id="11" name="">
            <a:extLst xmlns:a="http://schemas.openxmlformats.org/drawingml/2006/main">
              <a:ext uri="{FF2B5EF4-FFF2-40B4-BE49-F238E27FC236}">
                <a16:creationId xmlns:a16="http://schemas.microsoft.com/office/drawing/2014/main" id="{949C50A3-F50D-44AE-9F2B-DC826E6699DA}"/>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26</a:t>
            </a:r>
          </a:p>
        </p:txBody>
      </p:sp>
    </p:spTree>
    <p:extLst>
      <p:ext uri="{BB962C8B-B14F-4D97-AF65-F5344CB8AC3E}">
        <p14:creationId xmlns:p14="http://schemas.microsoft.com/office/powerpoint/2010/main" val="1430192598"/>
      </p:ext>
    </p:extLst>
  </p:cSld>
</p:sld>
</file>

<file path=ppt/slides/slide2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2C3286-D647-4B60-A10E-932B805E902E}"/>
              </a:ext>
            </a:extLst>
          </p:cNvPr>
          <p:cNvSpPr>
            <a:spLocks xmlns:a="http://schemas.openxmlformats.org/drawingml/2006/main" noGrp="1"/>
          </p:cNvSpPr>
          <p:nvPr/>
        </p:nvSpPr>
        <p:spPr>
          <a:xfrm xmlns:a="http://schemas.openxmlformats.org/drawingml/2006/main">
            <a:off x="762000" y="476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2324A"/>
                </a:solidFill>
                <a:latin typeface="Arial"/>
                <a:ea typeface="Arial"/>
                <a:cs typeface="Arial"/>
              </a:defRPr>
            </a:defPPr>
            <a:lvl1pPr>
              <a:defRPr sz="3150" b="1">
                <a:solidFill>
                  <a:srgbClr val="12324A"/>
                </a:solidFill>
                <a:latin typeface="Arial"/>
                <a:ea typeface="Arial"/>
                <a:cs typeface="Arial"/>
              </a:defRPr>
            </a:lvl1pPr>
            <a:lvl2pPr>
              <a:defRPr sz="3150" b="1">
                <a:solidFill>
                  <a:srgbClr val="12324A"/>
                </a:solidFill>
                <a:latin typeface="Arial"/>
                <a:ea typeface="Arial"/>
                <a:cs typeface="Arial"/>
              </a:defRPr>
            </a:lvl2pPr>
            <a:lvl3pPr>
              <a:defRPr sz="3150" b="1">
                <a:solidFill>
                  <a:srgbClr val="12324A"/>
                </a:solidFill>
                <a:latin typeface="Arial"/>
                <a:ea typeface="Arial"/>
                <a:cs typeface="Arial"/>
              </a:defRPr>
            </a:lvl3pPr>
            <a:lvl4pPr>
              <a:defRPr sz="3150" b="1">
                <a:solidFill>
                  <a:srgbClr val="12324A"/>
                </a:solidFill>
                <a:latin typeface="Arial"/>
                <a:ea typeface="Arial"/>
                <a:cs typeface="Arial"/>
              </a:defRPr>
            </a:lvl4pPr>
            <a:lvl5pPr>
              <a:defRPr sz="3150" b="1">
                <a:solidFill>
                  <a:srgbClr val="12324A"/>
                </a:solidFill>
                <a:latin typeface="Arial"/>
                <a:ea typeface="Arial"/>
                <a:cs typeface="Arial"/>
              </a:defRPr>
            </a:lvl5pPr>
            <a:lvl6pPr>
              <a:defRPr sz="3150" b="1">
                <a:solidFill>
                  <a:srgbClr val="12324A"/>
                </a:solidFill>
                <a:latin typeface="Arial"/>
                <a:ea typeface="Arial"/>
                <a:cs typeface="Arial"/>
              </a:defRPr>
            </a:lvl6pPr>
            <a:lvl7pPr>
              <a:defRPr sz="3150" b="1">
                <a:solidFill>
                  <a:srgbClr val="12324A"/>
                </a:solidFill>
                <a:latin typeface="Arial"/>
                <a:ea typeface="Arial"/>
                <a:cs typeface="Arial"/>
              </a:defRPr>
            </a:lvl7pPr>
            <a:lvl8pPr>
              <a:defRPr sz="3150" b="1">
                <a:solidFill>
                  <a:srgbClr val="12324A"/>
                </a:solidFill>
                <a:latin typeface="Arial"/>
                <a:ea typeface="Arial"/>
                <a:cs typeface="Arial"/>
              </a:defRPr>
            </a:lvl8pPr>
            <a:lvl9pPr>
              <a:defRPr sz="3150" b="1">
                <a:solidFill>
                  <a:srgbClr val="12324A"/>
                </a:solidFill>
                <a:latin typeface="Arial"/>
                <a:ea typeface="Arial"/>
                <a:cs typeface="Arial"/>
              </a:defRPr>
            </a:lvl9pPr>
          </a:lstStyle>
          <a:p xmlns:a="http://schemas.openxmlformats.org/drawingml/2006/main">
            <a:pPr>
              <a:defRPr sz="3150" b="1">
                <a:solidFill>
                  <a:srgbClr val="12324A"/>
                </a:solidFill>
                <a:latin typeface="Arial"/>
                <a:ea typeface="Arial"/>
                <a:cs typeface="Arial"/>
              </a:defRPr>
            </a:pPr>
            <a:r>
              <a:rPr sz="3150" b="1">
                <a:solidFill>
                  <a:srgbClr val="12324A"/>
                </a:solidFill>
                <a:latin typeface="Arial"/>
                <a:ea typeface="Arial"/>
                <a:cs typeface="Arial"/>
              </a:rPr>
              <a:t>Submission files and review path</a:t>
            </a:r>
          </a:p>
        </p:txBody>
      </p:sp>
      <p:sp>
        <p:nvSpPr>
          <p:cNvPr id="2" name="">
            <a:extLst xmlns:a="http://schemas.openxmlformats.org/drawingml/2006/main">
              <a:ext uri="{FF2B5EF4-FFF2-40B4-BE49-F238E27FC236}">
                <a16:creationId xmlns:a16="http://schemas.microsoft.com/office/drawing/2014/main" id="{C27EC73C-259B-4668-8D13-5828A022A290}"/>
              </a:ext>
            </a:extLst>
          </p:cNvPr>
          <p:cNvSpPr>
            <a:spLocks xmlns:a="http://schemas.openxmlformats.org/drawingml/2006/main" noGrp="1"/>
          </p:cNvSpPr>
          <p:nvPr/>
        </p:nvSpPr>
        <p:spPr>
          <a:xfrm xmlns:a="http://schemas.openxmlformats.org/drawingml/2006/main">
            <a:off x="762000" y="1571625"/>
            <a:ext cx="10668000" cy="1905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D290D0-D4A5-448D-AEBD-5FDD699FBF3B}"/>
              </a:ext>
            </a:extLst>
          </p:cNvPr>
          <p:cNvSpPr>
            <a:spLocks xmlns:a="http://schemas.openxmlformats.org/drawingml/2006/main" noGrp="1"/>
          </p:cNvSpPr>
          <p:nvPr/>
        </p:nvSpPr>
        <p:spPr>
          <a:xfrm xmlns:a="http://schemas.openxmlformats.org/drawingml/2006/main">
            <a:off x="762000" y="2047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019FC24-66FC-4EA0-BA6A-727BFB845EB2}"/>
              </a:ext>
            </a:extLst>
          </p:cNvPr>
          <p:cNvSpPr>
            <a:spLocks xmlns:a="http://schemas.openxmlformats.org/drawingml/2006/main" noGrp="1"/>
          </p:cNvSpPr>
          <p:nvPr/>
        </p:nvSpPr>
        <p:spPr>
          <a:xfrm xmlns:a="http://schemas.openxmlformats.org/drawingml/2006/main">
            <a:off x="1619250" y="2000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31-case CSV and Excel reference workbook</a:t>
            </a:r>
          </a:p>
        </p:txBody>
      </p:sp>
      <p:sp>
        <p:nvSpPr>
          <p:cNvPr id="5" name="">
            <a:extLst xmlns:a="http://schemas.openxmlformats.org/drawingml/2006/main">
              <a:ext uri="{FF2B5EF4-FFF2-40B4-BE49-F238E27FC236}">
                <a16:creationId xmlns:a16="http://schemas.microsoft.com/office/drawing/2014/main" id="{74D968AA-8D6D-4F8D-9774-6B501136013A}"/>
              </a:ext>
            </a:extLst>
          </p:cNvPr>
          <p:cNvSpPr>
            <a:spLocks xmlns:a="http://schemas.openxmlformats.org/drawingml/2006/main" noGrp="1"/>
          </p:cNvSpPr>
          <p:nvPr/>
        </p:nvSpPr>
        <p:spPr>
          <a:xfrm xmlns:a="http://schemas.openxmlformats.org/drawingml/2006/main">
            <a:off x="762000" y="3000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E1A2D69-0875-4CD9-94F6-1850D45F856A}"/>
              </a:ext>
            </a:extLst>
          </p:cNvPr>
          <p:cNvSpPr>
            <a:spLocks xmlns:a="http://schemas.openxmlformats.org/drawingml/2006/main" noGrp="1"/>
          </p:cNvSpPr>
          <p:nvPr/>
        </p:nvSpPr>
        <p:spPr>
          <a:xfrm xmlns:a="http://schemas.openxmlformats.org/drawingml/2006/main">
            <a:off x="1619250" y="2952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Configurations, raw traces and comparison tables</a:t>
            </a:r>
          </a:p>
        </p:txBody>
      </p:sp>
      <p:sp>
        <p:nvSpPr>
          <p:cNvPr id="7" name="">
            <a:extLst xmlns:a="http://schemas.openxmlformats.org/drawingml/2006/main">
              <a:ext uri="{FF2B5EF4-FFF2-40B4-BE49-F238E27FC236}">
                <a16:creationId xmlns:a16="http://schemas.microsoft.com/office/drawing/2014/main" id="{3B2CBD5C-29D4-40D2-B8FB-B408F0FDE3EE}"/>
              </a:ext>
            </a:extLst>
          </p:cNvPr>
          <p:cNvSpPr>
            <a:spLocks xmlns:a="http://schemas.openxmlformats.org/drawingml/2006/main" noGrp="1"/>
          </p:cNvSpPr>
          <p:nvPr/>
        </p:nvSpPr>
        <p:spPr>
          <a:xfrm xmlns:a="http://schemas.openxmlformats.org/drawingml/2006/main">
            <a:off x="762000" y="39528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122485AF-9536-4B8E-B322-A7991DDD5710}"/>
              </a:ext>
            </a:extLst>
          </p:cNvPr>
          <p:cNvSpPr>
            <a:spLocks xmlns:a="http://schemas.openxmlformats.org/drawingml/2006/main" noGrp="1"/>
          </p:cNvSpPr>
          <p:nvPr/>
        </p:nvSpPr>
        <p:spPr>
          <a:xfrm xmlns:a="http://schemas.openxmlformats.org/drawingml/2006/main">
            <a:off x="1619250" y="39052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27-slide editable deck and 20-question quiz</a:t>
            </a:r>
          </a:p>
        </p:txBody>
      </p:sp>
      <p:sp>
        <p:nvSpPr>
          <p:cNvPr id="9" name="">
            <a:extLst xmlns:a="http://schemas.openxmlformats.org/drawingml/2006/main">
              <a:ext uri="{FF2B5EF4-FFF2-40B4-BE49-F238E27FC236}">
                <a16:creationId xmlns:a16="http://schemas.microsoft.com/office/drawing/2014/main" id="{68C8DDE5-06C0-44B2-9D07-65996B1E2A6D}"/>
              </a:ext>
            </a:extLst>
          </p:cNvPr>
          <p:cNvSpPr>
            <a:spLocks xmlns:a="http://schemas.openxmlformats.org/drawingml/2006/main" noGrp="1"/>
          </p:cNvSpPr>
          <p:nvPr/>
        </p:nvSpPr>
        <p:spPr>
          <a:xfrm xmlns:a="http://schemas.openxmlformats.org/drawingml/2006/main">
            <a:off x="762000" y="4905375"/>
            <a:ext cx="609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11BC2703-2066-4DEA-8C30-96B90320F42A}"/>
              </a:ext>
            </a:extLst>
          </p:cNvPr>
          <p:cNvSpPr>
            <a:spLocks xmlns:a="http://schemas.openxmlformats.org/drawingml/2006/main" noGrp="1"/>
          </p:cNvSpPr>
          <p:nvPr/>
        </p:nvSpPr>
        <p:spPr>
          <a:xfrm xmlns:a="http://schemas.openxmlformats.org/drawingml/2006/main">
            <a:off x="1619250" y="485775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747"/>
                </a:solidFill>
                <a:latin typeface="Arial"/>
                <a:ea typeface="Arial"/>
                <a:cs typeface="Arial"/>
              </a:defRPr>
            </a:defPPr>
            <a:lvl1pPr>
              <a:defRPr sz="2250" b="0">
                <a:solidFill>
                  <a:srgbClr val="203747"/>
                </a:solidFill>
                <a:latin typeface="Arial"/>
                <a:ea typeface="Arial"/>
                <a:cs typeface="Arial"/>
              </a:defRPr>
            </a:lvl1pPr>
            <a:lvl2pPr>
              <a:defRPr sz="2250" b="0">
                <a:solidFill>
                  <a:srgbClr val="203747"/>
                </a:solidFill>
                <a:latin typeface="Arial"/>
                <a:ea typeface="Arial"/>
                <a:cs typeface="Arial"/>
              </a:defRPr>
            </a:lvl2pPr>
            <a:lvl3pPr>
              <a:defRPr sz="2250" b="0">
                <a:solidFill>
                  <a:srgbClr val="203747"/>
                </a:solidFill>
                <a:latin typeface="Arial"/>
                <a:ea typeface="Arial"/>
                <a:cs typeface="Arial"/>
              </a:defRPr>
            </a:lvl3pPr>
            <a:lvl4pPr>
              <a:defRPr sz="2250" b="0">
                <a:solidFill>
                  <a:srgbClr val="203747"/>
                </a:solidFill>
                <a:latin typeface="Arial"/>
                <a:ea typeface="Arial"/>
                <a:cs typeface="Arial"/>
              </a:defRPr>
            </a:lvl4pPr>
            <a:lvl5pPr>
              <a:defRPr sz="2250" b="0">
                <a:solidFill>
                  <a:srgbClr val="203747"/>
                </a:solidFill>
                <a:latin typeface="Arial"/>
                <a:ea typeface="Arial"/>
                <a:cs typeface="Arial"/>
              </a:defRPr>
            </a:lvl5pPr>
            <a:lvl6pPr>
              <a:defRPr sz="2250" b="0">
                <a:solidFill>
                  <a:srgbClr val="203747"/>
                </a:solidFill>
                <a:latin typeface="Arial"/>
                <a:ea typeface="Arial"/>
                <a:cs typeface="Arial"/>
              </a:defRPr>
            </a:lvl6pPr>
            <a:lvl7pPr>
              <a:defRPr sz="2250" b="0">
                <a:solidFill>
                  <a:srgbClr val="203747"/>
                </a:solidFill>
                <a:latin typeface="Arial"/>
                <a:ea typeface="Arial"/>
                <a:cs typeface="Arial"/>
              </a:defRPr>
            </a:lvl7pPr>
            <a:lvl8pPr>
              <a:defRPr sz="2250" b="0">
                <a:solidFill>
                  <a:srgbClr val="203747"/>
                </a:solidFill>
                <a:latin typeface="Arial"/>
                <a:ea typeface="Arial"/>
                <a:cs typeface="Arial"/>
              </a:defRPr>
            </a:lvl8pPr>
            <a:lvl9pPr>
              <a:defRPr sz="2250" b="0">
                <a:solidFill>
                  <a:srgbClr val="203747"/>
                </a:solidFill>
                <a:latin typeface="Arial"/>
                <a:ea typeface="Arial"/>
                <a:cs typeface="Arial"/>
              </a:defRPr>
            </a:lvl9pPr>
          </a:lstStyle>
          <a:p xmlns:a="http://schemas.openxmlformats.org/drawingml/2006/main">
            <a:pPr>
              <a:defRPr sz="2250" b="0">
                <a:solidFill>
                  <a:srgbClr val="203747"/>
                </a:solidFill>
                <a:latin typeface="Arial"/>
                <a:ea typeface="Arial"/>
                <a:cs typeface="Arial"/>
              </a:defRPr>
            </a:pPr>
            <a:r>
              <a:rPr sz="2250" b="0">
                <a:solidFill>
                  <a:srgbClr val="203747"/>
                </a:solidFill>
                <a:latin typeface="Arial"/>
                <a:ea typeface="Arial"/>
                <a:cs typeface="Arial"/>
              </a:rPr>
              <a:t>Narrated demo video and reproduction guide</a:t>
            </a:r>
          </a:p>
        </p:txBody>
      </p:sp>
      <p:sp>
        <p:nvSpPr>
          <p:cNvPr id="11" name="">
            <a:extLst xmlns:a="http://schemas.openxmlformats.org/drawingml/2006/main">
              <a:ext uri="{FF2B5EF4-FFF2-40B4-BE49-F238E27FC236}">
                <a16:creationId xmlns:a16="http://schemas.microsoft.com/office/drawing/2014/main" id="{27421BAC-04F9-4C61-863F-B5C70309E886}"/>
              </a:ext>
            </a:extLst>
          </p:cNvPr>
          <p:cNvSpPr>
            <a:spLocks xmlns:a="http://schemas.openxmlformats.org/drawingml/2006/main" noGrp="1"/>
          </p:cNvSpPr>
          <p:nvPr/>
        </p:nvSpPr>
        <p:spPr>
          <a:xfrm xmlns:a="http://schemas.openxmlformats.org/drawingml/2006/main">
            <a:off x="10810875"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C6575"/>
                </a:solidFill>
                <a:latin typeface="Arial"/>
                <a:ea typeface="Arial"/>
                <a:cs typeface="Arial"/>
              </a:defRPr>
            </a:defPPr>
            <a:lvl1pPr>
              <a:defRPr sz="1350" b="0">
                <a:solidFill>
                  <a:srgbClr val="4C6575"/>
                </a:solidFill>
                <a:latin typeface="Arial"/>
                <a:ea typeface="Arial"/>
                <a:cs typeface="Arial"/>
              </a:defRPr>
            </a:lvl1pPr>
            <a:lvl2pPr>
              <a:defRPr sz="1350" b="0">
                <a:solidFill>
                  <a:srgbClr val="4C6575"/>
                </a:solidFill>
                <a:latin typeface="Arial"/>
                <a:ea typeface="Arial"/>
                <a:cs typeface="Arial"/>
              </a:defRPr>
            </a:lvl2pPr>
            <a:lvl3pPr>
              <a:defRPr sz="1350" b="0">
                <a:solidFill>
                  <a:srgbClr val="4C6575"/>
                </a:solidFill>
                <a:latin typeface="Arial"/>
                <a:ea typeface="Arial"/>
                <a:cs typeface="Arial"/>
              </a:defRPr>
            </a:lvl3pPr>
            <a:lvl4pPr>
              <a:defRPr sz="1350" b="0">
                <a:solidFill>
                  <a:srgbClr val="4C6575"/>
                </a:solidFill>
                <a:latin typeface="Arial"/>
                <a:ea typeface="Arial"/>
                <a:cs typeface="Arial"/>
              </a:defRPr>
            </a:lvl4pPr>
            <a:lvl5pPr>
              <a:defRPr sz="1350" b="0">
                <a:solidFill>
                  <a:srgbClr val="4C6575"/>
                </a:solidFill>
                <a:latin typeface="Arial"/>
                <a:ea typeface="Arial"/>
                <a:cs typeface="Arial"/>
              </a:defRPr>
            </a:lvl5pPr>
            <a:lvl6pPr>
              <a:defRPr sz="1350" b="0">
                <a:solidFill>
                  <a:srgbClr val="4C6575"/>
                </a:solidFill>
                <a:latin typeface="Arial"/>
                <a:ea typeface="Arial"/>
                <a:cs typeface="Arial"/>
              </a:defRPr>
            </a:lvl6pPr>
            <a:lvl7pPr>
              <a:defRPr sz="1350" b="0">
                <a:solidFill>
                  <a:srgbClr val="4C6575"/>
                </a:solidFill>
                <a:latin typeface="Arial"/>
                <a:ea typeface="Arial"/>
                <a:cs typeface="Arial"/>
              </a:defRPr>
            </a:lvl7pPr>
            <a:lvl8pPr>
              <a:defRPr sz="1350" b="0">
                <a:solidFill>
                  <a:srgbClr val="4C6575"/>
                </a:solidFill>
                <a:latin typeface="Arial"/>
                <a:ea typeface="Arial"/>
                <a:cs typeface="Arial"/>
              </a:defRPr>
            </a:lvl8pPr>
            <a:lvl9pPr>
              <a:defRPr sz="1350" b="0">
                <a:solidFill>
                  <a:srgbClr val="4C6575"/>
                </a:solidFill>
                <a:latin typeface="Arial"/>
                <a:ea typeface="Arial"/>
                <a:cs typeface="Arial"/>
              </a:defRPr>
            </a:lvl9pPr>
          </a:lstStyle>
          <a:p xmlns:a="http://schemas.openxmlformats.org/drawingml/2006/main">
            <a:pPr>
              <a:defRPr sz="1350" b="0">
                <a:solidFill>
                  <a:srgbClr val="4C6575"/>
                </a:solidFill>
                <a:latin typeface="Arial"/>
                <a:ea typeface="Arial"/>
                <a:cs typeface="Arial"/>
              </a:defRPr>
            </a:pPr>
            <a:r>
              <a:rPr sz="1350" b="0">
                <a:solidFill>
                  <a:srgbClr val="4C6575"/>
                </a:solidFill>
                <a:latin typeface="Arial"/>
                <a:ea typeface="Arial"/>
                <a:cs typeface="Arial"/>
              </a:rPr>
              <a:t>27</a:t>
            </a:r>
          </a:p>
        </p:txBody>
      </p:sp>
    </p:spTree>
    <p:extLst>
      <p:ext uri="{BB962C8B-B14F-4D97-AF65-F5344CB8AC3E}">
        <p14:creationId xmlns:p14="http://schemas.microsoft.com/office/powerpoint/2010/main" val="834196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2026-10-18T11:23:57.9560000Z</dcterms:created>
  <dcterms:modified xsi:type="dcterms:W3CDTF">2026-10-18T11:23:57.9560000Z</dcterms:modified>
</coreProperties>
</file>