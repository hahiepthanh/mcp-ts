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b990a0ce7ea4530" /><Relationship Type="http://schemas.openxmlformats.org/officeDocument/2006/relationships/extended-properties" Target="/docProps/app.xml" Id="Rf1afc0d4204548d2" /><Relationship Type="http://schemas.openxmlformats.org/officeDocument/2006/relationships/officeDocument" Target="/ppt/presentation.xml" Id="R6f94fb8b76374dac" /></Relationships>
</file>

<file path=ppt/presentation.xml><?xml version="1.0" encoding="utf-8"?>
<p:presentation xmlns:p="http://schemas.openxmlformats.org/presentationml/2006/main">
  <p:sldMasterIdLst>
    <p:sldMasterId xmlns:r="http://schemas.openxmlformats.org/officeDocument/2006/relationships" id="2147483648" r:id="R0f4fff3bdda2498a"/>
  </p:sldMasterIdLst>
  <p:notesMasterIdLst>
    <p:notesMasterId xmlns:r="http://schemas.openxmlformats.org/officeDocument/2006/relationships" r:id="R4db4c8d52209454f"/>
  </p:notesMasterIdLst>
  <p:sldIdLst>
    <p:sldId xmlns:r="http://schemas.openxmlformats.org/officeDocument/2006/relationships" id="256" r:id="R027c4e36e10f4af6"/>
    <p:sldId xmlns:r="http://schemas.openxmlformats.org/officeDocument/2006/relationships" id="257" r:id="R2b80560e75544458"/>
    <p:sldId xmlns:r="http://schemas.openxmlformats.org/officeDocument/2006/relationships" id="258" r:id="Rd4534d46fc2440b6"/>
    <p:sldId xmlns:r="http://schemas.openxmlformats.org/officeDocument/2006/relationships" id="259" r:id="R610a63c910514573"/>
    <p:sldId xmlns:r="http://schemas.openxmlformats.org/officeDocument/2006/relationships" id="260" r:id="R628a539fff634f81"/>
    <p:sldId xmlns:r="http://schemas.openxmlformats.org/officeDocument/2006/relationships" id="261" r:id="R887cda4374bf4f17"/>
    <p:sldId xmlns:r="http://schemas.openxmlformats.org/officeDocument/2006/relationships" id="262" r:id="Rd1ce9ff3b4ad4fe9"/>
    <p:sldId xmlns:r="http://schemas.openxmlformats.org/officeDocument/2006/relationships" id="263" r:id="R169f8f1b67184b6c"/>
    <p:sldId xmlns:r="http://schemas.openxmlformats.org/officeDocument/2006/relationships" id="264" r:id="R23c16624f7f24b63"/>
    <p:sldId xmlns:r="http://schemas.openxmlformats.org/officeDocument/2006/relationships" id="265" r:id="R3a0985a98e9d4089"/>
    <p:sldId xmlns:r="http://schemas.openxmlformats.org/officeDocument/2006/relationships" id="266" r:id="Re934603ce55a404e"/>
    <p:sldId xmlns:r="http://schemas.openxmlformats.org/officeDocument/2006/relationships" id="267" r:id="R7ce975b47d924c14"/>
    <p:sldId xmlns:r="http://schemas.openxmlformats.org/officeDocument/2006/relationships" id="268" r:id="R2707968ee60e4ebb"/>
    <p:sldId xmlns:r="http://schemas.openxmlformats.org/officeDocument/2006/relationships" id="269" r:id="R7412394cb4854ac3"/>
    <p:sldId xmlns:r="http://schemas.openxmlformats.org/officeDocument/2006/relationships" id="270" r:id="Re347aee482234459"/>
    <p:sldId xmlns:r="http://schemas.openxmlformats.org/officeDocument/2006/relationships" id="271" r:id="Ref7cb35d95c64df0"/>
    <p:sldId xmlns:r="http://schemas.openxmlformats.org/officeDocument/2006/relationships" id="272" r:id="R07f0a50da4c24d38"/>
    <p:sldId xmlns:r="http://schemas.openxmlformats.org/officeDocument/2006/relationships" id="273" r:id="Rd8958a1cc1224062"/>
    <p:sldId xmlns:r="http://schemas.openxmlformats.org/officeDocument/2006/relationships" id="274" r:id="Rf6c2e3ac23cb48aa"/>
    <p:sldId xmlns:r="http://schemas.openxmlformats.org/officeDocument/2006/relationships" id="275" r:id="R5d5be1b57958471a"/>
    <p:sldId xmlns:r="http://schemas.openxmlformats.org/officeDocument/2006/relationships" id="276" r:id="Re6783d41e0d54b90"/>
    <p:sldId xmlns:r="http://schemas.openxmlformats.org/officeDocument/2006/relationships" id="277" r:id="R61e13a21045649cb"/>
    <p:sldId xmlns:r="http://schemas.openxmlformats.org/officeDocument/2006/relationships" id="278" r:id="R2e2252482b664fc9"/>
    <p:sldId xmlns:r="http://schemas.openxmlformats.org/officeDocument/2006/relationships" id="279" r:id="R6777aac8d4f04fe8"/>
    <p:sldId xmlns:r="http://schemas.openxmlformats.org/officeDocument/2006/relationships" id="280" r:id="Rca2664a158f44b6e"/>
    <p:sldId xmlns:r="http://schemas.openxmlformats.org/officeDocument/2006/relationships" id="281" r:id="R5aa2f875aefb495e"/>
    <p:sldId xmlns:r="http://schemas.openxmlformats.org/officeDocument/2006/relationships" id="282" r:id="R4c8ef74184064cfb"/>
    <p:sldId xmlns:r="http://schemas.openxmlformats.org/officeDocument/2006/relationships" id="283" r:id="R2dc8621a12144919"/>
    <p:sldId xmlns:r="http://schemas.openxmlformats.org/officeDocument/2006/relationships" id="284" r:id="Rbbfc64df03cd4e8e"/>
    <p:sldId xmlns:r="http://schemas.openxmlformats.org/officeDocument/2006/relationships" id="285" r:id="R6590fc880ea34674"/>
    <p:sldId xmlns:r="http://schemas.openxmlformats.org/officeDocument/2006/relationships" id="286" r:id="R68eb03502b004d4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b9dc0e71edd41d5" /><Relationship Type="http://schemas.openxmlformats.org/officeDocument/2006/relationships/slideMaster" Target="/ppt/slideMasters/slideMaster1.xml" Id="R0f4fff3bdda2498a" /><Relationship Type="http://schemas.openxmlformats.org/officeDocument/2006/relationships/notesMaster" Target="/ppt/notesMasters/notesMaster1.xml" Id="R4db4c8d52209454f" /><Relationship Type="http://schemas.openxmlformats.org/officeDocument/2006/relationships/presProps" Target="/ppt/presProps.xml" Id="Rc96896fdaea74393" /><Relationship Type="http://schemas.openxmlformats.org/officeDocument/2006/relationships/tableStyles" Target="/ppt/tableStyles.xml" Id="R61bfaf888bd14505" /><Relationship Type="http://schemas.openxmlformats.org/officeDocument/2006/relationships/slide" Target="/ppt/slides/slide1.xml" Id="R027c4e36e10f4af6" /><Relationship Type="http://schemas.openxmlformats.org/officeDocument/2006/relationships/slide" Target="/ppt/slides/slide2.xml" Id="R2b80560e75544458" /><Relationship Type="http://schemas.openxmlformats.org/officeDocument/2006/relationships/slide" Target="/ppt/slides/slide3.xml" Id="Rd4534d46fc2440b6" /><Relationship Type="http://schemas.openxmlformats.org/officeDocument/2006/relationships/slide" Target="/ppt/slides/slide4.xml" Id="R610a63c910514573" /><Relationship Type="http://schemas.openxmlformats.org/officeDocument/2006/relationships/slide" Target="/ppt/slides/slide5.xml" Id="R628a539fff634f81" /><Relationship Type="http://schemas.openxmlformats.org/officeDocument/2006/relationships/slide" Target="/ppt/slides/slide6.xml" Id="R887cda4374bf4f17" /><Relationship Type="http://schemas.openxmlformats.org/officeDocument/2006/relationships/slide" Target="/ppt/slides/slide7.xml" Id="Rd1ce9ff3b4ad4fe9" /><Relationship Type="http://schemas.openxmlformats.org/officeDocument/2006/relationships/slide" Target="/ppt/slides/slide8.xml" Id="R169f8f1b67184b6c" /><Relationship Type="http://schemas.openxmlformats.org/officeDocument/2006/relationships/slide" Target="/ppt/slides/slide9.xml" Id="R23c16624f7f24b63" /><Relationship Type="http://schemas.openxmlformats.org/officeDocument/2006/relationships/slide" Target="/ppt/slides/slide10.xml" Id="R3a0985a98e9d4089" /><Relationship Type="http://schemas.openxmlformats.org/officeDocument/2006/relationships/slide" Target="/ppt/slides/slide11.xml" Id="Re934603ce55a404e" /><Relationship Type="http://schemas.openxmlformats.org/officeDocument/2006/relationships/slide" Target="/ppt/slides/slide12.xml" Id="R7ce975b47d924c14" /><Relationship Type="http://schemas.openxmlformats.org/officeDocument/2006/relationships/slide" Target="/ppt/slides/slide13.xml" Id="R2707968ee60e4ebb" /><Relationship Type="http://schemas.openxmlformats.org/officeDocument/2006/relationships/slide" Target="/ppt/slides/slide14.xml" Id="R7412394cb4854ac3" /><Relationship Type="http://schemas.openxmlformats.org/officeDocument/2006/relationships/slide" Target="/ppt/slides/slide15.xml" Id="Re347aee482234459" /><Relationship Type="http://schemas.openxmlformats.org/officeDocument/2006/relationships/slide" Target="/ppt/slides/slide16.xml" Id="Ref7cb35d95c64df0" /><Relationship Type="http://schemas.openxmlformats.org/officeDocument/2006/relationships/slide" Target="/ppt/slides/slide17.xml" Id="R07f0a50da4c24d38" /><Relationship Type="http://schemas.openxmlformats.org/officeDocument/2006/relationships/slide" Target="/ppt/slides/slide18.xml" Id="Rd8958a1cc1224062" /><Relationship Type="http://schemas.openxmlformats.org/officeDocument/2006/relationships/slide" Target="/ppt/slides/slide19.xml" Id="Rf6c2e3ac23cb48aa" /><Relationship Type="http://schemas.openxmlformats.org/officeDocument/2006/relationships/slide" Target="/ppt/slides/slide20.xml" Id="R5d5be1b57958471a" /><Relationship Type="http://schemas.openxmlformats.org/officeDocument/2006/relationships/slide" Target="/ppt/slides/slide21.xml" Id="Re6783d41e0d54b90" /><Relationship Type="http://schemas.openxmlformats.org/officeDocument/2006/relationships/slide" Target="/ppt/slides/slide22.xml" Id="R61e13a21045649cb" /><Relationship Type="http://schemas.openxmlformats.org/officeDocument/2006/relationships/slide" Target="/ppt/slides/slide23.xml" Id="R2e2252482b664fc9" /><Relationship Type="http://schemas.openxmlformats.org/officeDocument/2006/relationships/slide" Target="/ppt/slides/slide24.xml" Id="R6777aac8d4f04fe8" /><Relationship Type="http://schemas.openxmlformats.org/officeDocument/2006/relationships/slide" Target="/ppt/slides/slide25.xml" Id="Rca2664a158f44b6e" /><Relationship Type="http://schemas.openxmlformats.org/officeDocument/2006/relationships/slide" Target="/ppt/slides/slide26.xml" Id="R5aa2f875aefb495e" /><Relationship Type="http://schemas.openxmlformats.org/officeDocument/2006/relationships/slide" Target="/ppt/slides/slide27.xml" Id="R4c8ef74184064cfb" /><Relationship Type="http://schemas.openxmlformats.org/officeDocument/2006/relationships/slide" Target="/ppt/slides/slide28.xml" Id="R2dc8621a12144919" /><Relationship Type="http://schemas.openxmlformats.org/officeDocument/2006/relationships/slide" Target="/ppt/slides/slide29.xml" Id="Rbbfc64df03cd4e8e" /><Relationship Type="http://schemas.openxmlformats.org/officeDocument/2006/relationships/slide" Target="/ppt/slides/slide30.xml" Id="R6590fc880ea34674" /><Relationship Type="http://schemas.openxmlformats.org/officeDocument/2006/relationships/slide" Target="/ppt/slides/slide31.xml" Id="R68eb03502b004d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c6d3119a66f40d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fcee3c4510e4039" /><Relationship Type="http://schemas.openxmlformats.org/officeDocument/2006/relationships/notesMaster" Target="/ppt/notesMasters/notesMaster1.xml" Id="Rad71cf066e314407" /></Relationships>
</file>

<file path=ppt/notesSlides/_rels/notesSlide2.xml.rels>&#65279;<?xml version="1.0" encoding="utf-8"?><Relationships xmlns="http://schemas.openxmlformats.org/package/2006/relationships"><Relationship Type="http://schemas.openxmlformats.org/officeDocument/2006/relationships/slide" Target="/ppt/slides/slide2.xml" Id="R8594c85f5e224ea0" /><Relationship Type="http://schemas.openxmlformats.org/officeDocument/2006/relationships/notesMaster" Target="/ppt/notesMasters/notesMaster1.xml" Id="Rbed575e34bdc415f" /></Relationships>
</file>

<file path=ppt/notesSlides/_rels/notesSlide3.xml.rels>&#65279;<?xml version="1.0" encoding="utf-8"?><Relationships xmlns="http://schemas.openxmlformats.org/package/2006/relationships"><Relationship Type="http://schemas.openxmlformats.org/officeDocument/2006/relationships/slide" Target="/ppt/slides/slide3.xml" Id="R6b23751a9cb74e51" /><Relationship Type="http://schemas.openxmlformats.org/officeDocument/2006/relationships/notesMaster" Target="/ppt/notesMasters/notesMaster1.xml" Id="R43686775ba194261" /></Relationships>
</file>

<file path=ppt/notesSlides/_rels/notesSlide4.xml.rels>&#65279;<?xml version="1.0" encoding="utf-8"?><Relationships xmlns="http://schemas.openxmlformats.org/package/2006/relationships"><Relationship Type="http://schemas.openxmlformats.org/officeDocument/2006/relationships/slide" Target="/ppt/slides/slide4.xml" Id="R5e882f1936d24035" /><Relationship Type="http://schemas.openxmlformats.org/officeDocument/2006/relationships/notesMaster" Target="/ppt/notesMasters/notesMaster1.xml" Id="R328faaa6208c4463" /></Relationships>
</file>

<file path=ppt/notesSlides/_rels/notesSlide5.xml.rels>&#65279;<?xml version="1.0" encoding="utf-8"?><Relationships xmlns="http://schemas.openxmlformats.org/package/2006/relationships"><Relationship Type="http://schemas.openxmlformats.org/officeDocument/2006/relationships/slide" Target="/ppt/slides/slide5.xml" Id="Re6824dd89f0a4339" /><Relationship Type="http://schemas.openxmlformats.org/officeDocument/2006/relationships/notesMaster" Target="/ppt/notesMasters/notesMaster1.xml" Id="Raa96c46bbd98430d" /></Relationships>
</file>

<file path=ppt/notesSlides/_rels/notesSlide6.xml.rels>&#65279;<?xml version="1.0" encoding="utf-8"?><Relationships xmlns="http://schemas.openxmlformats.org/package/2006/relationships"><Relationship Type="http://schemas.openxmlformats.org/officeDocument/2006/relationships/slide" Target="/ppt/slides/slide6.xml" Id="Rd7442ab2c98241f7" /><Relationship Type="http://schemas.openxmlformats.org/officeDocument/2006/relationships/notesMaster" Target="/ppt/notesMasters/notesMaster1.xml" Id="R5904f4064cb14639" /></Relationships>
</file>

<file path=ppt/notesSlides/_rels/notesSlide7.xml.rels>&#65279;<?xml version="1.0" encoding="utf-8"?><Relationships xmlns="http://schemas.openxmlformats.org/package/2006/relationships"><Relationship Type="http://schemas.openxmlformats.org/officeDocument/2006/relationships/slide" Target="/ppt/slides/slide7.xml" Id="R06c021e1c68040eb" /><Relationship Type="http://schemas.openxmlformats.org/officeDocument/2006/relationships/notesMaster" Target="/ppt/notesMasters/notesMaster1.xml" Id="R7da482517991488a" /></Relationships>
</file>

<file path=ppt/notesSlides/_rels/notesSlide8.xml.rels>&#65279;<?xml version="1.0" encoding="utf-8"?><Relationships xmlns="http://schemas.openxmlformats.org/package/2006/relationships"><Relationship Type="http://schemas.openxmlformats.org/officeDocument/2006/relationships/slide" Target="/ppt/slides/slide8.xml" Id="R317f3dbabd3f4df4" /><Relationship Type="http://schemas.openxmlformats.org/officeDocument/2006/relationships/notesMaster" Target="/ppt/notesMasters/notesMaster1.xml" Id="R142f6c5c0e96437c" /></Relationships>
</file>

<file path=ppt/notesSlides/_rels/notesSlide9.xml.rels>&#65279;<?xml version="1.0" encoding="utf-8"?><Relationships xmlns="http://schemas.openxmlformats.org/package/2006/relationships"><Relationship Type="http://schemas.openxmlformats.org/officeDocument/2006/relationships/slide" Target="/ppt/slides/slide9.xml" Id="Raa791cf0edcd4592" /><Relationship Type="http://schemas.openxmlformats.org/officeDocument/2006/relationships/notesMaster" Target="/ppt/notesMasters/notesMaster1.xml" Id="R4c2bf1a79418477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605cf9983f743c0" /><Relationship Type="http://schemas.openxmlformats.org/officeDocument/2006/relationships/notesMaster" Target="/ppt/notesMasters/notesMaster1.xml" Id="R6ff92788570f442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e9fc446c2f947e6" /><Relationship Type="http://schemas.openxmlformats.org/officeDocument/2006/relationships/notesMaster" Target="/ppt/notesMasters/notesMaster1.xml" Id="Ra685a01c3265486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8157ad3875e46c3" /><Relationship Type="http://schemas.openxmlformats.org/officeDocument/2006/relationships/notesMaster" Target="/ppt/notesMasters/notesMaster1.xml" Id="Re1ee2b1c9c0a46c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d5b5c86416d490b" /><Relationship Type="http://schemas.openxmlformats.org/officeDocument/2006/relationships/notesMaster" Target="/ppt/notesMasters/notesMaster1.xml" Id="R6a8512d79e21491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7c8875fabd94728" /><Relationship Type="http://schemas.openxmlformats.org/officeDocument/2006/relationships/notesMaster" Target="/ppt/notesMasters/notesMaster1.xml" Id="Rf4399e7e0522479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14f9308dcf74602" /><Relationship Type="http://schemas.openxmlformats.org/officeDocument/2006/relationships/notesMaster" Target="/ppt/notesMasters/notesMaster1.xml" Id="Rc5cf6ab52299457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8861fd1be5b4bb3" /><Relationship Type="http://schemas.openxmlformats.org/officeDocument/2006/relationships/notesMaster" Target="/ppt/notesMasters/notesMaster1.xml" Id="R1b262b3b654b49e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7b3c7c8a327414d" /><Relationship Type="http://schemas.openxmlformats.org/officeDocument/2006/relationships/notesMaster" Target="/ppt/notesMasters/notesMaster1.xml" Id="R5cc928b34260497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05983fef82a493f" /><Relationship Type="http://schemas.openxmlformats.org/officeDocument/2006/relationships/notesMaster" Target="/ppt/notesMasters/notesMaster1.xml" Id="R3f0ea21fe191466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6caee0e487d40ad" /><Relationship Type="http://schemas.openxmlformats.org/officeDocument/2006/relationships/notesMaster" Target="/ppt/notesMasters/notesMaster1.xml" Id="R80781a52d8814e2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7224b26b9f144d3" /><Relationship Type="http://schemas.openxmlformats.org/officeDocument/2006/relationships/notesMaster" Target="/ppt/notesMasters/notesMaster1.xml" Id="R9fbf5fea6747454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183acb951bf4580" /><Relationship Type="http://schemas.openxmlformats.org/officeDocument/2006/relationships/notesMaster" Target="/ppt/notesMasters/notesMaster1.xml" Id="R40b186952624410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ad15ac88fbc4fbb" /><Relationship Type="http://schemas.openxmlformats.org/officeDocument/2006/relationships/notesMaster" Target="/ppt/notesMasters/notesMaster1.xml" Id="Re877e903716c472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d0c1c956f7d4ab2" /><Relationship Type="http://schemas.openxmlformats.org/officeDocument/2006/relationships/notesMaster" Target="/ppt/notesMasters/notesMaster1.xml" Id="R0cba27fd576647d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8e18c8630a14251" /><Relationship Type="http://schemas.openxmlformats.org/officeDocument/2006/relationships/notesMaster" Target="/ppt/notesMasters/notesMaster1.xml" Id="Rc545646bc7be4cb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d9d96a349554142" /><Relationship Type="http://schemas.openxmlformats.org/officeDocument/2006/relationships/notesMaster" Target="/ppt/notesMasters/notesMaster1.xml" Id="Rc4dec0038bd54be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328b0ce244f4247" /><Relationship Type="http://schemas.openxmlformats.org/officeDocument/2006/relationships/notesMaster" Target="/ppt/notesMasters/notesMaster1.xml" Id="R79052bee3a9d4b8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b3f57107dc24c22" /><Relationship Type="http://schemas.openxmlformats.org/officeDocument/2006/relationships/notesMaster" Target="/ppt/notesMasters/notesMaster1.xml" Id="R7aa0182ef6a7435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5656120c9f94ec1" /><Relationship Type="http://schemas.openxmlformats.org/officeDocument/2006/relationships/notesMaster" Target="/ppt/notesMasters/notesMaster1.xml" Id="R82519ed2136046cf"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e149996667c42f6" /><Relationship Type="http://schemas.openxmlformats.org/officeDocument/2006/relationships/notesMaster" Target="/ppt/notesMasters/notesMaster1.xml" Id="R707f94482d74473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81d6699e7fd4e89" /><Relationship Type="http://schemas.openxmlformats.org/officeDocument/2006/relationships/notesMaster" Target="/ppt/notesMasters/notesMaster1.xml" Id="R64a341baff7f444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1570011fa32401d" /><Relationship Type="http://schemas.openxmlformats.org/officeDocument/2006/relationships/notesMaster" Target="/ppt/notesMasters/notesMaster1.xml" Id="Rdc1c05092abd412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morning everyone. Today we will present Phase Two of our MCP academic assistant. We added more data and new tools for teachers, attendance, conduct and finance. We will explain the test situations, the settings we used and the results. We will also discuss what worked, what needs care and how we can improve the system.</a:t>
            </a:r>
          </a:p>
          <a:p xmlns:a="http://schemas.openxmlformats.org/drawingml/2006/main">
            <a:r>
              <a:t/>
            </a:r>
          </a:p>
          <a:p xmlns:a="http://schemas.openxmlformats.org/drawingml/2006/main">
            <a:r>
              <a:t>Sources: TASKS.md; Khoa final test pack</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Two asks for more than new code. We need useful situations that show what the assistant can do. We also need settings, results, comparisons and comments. A log must support each measured result. Our presentation follows these parts. We use generated sample data, so the people, grades and money values in the examples are for testing.</a:t>
            </a:r>
          </a:p>
          <a:p xmlns:a="http://schemas.openxmlformats.org/drawingml/2006/main">
            <a:r>
              <a:t/>
            </a:r>
          </a:p>
          <a:p xmlns:a="http://schemas.openxmlformats.org/drawingml/2006/main">
            <a:r>
              <a:t>Sources: phase2/requirement.md; TASKS.md</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user starts with a normal question. The host gives the language model a list of tools. The model chooses a tool and supplies its arguments. The host sends the request to an MCP server. The server reads the data and calculates the result. Finally, the model explains that result. Important calculations stay in code instead of being left to the model.</a:t>
            </a:r>
          </a:p>
          <a:p xmlns:a="http://schemas.openxmlformats.org/drawingml/2006/main">
            <a:r>
              <a:t/>
            </a:r>
          </a:p>
          <a:p xmlns:a="http://schemas.openxmlformats.org/drawingml/2006/main">
            <a:r>
              <a:t>Sources: mcp-academic/docs/architecture.md; src/host/host.ts</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measured setup has three servers and twenty-seven tools. Academic handles university records and the new student support features. Utility provides small shared functions, such as time and report saving. Finance handles money-related records. Keeping finance separate lets the host enable it only when it is needed. These tool counts come from the actual capability list in our log.</a:t>
            </a:r>
          </a:p>
          <a:p xmlns:a="http://schemas.openxmlformats.org/drawingml/2006/main">
            <a:r>
              <a:t/>
            </a:r>
          </a:p>
          <a:p xmlns:a="http://schemas.openxmlformats.org/drawingml/2006/main">
            <a:r>
              <a:t>Sources: Khoa check-stdio.jsonl, capabilities</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academic sample has forty valid students, twenty teachers and forty-one sections. It also has two hundred and sixty-one valid grade rows, attendance records and conduct scores. Finance was tested from Tien’s feature branch because it is not merged into main yet. Its teacher and conduct records differ, so each financial calculation uses that branch’s complete matching snapshot.</a:t>
            </a:r>
          </a:p>
          <a:p xmlns:a="http://schemas.openxmlformats.org/drawingml/2006/main">
            <a:r>
              <a:t/>
            </a:r>
          </a:p>
          <a:p xmlns:a="http://schemas.openxmlformats.org/drawingml/2006/main">
            <a:r>
              <a:t>Sources: mcp-academic/data/sample/README_data.md; sources.json</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CSV file can contain a row that looks correct but refers to an unknown student or course. The data loader checks these links. It also checks duplicate IDs, missing scores and scores outside the valid range. For a grade, the course, semester and student’s class must match a section. Invalid rows are reported and excluded from academic calculations.</a:t>
            </a:r>
          </a:p>
          <a:p xmlns:a="http://schemas.openxmlformats.org/drawingml/2006/main">
            <a:r>
              <a:t/>
            </a:r>
          </a:p>
          <a:p xmlns:a="http://schemas.openxmlformats.org/drawingml/2006/main">
            <a:r>
              <a:t>Sources: src/server/academic/data.ts; data/sample/README_data.md</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Phu’s first tools help us find teachers and class schedules. We can search by a teacher ID or use faculty and title filters. A timetable question needs both the class and semester. In our sample, class IT zero one has three sections in semester twenty twenty-four dash one. If the class does not exist, the tool returns an error instead of inventing a schedule.</a:t>
            </a:r>
          </a:p>
          <a:p xmlns:a="http://schemas.openxmlformats.org/drawingml/2006/main">
            <a:r>
              <a:t/>
            </a:r>
          </a:p>
          <a:p xmlns:a="http://schemas.openxmlformats.org/drawingml/2006/main">
            <a:r>
              <a:t>Sources: K01 to K03; academic tools.ts</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workload tool reports both sections and weekly teaching periods. T zero zero one has three sections with three periods each, so the total is nine periods per week. A future semester with no assignments returns zero. The grade report counts graded enrolments across sections. It reports thirty enrolments, a mean score of seven point four and a pass rate of ninety percent.</a:t>
            </a:r>
          </a:p>
          <a:p xmlns:a="http://schemas.openxmlformats.org/drawingml/2006/main">
            <a:r>
              <a:t/>
            </a:r>
          </a:p>
          <a:p xmlns:a="http://schemas.openxmlformats.org/drawingml/2006/main">
            <a:r>
              <a:t>Sources: K04 to K06; Excel Answers and Grades sheets</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Hoang’s attendance rule uses a strict greater-than comparison. Three absences out of fifteen meetings equal twenty percent. That does not cross the limit. Four absences give about twenty-six point seven percent, so the student is banned from the exam in that section. These cases are useful because a small change from greater than to greater than or equal would change the first answer.</a:t>
            </a:r>
          </a:p>
          <a:p xmlns:a="http://schemas.openxmlformats.org/drawingml/2006/main">
            <a:r>
              <a:t/>
            </a:r>
          </a:p>
          <a:p xmlns:a="http://schemas.openxmlformats.org/drawingml/2006/main">
            <a:r>
              <a:t>Sources: K07 and K08; config/academic-rules.json</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Conduct scores use a scale from zero to one hundred. The classification bands are stored in a configuration file. A score of ninety is Excellent, and a score of fifty is Average. The model should report the tool’s classification. It should not create a new grading scale. We tested both a high score and an exact band boundary.</a:t>
            </a:r>
          </a:p>
          <a:p xmlns:a="http://schemas.openxmlformats.org/drawingml/2006/main">
            <a:r>
              <a:t/>
            </a:r>
          </a:p>
          <a:p xmlns:a="http://schemas.openxmlformats.org/drawingml/2006/main">
            <a:r>
              <a:t>Sources: config/academic-rules.json; K10 and K11</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implementation flags a student when any configured risk condition applies. A student does not need to fail all three checks. In semester twenty twenty-four dash one, two of ten students in IT zero one are flagged. Four of twenty students in Business Administration are flagged. A useful answer must also include the actual reasons, not only the total count.</a:t>
            </a:r>
          </a:p>
          <a:p xmlns:a="http://schemas.openxmlformats.org/drawingml/2006/main">
            <a:r>
              <a:t/>
            </a:r>
          </a:p>
          <a:p xmlns:a="http://schemas.openxmlformats.org/drawingml/2006/main">
            <a:r>
              <a:t>Sources: K12 and K13; academic tools.ts, at_risk_students</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advising meeting needs more than GPA. The assistant should combine the transcript, attendance and conduct for the same student and semester. Our question asks for these parts together. The advisor meeting prompt helps prepare that context. When we review the final answer, we should check that it keeps important exam restrictions and gives advice that follows from the records.</a:t>
            </a:r>
          </a:p>
          <a:p xmlns:a="http://schemas.openxmlformats.org/drawingml/2006/main">
            <a:r>
              <a:t/>
            </a:r>
          </a:p>
          <a:p xmlns:a="http://schemas.openxmlformats.org/drawingml/2006/main">
            <a:r>
              <a:t>Sources: K15; academic prompts.ts, advisor_meeting</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Tien’s tuition tools show the amount due, the amount paid and the remaining balance. The balance is the amount due minus the amount paid. We test paid and unpaid payment examples. We also ask for the total outstanding balance of a class. These financial values come from the finance snapshot, and the complete results are in the new logs.</a:t>
            </a:r>
          </a:p>
          <a:p xmlns:a="http://schemas.openxmlformats.org/drawingml/2006/main">
            <a:r>
              <a:t/>
            </a:r>
          </a:p>
          <a:p xmlns:a="http://schemas.openxmlformats.org/drawingml/2006/main">
            <a:r>
              <a:t>Sources: K16 to K19; finance snapshot Finance PR 2 snapshot 530d5da</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Scholarship eligibility has several conditions. A high GPA alone is not enough. The finance server checks conduct, tuition and owed courses as well. The ranking tool then orders eligible candidates by GPA and conduct, with the student ID as a final tie-break. The model reports the server’s decision. It should not decide scholarship eligibility from a student’s name or from GPA alone.</a:t>
            </a:r>
          </a:p>
          <a:p xmlns:a="http://schemas.openxmlformats.org/drawingml/2006/main">
            <a:r>
              <a:t/>
            </a:r>
          </a:p>
          <a:p xmlns:a="http://schemas.openxmlformats.org/drawingml/2006/main">
            <a:r>
              <a:t>Sources: K20 and K21; finance rules.ts and scholarships.csv</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concrete ranking example from our finance snapshot. The question asks for scholarship S C H zero two in Information Technology. The Excel sheet checks the eligibility conditions for each student and calculates a rank. We compare the tool’s eligible count and first candidate with that independent reference. The result is a candidate list, not an automatic scholarship approval.</a:t>
            </a:r>
          </a:p>
          <a:p xmlns:a="http://schemas.openxmlformats.org/drawingml/2006/main">
            <a:r>
              <a:t/>
            </a:r>
          </a:p>
          <a:p xmlns:a="http://schemas.openxmlformats.org/drawingml/2006/main">
            <a:r>
              <a:t>Sources: K21; Excel ScholarshipCheck sheet</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pay uses the teacher’s assigned sections and a payroll row. Weekly periods are converted to monthly periods with the configured number of weeks. The title selects the rate per period. The calculation then adds teaching pay, overtime and other bonuses, and subtracts deductions. We check a single teacher and the faculty payroll total. All payroll records are fictional test data.</a:t>
            </a:r>
          </a:p>
          <a:p xmlns:a="http://schemas.openxmlformats.org/drawingml/2006/main">
            <a:r>
              <a:t/>
            </a:r>
          </a:p>
          <a:p xmlns:a="http://schemas.openxmlformats.org/drawingml/2006/main">
            <a:r>
              <a:t>Sources: K22 and K23; finance/config/finance.json and rules.ts</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Finance also introduces an access boundary. Without finance tools, the assistant should explain that it cannot answer a money question. It must not guess. Tien’s tests show that scholarship questions still need care, because a model can answer from GPA alone when the correct tool is missing. A payroll approval is different from reading a salary: it must ask for confirmation before changing state.</a:t>
            </a:r>
          </a:p>
          <a:p xmlns:a="http://schemas.openxmlformats.org/drawingml/2006/main">
            <a:r>
              <a:t/>
            </a:r>
          </a:p>
          <a:p xmlns:a="http://schemas.openxmlformats.org/drawingml/2006/main">
            <a:r>
              <a:t>Sources: TASKS.md; finance tools.ts; Tiến F1 experiment in PR2</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Khoa’s new test set contains twenty-four natural English questions. Fifteen cover academic tools and advising. Nine cover finance, including all six read-only finance tools. The cases include valid inputs, empty results, invalid IDs and exact boundaries. The answer key has fifty-five checked metrics. The shared benchmark can use these questions and expected values when the team combines the final features.</a:t>
            </a:r>
          </a:p>
          <a:p xmlns:a="http://schemas.openxmlformats.org/drawingml/2006/main">
            <a:r>
              <a:t/>
            </a:r>
          </a:p>
          <a:p xmlns:a="http://schemas.openxmlformats.org/drawingml/2006/main">
            <a:r>
              <a:t>Sources: test-cases.csv; test-reference.xlsx</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workbook is designed so we can check the answers ourselves. First, find the question ID on the Answers sheet. Then follow the formula to the source rows and rule values. Check the intermediate numbers, such as absences, credits or teaching periods. Finally, compare the result with the tool output. The formulas were also cross-checked independently from the CSV files.</a:t>
            </a:r>
          </a:p>
          <a:p xmlns:a="http://schemas.openxmlformats.org/drawingml/2006/main">
            <a:r>
              <a:t/>
            </a:r>
          </a:p>
          <a:p xmlns:a="http://schemas.openxmlformats.org/drawingml/2006/main">
            <a:r>
              <a:t>Sources: test-reference.xlsx, Answers and source sheets</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keep the main model settings fixed for Khoa’s model run. We use Gemini Flash Lite with temperature zero point two and a maximum of eight tool rounds. Each question starts a fresh conversation. Model fallback is disabled, so the model recorded in the log is the model we intended to test. We pace requests to respect the free-tier request limit.</a:t>
            </a:r>
          </a:p>
          <a:p xmlns:a="http://schemas.openxmlformats.org/drawingml/2006/main">
            <a:r>
              <a:t/>
            </a:r>
          </a:p>
          <a:p xmlns:a="http://schemas.openxmlformats.org/drawingml/2006/main">
            <a:r>
              <a:t>Sources: configs/host-stdio.json; gemini-stdio.jsonl metadata</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results from the new twenty-four-question test set. The direct MCP tests check tool outputs without a language model. The Gemini run also checks the selected tools and the required arguments. These checks cover exact values, but they do not replace reading the final answers. An advising summary can contain the right numbers and still leave out a useful explanation.</a:t>
            </a:r>
          </a:p>
          <a:p xmlns:a="http://schemas.openxmlformats.org/drawingml/2006/main">
            <a:r>
              <a:t/>
            </a:r>
          </a:p>
          <a:p xmlns:a="http://schemas.openxmlformats.org/drawingml/2006/main">
            <a:r>
              <a:t>Sources: check-stdio.jsonl; check-http.jsonl; gemini-stdio.jsonl</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record both time and token use. Direct MCP time measures the local tool path. Gemini question time also includes model requests and any retry wait inside the question. The pacing gap between questions is outside this measurement. These are single runs on this machine, so we should report the numbers as observations rather than claim that one transport is always faster.</a:t>
            </a:r>
          </a:p>
          <a:p xmlns:a="http://schemas.openxmlformats.org/drawingml/2006/main">
            <a:r>
              <a:t/>
            </a:r>
          </a:p>
          <a:p xmlns:a="http://schemas.openxmlformats.org/drawingml/2006/main">
            <a:r>
              <a:t>Sources: comparison.csv; provider usage in gemini-stdio.jsonl</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Hoang’s separate experiment uses maximum tool-round settings of two, four and eight. The report workflow completed in two rounds in each of those runs. This means that two rounds were enough for that tested workflow. It does not mean two rounds are enough for every question. More rounds can leave room for correcting an invalid call or completing a longer chain.</a:t>
            </a:r>
          </a:p>
          <a:p xmlns:a="http://schemas.openxmlformats.org/drawingml/2006/main">
            <a:r>
              <a:t/>
            </a:r>
          </a:p>
          <a:p xmlns:a="http://schemas.openxmlformats.org/drawingml/2006/main">
            <a:r>
              <a:t>Sources: phase2/runs/hoang/maxToolRounds-*.jsonl; docs/experiments.md</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Hoang also ran six questions at each of three temperatures. The output-token totals come from his raw logs. Temperature zero point two used fewer output tokens in these runs than zero or one. The answers still need to be checked for content. This small experiment supports a concise default for the demo, but it does not prove that one temperature is best for every task.</a:t>
            </a:r>
          </a:p>
          <a:p xmlns:a="http://schemas.openxmlformats.org/drawingml/2006/main">
            <a:r>
              <a:t/>
            </a:r>
          </a:p>
          <a:p xmlns:a="http://schemas.openxmlformats.org/drawingml/2006/main">
            <a:r>
              <a:t>Sources: phase2/runs/hoang/temperature-*.jsonl</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Tool descriptions can affect both tool choice and prompt size. A clear description tells the model when to use the tool and what each parameter means. A shorter description may save space. However, changing the host’s system prompt is not the same as shortening the registered tool schemas. The current report marks the genuine terse-schema comparison as not measured, so we do not invent an accuracy difference.</a:t>
            </a:r>
          </a:p>
          <a:p xmlns:a="http://schemas.openxmlformats.org/drawingml/2006/main">
            <a:r>
              <a:t/>
            </a:r>
          </a:p>
          <a:p xmlns:a="http://schemas.openxmlformats.org/drawingml/2006/main">
            <a:r>
              <a:t>Sources: mcp-academic/docs/experiments.md, Experiment 1</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earlier model comparison used eleven cases, with two runs per model, on another machine. All three measured models passed those turns. The local instruct model had a lower median model time, while the thinking model took much longer. We keep these historical results separate from Khoa’s new twenty-four-case run. They are useful context, not a new Qwen measurement on this machine.</a:t>
            </a:r>
          </a:p>
          <a:p xmlns:a="http://schemas.openxmlformats.org/drawingml/2006/main">
            <a:r>
              <a:t/>
            </a:r>
          </a:p>
          <a:p xmlns:a="http://schemas.openxmlformats.org/drawingml/2006/main">
            <a:r>
              <a:t>Sources: mcp-academic/docs/model-comparison.md; docs/model-observations.md, 2026-09-21</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Tool schemas use part of the model’s context window. Tien measured an earlier twenty-tool setup on Qwen. It used about two thousand nine hundred and eighty-one tokens for tools, system text and the template, leaving room in an eight-thousand-one-hundred-and-ninety-two-token context. Our combined setup has twenty-seven tools, so we should measure it again instead of treating the old number as its exact budget.</a:t>
            </a:r>
          </a:p>
          <a:p xmlns:a="http://schemas.openxmlformats.org/drawingml/2006/main">
            <a:r>
              <a:t/>
            </a:r>
          </a:p>
          <a:p xmlns:a="http://schemas.openxmlformats.org/drawingml/2006/main">
            <a:r>
              <a:t>Sources: Khoa capabilities; Tiến F2 in finance PR2</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Several improvements came from actual problems. A grade update now keeps a score that the user did not ask to change. The host prompt asks the model to use the language of the latest question. Benchmarks disable fallback so results are attributed correctly. In Khoa’s test pack, independent Excel expectations help us detect a calculation error that a tool-derived answer key could otherwise repeat.</a:t>
            </a:r>
          </a:p>
          <a:p xmlns:a="http://schemas.openxmlformats.org/drawingml/2006/main">
            <a:r>
              <a:t/>
            </a:r>
          </a:p>
          <a:p xmlns:a="http://schemas.openxmlformats.org/drawingml/2006/main">
            <a:r>
              <a:t>Sources: phase2/improvements.md; docs/model-observations.md; Khoa Excel key</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results have clear limits. Finance is tested from its feature snapshot because the final merge is still pending. Its records must not be mixed with a different teacher or conduct snapshot. One run per configuration is also a small sample. The next useful step is to repeat the complete set after the final merge and review the final advising explanations, not only their numbers.</a:t>
            </a:r>
          </a:p>
          <a:p xmlns:a="http://schemas.openxmlformats.org/drawingml/2006/main">
            <a:r>
              <a:t/>
            </a:r>
          </a:p>
          <a:p xmlns:a="http://schemas.openxmlformats.org/drawingml/2006/main">
            <a:r>
              <a:t>Sources: Khoa sources and logs; docs/experiments.md limits</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a short live demonstration, we can start with a teacher workload question. Next, we compare the two attendance boundary cases. Then we ask about scholarship eligibility and ranking. At the end, we open a log and show the actual tool arguments and returned result. This order is easy to follow and connects the feature, the answer key and the measured evidence.</a:t>
            </a:r>
          </a:p>
          <a:p xmlns:a="http://schemas.openxmlformats.org/drawingml/2006/main">
            <a:r>
              <a:t/>
            </a:r>
          </a:p>
          <a:p xmlns:a="http://schemas.openxmlformats.org/drawingml/2006/main">
            <a:r>
              <a:t>Sources: K04; K07; K08; K20; K21</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finish, Phase Two makes the assistant useful for more university situations. The servers calculate the important values, and the Excel key connects those values to the CSV data. Settings affect response time, output length and the room available for error recovery. The logs let us inspect what really happened. Thank you for listening. We are ready for your questions.</a:t>
            </a:r>
          </a:p>
          <a:p xmlns:a="http://schemas.openxmlformats.org/drawingml/2006/main">
            <a:r>
              <a:t/>
            </a:r>
          </a:p>
          <a:p xmlns:a="http://schemas.openxmlformats.org/drawingml/2006/main">
            <a:r>
              <a:t>Sources: Khoa final pack; phase2/improvements.md</a:t>
            </a:r>
          </a:p>
          <a:p xmlns:a="http://schemas.openxmlformats.org/drawingml/2006/main">
            <a:r>
              <a:t>Data is synthetic. Finance results were measured from the PR 2 feature snapshot; its code was not merged into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d53505bee4f418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6b8f79fb46b489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ed44b96e4b44be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0ec0e6e345d4cc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53da9c00c864f5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45f1b5a2094424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F0BA3BF-08C4-4DEE-B0DF-3D718AD31DD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5960B49-3759-4158-87C0-04F6C31D056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E1B2A7A-CB28-4985-8394-6E77E956B6A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C7E1C1B-9636-4E43-95D9-29DD77F1F0C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647998F-170F-4BCA-BD0A-AA313AEEBC6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2D1C15E-9E50-4472-B98F-58CA1F79C35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3BA62ED-32F8-48BC-999E-41097B69349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9E0F10F-0F01-4A8F-8734-57BC378EE87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6CBD94F-DD34-4359-9D86-18F4B7ADD98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AA28337-A95A-4ED3-ABC7-56489E14A15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249aad847b04c04" /><Relationship Type="http://schemas.openxmlformats.org/officeDocument/2006/relationships/slideLayout" Target="/ppt/slideLayouts/slideLayout1.xml" Id="R1d8e6f1ce8bf4415" /><Relationship Type="http://schemas.openxmlformats.org/officeDocument/2006/relationships/slideLayout" Target="/ppt/slideLayouts/slideLayout2.xml" Id="R38a9576e5a31410d" /><Relationship Type="http://schemas.openxmlformats.org/officeDocument/2006/relationships/slideLayout" Target="/ppt/slideLayouts/slideLayout3.xml" Id="Rfc1ff7ed9b0442a7" /><Relationship Type="http://schemas.openxmlformats.org/officeDocument/2006/relationships/slideLayout" Target="/ppt/slideLayouts/slideLayout4.xml" Id="R48045e29440b4d85" /><Relationship Type="http://schemas.openxmlformats.org/officeDocument/2006/relationships/slideLayout" Target="/ppt/slideLayouts/slideLayout5.xml" Id="R1471688f509a4b44" /><Relationship Type="http://schemas.openxmlformats.org/officeDocument/2006/relationships/slideLayout" Target="/ppt/slideLayouts/slideLayout6.xml" Id="R53cd8e95a8ff4eb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d8e6f1ce8bf4415"/>
    <p:sldLayoutId xmlns:r="http://schemas.openxmlformats.org/officeDocument/2006/relationships" id="2147483650" r:id="R38a9576e5a31410d"/>
    <p:sldLayoutId xmlns:r="http://schemas.openxmlformats.org/officeDocument/2006/relationships" id="2147483651" r:id="Rfc1ff7ed9b0442a7"/>
    <p:sldLayoutId xmlns:r="http://schemas.openxmlformats.org/officeDocument/2006/relationships" id="2147483652" r:id="R48045e29440b4d85"/>
    <p:sldLayoutId xmlns:r="http://schemas.openxmlformats.org/officeDocument/2006/relationships" id="2147483653" r:id="R1471688f509a4b44"/>
    <p:sldLayoutId xmlns:r="http://schemas.openxmlformats.org/officeDocument/2006/relationships" id="2147483654" r:id="R53cd8e95a8ff4eb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8ecc4986e1f4fe4" /><Relationship Type="http://schemas.openxmlformats.org/officeDocument/2006/relationships/notesSlide" Target="/ppt/notesSlides/notesSlide1.xml" Id="R8dc013b3f68341a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a7dfdacb3c64115" /><Relationship Type="http://schemas.openxmlformats.org/officeDocument/2006/relationships/notesSlide" Target="/ppt/notesSlides/notesSlide2.xml" Id="R70d03a1303654e9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11325feedd940e0" /><Relationship Type="http://schemas.openxmlformats.org/officeDocument/2006/relationships/notesSlide" Target="/ppt/notesSlides/notesSlide3.xml" Id="R377298c9e69a4a0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abb0fd8a73d4cac" /><Relationship Type="http://schemas.openxmlformats.org/officeDocument/2006/relationships/notesSlide" Target="/ppt/notesSlides/notesSlide4.xml" Id="Ra8de2a5a2c794ac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770c1f705ea430c" /><Relationship Type="http://schemas.openxmlformats.org/officeDocument/2006/relationships/notesSlide" Target="/ppt/notesSlides/notesSlide5.xml" Id="Rb83d37ee71214fb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849ab5221af4f0f" /><Relationship Type="http://schemas.openxmlformats.org/officeDocument/2006/relationships/notesSlide" Target="/ppt/notesSlides/notesSlide6.xml" Id="R5820b1e9fcd94c5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2e6a210f7074674" /><Relationship Type="http://schemas.openxmlformats.org/officeDocument/2006/relationships/notesSlide" Target="/ppt/notesSlides/notesSlide7.xml" Id="R9484f02c379f4e6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c927813c5074b4f" /><Relationship Type="http://schemas.openxmlformats.org/officeDocument/2006/relationships/notesSlide" Target="/ppt/notesSlides/notesSlide8.xml" Id="R18d97e34a9c74fb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75097da4e0a43c7" /><Relationship Type="http://schemas.openxmlformats.org/officeDocument/2006/relationships/notesSlide" Target="/ppt/notesSlides/notesSlide9.xml" Id="Rd9ccc61688c248f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af61eaaaecf471c" /><Relationship Type="http://schemas.openxmlformats.org/officeDocument/2006/relationships/notesSlide" Target="/ppt/notesSlides/notesSlide10.xml" Id="Rcf4e974fa2894da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2046f68ef364ef5" /><Relationship Type="http://schemas.openxmlformats.org/officeDocument/2006/relationships/notesSlide" Target="/ppt/notesSlides/notesSlide11.xml" Id="R369851eeedd149d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cd1c80111e44d0f" /><Relationship Type="http://schemas.openxmlformats.org/officeDocument/2006/relationships/notesSlide" Target="/ppt/notesSlides/notesSlide12.xml" Id="R012664686491484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a4b7035990e42aa" /><Relationship Type="http://schemas.openxmlformats.org/officeDocument/2006/relationships/notesSlide" Target="/ppt/notesSlides/notesSlide13.xml" Id="R0f22bd8e198d462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4108867dff544a2" /><Relationship Type="http://schemas.openxmlformats.org/officeDocument/2006/relationships/notesSlide" Target="/ppt/notesSlides/notesSlide14.xml" Id="Rff35891bcd1b436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8f36ead51994802" /><Relationship Type="http://schemas.openxmlformats.org/officeDocument/2006/relationships/notesSlide" Target="/ppt/notesSlides/notesSlide15.xml" Id="Rd823eb91a41046f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ce232ef9dcb48e4" /><Relationship Type="http://schemas.openxmlformats.org/officeDocument/2006/relationships/notesSlide" Target="/ppt/notesSlides/notesSlide16.xml" Id="Rae878d70ea00408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f8afbd91b364868" /><Relationship Type="http://schemas.openxmlformats.org/officeDocument/2006/relationships/notesSlide" Target="/ppt/notesSlides/notesSlide17.xml" Id="Rf00758fbfd854ef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a1ad0602382481f" /><Relationship Type="http://schemas.openxmlformats.org/officeDocument/2006/relationships/notesSlide" Target="/ppt/notesSlides/notesSlide18.xml" Id="R9382f67ecc8e4b0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44bef328e1e4dab" /><Relationship Type="http://schemas.openxmlformats.org/officeDocument/2006/relationships/notesSlide" Target="/ppt/notesSlides/notesSlide19.xml" Id="R4b09ad77d5514df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584280305a6a4261" /><Relationship Type="http://schemas.openxmlformats.org/officeDocument/2006/relationships/notesSlide" Target="/ppt/notesSlides/notesSlide20.xml" Id="Rac463049166a403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e85fd338576d4a67" /><Relationship Type="http://schemas.openxmlformats.org/officeDocument/2006/relationships/notesSlide" Target="/ppt/notesSlides/notesSlide21.xml" Id="R968acd8e0228446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3599e432f07a4b31" /><Relationship Type="http://schemas.openxmlformats.org/officeDocument/2006/relationships/notesSlide" Target="/ppt/notesSlides/notesSlide22.xml" Id="Rab08947edd1c470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e77ae3b9b45e46da" /><Relationship Type="http://schemas.openxmlformats.org/officeDocument/2006/relationships/notesSlide" Target="/ppt/notesSlides/notesSlide23.xml" Id="R05dad6c7fb63474c"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4c13ea8ec9714986" /><Relationship Type="http://schemas.openxmlformats.org/officeDocument/2006/relationships/notesSlide" Target="/ppt/notesSlides/notesSlide24.xml" Id="Rdac636a18681493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45a28a5378a34226" /><Relationship Type="http://schemas.openxmlformats.org/officeDocument/2006/relationships/notesSlide" Target="/ppt/notesSlides/notesSlide25.xml" Id="R56d164e5b080422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3ea535d3ea7f4880" /><Relationship Type="http://schemas.openxmlformats.org/officeDocument/2006/relationships/notesSlide" Target="/ppt/notesSlides/notesSlide26.xml" Id="R255315215a96470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0b5e6f4a9164f12" /><Relationship Type="http://schemas.openxmlformats.org/officeDocument/2006/relationships/notesSlide" Target="/ppt/notesSlides/notesSlide27.xml" Id="Rf236854a6c0e46b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ee439116b074c7c" /><Relationship Type="http://schemas.openxmlformats.org/officeDocument/2006/relationships/notesSlide" Target="/ppt/notesSlides/notesSlide28.xml" Id="R4b075fb5c04c430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43fc021c0fc74d62" /><Relationship Type="http://schemas.openxmlformats.org/officeDocument/2006/relationships/notesSlide" Target="/ppt/notesSlides/notesSlide29.xml" Id="R7f0c09a04ee84038"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9c18632c99e94bb7" /><Relationship Type="http://schemas.openxmlformats.org/officeDocument/2006/relationships/notesSlide" Target="/ppt/notesSlides/notesSlide30.xml" Id="Rb1cb43823f6e434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01646fecca194827" /><Relationship Type="http://schemas.openxmlformats.org/officeDocument/2006/relationships/notesSlide" Target="/ppt/notesSlides/notesSlide31.xml" Id="R772c4b9c8a074f43" /></Relationships>
</file>

<file path=ppt/slides/slide1.xml><?xml version="1.0" encoding="utf-8"?>
<p:sld xmlns:p="http://schemas.openxmlformats.org/presentationml/2006/main">
  <p:cSld>
    <p:bg>
      <p:bgPr>
        <a:solidFill xmlns:a="http://schemas.openxmlformats.org/drawingml/2006/main">
          <a:srgbClr val="12324A"/>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A9E773E-74B3-43A8-B802-F2BB26C92708}"/>
              </a:ext>
            </a:extLst>
          </p:cNvPr>
          <p:cNvSpPr>
            <a:spLocks xmlns:a="http://schemas.openxmlformats.org/drawingml/2006/main" noGrp="1"/>
          </p:cNvSpPr>
          <p:nvPr/>
        </p:nvSpPr>
        <p:spPr>
          <a:xfrm xmlns:a="http://schemas.openxmlformats.org/drawingml/2006/main">
            <a:off x="762000" y="1095375"/>
            <a:ext cx="10287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950" b="1">
                <a:solidFill>
                  <a:srgbClr val="FFFFFF"/>
                </a:solidFill>
                <a:latin typeface="Arial"/>
                <a:ea typeface="Arial"/>
                <a:cs typeface="Arial"/>
              </a:defRPr>
            </a:defPPr>
            <a:lvl1pPr>
              <a:defRPr sz="4950" b="1">
                <a:solidFill>
                  <a:srgbClr val="FFFFFF"/>
                </a:solidFill>
                <a:latin typeface="Arial"/>
                <a:ea typeface="Arial"/>
                <a:cs typeface="Arial"/>
              </a:defRPr>
            </a:lvl1pPr>
            <a:lvl2pPr>
              <a:defRPr sz="4950" b="1">
                <a:solidFill>
                  <a:srgbClr val="FFFFFF"/>
                </a:solidFill>
                <a:latin typeface="Arial"/>
                <a:ea typeface="Arial"/>
                <a:cs typeface="Arial"/>
              </a:defRPr>
            </a:lvl2pPr>
            <a:lvl3pPr>
              <a:defRPr sz="4950" b="1">
                <a:solidFill>
                  <a:srgbClr val="FFFFFF"/>
                </a:solidFill>
                <a:latin typeface="Arial"/>
                <a:ea typeface="Arial"/>
                <a:cs typeface="Arial"/>
              </a:defRPr>
            </a:lvl3pPr>
            <a:lvl4pPr>
              <a:defRPr sz="4950" b="1">
                <a:solidFill>
                  <a:srgbClr val="FFFFFF"/>
                </a:solidFill>
                <a:latin typeface="Arial"/>
                <a:ea typeface="Arial"/>
                <a:cs typeface="Arial"/>
              </a:defRPr>
            </a:lvl4pPr>
            <a:lvl5pPr>
              <a:defRPr sz="4950" b="1">
                <a:solidFill>
                  <a:srgbClr val="FFFFFF"/>
                </a:solidFill>
                <a:latin typeface="Arial"/>
                <a:ea typeface="Arial"/>
                <a:cs typeface="Arial"/>
              </a:defRPr>
            </a:lvl5pPr>
            <a:lvl6pPr>
              <a:defRPr sz="4950" b="1">
                <a:solidFill>
                  <a:srgbClr val="FFFFFF"/>
                </a:solidFill>
                <a:latin typeface="Arial"/>
                <a:ea typeface="Arial"/>
                <a:cs typeface="Arial"/>
              </a:defRPr>
            </a:lvl6pPr>
            <a:lvl7pPr>
              <a:defRPr sz="4950" b="1">
                <a:solidFill>
                  <a:srgbClr val="FFFFFF"/>
                </a:solidFill>
                <a:latin typeface="Arial"/>
                <a:ea typeface="Arial"/>
                <a:cs typeface="Arial"/>
              </a:defRPr>
            </a:lvl7pPr>
            <a:lvl8pPr>
              <a:defRPr sz="4950" b="1">
                <a:solidFill>
                  <a:srgbClr val="FFFFFF"/>
                </a:solidFill>
                <a:latin typeface="Arial"/>
                <a:ea typeface="Arial"/>
                <a:cs typeface="Arial"/>
              </a:defRPr>
            </a:lvl8pPr>
            <a:lvl9pPr>
              <a:defRPr sz="4950" b="1">
                <a:solidFill>
                  <a:srgbClr val="FFFFFF"/>
                </a:solidFill>
                <a:latin typeface="Arial"/>
                <a:ea typeface="Arial"/>
                <a:cs typeface="Arial"/>
              </a:defRPr>
            </a:lvl9pPr>
          </a:lstStyle>
          <a:p xmlns:a="http://schemas.openxmlformats.org/drawingml/2006/main">
            <a:pPr>
              <a:defRPr sz="4950" b="1">
                <a:solidFill>
                  <a:srgbClr val="FFFFFF"/>
                </a:solidFill>
                <a:latin typeface="Arial"/>
                <a:ea typeface="Arial"/>
                <a:cs typeface="Arial"/>
              </a:defRPr>
            </a:pPr>
            <a:r>
              <a:rPr sz="4950" b="1">
                <a:solidFill>
                  <a:srgbClr val="FFFFFF"/>
                </a:solidFill>
                <a:latin typeface="Arial"/>
                <a:ea typeface="Arial"/>
                <a:cs typeface="Arial"/>
              </a:rPr>
              <a:t>MCP Academic Assistant</a:t>
            </a:r>
          </a:p>
          <a:p xmlns:a="http://schemas.openxmlformats.org/drawingml/2006/main">
            <a:pPr>
              <a:defRPr sz="4950" b="1">
                <a:solidFill>
                  <a:srgbClr val="FFFFFF"/>
                </a:solidFill>
                <a:latin typeface="Arial"/>
                <a:ea typeface="Arial"/>
                <a:cs typeface="Arial"/>
              </a:defRPr>
            </a:pPr>
            <a:r>
              <a:rPr sz="4950" b="1">
                <a:solidFill>
                  <a:srgbClr val="FFFFFF"/>
                </a:solidFill>
                <a:latin typeface="Arial"/>
                <a:ea typeface="Arial"/>
                <a:cs typeface="Arial"/>
              </a:rPr>
              <a:t>Phase Two</a:t>
            </a:r>
          </a:p>
        </p:txBody>
      </p:sp>
      <p:sp>
        <p:nvSpPr>
          <p:cNvPr id="2" name="">
            <a:extLst xmlns:a="http://schemas.openxmlformats.org/drawingml/2006/main">
              <a:ext uri="{FF2B5EF4-FFF2-40B4-BE49-F238E27FC236}">
                <a16:creationId xmlns:a16="http://schemas.microsoft.com/office/drawing/2014/main" id="{31E0E971-2C7C-4C98-8297-2FFA081143FE}"/>
              </a:ext>
            </a:extLst>
          </p:cNvPr>
          <p:cNvSpPr>
            <a:spLocks xmlns:a="http://schemas.openxmlformats.org/drawingml/2006/main" noGrp="1"/>
          </p:cNvSpPr>
          <p:nvPr/>
        </p:nvSpPr>
        <p:spPr>
          <a:xfrm xmlns:a="http://schemas.openxmlformats.org/drawingml/2006/main">
            <a:off x="762000" y="3514725"/>
            <a:ext cx="2095500" cy="57150"/>
          </a:xfrm>
          <a:prstGeom xmlns:a="http://schemas.openxmlformats.org/drawingml/2006/main" prst="rect">
            <a:avLst/>
          </a:prstGeom>
          <a:solidFill xmlns:a="http://schemas.openxmlformats.org/drawingml/2006/main">
            <a:srgbClr val="63C5BE"/>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FE5553C-8C96-4321-B41C-B8A402BD6386}"/>
              </a:ext>
            </a:extLst>
          </p:cNvPr>
          <p:cNvSpPr>
            <a:spLocks xmlns:a="http://schemas.openxmlformats.org/drawingml/2006/main" noGrp="1"/>
          </p:cNvSpPr>
          <p:nvPr/>
        </p:nvSpPr>
        <p:spPr>
          <a:xfrm xmlns:a="http://schemas.openxmlformats.org/drawingml/2006/main">
            <a:off x="762000" y="3857625"/>
            <a:ext cx="1047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E4F0EF"/>
                </a:solidFill>
                <a:latin typeface="Arial"/>
                <a:ea typeface="Arial"/>
                <a:cs typeface="Arial"/>
              </a:defRPr>
            </a:defPPr>
            <a:lvl1pPr>
              <a:defRPr sz="2250" b="0">
                <a:solidFill>
                  <a:srgbClr val="E4F0EF"/>
                </a:solidFill>
                <a:latin typeface="Arial"/>
                <a:ea typeface="Arial"/>
                <a:cs typeface="Arial"/>
              </a:defRPr>
            </a:lvl1pPr>
            <a:lvl2pPr>
              <a:defRPr sz="2250" b="0">
                <a:solidFill>
                  <a:srgbClr val="E4F0EF"/>
                </a:solidFill>
                <a:latin typeface="Arial"/>
                <a:ea typeface="Arial"/>
                <a:cs typeface="Arial"/>
              </a:defRPr>
            </a:lvl2pPr>
            <a:lvl3pPr>
              <a:defRPr sz="2250" b="0">
                <a:solidFill>
                  <a:srgbClr val="E4F0EF"/>
                </a:solidFill>
                <a:latin typeface="Arial"/>
                <a:ea typeface="Arial"/>
                <a:cs typeface="Arial"/>
              </a:defRPr>
            </a:lvl3pPr>
            <a:lvl4pPr>
              <a:defRPr sz="2250" b="0">
                <a:solidFill>
                  <a:srgbClr val="E4F0EF"/>
                </a:solidFill>
                <a:latin typeface="Arial"/>
                <a:ea typeface="Arial"/>
                <a:cs typeface="Arial"/>
              </a:defRPr>
            </a:lvl4pPr>
            <a:lvl5pPr>
              <a:defRPr sz="2250" b="0">
                <a:solidFill>
                  <a:srgbClr val="E4F0EF"/>
                </a:solidFill>
                <a:latin typeface="Arial"/>
                <a:ea typeface="Arial"/>
                <a:cs typeface="Arial"/>
              </a:defRPr>
            </a:lvl5pPr>
            <a:lvl6pPr>
              <a:defRPr sz="2250" b="0">
                <a:solidFill>
                  <a:srgbClr val="E4F0EF"/>
                </a:solidFill>
                <a:latin typeface="Arial"/>
                <a:ea typeface="Arial"/>
                <a:cs typeface="Arial"/>
              </a:defRPr>
            </a:lvl6pPr>
            <a:lvl7pPr>
              <a:defRPr sz="2250" b="0">
                <a:solidFill>
                  <a:srgbClr val="E4F0EF"/>
                </a:solidFill>
                <a:latin typeface="Arial"/>
                <a:ea typeface="Arial"/>
                <a:cs typeface="Arial"/>
              </a:defRPr>
            </a:lvl7pPr>
            <a:lvl8pPr>
              <a:defRPr sz="2250" b="0">
                <a:solidFill>
                  <a:srgbClr val="E4F0EF"/>
                </a:solidFill>
                <a:latin typeface="Arial"/>
                <a:ea typeface="Arial"/>
                <a:cs typeface="Arial"/>
              </a:defRPr>
            </a:lvl8pPr>
            <a:lvl9pPr>
              <a:defRPr sz="2250" b="0">
                <a:solidFill>
                  <a:srgbClr val="E4F0EF"/>
                </a:solidFill>
                <a:latin typeface="Arial"/>
                <a:ea typeface="Arial"/>
                <a:cs typeface="Arial"/>
              </a:defRPr>
            </a:lvl9pPr>
          </a:lstStyle>
          <a:p xmlns:a="http://schemas.openxmlformats.org/drawingml/2006/main">
            <a:pPr>
              <a:defRPr sz="2250" b="0">
                <a:solidFill>
                  <a:srgbClr val="E4F0EF"/>
                </a:solidFill>
                <a:latin typeface="Arial"/>
                <a:ea typeface="Arial"/>
                <a:cs typeface="Arial"/>
              </a:defRPr>
            </a:pPr>
            <a:r>
              <a:rPr sz="2250" b="0">
                <a:solidFill>
                  <a:srgbClr val="E4F0EF"/>
                </a:solidFill>
                <a:latin typeface="Arial"/>
                <a:ea typeface="Arial"/>
                <a:cs typeface="Arial"/>
              </a:rPr>
              <a:t>New features and test results</a:t>
            </a:r>
          </a:p>
        </p:txBody>
      </p:sp>
      <p:sp>
        <p:nvSpPr>
          <p:cNvPr id="4" name="">
            <a:extLst xmlns:a="http://schemas.openxmlformats.org/drawingml/2006/main">
              <a:ext uri="{FF2B5EF4-FFF2-40B4-BE49-F238E27FC236}">
                <a16:creationId xmlns:a16="http://schemas.microsoft.com/office/drawing/2014/main" id="{150940E1-847F-4954-8681-65238C206BDA}"/>
              </a:ext>
            </a:extLst>
          </p:cNvPr>
          <p:cNvSpPr>
            <a:spLocks xmlns:a="http://schemas.openxmlformats.org/drawingml/2006/main" noGrp="1"/>
          </p:cNvSpPr>
          <p:nvPr/>
        </p:nvSpPr>
        <p:spPr>
          <a:xfrm xmlns:a="http://schemas.openxmlformats.org/drawingml/2006/main">
            <a:off x="762000" y="52197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B8D7D8"/>
                </a:solidFill>
                <a:latin typeface="Arial"/>
                <a:ea typeface="Arial"/>
                <a:cs typeface="Arial"/>
              </a:defRPr>
            </a:defPPr>
            <a:lvl1pPr>
              <a:defRPr sz="1725" b="0">
                <a:solidFill>
                  <a:srgbClr val="B8D7D8"/>
                </a:solidFill>
                <a:latin typeface="Arial"/>
                <a:ea typeface="Arial"/>
                <a:cs typeface="Arial"/>
              </a:defRPr>
            </a:lvl1pPr>
            <a:lvl2pPr>
              <a:defRPr sz="1725" b="0">
                <a:solidFill>
                  <a:srgbClr val="B8D7D8"/>
                </a:solidFill>
                <a:latin typeface="Arial"/>
                <a:ea typeface="Arial"/>
                <a:cs typeface="Arial"/>
              </a:defRPr>
            </a:lvl2pPr>
            <a:lvl3pPr>
              <a:defRPr sz="1725" b="0">
                <a:solidFill>
                  <a:srgbClr val="B8D7D8"/>
                </a:solidFill>
                <a:latin typeface="Arial"/>
                <a:ea typeface="Arial"/>
                <a:cs typeface="Arial"/>
              </a:defRPr>
            </a:lvl3pPr>
            <a:lvl4pPr>
              <a:defRPr sz="1725" b="0">
                <a:solidFill>
                  <a:srgbClr val="B8D7D8"/>
                </a:solidFill>
                <a:latin typeface="Arial"/>
                <a:ea typeface="Arial"/>
                <a:cs typeface="Arial"/>
              </a:defRPr>
            </a:lvl4pPr>
            <a:lvl5pPr>
              <a:defRPr sz="1725" b="0">
                <a:solidFill>
                  <a:srgbClr val="B8D7D8"/>
                </a:solidFill>
                <a:latin typeface="Arial"/>
                <a:ea typeface="Arial"/>
                <a:cs typeface="Arial"/>
              </a:defRPr>
            </a:lvl5pPr>
            <a:lvl6pPr>
              <a:defRPr sz="1725" b="0">
                <a:solidFill>
                  <a:srgbClr val="B8D7D8"/>
                </a:solidFill>
                <a:latin typeface="Arial"/>
                <a:ea typeface="Arial"/>
                <a:cs typeface="Arial"/>
              </a:defRPr>
            </a:lvl6pPr>
            <a:lvl7pPr>
              <a:defRPr sz="1725" b="0">
                <a:solidFill>
                  <a:srgbClr val="B8D7D8"/>
                </a:solidFill>
                <a:latin typeface="Arial"/>
                <a:ea typeface="Arial"/>
                <a:cs typeface="Arial"/>
              </a:defRPr>
            </a:lvl7pPr>
            <a:lvl8pPr>
              <a:defRPr sz="1725" b="0">
                <a:solidFill>
                  <a:srgbClr val="B8D7D8"/>
                </a:solidFill>
                <a:latin typeface="Arial"/>
                <a:ea typeface="Arial"/>
                <a:cs typeface="Arial"/>
              </a:defRPr>
            </a:lvl8pPr>
            <a:lvl9pPr>
              <a:defRPr sz="1725" b="0">
                <a:solidFill>
                  <a:srgbClr val="B8D7D8"/>
                </a:solidFill>
                <a:latin typeface="Arial"/>
                <a:ea typeface="Arial"/>
                <a:cs typeface="Arial"/>
              </a:defRPr>
            </a:lvl9pPr>
          </a:lstStyle>
          <a:p xmlns:a="http://schemas.openxmlformats.org/drawingml/2006/main">
            <a:pPr>
              <a:defRPr sz="1725" b="0">
                <a:solidFill>
                  <a:srgbClr val="B8D7D8"/>
                </a:solidFill>
                <a:latin typeface="Arial"/>
                <a:ea typeface="Arial"/>
                <a:cs typeface="Arial"/>
              </a:defRPr>
            </a:pPr>
            <a:r>
              <a:rPr sz="1725" b="0">
                <a:solidFill>
                  <a:srgbClr val="B8D7D8"/>
                </a:solidFill>
                <a:latin typeface="Arial"/>
                <a:ea typeface="Arial"/>
                <a:cs typeface="Arial"/>
              </a:rPr>
              <a:t>Khoa presentation</a:t>
            </a:r>
          </a:p>
        </p:txBody>
      </p:sp>
    </p:spTree>
    <p:extLst>
      <p:ext uri="{BB962C8B-B14F-4D97-AF65-F5344CB8AC3E}">
        <p14:creationId xmlns:p14="http://schemas.microsoft.com/office/powerpoint/2010/main" val="941065957"/>
      </p:ext>
    </p:extLst>
  </p:cSld>
</p:sld>
</file>

<file path=ppt/slides/slide2.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9CC9895-4718-4E43-B4CA-1619140BBB4B}"/>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What Phase Two must show</a:t>
            </a:r>
          </a:p>
        </p:txBody>
      </p:sp>
      <p:sp>
        <p:nvSpPr>
          <p:cNvPr id="2" name="">
            <a:extLst xmlns:a="http://schemas.openxmlformats.org/drawingml/2006/main">
              <a:ext uri="{FF2B5EF4-FFF2-40B4-BE49-F238E27FC236}">
                <a16:creationId xmlns:a16="http://schemas.microsoft.com/office/drawing/2014/main" id="{5D09AB4E-B7F8-4AB3-97C3-ECDA08B0FE6E}"/>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C663F366-4D47-4A9C-9679-0E5889DF13C9}"/>
              </a:ext>
            </a:extLst>
          </p:cNvPr>
          <p:cNvSpPr>
            <a:spLocks xmlns:a="http://schemas.openxmlformats.org/drawingml/2006/main" noGrp="1"/>
          </p:cNvSpPr>
          <p:nvPr/>
        </p:nvSpPr>
        <p:spPr>
          <a:xfrm xmlns:a="http://schemas.openxmlformats.org/drawingml/2006/main">
            <a:off x="762000" y="2047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E2B6D5F1-A00E-4E85-A665-B0C3185298C1}"/>
              </a:ext>
            </a:extLst>
          </p:cNvPr>
          <p:cNvSpPr>
            <a:spLocks xmlns:a="http://schemas.openxmlformats.org/drawingml/2006/main" noGrp="1"/>
          </p:cNvSpPr>
          <p:nvPr/>
        </p:nvSpPr>
        <p:spPr>
          <a:xfrm xmlns:a="http://schemas.openxmlformats.org/drawingml/2006/main">
            <a:off x="1619250" y="2000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Useful test situations</a:t>
            </a:r>
          </a:p>
        </p:txBody>
      </p:sp>
      <p:sp>
        <p:nvSpPr>
          <p:cNvPr id="5" name="">
            <a:extLst xmlns:a="http://schemas.openxmlformats.org/drawingml/2006/main">
              <a:ext uri="{FF2B5EF4-FFF2-40B4-BE49-F238E27FC236}">
                <a16:creationId xmlns:a16="http://schemas.microsoft.com/office/drawing/2014/main" id="{D21FC403-61AF-4CF5-93CB-98856E162537}"/>
              </a:ext>
            </a:extLst>
          </p:cNvPr>
          <p:cNvSpPr>
            <a:spLocks xmlns:a="http://schemas.openxmlformats.org/drawingml/2006/main" noGrp="1"/>
          </p:cNvSpPr>
          <p:nvPr/>
        </p:nvSpPr>
        <p:spPr>
          <a:xfrm xmlns:a="http://schemas.openxmlformats.org/drawingml/2006/main">
            <a:off x="762000" y="3000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619EC7D5-F2AB-4E7E-86D9-9D22B38AD56E}"/>
              </a:ext>
            </a:extLst>
          </p:cNvPr>
          <p:cNvSpPr>
            <a:spLocks xmlns:a="http://schemas.openxmlformats.org/drawingml/2006/main" noGrp="1"/>
          </p:cNvSpPr>
          <p:nvPr/>
        </p:nvSpPr>
        <p:spPr>
          <a:xfrm xmlns:a="http://schemas.openxmlformats.org/drawingml/2006/main">
            <a:off x="1619250" y="2952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Different settings and measured results</a:t>
            </a:r>
          </a:p>
        </p:txBody>
      </p:sp>
      <p:sp>
        <p:nvSpPr>
          <p:cNvPr id="7" name="">
            <a:extLst xmlns:a="http://schemas.openxmlformats.org/drawingml/2006/main">
              <a:ext uri="{FF2B5EF4-FFF2-40B4-BE49-F238E27FC236}">
                <a16:creationId xmlns:a16="http://schemas.microsoft.com/office/drawing/2014/main" id="{ECC04D1D-CC43-4B9D-AA20-CA2D38DAEE58}"/>
              </a:ext>
            </a:extLst>
          </p:cNvPr>
          <p:cNvSpPr>
            <a:spLocks xmlns:a="http://schemas.openxmlformats.org/drawingml/2006/main" noGrp="1"/>
          </p:cNvSpPr>
          <p:nvPr/>
        </p:nvSpPr>
        <p:spPr>
          <a:xfrm xmlns:a="http://schemas.openxmlformats.org/drawingml/2006/main">
            <a:off x="762000" y="3952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958E83AB-84AF-4F9F-869B-0639867118AD}"/>
              </a:ext>
            </a:extLst>
          </p:cNvPr>
          <p:cNvSpPr>
            <a:spLocks xmlns:a="http://schemas.openxmlformats.org/drawingml/2006/main" noGrp="1"/>
          </p:cNvSpPr>
          <p:nvPr/>
        </p:nvSpPr>
        <p:spPr>
          <a:xfrm xmlns:a="http://schemas.openxmlformats.org/drawingml/2006/main">
            <a:off x="1619250" y="3905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Clear comments and improvements</a:t>
            </a:r>
          </a:p>
        </p:txBody>
      </p:sp>
      <p:sp>
        <p:nvSpPr>
          <p:cNvPr id="9" name="">
            <a:extLst xmlns:a="http://schemas.openxmlformats.org/drawingml/2006/main">
              <a:ext uri="{FF2B5EF4-FFF2-40B4-BE49-F238E27FC236}">
                <a16:creationId xmlns:a16="http://schemas.microsoft.com/office/drawing/2014/main" id="{2DD65C8A-CC08-42DE-8AB0-F794C8263569}"/>
              </a:ext>
            </a:extLst>
          </p:cNvPr>
          <p:cNvSpPr>
            <a:spLocks xmlns:a="http://schemas.openxmlformats.org/drawingml/2006/main" noGrp="1"/>
          </p:cNvSpPr>
          <p:nvPr/>
        </p:nvSpPr>
        <p:spPr>
          <a:xfrm xmlns:a="http://schemas.openxmlformats.org/drawingml/2006/main">
            <a:off x="762000" y="4905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8B9E9320-4C04-4FA0-B8D5-88A1F29D0545}"/>
              </a:ext>
            </a:extLst>
          </p:cNvPr>
          <p:cNvSpPr>
            <a:spLocks xmlns:a="http://schemas.openxmlformats.org/drawingml/2006/main" noGrp="1"/>
          </p:cNvSpPr>
          <p:nvPr/>
        </p:nvSpPr>
        <p:spPr>
          <a:xfrm xmlns:a="http://schemas.openxmlformats.org/drawingml/2006/main">
            <a:off x="1619250" y="4857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Logs that support the results</a:t>
            </a:r>
          </a:p>
        </p:txBody>
      </p:sp>
      <p:sp>
        <p:nvSpPr>
          <p:cNvPr id="11" name="">
            <a:extLst xmlns:a="http://schemas.openxmlformats.org/drawingml/2006/main">
              <a:ext uri="{FF2B5EF4-FFF2-40B4-BE49-F238E27FC236}">
                <a16:creationId xmlns:a16="http://schemas.microsoft.com/office/drawing/2014/main" id="{CE8B310D-BACA-4709-B5F3-8E4FC9FDC698}"/>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02</a:t>
            </a:r>
          </a:p>
        </p:txBody>
      </p:sp>
    </p:spTree>
    <p:extLst>
      <p:ext uri="{BB962C8B-B14F-4D97-AF65-F5344CB8AC3E}">
        <p14:creationId xmlns:p14="http://schemas.microsoft.com/office/powerpoint/2010/main" val="1038958272"/>
      </p:ext>
    </p:extLst>
  </p:cSld>
</p:sld>
</file>

<file path=ppt/slides/slide3.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F4D625F-8F1D-49C2-808F-3CEA8AA76984}"/>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How the assistant works</a:t>
            </a:r>
          </a:p>
        </p:txBody>
      </p:sp>
      <p:sp>
        <p:nvSpPr>
          <p:cNvPr id="2" name="">
            <a:extLst xmlns:a="http://schemas.openxmlformats.org/drawingml/2006/main">
              <a:ext uri="{FF2B5EF4-FFF2-40B4-BE49-F238E27FC236}">
                <a16:creationId xmlns:a16="http://schemas.microsoft.com/office/drawing/2014/main" id="{D4349564-E423-4C5E-99AD-92557F720560}"/>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E275D96-02E8-4B71-AD01-D747B6AA1D9E}"/>
              </a:ext>
            </a:extLst>
          </p:cNvPr>
          <p:cNvSpPr>
            <a:spLocks xmlns:a="http://schemas.openxmlformats.org/drawingml/2006/main" noGrp="1"/>
          </p:cNvSpPr>
          <p:nvPr/>
        </p:nvSpPr>
        <p:spPr>
          <a:xfrm xmlns:a="http://schemas.openxmlformats.org/drawingml/2006/main">
            <a:off x="762000" y="2190750"/>
            <a:ext cx="4857750" cy="952500"/>
          </a:xfrm>
          <a:prstGeom xmlns:a="http://schemas.openxmlformats.org/drawingml/2006/main" prst="rect">
            <a:avLst/>
          </a:prstGeom>
          <a:solidFill xmlns:a="http://schemas.openxmlformats.org/drawingml/2006/main">
            <a:srgbClr val="12324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C5A38BF-E0BD-480F-A855-CE7DE5ABAA82}"/>
              </a:ext>
            </a:extLst>
          </p:cNvPr>
          <p:cNvSpPr>
            <a:spLocks xmlns:a="http://schemas.openxmlformats.org/drawingml/2006/main" noGrp="1"/>
          </p:cNvSpPr>
          <p:nvPr/>
        </p:nvSpPr>
        <p:spPr>
          <a:xfrm xmlns:a="http://schemas.openxmlformats.org/drawingml/2006/main">
            <a:off x="1000125" y="2438400"/>
            <a:ext cx="4381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FFFFFF"/>
                </a:solidFill>
                <a:latin typeface="Arial"/>
                <a:ea typeface="Arial"/>
                <a:cs typeface="Arial"/>
              </a:defRPr>
            </a:defPPr>
            <a:lvl1pPr>
              <a:defRPr sz="2025" b="1">
                <a:solidFill>
                  <a:srgbClr val="FFFFFF"/>
                </a:solidFill>
                <a:latin typeface="Arial"/>
                <a:ea typeface="Arial"/>
                <a:cs typeface="Arial"/>
              </a:defRPr>
            </a:lvl1pPr>
            <a:lvl2pPr>
              <a:defRPr sz="2025" b="1">
                <a:solidFill>
                  <a:srgbClr val="FFFFFF"/>
                </a:solidFill>
                <a:latin typeface="Arial"/>
                <a:ea typeface="Arial"/>
                <a:cs typeface="Arial"/>
              </a:defRPr>
            </a:lvl2pPr>
            <a:lvl3pPr>
              <a:defRPr sz="2025" b="1">
                <a:solidFill>
                  <a:srgbClr val="FFFFFF"/>
                </a:solidFill>
                <a:latin typeface="Arial"/>
                <a:ea typeface="Arial"/>
                <a:cs typeface="Arial"/>
              </a:defRPr>
            </a:lvl3pPr>
            <a:lvl4pPr>
              <a:defRPr sz="2025" b="1">
                <a:solidFill>
                  <a:srgbClr val="FFFFFF"/>
                </a:solidFill>
                <a:latin typeface="Arial"/>
                <a:ea typeface="Arial"/>
                <a:cs typeface="Arial"/>
              </a:defRPr>
            </a:lvl4pPr>
            <a:lvl5pPr>
              <a:defRPr sz="2025" b="1">
                <a:solidFill>
                  <a:srgbClr val="FFFFFF"/>
                </a:solidFill>
                <a:latin typeface="Arial"/>
                <a:ea typeface="Arial"/>
                <a:cs typeface="Arial"/>
              </a:defRPr>
            </a:lvl5pPr>
            <a:lvl6pPr>
              <a:defRPr sz="2025" b="1">
                <a:solidFill>
                  <a:srgbClr val="FFFFFF"/>
                </a:solidFill>
                <a:latin typeface="Arial"/>
                <a:ea typeface="Arial"/>
                <a:cs typeface="Arial"/>
              </a:defRPr>
            </a:lvl6pPr>
            <a:lvl7pPr>
              <a:defRPr sz="2025" b="1">
                <a:solidFill>
                  <a:srgbClr val="FFFFFF"/>
                </a:solidFill>
                <a:latin typeface="Arial"/>
                <a:ea typeface="Arial"/>
                <a:cs typeface="Arial"/>
              </a:defRPr>
            </a:lvl7pPr>
            <a:lvl8pPr>
              <a:defRPr sz="2025" b="1">
                <a:solidFill>
                  <a:srgbClr val="FFFFFF"/>
                </a:solidFill>
                <a:latin typeface="Arial"/>
                <a:ea typeface="Arial"/>
                <a:cs typeface="Arial"/>
              </a:defRPr>
            </a:lvl8pPr>
            <a:lvl9pPr>
              <a:defRPr sz="2025" b="1">
                <a:solidFill>
                  <a:srgbClr val="FFFFFF"/>
                </a:solidFill>
                <a:latin typeface="Arial"/>
                <a:ea typeface="Arial"/>
                <a:cs typeface="Arial"/>
              </a:defRPr>
            </a:lvl9pPr>
          </a:lstStyle>
          <a:p xmlns:a="http://schemas.openxmlformats.org/drawingml/2006/main">
            <a:pPr>
              <a:defRPr sz="2025" b="1">
                <a:solidFill>
                  <a:srgbClr val="FFFFFF"/>
                </a:solidFill>
                <a:latin typeface="Arial"/>
                <a:ea typeface="Arial"/>
                <a:cs typeface="Arial"/>
              </a:defRPr>
            </a:pPr>
            <a:r>
              <a:rPr sz="2025" b="1">
                <a:solidFill>
                  <a:srgbClr val="FFFFFF"/>
                </a:solidFill>
                <a:latin typeface="Arial"/>
                <a:ea typeface="Arial"/>
                <a:cs typeface="Arial"/>
              </a:rPr>
              <a:t>The user asks a question in English</a:t>
            </a:r>
          </a:p>
        </p:txBody>
      </p:sp>
      <p:sp>
        <p:nvSpPr>
          <p:cNvPr id="5" name="">
            <a:extLst xmlns:a="http://schemas.openxmlformats.org/drawingml/2006/main">
              <a:ext uri="{FF2B5EF4-FFF2-40B4-BE49-F238E27FC236}">
                <a16:creationId xmlns:a16="http://schemas.microsoft.com/office/drawing/2014/main" id="{B5B10459-5665-4FB1-A389-6B6CFB636697}"/>
              </a:ext>
            </a:extLst>
          </p:cNvPr>
          <p:cNvSpPr>
            <a:spLocks xmlns:a="http://schemas.openxmlformats.org/drawingml/2006/main" noGrp="1"/>
          </p:cNvSpPr>
          <p:nvPr/>
        </p:nvSpPr>
        <p:spPr>
          <a:xfrm xmlns:a="http://schemas.openxmlformats.org/drawingml/2006/main">
            <a:off x="6477000" y="2190750"/>
            <a:ext cx="4857750" cy="952500"/>
          </a:xfrm>
          <a:prstGeom xmlns:a="http://schemas.openxmlformats.org/drawingml/2006/main" prst="rect">
            <a:avLst/>
          </a:prstGeom>
          <a:solidFill xmlns:a="http://schemas.openxmlformats.org/drawingml/2006/main">
            <a:srgbClr val="087F8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6B33189-A054-4EFD-9D28-DC873D50CED3}"/>
              </a:ext>
            </a:extLst>
          </p:cNvPr>
          <p:cNvSpPr>
            <a:spLocks xmlns:a="http://schemas.openxmlformats.org/drawingml/2006/main" noGrp="1"/>
          </p:cNvSpPr>
          <p:nvPr/>
        </p:nvSpPr>
        <p:spPr>
          <a:xfrm xmlns:a="http://schemas.openxmlformats.org/drawingml/2006/main">
            <a:off x="6715125" y="2438400"/>
            <a:ext cx="4381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FFFFFF"/>
                </a:solidFill>
                <a:latin typeface="Arial"/>
                <a:ea typeface="Arial"/>
                <a:cs typeface="Arial"/>
              </a:defRPr>
            </a:defPPr>
            <a:lvl1pPr>
              <a:defRPr sz="2025" b="1">
                <a:solidFill>
                  <a:srgbClr val="FFFFFF"/>
                </a:solidFill>
                <a:latin typeface="Arial"/>
                <a:ea typeface="Arial"/>
                <a:cs typeface="Arial"/>
              </a:defRPr>
            </a:lvl1pPr>
            <a:lvl2pPr>
              <a:defRPr sz="2025" b="1">
                <a:solidFill>
                  <a:srgbClr val="FFFFFF"/>
                </a:solidFill>
                <a:latin typeface="Arial"/>
                <a:ea typeface="Arial"/>
                <a:cs typeface="Arial"/>
              </a:defRPr>
            </a:lvl2pPr>
            <a:lvl3pPr>
              <a:defRPr sz="2025" b="1">
                <a:solidFill>
                  <a:srgbClr val="FFFFFF"/>
                </a:solidFill>
                <a:latin typeface="Arial"/>
                <a:ea typeface="Arial"/>
                <a:cs typeface="Arial"/>
              </a:defRPr>
            </a:lvl3pPr>
            <a:lvl4pPr>
              <a:defRPr sz="2025" b="1">
                <a:solidFill>
                  <a:srgbClr val="FFFFFF"/>
                </a:solidFill>
                <a:latin typeface="Arial"/>
                <a:ea typeface="Arial"/>
                <a:cs typeface="Arial"/>
              </a:defRPr>
            </a:lvl4pPr>
            <a:lvl5pPr>
              <a:defRPr sz="2025" b="1">
                <a:solidFill>
                  <a:srgbClr val="FFFFFF"/>
                </a:solidFill>
                <a:latin typeface="Arial"/>
                <a:ea typeface="Arial"/>
                <a:cs typeface="Arial"/>
              </a:defRPr>
            </a:lvl5pPr>
            <a:lvl6pPr>
              <a:defRPr sz="2025" b="1">
                <a:solidFill>
                  <a:srgbClr val="FFFFFF"/>
                </a:solidFill>
                <a:latin typeface="Arial"/>
                <a:ea typeface="Arial"/>
                <a:cs typeface="Arial"/>
              </a:defRPr>
            </a:lvl6pPr>
            <a:lvl7pPr>
              <a:defRPr sz="2025" b="1">
                <a:solidFill>
                  <a:srgbClr val="FFFFFF"/>
                </a:solidFill>
                <a:latin typeface="Arial"/>
                <a:ea typeface="Arial"/>
                <a:cs typeface="Arial"/>
              </a:defRPr>
            </a:lvl7pPr>
            <a:lvl8pPr>
              <a:defRPr sz="2025" b="1">
                <a:solidFill>
                  <a:srgbClr val="FFFFFF"/>
                </a:solidFill>
                <a:latin typeface="Arial"/>
                <a:ea typeface="Arial"/>
                <a:cs typeface="Arial"/>
              </a:defRPr>
            </a:lvl8pPr>
            <a:lvl9pPr>
              <a:defRPr sz="2025" b="1">
                <a:solidFill>
                  <a:srgbClr val="FFFFFF"/>
                </a:solidFill>
                <a:latin typeface="Arial"/>
                <a:ea typeface="Arial"/>
                <a:cs typeface="Arial"/>
              </a:defRPr>
            </a:lvl9pPr>
          </a:lstStyle>
          <a:p xmlns:a="http://schemas.openxmlformats.org/drawingml/2006/main">
            <a:pPr>
              <a:defRPr sz="2025" b="1">
                <a:solidFill>
                  <a:srgbClr val="FFFFFF"/>
                </a:solidFill>
                <a:latin typeface="Arial"/>
                <a:ea typeface="Arial"/>
                <a:cs typeface="Arial"/>
              </a:defRPr>
            </a:pPr>
            <a:r>
              <a:rPr sz="2025" b="1">
                <a:solidFill>
                  <a:srgbClr val="FFFFFF"/>
                </a:solidFill>
                <a:latin typeface="Arial"/>
                <a:ea typeface="Arial"/>
                <a:cs typeface="Arial"/>
              </a:rPr>
              <a:t>The host gives the model the enabled tools</a:t>
            </a:r>
          </a:p>
        </p:txBody>
      </p:sp>
      <p:sp>
        <p:nvSpPr>
          <p:cNvPr id="7" name="">
            <a:extLst xmlns:a="http://schemas.openxmlformats.org/drawingml/2006/main">
              <a:ext uri="{FF2B5EF4-FFF2-40B4-BE49-F238E27FC236}">
                <a16:creationId xmlns:a16="http://schemas.microsoft.com/office/drawing/2014/main" id="{FDACAFE0-C53A-4401-8985-99677372EC9F}"/>
              </a:ext>
            </a:extLst>
          </p:cNvPr>
          <p:cNvSpPr>
            <a:spLocks xmlns:a="http://schemas.openxmlformats.org/drawingml/2006/main" noGrp="1"/>
          </p:cNvSpPr>
          <p:nvPr/>
        </p:nvSpPr>
        <p:spPr>
          <a:xfrm xmlns:a="http://schemas.openxmlformats.org/drawingml/2006/main">
            <a:off x="6477000" y="4095750"/>
            <a:ext cx="4857750" cy="952500"/>
          </a:xfrm>
          <a:prstGeom xmlns:a="http://schemas.openxmlformats.org/drawingml/2006/main" prst="rect">
            <a:avLst/>
          </a:prstGeom>
          <a:solidFill xmlns:a="http://schemas.openxmlformats.org/drawingml/2006/main">
            <a:srgbClr val="12324A"/>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52BB19F-6EDA-4A50-A1E7-176606C4634B}"/>
              </a:ext>
            </a:extLst>
          </p:cNvPr>
          <p:cNvSpPr>
            <a:spLocks xmlns:a="http://schemas.openxmlformats.org/drawingml/2006/main" noGrp="1"/>
          </p:cNvSpPr>
          <p:nvPr/>
        </p:nvSpPr>
        <p:spPr>
          <a:xfrm xmlns:a="http://schemas.openxmlformats.org/drawingml/2006/main">
            <a:off x="6715125" y="4343400"/>
            <a:ext cx="4381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FFFFFF"/>
                </a:solidFill>
                <a:latin typeface="Arial"/>
                <a:ea typeface="Arial"/>
                <a:cs typeface="Arial"/>
              </a:defRPr>
            </a:defPPr>
            <a:lvl1pPr>
              <a:defRPr sz="2025" b="1">
                <a:solidFill>
                  <a:srgbClr val="FFFFFF"/>
                </a:solidFill>
                <a:latin typeface="Arial"/>
                <a:ea typeface="Arial"/>
                <a:cs typeface="Arial"/>
              </a:defRPr>
            </a:lvl1pPr>
            <a:lvl2pPr>
              <a:defRPr sz="2025" b="1">
                <a:solidFill>
                  <a:srgbClr val="FFFFFF"/>
                </a:solidFill>
                <a:latin typeface="Arial"/>
                <a:ea typeface="Arial"/>
                <a:cs typeface="Arial"/>
              </a:defRPr>
            </a:lvl2pPr>
            <a:lvl3pPr>
              <a:defRPr sz="2025" b="1">
                <a:solidFill>
                  <a:srgbClr val="FFFFFF"/>
                </a:solidFill>
                <a:latin typeface="Arial"/>
                <a:ea typeface="Arial"/>
                <a:cs typeface="Arial"/>
              </a:defRPr>
            </a:lvl3pPr>
            <a:lvl4pPr>
              <a:defRPr sz="2025" b="1">
                <a:solidFill>
                  <a:srgbClr val="FFFFFF"/>
                </a:solidFill>
                <a:latin typeface="Arial"/>
                <a:ea typeface="Arial"/>
                <a:cs typeface="Arial"/>
              </a:defRPr>
            </a:lvl4pPr>
            <a:lvl5pPr>
              <a:defRPr sz="2025" b="1">
                <a:solidFill>
                  <a:srgbClr val="FFFFFF"/>
                </a:solidFill>
                <a:latin typeface="Arial"/>
                <a:ea typeface="Arial"/>
                <a:cs typeface="Arial"/>
              </a:defRPr>
            </a:lvl5pPr>
            <a:lvl6pPr>
              <a:defRPr sz="2025" b="1">
                <a:solidFill>
                  <a:srgbClr val="FFFFFF"/>
                </a:solidFill>
                <a:latin typeface="Arial"/>
                <a:ea typeface="Arial"/>
                <a:cs typeface="Arial"/>
              </a:defRPr>
            </a:lvl6pPr>
            <a:lvl7pPr>
              <a:defRPr sz="2025" b="1">
                <a:solidFill>
                  <a:srgbClr val="FFFFFF"/>
                </a:solidFill>
                <a:latin typeface="Arial"/>
                <a:ea typeface="Arial"/>
                <a:cs typeface="Arial"/>
              </a:defRPr>
            </a:lvl7pPr>
            <a:lvl8pPr>
              <a:defRPr sz="2025" b="1">
                <a:solidFill>
                  <a:srgbClr val="FFFFFF"/>
                </a:solidFill>
                <a:latin typeface="Arial"/>
                <a:ea typeface="Arial"/>
                <a:cs typeface="Arial"/>
              </a:defRPr>
            </a:lvl8pPr>
            <a:lvl9pPr>
              <a:defRPr sz="2025" b="1">
                <a:solidFill>
                  <a:srgbClr val="FFFFFF"/>
                </a:solidFill>
                <a:latin typeface="Arial"/>
                <a:ea typeface="Arial"/>
                <a:cs typeface="Arial"/>
              </a:defRPr>
            </a:lvl9pPr>
          </a:lstStyle>
          <a:p xmlns:a="http://schemas.openxmlformats.org/drawingml/2006/main">
            <a:pPr>
              <a:defRPr sz="2025" b="1">
                <a:solidFill>
                  <a:srgbClr val="FFFFFF"/>
                </a:solidFill>
                <a:latin typeface="Arial"/>
                <a:ea typeface="Arial"/>
                <a:cs typeface="Arial"/>
              </a:defRPr>
            </a:pPr>
            <a:r>
              <a:rPr sz="2025" b="1">
                <a:solidFill>
                  <a:srgbClr val="FFFFFF"/>
                </a:solidFill>
                <a:latin typeface="Arial"/>
                <a:ea typeface="Arial"/>
                <a:cs typeface="Arial"/>
              </a:rPr>
              <a:t>An MCP server reads data and calculates the result</a:t>
            </a:r>
          </a:p>
        </p:txBody>
      </p:sp>
      <p:sp>
        <p:nvSpPr>
          <p:cNvPr id="9" name="">
            <a:extLst xmlns:a="http://schemas.openxmlformats.org/drawingml/2006/main">
              <a:ext uri="{FF2B5EF4-FFF2-40B4-BE49-F238E27FC236}">
                <a16:creationId xmlns:a16="http://schemas.microsoft.com/office/drawing/2014/main" id="{1DA1CE11-E447-4B33-BEA3-1663043B3A99}"/>
              </a:ext>
            </a:extLst>
          </p:cNvPr>
          <p:cNvSpPr>
            <a:spLocks xmlns:a="http://schemas.openxmlformats.org/drawingml/2006/main" noGrp="1"/>
          </p:cNvSpPr>
          <p:nvPr/>
        </p:nvSpPr>
        <p:spPr>
          <a:xfrm xmlns:a="http://schemas.openxmlformats.org/drawingml/2006/main">
            <a:off x="762000" y="4095750"/>
            <a:ext cx="4857750" cy="952500"/>
          </a:xfrm>
          <a:prstGeom xmlns:a="http://schemas.openxmlformats.org/drawingml/2006/main" prst="rect">
            <a:avLst/>
          </a:prstGeom>
          <a:solidFill xmlns:a="http://schemas.openxmlformats.org/drawingml/2006/main">
            <a:srgbClr val="12324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816EAB5-4EB8-46BB-8659-44BE2DBF3FC6}"/>
              </a:ext>
            </a:extLst>
          </p:cNvPr>
          <p:cNvSpPr>
            <a:spLocks xmlns:a="http://schemas.openxmlformats.org/drawingml/2006/main" noGrp="1"/>
          </p:cNvSpPr>
          <p:nvPr/>
        </p:nvSpPr>
        <p:spPr>
          <a:xfrm xmlns:a="http://schemas.openxmlformats.org/drawingml/2006/main">
            <a:off x="1000125" y="4343400"/>
            <a:ext cx="4381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FFFFFF"/>
                </a:solidFill>
                <a:latin typeface="Arial"/>
                <a:ea typeface="Arial"/>
                <a:cs typeface="Arial"/>
              </a:defRPr>
            </a:defPPr>
            <a:lvl1pPr>
              <a:defRPr sz="2025" b="1">
                <a:solidFill>
                  <a:srgbClr val="FFFFFF"/>
                </a:solidFill>
                <a:latin typeface="Arial"/>
                <a:ea typeface="Arial"/>
                <a:cs typeface="Arial"/>
              </a:defRPr>
            </a:lvl1pPr>
            <a:lvl2pPr>
              <a:defRPr sz="2025" b="1">
                <a:solidFill>
                  <a:srgbClr val="FFFFFF"/>
                </a:solidFill>
                <a:latin typeface="Arial"/>
                <a:ea typeface="Arial"/>
                <a:cs typeface="Arial"/>
              </a:defRPr>
            </a:lvl2pPr>
            <a:lvl3pPr>
              <a:defRPr sz="2025" b="1">
                <a:solidFill>
                  <a:srgbClr val="FFFFFF"/>
                </a:solidFill>
                <a:latin typeface="Arial"/>
                <a:ea typeface="Arial"/>
                <a:cs typeface="Arial"/>
              </a:defRPr>
            </a:lvl3pPr>
            <a:lvl4pPr>
              <a:defRPr sz="2025" b="1">
                <a:solidFill>
                  <a:srgbClr val="FFFFFF"/>
                </a:solidFill>
                <a:latin typeface="Arial"/>
                <a:ea typeface="Arial"/>
                <a:cs typeface="Arial"/>
              </a:defRPr>
            </a:lvl4pPr>
            <a:lvl5pPr>
              <a:defRPr sz="2025" b="1">
                <a:solidFill>
                  <a:srgbClr val="FFFFFF"/>
                </a:solidFill>
                <a:latin typeface="Arial"/>
                <a:ea typeface="Arial"/>
                <a:cs typeface="Arial"/>
              </a:defRPr>
            </a:lvl5pPr>
            <a:lvl6pPr>
              <a:defRPr sz="2025" b="1">
                <a:solidFill>
                  <a:srgbClr val="FFFFFF"/>
                </a:solidFill>
                <a:latin typeface="Arial"/>
                <a:ea typeface="Arial"/>
                <a:cs typeface="Arial"/>
              </a:defRPr>
            </a:lvl6pPr>
            <a:lvl7pPr>
              <a:defRPr sz="2025" b="1">
                <a:solidFill>
                  <a:srgbClr val="FFFFFF"/>
                </a:solidFill>
                <a:latin typeface="Arial"/>
                <a:ea typeface="Arial"/>
                <a:cs typeface="Arial"/>
              </a:defRPr>
            </a:lvl7pPr>
            <a:lvl8pPr>
              <a:defRPr sz="2025" b="1">
                <a:solidFill>
                  <a:srgbClr val="FFFFFF"/>
                </a:solidFill>
                <a:latin typeface="Arial"/>
                <a:ea typeface="Arial"/>
                <a:cs typeface="Arial"/>
              </a:defRPr>
            </a:lvl8pPr>
            <a:lvl9pPr>
              <a:defRPr sz="2025" b="1">
                <a:solidFill>
                  <a:srgbClr val="FFFFFF"/>
                </a:solidFill>
                <a:latin typeface="Arial"/>
                <a:ea typeface="Arial"/>
                <a:cs typeface="Arial"/>
              </a:defRPr>
            </a:lvl9pPr>
          </a:lstStyle>
          <a:p xmlns:a="http://schemas.openxmlformats.org/drawingml/2006/main">
            <a:pPr>
              <a:defRPr sz="2025" b="1">
                <a:solidFill>
                  <a:srgbClr val="FFFFFF"/>
                </a:solidFill>
                <a:latin typeface="Arial"/>
                <a:ea typeface="Arial"/>
                <a:cs typeface="Arial"/>
              </a:defRPr>
            </a:pPr>
            <a:r>
              <a:rPr sz="2025" b="1">
                <a:solidFill>
                  <a:srgbClr val="FFFFFF"/>
                </a:solidFill>
                <a:latin typeface="Arial"/>
                <a:ea typeface="Arial"/>
                <a:cs typeface="Arial"/>
              </a:rPr>
              <a:t>The model explains the result to the user</a:t>
            </a:r>
          </a:p>
        </p:txBody>
      </p:sp>
      <p:sp>
        <p:nvSpPr>
          <p:cNvPr id="11" name="">
            <a:extLst xmlns:a="http://schemas.openxmlformats.org/drawingml/2006/main">
              <a:ext uri="{FF2B5EF4-FFF2-40B4-BE49-F238E27FC236}">
                <a16:creationId xmlns:a16="http://schemas.microsoft.com/office/drawing/2014/main" id="{5281D8BD-8EC0-4E07-8B08-EFE39C0980BB}"/>
              </a:ext>
            </a:extLst>
          </p:cNvPr>
          <p:cNvSpPr>
            <a:spLocks xmlns:a="http://schemas.openxmlformats.org/drawingml/2006/main" noGrp="1"/>
          </p:cNvSpPr>
          <p:nvPr/>
        </p:nvSpPr>
        <p:spPr>
          <a:xfrm xmlns:a="http://schemas.openxmlformats.org/drawingml/2006/main">
            <a:off x="809625" y="18669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4C6575"/>
                </a:solidFill>
                <a:latin typeface="Arial"/>
                <a:ea typeface="Arial"/>
                <a:cs typeface="Arial"/>
              </a:defRPr>
            </a:defPPr>
            <a:lvl1pPr>
              <a:defRPr sz="1500" b="0">
                <a:solidFill>
                  <a:srgbClr val="4C6575"/>
                </a:solidFill>
                <a:latin typeface="Arial"/>
                <a:ea typeface="Arial"/>
                <a:cs typeface="Arial"/>
              </a:defRPr>
            </a:lvl1pPr>
            <a:lvl2pPr>
              <a:defRPr sz="1500" b="0">
                <a:solidFill>
                  <a:srgbClr val="4C6575"/>
                </a:solidFill>
                <a:latin typeface="Arial"/>
                <a:ea typeface="Arial"/>
                <a:cs typeface="Arial"/>
              </a:defRPr>
            </a:lvl2pPr>
            <a:lvl3pPr>
              <a:defRPr sz="1500" b="0">
                <a:solidFill>
                  <a:srgbClr val="4C6575"/>
                </a:solidFill>
                <a:latin typeface="Arial"/>
                <a:ea typeface="Arial"/>
                <a:cs typeface="Arial"/>
              </a:defRPr>
            </a:lvl3pPr>
            <a:lvl4pPr>
              <a:defRPr sz="1500" b="0">
                <a:solidFill>
                  <a:srgbClr val="4C6575"/>
                </a:solidFill>
                <a:latin typeface="Arial"/>
                <a:ea typeface="Arial"/>
                <a:cs typeface="Arial"/>
              </a:defRPr>
            </a:lvl4pPr>
            <a:lvl5pPr>
              <a:defRPr sz="1500" b="0">
                <a:solidFill>
                  <a:srgbClr val="4C6575"/>
                </a:solidFill>
                <a:latin typeface="Arial"/>
                <a:ea typeface="Arial"/>
                <a:cs typeface="Arial"/>
              </a:defRPr>
            </a:lvl5pPr>
            <a:lvl6pPr>
              <a:defRPr sz="1500" b="0">
                <a:solidFill>
                  <a:srgbClr val="4C6575"/>
                </a:solidFill>
                <a:latin typeface="Arial"/>
                <a:ea typeface="Arial"/>
                <a:cs typeface="Arial"/>
              </a:defRPr>
            </a:lvl6pPr>
            <a:lvl7pPr>
              <a:defRPr sz="1500" b="0">
                <a:solidFill>
                  <a:srgbClr val="4C6575"/>
                </a:solidFill>
                <a:latin typeface="Arial"/>
                <a:ea typeface="Arial"/>
                <a:cs typeface="Arial"/>
              </a:defRPr>
            </a:lvl7pPr>
            <a:lvl8pPr>
              <a:defRPr sz="1500" b="0">
                <a:solidFill>
                  <a:srgbClr val="4C6575"/>
                </a:solidFill>
                <a:latin typeface="Arial"/>
                <a:ea typeface="Arial"/>
                <a:cs typeface="Arial"/>
              </a:defRPr>
            </a:lvl8pPr>
            <a:lvl9pPr>
              <a:defRPr sz="1500" b="0">
                <a:solidFill>
                  <a:srgbClr val="4C6575"/>
                </a:solidFill>
                <a:latin typeface="Arial"/>
                <a:ea typeface="Arial"/>
                <a:cs typeface="Arial"/>
              </a:defRPr>
            </a:lvl9pPr>
          </a:lstStyle>
          <a:p xmlns:a="http://schemas.openxmlformats.org/drawingml/2006/main">
            <a:pPr>
              <a:defRPr sz="1500" b="0">
                <a:solidFill>
                  <a:srgbClr val="4C6575"/>
                </a:solidFill>
                <a:latin typeface="Arial"/>
                <a:ea typeface="Arial"/>
                <a:cs typeface="Arial"/>
              </a:defRPr>
            </a:pPr>
            <a:r>
              <a:rPr sz="1500" b="0">
                <a:solidFill>
                  <a:srgbClr val="4C6575"/>
                </a:solidFill>
                <a:latin typeface="Arial"/>
                <a:ea typeface="Arial"/>
                <a:cs typeface="Arial"/>
              </a:rPr>
              <a:t>1</a:t>
            </a:r>
          </a:p>
        </p:txBody>
      </p:sp>
      <p:sp>
        <p:nvSpPr>
          <p:cNvPr id="12" name="">
            <a:extLst xmlns:a="http://schemas.openxmlformats.org/drawingml/2006/main">
              <a:ext uri="{FF2B5EF4-FFF2-40B4-BE49-F238E27FC236}">
                <a16:creationId xmlns:a16="http://schemas.microsoft.com/office/drawing/2014/main" id="{40BA0B3B-7D49-4D8C-9507-30F8591B0924}"/>
              </a:ext>
            </a:extLst>
          </p:cNvPr>
          <p:cNvSpPr>
            <a:spLocks xmlns:a="http://schemas.openxmlformats.org/drawingml/2006/main" noGrp="1"/>
          </p:cNvSpPr>
          <p:nvPr/>
        </p:nvSpPr>
        <p:spPr>
          <a:xfrm xmlns:a="http://schemas.openxmlformats.org/drawingml/2006/main">
            <a:off x="6524625" y="18669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4C6575"/>
                </a:solidFill>
                <a:latin typeface="Arial"/>
                <a:ea typeface="Arial"/>
                <a:cs typeface="Arial"/>
              </a:defRPr>
            </a:defPPr>
            <a:lvl1pPr>
              <a:defRPr sz="1500" b="0">
                <a:solidFill>
                  <a:srgbClr val="4C6575"/>
                </a:solidFill>
                <a:latin typeface="Arial"/>
                <a:ea typeface="Arial"/>
                <a:cs typeface="Arial"/>
              </a:defRPr>
            </a:lvl1pPr>
            <a:lvl2pPr>
              <a:defRPr sz="1500" b="0">
                <a:solidFill>
                  <a:srgbClr val="4C6575"/>
                </a:solidFill>
                <a:latin typeface="Arial"/>
                <a:ea typeface="Arial"/>
                <a:cs typeface="Arial"/>
              </a:defRPr>
            </a:lvl2pPr>
            <a:lvl3pPr>
              <a:defRPr sz="1500" b="0">
                <a:solidFill>
                  <a:srgbClr val="4C6575"/>
                </a:solidFill>
                <a:latin typeface="Arial"/>
                <a:ea typeface="Arial"/>
                <a:cs typeface="Arial"/>
              </a:defRPr>
            </a:lvl3pPr>
            <a:lvl4pPr>
              <a:defRPr sz="1500" b="0">
                <a:solidFill>
                  <a:srgbClr val="4C6575"/>
                </a:solidFill>
                <a:latin typeface="Arial"/>
                <a:ea typeface="Arial"/>
                <a:cs typeface="Arial"/>
              </a:defRPr>
            </a:lvl4pPr>
            <a:lvl5pPr>
              <a:defRPr sz="1500" b="0">
                <a:solidFill>
                  <a:srgbClr val="4C6575"/>
                </a:solidFill>
                <a:latin typeface="Arial"/>
                <a:ea typeface="Arial"/>
                <a:cs typeface="Arial"/>
              </a:defRPr>
            </a:lvl5pPr>
            <a:lvl6pPr>
              <a:defRPr sz="1500" b="0">
                <a:solidFill>
                  <a:srgbClr val="4C6575"/>
                </a:solidFill>
                <a:latin typeface="Arial"/>
                <a:ea typeface="Arial"/>
                <a:cs typeface="Arial"/>
              </a:defRPr>
            </a:lvl6pPr>
            <a:lvl7pPr>
              <a:defRPr sz="1500" b="0">
                <a:solidFill>
                  <a:srgbClr val="4C6575"/>
                </a:solidFill>
                <a:latin typeface="Arial"/>
                <a:ea typeface="Arial"/>
                <a:cs typeface="Arial"/>
              </a:defRPr>
            </a:lvl7pPr>
            <a:lvl8pPr>
              <a:defRPr sz="1500" b="0">
                <a:solidFill>
                  <a:srgbClr val="4C6575"/>
                </a:solidFill>
                <a:latin typeface="Arial"/>
                <a:ea typeface="Arial"/>
                <a:cs typeface="Arial"/>
              </a:defRPr>
            </a:lvl8pPr>
            <a:lvl9pPr>
              <a:defRPr sz="1500" b="0">
                <a:solidFill>
                  <a:srgbClr val="4C6575"/>
                </a:solidFill>
                <a:latin typeface="Arial"/>
                <a:ea typeface="Arial"/>
                <a:cs typeface="Arial"/>
              </a:defRPr>
            </a:lvl9pPr>
          </a:lstStyle>
          <a:p xmlns:a="http://schemas.openxmlformats.org/drawingml/2006/main">
            <a:pPr>
              <a:defRPr sz="1500" b="0">
                <a:solidFill>
                  <a:srgbClr val="4C6575"/>
                </a:solidFill>
                <a:latin typeface="Arial"/>
                <a:ea typeface="Arial"/>
                <a:cs typeface="Arial"/>
              </a:defRPr>
            </a:pPr>
            <a:r>
              <a:rPr sz="1500" b="0">
                <a:solidFill>
                  <a:srgbClr val="4C6575"/>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D0442AE2-2FB4-47BA-9341-32C8FB2A29CA}"/>
              </a:ext>
            </a:extLst>
          </p:cNvPr>
          <p:cNvSpPr>
            <a:spLocks xmlns:a="http://schemas.openxmlformats.org/drawingml/2006/main" noGrp="1"/>
          </p:cNvSpPr>
          <p:nvPr/>
        </p:nvSpPr>
        <p:spPr>
          <a:xfrm xmlns:a="http://schemas.openxmlformats.org/drawingml/2006/main">
            <a:off x="6524625" y="37719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4C6575"/>
                </a:solidFill>
                <a:latin typeface="Arial"/>
                <a:ea typeface="Arial"/>
                <a:cs typeface="Arial"/>
              </a:defRPr>
            </a:defPPr>
            <a:lvl1pPr>
              <a:defRPr sz="1500" b="0">
                <a:solidFill>
                  <a:srgbClr val="4C6575"/>
                </a:solidFill>
                <a:latin typeface="Arial"/>
                <a:ea typeface="Arial"/>
                <a:cs typeface="Arial"/>
              </a:defRPr>
            </a:lvl1pPr>
            <a:lvl2pPr>
              <a:defRPr sz="1500" b="0">
                <a:solidFill>
                  <a:srgbClr val="4C6575"/>
                </a:solidFill>
                <a:latin typeface="Arial"/>
                <a:ea typeface="Arial"/>
                <a:cs typeface="Arial"/>
              </a:defRPr>
            </a:lvl2pPr>
            <a:lvl3pPr>
              <a:defRPr sz="1500" b="0">
                <a:solidFill>
                  <a:srgbClr val="4C6575"/>
                </a:solidFill>
                <a:latin typeface="Arial"/>
                <a:ea typeface="Arial"/>
                <a:cs typeface="Arial"/>
              </a:defRPr>
            </a:lvl3pPr>
            <a:lvl4pPr>
              <a:defRPr sz="1500" b="0">
                <a:solidFill>
                  <a:srgbClr val="4C6575"/>
                </a:solidFill>
                <a:latin typeface="Arial"/>
                <a:ea typeface="Arial"/>
                <a:cs typeface="Arial"/>
              </a:defRPr>
            </a:lvl4pPr>
            <a:lvl5pPr>
              <a:defRPr sz="1500" b="0">
                <a:solidFill>
                  <a:srgbClr val="4C6575"/>
                </a:solidFill>
                <a:latin typeface="Arial"/>
                <a:ea typeface="Arial"/>
                <a:cs typeface="Arial"/>
              </a:defRPr>
            </a:lvl5pPr>
            <a:lvl6pPr>
              <a:defRPr sz="1500" b="0">
                <a:solidFill>
                  <a:srgbClr val="4C6575"/>
                </a:solidFill>
                <a:latin typeface="Arial"/>
                <a:ea typeface="Arial"/>
                <a:cs typeface="Arial"/>
              </a:defRPr>
            </a:lvl6pPr>
            <a:lvl7pPr>
              <a:defRPr sz="1500" b="0">
                <a:solidFill>
                  <a:srgbClr val="4C6575"/>
                </a:solidFill>
                <a:latin typeface="Arial"/>
                <a:ea typeface="Arial"/>
                <a:cs typeface="Arial"/>
              </a:defRPr>
            </a:lvl7pPr>
            <a:lvl8pPr>
              <a:defRPr sz="1500" b="0">
                <a:solidFill>
                  <a:srgbClr val="4C6575"/>
                </a:solidFill>
                <a:latin typeface="Arial"/>
                <a:ea typeface="Arial"/>
                <a:cs typeface="Arial"/>
              </a:defRPr>
            </a:lvl8pPr>
            <a:lvl9pPr>
              <a:defRPr sz="1500" b="0">
                <a:solidFill>
                  <a:srgbClr val="4C6575"/>
                </a:solidFill>
                <a:latin typeface="Arial"/>
                <a:ea typeface="Arial"/>
                <a:cs typeface="Arial"/>
              </a:defRPr>
            </a:lvl9pPr>
          </a:lstStyle>
          <a:p xmlns:a="http://schemas.openxmlformats.org/drawingml/2006/main">
            <a:pPr>
              <a:defRPr sz="1500" b="0">
                <a:solidFill>
                  <a:srgbClr val="4C6575"/>
                </a:solidFill>
                <a:latin typeface="Arial"/>
                <a:ea typeface="Arial"/>
                <a:cs typeface="Arial"/>
              </a:defRPr>
            </a:pPr>
            <a:r>
              <a:rPr sz="1500" b="0">
                <a:solidFill>
                  <a:srgbClr val="4C6575"/>
                </a:solidFill>
                <a:latin typeface="Arial"/>
                <a:ea typeface="Arial"/>
                <a:cs typeface="Arial"/>
              </a:rPr>
              <a:t>3</a:t>
            </a:r>
          </a:p>
        </p:txBody>
      </p:sp>
      <p:sp>
        <p:nvSpPr>
          <p:cNvPr id="14" name="">
            <a:extLst xmlns:a="http://schemas.openxmlformats.org/drawingml/2006/main">
              <a:ext uri="{FF2B5EF4-FFF2-40B4-BE49-F238E27FC236}">
                <a16:creationId xmlns:a16="http://schemas.microsoft.com/office/drawing/2014/main" id="{7F3494E7-D43B-4190-892B-9E5AE9DF7348}"/>
              </a:ext>
            </a:extLst>
          </p:cNvPr>
          <p:cNvSpPr>
            <a:spLocks xmlns:a="http://schemas.openxmlformats.org/drawingml/2006/main" noGrp="1"/>
          </p:cNvSpPr>
          <p:nvPr/>
        </p:nvSpPr>
        <p:spPr>
          <a:xfrm xmlns:a="http://schemas.openxmlformats.org/drawingml/2006/main">
            <a:off x="809625" y="377190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4C6575"/>
                </a:solidFill>
                <a:latin typeface="Arial"/>
                <a:ea typeface="Arial"/>
                <a:cs typeface="Arial"/>
              </a:defRPr>
            </a:defPPr>
            <a:lvl1pPr>
              <a:defRPr sz="1500" b="0">
                <a:solidFill>
                  <a:srgbClr val="4C6575"/>
                </a:solidFill>
                <a:latin typeface="Arial"/>
                <a:ea typeface="Arial"/>
                <a:cs typeface="Arial"/>
              </a:defRPr>
            </a:lvl1pPr>
            <a:lvl2pPr>
              <a:defRPr sz="1500" b="0">
                <a:solidFill>
                  <a:srgbClr val="4C6575"/>
                </a:solidFill>
                <a:latin typeface="Arial"/>
                <a:ea typeface="Arial"/>
                <a:cs typeface="Arial"/>
              </a:defRPr>
            </a:lvl2pPr>
            <a:lvl3pPr>
              <a:defRPr sz="1500" b="0">
                <a:solidFill>
                  <a:srgbClr val="4C6575"/>
                </a:solidFill>
                <a:latin typeface="Arial"/>
                <a:ea typeface="Arial"/>
                <a:cs typeface="Arial"/>
              </a:defRPr>
            </a:lvl3pPr>
            <a:lvl4pPr>
              <a:defRPr sz="1500" b="0">
                <a:solidFill>
                  <a:srgbClr val="4C6575"/>
                </a:solidFill>
                <a:latin typeface="Arial"/>
                <a:ea typeface="Arial"/>
                <a:cs typeface="Arial"/>
              </a:defRPr>
            </a:lvl4pPr>
            <a:lvl5pPr>
              <a:defRPr sz="1500" b="0">
                <a:solidFill>
                  <a:srgbClr val="4C6575"/>
                </a:solidFill>
                <a:latin typeface="Arial"/>
                <a:ea typeface="Arial"/>
                <a:cs typeface="Arial"/>
              </a:defRPr>
            </a:lvl5pPr>
            <a:lvl6pPr>
              <a:defRPr sz="1500" b="0">
                <a:solidFill>
                  <a:srgbClr val="4C6575"/>
                </a:solidFill>
                <a:latin typeface="Arial"/>
                <a:ea typeface="Arial"/>
                <a:cs typeface="Arial"/>
              </a:defRPr>
            </a:lvl6pPr>
            <a:lvl7pPr>
              <a:defRPr sz="1500" b="0">
                <a:solidFill>
                  <a:srgbClr val="4C6575"/>
                </a:solidFill>
                <a:latin typeface="Arial"/>
                <a:ea typeface="Arial"/>
                <a:cs typeface="Arial"/>
              </a:defRPr>
            </a:lvl7pPr>
            <a:lvl8pPr>
              <a:defRPr sz="1500" b="0">
                <a:solidFill>
                  <a:srgbClr val="4C6575"/>
                </a:solidFill>
                <a:latin typeface="Arial"/>
                <a:ea typeface="Arial"/>
                <a:cs typeface="Arial"/>
              </a:defRPr>
            </a:lvl8pPr>
            <a:lvl9pPr>
              <a:defRPr sz="1500" b="0">
                <a:solidFill>
                  <a:srgbClr val="4C6575"/>
                </a:solidFill>
                <a:latin typeface="Arial"/>
                <a:ea typeface="Arial"/>
                <a:cs typeface="Arial"/>
              </a:defRPr>
            </a:lvl9pPr>
          </a:lstStyle>
          <a:p xmlns:a="http://schemas.openxmlformats.org/drawingml/2006/main">
            <a:pPr>
              <a:defRPr sz="1500" b="0">
                <a:solidFill>
                  <a:srgbClr val="4C6575"/>
                </a:solidFill>
                <a:latin typeface="Arial"/>
                <a:ea typeface="Arial"/>
                <a:cs typeface="Arial"/>
              </a:defRPr>
            </a:pPr>
            <a:r>
              <a:rPr sz="1500" b="0">
                <a:solidFill>
                  <a:srgbClr val="4C6575"/>
                </a:solidFill>
                <a:latin typeface="Arial"/>
                <a:ea typeface="Arial"/>
                <a:cs typeface="Arial"/>
              </a:rPr>
              <a:t>4</a:t>
            </a:r>
          </a:p>
        </p:txBody>
      </p:sp>
      <p:sp>
        <p:nvSpPr>
          <p:cNvPr id="15" name="">
            <a:extLst xmlns:a="http://schemas.openxmlformats.org/drawingml/2006/main">
              <a:ext uri="{FF2B5EF4-FFF2-40B4-BE49-F238E27FC236}">
                <a16:creationId xmlns:a16="http://schemas.microsoft.com/office/drawing/2014/main" id="{FE0C033A-776F-4720-9670-E398057BCD54}"/>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03</a:t>
            </a:r>
          </a:p>
        </p:txBody>
      </p:sp>
    </p:spTree>
    <p:extLst>
      <p:ext uri="{BB962C8B-B14F-4D97-AF65-F5344CB8AC3E}">
        <p14:creationId xmlns:p14="http://schemas.microsoft.com/office/powerpoint/2010/main" val="1721732037"/>
      </p:ext>
    </p:extLst>
  </p:cSld>
</p:sld>
</file>

<file path=ppt/slides/slide4.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1179C6F-0E1D-45BD-8F34-F95D82922430}"/>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Three servers have separate jobs</a:t>
            </a:r>
          </a:p>
        </p:txBody>
      </p:sp>
      <p:sp>
        <p:nvSpPr>
          <p:cNvPr id="2" name="">
            <a:extLst xmlns:a="http://schemas.openxmlformats.org/drawingml/2006/main">
              <a:ext uri="{FF2B5EF4-FFF2-40B4-BE49-F238E27FC236}">
                <a16:creationId xmlns:a16="http://schemas.microsoft.com/office/drawing/2014/main" id="{D7B9593B-6AA0-41A9-ABE7-9529186AF881}"/>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graphicFrame>
        <p:nvGraphicFramePr>
          <p:cNvPr id="3" name="">
            <a:extLst xmlns:a="http://schemas.openxmlformats.org/drawingml/2006/main">
              <a:ext uri="{FF2B5EF4-FFF2-40B4-BE49-F238E27FC236}">
                <a16:creationId xmlns:a16="http://schemas.microsoft.com/office/drawing/2014/main" id="{51A3A39F-AEB0-4CD5-B303-75B235886B8C}"/>
              </a:ext>
            </a:extLst>
          </p:cNvPr>
          <p:cNvGraphicFramePr/>
          <p:nvPr/>
        </p:nvGraphicFramePr>
        <p:xfrm>
          <a:off xmlns:a="http://schemas.openxmlformats.org/drawingml/2006/main" x="762000" y="2000250"/>
          <a:ext xmlns:a="http://schemas.openxmlformats.org/drawingml/2006/main" cx="10668000" cy="2438400"/>
        </p:xfrm>
        <a:graphic xmlns:a="http://schemas.openxmlformats.org/drawingml/2006/main">
          <a:graphicData uri="http://schemas.openxmlformats.org/drawingml/2006/table">
            <a:tbl>
              <a:tblPr/>
              <a:tblGrid>
                <a:gridCol w="3556000"/>
                <a:gridCol w="3556000"/>
                <a:gridCol w="3556000"/>
              </a:tblGrid>
              <a:tr h="609600">
                <a:tc>
                  <a:txBody>
                    <a:bodyPr/>
                    <a:lstStyle/>
                    <a:p>
                      <a:r>
                        <a:rPr sz="1800" b="1">
                          <a:solidFill>
                            <a:srgbClr val="FFFFFF"/>
                          </a:solidFill>
                          <a:latin typeface="Arial"/>
                          <a:ea typeface="Arial"/>
                          <a:cs typeface="Arial"/>
                        </a:rPr>
                        <a:t>Server</a:t>
                      </a:r>
                    </a:p>
                  </a:txBody>
                  <a:tcPr marL="91440" marR="91440" marT="45720" marB="45720">
                    <a:solidFill>
                      <a:srgbClr val="12324A"/>
                    </a:solidFill>
                  </a:tcPr>
                </a:tc>
                <a:tc>
                  <a:txBody>
                    <a:bodyPr/>
                    <a:lstStyle/>
                    <a:p>
                      <a:r>
                        <a:rPr sz="1800" b="1">
                          <a:solidFill>
                            <a:srgbClr val="FFFFFF"/>
                          </a:solidFill>
                          <a:latin typeface="Arial"/>
                          <a:ea typeface="Arial"/>
                          <a:cs typeface="Arial"/>
                        </a:rPr>
                        <a:t>Main job</a:t>
                      </a:r>
                    </a:p>
                  </a:txBody>
                  <a:tcPr marL="91440" marR="91440" marT="45720" marB="45720">
                    <a:solidFill>
                      <a:srgbClr val="12324A"/>
                    </a:solidFill>
                  </a:tcPr>
                </a:tc>
                <a:tc>
                  <a:txBody>
                    <a:bodyPr/>
                    <a:lstStyle/>
                    <a:p>
                      <a:r>
                        <a:rPr sz="1800" b="1">
                          <a:solidFill>
                            <a:srgbClr val="FFFFFF"/>
                          </a:solidFill>
                          <a:latin typeface="Arial"/>
                          <a:ea typeface="Arial"/>
                          <a:cs typeface="Arial"/>
                        </a:rPr>
                        <a:t>Tool count in our run</a:t>
                      </a:r>
                    </a:p>
                  </a:txBody>
                  <a:tcPr marL="91440" marR="91440" marT="45720" marB="45720">
                    <a:solidFill>
                      <a:srgbClr val="12324A"/>
                    </a:solidFill>
                  </a:tcPr>
                </a:tc>
              </a:tr>
              <a:tr h="609600">
                <a:tc>
                  <a:txBody>
                    <a:bodyPr/>
                    <a:lstStyle/>
                    <a:p>
                      <a:r>
                        <a:rPr sz="1800" b="0">
                          <a:solidFill>
                            <a:srgbClr val="203747"/>
                          </a:solidFill>
                          <a:latin typeface="Arial"/>
                          <a:ea typeface="Arial"/>
                          <a:cs typeface="Arial"/>
                        </a:rPr>
                        <a:t>academic</a:t>
                      </a:r>
                    </a:p>
                  </a:txBody>
                  <a:tcPr marL="91440" marR="91440" marT="45720" marB="45720">
                    <a:solidFill>
                      <a:srgbClr val="FFFFFF"/>
                    </a:solidFill>
                  </a:tcPr>
                </a:tc>
                <a:tc>
                  <a:txBody>
                    <a:bodyPr/>
                    <a:lstStyle/>
                    <a:p>
                      <a:r>
                        <a:rPr sz="1800" b="0">
                          <a:solidFill>
                            <a:srgbClr val="203747"/>
                          </a:solidFill>
                          <a:latin typeface="Arial"/>
                          <a:ea typeface="Arial"/>
                          <a:cs typeface="Arial"/>
                        </a:rPr>
                        <a:t>Students, grades, teachers and attendance</a:t>
                      </a:r>
                    </a:p>
                  </a:txBody>
                  <a:tcPr marL="91440" marR="91440" marT="45720" marB="45720">
                    <a:solidFill>
                      <a:srgbClr val="FFFFFF"/>
                    </a:solidFill>
                  </a:tcPr>
                </a:tc>
                <a:tc>
                  <a:txBody>
                    <a:bodyPr/>
                    <a:lstStyle/>
                    <a:p>
                      <a:r>
                        <a:rPr sz="1800" b="0">
                          <a:solidFill>
                            <a:srgbClr val="203747"/>
                          </a:solidFill>
                          <a:latin typeface="Arial"/>
                          <a:ea typeface="Arial"/>
                          <a:cs typeface="Arial"/>
                        </a:rPr>
                        <a:t>17</a:t>
                      </a:r>
                    </a:p>
                  </a:txBody>
                  <a:tcPr marL="91440" marR="91440" marT="45720" marB="45720">
                    <a:solidFill>
                      <a:srgbClr val="FFFFFF"/>
                    </a:solidFill>
                  </a:tcPr>
                </a:tc>
              </a:tr>
              <a:tr h="609600">
                <a:tc>
                  <a:txBody>
                    <a:bodyPr/>
                    <a:lstStyle/>
                    <a:p>
                      <a:r>
                        <a:rPr sz="1800" b="0">
                          <a:solidFill>
                            <a:srgbClr val="203747"/>
                          </a:solidFill>
                          <a:latin typeface="Arial"/>
                          <a:ea typeface="Arial"/>
                          <a:cs typeface="Arial"/>
                        </a:rPr>
                        <a:t>utility</a:t>
                      </a:r>
                    </a:p>
                  </a:txBody>
                  <a:tcPr marL="91440" marR="91440" marT="45720" marB="45720">
                    <a:solidFill>
                      <a:srgbClr val="EDF2F0"/>
                    </a:solidFill>
                  </a:tcPr>
                </a:tc>
                <a:tc>
                  <a:txBody>
                    <a:bodyPr/>
                    <a:lstStyle/>
                    <a:p>
                      <a:r>
                        <a:rPr sz="1800" b="0">
                          <a:solidFill>
                            <a:srgbClr val="203747"/>
                          </a:solidFill>
                          <a:latin typeface="Arial"/>
                          <a:ea typeface="Arial"/>
                          <a:cs typeface="Arial"/>
                        </a:rPr>
                        <a:t>Time, score conversion and reports</a:t>
                      </a:r>
                    </a:p>
                  </a:txBody>
                  <a:tcPr marL="91440" marR="91440" marT="45720" marB="45720">
                    <a:solidFill>
                      <a:srgbClr val="EDF2F0"/>
                    </a:solidFill>
                  </a:tcPr>
                </a:tc>
                <a:tc>
                  <a:txBody>
                    <a:bodyPr/>
                    <a:lstStyle/>
                    <a:p>
                      <a:r>
                        <a:rPr sz="1800" b="0">
                          <a:solidFill>
                            <a:srgbClr val="203747"/>
                          </a:solidFill>
                          <a:latin typeface="Arial"/>
                          <a:ea typeface="Arial"/>
                          <a:cs typeface="Arial"/>
                        </a:rPr>
                        <a:t>3</a:t>
                      </a:r>
                    </a:p>
                  </a:txBody>
                  <a:tcPr marL="91440" marR="91440" marT="45720" marB="45720">
                    <a:solidFill>
                      <a:srgbClr val="EDF2F0"/>
                    </a:solidFill>
                  </a:tcPr>
                </a:tc>
              </a:tr>
              <a:tr h="609600">
                <a:tc>
                  <a:txBody>
                    <a:bodyPr/>
                    <a:lstStyle/>
                    <a:p>
                      <a:r>
                        <a:rPr sz="1800" b="0">
                          <a:solidFill>
                            <a:srgbClr val="203747"/>
                          </a:solidFill>
                          <a:latin typeface="Arial"/>
                          <a:ea typeface="Arial"/>
                          <a:cs typeface="Arial"/>
                        </a:rPr>
                        <a:t>finance</a:t>
                      </a:r>
                    </a:p>
                  </a:txBody>
                  <a:tcPr marL="91440" marR="91440" marT="45720" marB="45720">
                    <a:solidFill>
                      <a:srgbClr val="FFFFFF"/>
                    </a:solidFill>
                  </a:tcPr>
                </a:tc>
                <a:tc>
                  <a:txBody>
                    <a:bodyPr/>
                    <a:lstStyle/>
                    <a:p>
                      <a:r>
                        <a:rPr sz="1800" b="0">
                          <a:solidFill>
                            <a:srgbClr val="203747"/>
                          </a:solidFill>
                          <a:latin typeface="Arial"/>
                          <a:ea typeface="Arial"/>
                          <a:cs typeface="Arial"/>
                        </a:rPr>
                        <a:t>Tuition, scholarships and payroll</a:t>
                      </a:r>
                    </a:p>
                  </a:txBody>
                  <a:tcPr marL="91440" marR="91440" marT="45720" marB="45720">
                    <a:solidFill>
                      <a:srgbClr val="FFFFFF"/>
                    </a:solidFill>
                  </a:tcPr>
                </a:tc>
                <a:tc>
                  <a:txBody>
                    <a:bodyPr/>
                    <a:lstStyle/>
                    <a:p>
                      <a:r>
                        <a:rPr sz="1800" b="0">
                          <a:solidFill>
                            <a:srgbClr val="203747"/>
                          </a:solidFill>
                          <a:latin typeface="Arial"/>
                          <a:ea typeface="Arial"/>
                          <a:cs typeface="Arial"/>
                        </a:rPr>
                        <a:t>7</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EF8404C1-92A2-4C18-96EA-87B393DFF9B6}"/>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04</a:t>
            </a:r>
          </a:p>
        </p:txBody>
      </p:sp>
    </p:spTree>
    <p:extLst>
      <p:ext uri="{BB962C8B-B14F-4D97-AF65-F5344CB8AC3E}">
        <p14:creationId xmlns:p14="http://schemas.microsoft.com/office/powerpoint/2010/main" val="1952659549"/>
      </p:ext>
    </p:extLst>
  </p:cSld>
</p:sld>
</file>

<file path=ppt/slides/slide5.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A60092F-CB8E-487D-991A-0D63F822067B}"/>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Data and source versions</a:t>
            </a:r>
          </a:p>
        </p:txBody>
      </p:sp>
      <p:sp>
        <p:nvSpPr>
          <p:cNvPr id="2" name="">
            <a:extLst xmlns:a="http://schemas.openxmlformats.org/drawingml/2006/main">
              <a:ext uri="{FF2B5EF4-FFF2-40B4-BE49-F238E27FC236}">
                <a16:creationId xmlns:a16="http://schemas.microsoft.com/office/drawing/2014/main" id="{A3FCBCF8-F839-4906-BD40-A1C6BF318FA5}"/>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graphicFrame>
        <p:nvGraphicFramePr>
          <p:cNvPr id="3" name="">
            <a:extLst xmlns:a="http://schemas.openxmlformats.org/drawingml/2006/main">
              <a:ext uri="{FF2B5EF4-FFF2-40B4-BE49-F238E27FC236}">
                <a16:creationId xmlns:a16="http://schemas.microsoft.com/office/drawing/2014/main" id="{EF322D45-E562-4711-9C06-EF574161B4B1}"/>
              </a:ext>
            </a:extLst>
          </p:cNvPr>
          <p:cNvGraphicFramePr/>
          <p:nvPr/>
        </p:nvGraphicFramePr>
        <p:xfrm>
          <a:off xmlns:a="http://schemas.openxmlformats.org/drawingml/2006/main" x="762000" y="2000250"/>
          <a:ext xmlns:a="http://schemas.openxmlformats.org/drawingml/2006/main" cx="10668000" cy="3048000"/>
        </p:xfrm>
        <a:graphic xmlns:a="http://schemas.openxmlformats.org/drawingml/2006/main">
          <a:graphicData uri="http://schemas.openxmlformats.org/drawingml/2006/table">
            <a:tbl>
              <a:tblPr/>
              <a:tblGrid>
                <a:gridCol w="5334000"/>
                <a:gridCol w="5334000"/>
              </a:tblGrid>
              <a:tr h="609600">
                <a:tc>
                  <a:txBody>
                    <a:bodyPr/>
                    <a:lstStyle/>
                    <a:p>
                      <a:r>
                        <a:rPr sz="1800" b="1">
                          <a:solidFill>
                            <a:srgbClr val="FFFFFF"/>
                          </a:solidFill>
                          <a:latin typeface="Arial"/>
                          <a:ea typeface="Arial"/>
                          <a:cs typeface="Arial"/>
                        </a:rPr>
                        <a:t>Data group</a:t>
                      </a:r>
                    </a:p>
                  </a:txBody>
                  <a:tcPr marL="91440" marR="91440" marT="45720" marB="45720">
                    <a:solidFill>
                      <a:srgbClr val="12324A"/>
                    </a:solidFill>
                  </a:tcPr>
                </a:tc>
                <a:tc>
                  <a:txBody>
                    <a:bodyPr/>
                    <a:lstStyle/>
                    <a:p>
                      <a:r>
                        <a:rPr sz="1800" b="1">
                          <a:solidFill>
                            <a:srgbClr val="FFFFFF"/>
                          </a:solidFill>
                          <a:latin typeface="Arial"/>
                          <a:ea typeface="Arial"/>
                          <a:cs typeface="Arial"/>
                        </a:rPr>
                        <a:t>Records in the academic sample</a:t>
                      </a:r>
                    </a:p>
                  </a:txBody>
                  <a:tcPr marL="91440" marR="91440" marT="45720" marB="45720">
                    <a:solidFill>
                      <a:srgbClr val="12324A"/>
                    </a:solidFill>
                  </a:tcPr>
                </a:tc>
              </a:tr>
              <a:tr h="609600">
                <a:tc>
                  <a:txBody>
                    <a:bodyPr/>
                    <a:lstStyle/>
                    <a:p>
                      <a:r>
                        <a:rPr sz="1800" b="0">
                          <a:solidFill>
                            <a:srgbClr val="203747"/>
                          </a:solidFill>
                          <a:latin typeface="Arial"/>
                          <a:ea typeface="Arial"/>
                          <a:cs typeface="Arial"/>
                        </a:rPr>
                        <a:t>Students</a:t>
                      </a:r>
                    </a:p>
                  </a:txBody>
                  <a:tcPr marL="91440" marR="91440" marT="45720" marB="45720">
                    <a:solidFill>
                      <a:srgbClr val="FFFFFF"/>
                    </a:solidFill>
                  </a:tcPr>
                </a:tc>
                <a:tc>
                  <a:txBody>
                    <a:bodyPr/>
                    <a:lstStyle/>
                    <a:p>
                      <a:r>
                        <a:rPr sz="1800" b="0">
                          <a:solidFill>
                            <a:srgbClr val="203747"/>
                          </a:solidFill>
                          <a:latin typeface="Arial"/>
                          <a:ea typeface="Arial"/>
                          <a:cs typeface="Arial"/>
                        </a:rPr>
                        <a:t>40 valid students</a:t>
                      </a:r>
                    </a:p>
                  </a:txBody>
                  <a:tcPr marL="91440" marR="91440" marT="45720" marB="45720">
                    <a:solidFill>
                      <a:srgbClr val="FFFFFF"/>
                    </a:solidFill>
                  </a:tcPr>
                </a:tc>
              </a:tr>
              <a:tr h="609600">
                <a:tc>
                  <a:txBody>
                    <a:bodyPr/>
                    <a:lstStyle/>
                    <a:p>
                      <a:r>
                        <a:rPr sz="1800" b="0">
                          <a:solidFill>
                            <a:srgbClr val="203747"/>
                          </a:solidFill>
                          <a:latin typeface="Arial"/>
                          <a:ea typeface="Arial"/>
                          <a:cs typeface="Arial"/>
                        </a:rPr>
                        <a:t>Teachers and sections</a:t>
                      </a:r>
                    </a:p>
                  </a:txBody>
                  <a:tcPr marL="91440" marR="91440" marT="45720" marB="45720">
                    <a:solidFill>
                      <a:srgbClr val="EDF2F0"/>
                    </a:solidFill>
                  </a:tcPr>
                </a:tc>
                <a:tc>
                  <a:txBody>
                    <a:bodyPr/>
                    <a:lstStyle/>
                    <a:p>
                      <a:r>
                        <a:rPr sz="1800" b="0">
                          <a:solidFill>
                            <a:srgbClr val="203747"/>
                          </a:solidFill>
                          <a:latin typeface="Arial"/>
                          <a:ea typeface="Arial"/>
                          <a:cs typeface="Arial"/>
                        </a:rPr>
                        <a:t>20 teachers and 41 sections</a:t>
                      </a:r>
                    </a:p>
                  </a:txBody>
                  <a:tcPr marL="91440" marR="91440" marT="45720" marB="45720">
                    <a:solidFill>
                      <a:srgbClr val="EDF2F0"/>
                    </a:solidFill>
                  </a:tcPr>
                </a:tc>
              </a:tr>
              <a:tr h="609600">
                <a:tc>
                  <a:txBody>
                    <a:bodyPr/>
                    <a:lstStyle/>
                    <a:p>
                      <a:r>
                        <a:rPr sz="1800" b="0">
                          <a:solidFill>
                            <a:srgbClr val="203747"/>
                          </a:solidFill>
                          <a:latin typeface="Arial"/>
                          <a:ea typeface="Arial"/>
                          <a:cs typeface="Arial"/>
                        </a:rPr>
                        <a:t>Grades</a:t>
                      </a:r>
                    </a:p>
                  </a:txBody>
                  <a:tcPr marL="91440" marR="91440" marT="45720" marB="45720">
                    <a:solidFill>
                      <a:srgbClr val="FFFFFF"/>
                    </a:solidFill>
                  </a:tcPr>
                </a:tc>
                <a:tc>
                  <a:txBody>
                    <a:bodyPr/>
                    <a:lstStyle/>
                    <a:p>
                      <a:r>
                        <a:rPr sz="1800" b="0">
                          <a:solidFill>
                            <a:srgbClr val="203747"/>
                          </a:solidFill>
                          <a:latin typeface="Arial"/>
                          <a:ea typeface="Arial"/>
                          <a:cs typeface="Arial"/>
                        </a:rPr>
                        <a:t>261 valid grade rows</a:t>
                      </a:r>
                    </a:p>
                  </a:txBody>
                  <a:tcPr marL="91440" marR="91440" marT="45720" marB="45720">
                    <a:solidFill>
                      <a:srgbClr val="FFFFFF"/>
                    </a:solidFill>
                  </a:tcPr>
                </a:tc>
              </a:tr>
              <a:tr h="609600">
                <a:tc>
                  <a:txBody>
                    <a:bodyPr/>
                    <a:lstStyle/>
                    <a:p>
                      <a:r>
                        <a:rPr sz="1800" b="0">
                          <a:solidFill>
                            <a:srgbClr val="203747"/>
                          </a:solidFill>
                          <a:latin typeface="Arial"/>
                          <a:ea typeface="Arial"/>
                          <a:cs typeface="Arial"/>
                        </a:rPr>
                        <a:t>Attendance and conduct</a:t>
                      </a:r>
                    </a:p>
                  </a:txBody>
                  <a:tcPr marL="91440" marR="91440" marT="45720" marB="45720">
                    <a:solidFill>
                      <a:srgbClr val="EDF2F0"/>
                    </a:solidFill>
                  </a:tcPr>
                </a:tc>
                <a:tc>
                  <a:txBody>
                    <a:bodyPr/>
                    <a:lstStyle/>
                    <a:p>
                      <a:r>
                        <a:rPr sz="1800" b="0">
                          <a:solidFill>
                            <a:srgbClr val="203747"/>
                          </a:solidFill>
                          <a:latin typeface="Arial"/>
                          <a:ea typeface="Arial"/>
                          <a:cs typeface="Arial"/>
                        </a:rPr>
                        <a:t>3915 attendance rows and 120 conduct rows</a:t>
                      </a:r>
                    </a:p>
                  </a:txBody>
                  <a:tcPr marL="91440" marR="91440" marT="45720" marB="45720">
                    <a:solidFill>
                      <a:srgbClr val="EDF2F0"/>
                    </a:solidFill>
                  </a:tcPr>
                </a:tc>
              </a:tr>
            </a:tbl>
          </a:graphicData>
        </a:graphic>
      </p:graphicFrame>
      <p:sp>
        <p:nvSpPr>
          <p:cNvPr id="4" name="">
            <a:extLst xmlns:a="http://schemas.openxmlformats.org/drawingml/2006/main">
              <a:ext uri="{FF2B5EF4-FFF2-40B4-BE49-F238E27FC236}">
                <a16:creationId xmlns:a16="http://schemas.microsoft.com/office/drawing/2014/main" id="{73CD06AB-073A-4F7B-9AB0-E1B9481DD972}"/>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05</a:t>
            </a:r>
          </a:p>
        </p:txBody>
      </p:sp>
    </p:spTree>
    <p:extLst>
      <p:ext uri="{BB962C8B-B14F-4D97-AF65-F5344CB8AC3E}">
        <p14:creationId xmlns:p14="http://schemas.microsoft.com/office/powerpoint/2010/main" val="1780650736"/>
      </p:ext>
    </p:extLst>
  </p:cSld>
</p:sld>
</file>

<file path=ppt/slides/slide6.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BA0CA75-ABF4-492F-8938-F3FD2DF012C3}"/>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The data loader checks bad rows</a:t>
            </a:r>
          </a:p>
        </p:txBody>
      </p:sp>
      <p:sp>
        <p:nvSpPr>
          <p:cNvPr id="2" name="">
            <a:extLst xmlns:a="http://schemas.openxmlformats.org/drawingml/2006/main">
              <a:ext uri="{FF2B5EF4-FFF2-40B4-BE49-F238E27FC236}">
                <a16:creationId xmlns:a16="http://schemas.microsoft.com/office/drawing/2014/main" id="{B599901E-E555-4D98-A185-B9AAFA642EE2}"/>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15047BC-45B1-4079-AF7E-FC5363775330}"/>
              </a:ext>
            </a:extLst>
          </p:cNvPr>
          <p:cNvSpPr>
            <a:spLocks xmlns:a="http://schemas.openxmlformats.org/drawingml/2006/main" noGrp="1"/>
          </p:cNvSpPr>
          <p:nvPr/>
        </p:nvSpPr>
        <p:spPr>
          <a:xfrm xmlns:a="http://schemas.openxmlformats.org/drawingml/2006/main">
            <a:off x="762000" y="2047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6110AF51-BAC4-4C33-B3A2-11F83B6F8984}"/>
              </a:ext>
            </a:extLst>
          </p:cNvPr>
          <p:cNvSpPr>
            <a:spLocks xmlns:a="http://schemas.openxmlformats.org/drawingml/2006/main" noGrp="1"/>
          </p:cNvSpPr>
          <p:nvPr/>
        </p:nvSpPr>
        <p:spPr>
          <a:xfrm xmlns:a="http://schemas.openxmlformats.org/drawingml/2006/main">
            <a:off x="1619250" y="2000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Duplicate IDs and invalid scores are reported</a:t>
            </a:r>
          </a:p>
        </p:txBody>
      </p:sp>
      <p:sp>
        <p:nvSpPr>
          <p:cNvPr id="5" name="">
            <a:extLst xmlns:a="http://schemas.openxmlformats.org/drawingml/2006/main">
              <a:ext uri="{FF2B5EF4-FFF2-40B4-BE49-F238E27FC236}">
                <a16:creationId xmlns:a16="http://schemas.microsoft.com/office/drawing/2014/main" id="{4D0CA4B8-7F45-4AD9-8004-2C53E286AA6E}"/>
              </a:ext>
            </a:extLst>
          </p:cNvPr>
          <p:cNvSpPr>
            <a:spLocks xmlns:a="http://schemas.openxmlformats.org/drawingml/2006/main" noGrp="1"/>
          </p:cNvSpPr>
          <p:nvPr/>
        </p:nvSpPr>
        <p:spPr>
          <a:xfrm xmlns:a="http://schemas.openxmlformats.org/drawingml/2006/main">
            <a:off x="762000" y="3000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21A73D6F-2814-4708-A9EE-FED6FA9A784E}"/>
              </a:ext>
            </a:extLst>
          </p:cNvPr>
          <p:cNvSpPr>
            <a:spLocks xmlns:a="http://schemas.openxmlformats.org/drawingml/2006/main" noGrp="1"/>
          </p:cNvSpPr>
          <p:nvPr/>
        </p:nvSpPr>
        <p:spPr>
          <a:xfrm xmlns:a="http://schemas.openxmlformats.org/drawingml/2006/main">
            <a:off x="1619250" y="2952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Unknown student and course IDs are rejected</a:t>
            </a:r>
          </a:p>
        </p:txBody>
      </p:sp>
      <p:sp>
        <p:nvSpPr>
          <p:cNvPr id="7" name="">
            <a:extLst xmlns:a="http://schemas.openxmlformats.org/drawingml/2006/main">
              <a:ext uri="{FF2B5EF4-FFF2-40B4-BE49-F238E27FC236}">
                <a16:creationId xmlns:a16="http://schemas.microsoft.com/office/drawing/2014/main" id="{048B31E5-D406-4D84-99C8-27897CED607C}"/>
              </a:ext>
            </a:extLst>
          </p:cNvPr>
          <p:cNvSpPr>
            <a:spLocks xmlns:a="http://schemas.openxmlformats.org/drawingml/2006/main" noGrp="1"/>
          </p:cNvSpPr>
          <p:nvPr/>
        </p:nvSpPr>
        <p:spPr>
          <a:xfrm xmlns:a="http://schemas.openxmlformats.org/drawingml/2006/main">
            <a:off x="762000" y="3952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ED97F024-092D-4BA0-A39E-81E6E6B28BE1}"/>
              </a:ext>
            </a:extLst>
          </p:cNvPr>
          <p:cNvSpPr>
            <a:spLocks xmlns:a="http://schemas.openxmlformats.org/drawingml/2006/main" noGrp="1"/>
          </p:cNvSpPr>
          <p:nvPr/>
        </p:nvSpPr>
        <p:spPr>
          <a:xfrm xmlns:a="http://schemas.openxmlformats.org/drawingml/2006/main">
            <a:off x="1619250" y="3905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A grade joins a section by course, semester and class</a:t>
            </a:r>
          </a:p>
        </p:txBody>
      </p:sp>
      <p:sp>
        <p:nvSpPr>
          <p:cNvPr id="9" name="">
            <a:extLst xmlns:a="http://schemas.openxmlformats.org/drawingml/2006/main">
              <a:ext uri="{FF2B5EF4-FFF2-40B4-BE49-F238E27FC236}">
                <a16:creationId xmlns:a16="http://schemas.microsoft.com/office/drawing/2014/main" id="{156E7861-4401-40EE-8B22-33B5F00B11C3}"/>
              </a:ext>
            </a:extLst>
          </p:cNvPr>
          <p:cNvSpPr>
            <a:spLocks xmlns:a="http://schemas.openxmlformats.org/drawingml/2006/main" noGrp="1"/>
          </p:cNvSpPr>
          <p:nvPr/>
        </p:nvSpPr>
        <p:spPr>
          <a:xfrm xmlns:a="http://schemas.openxmlformats.org/drawingml/2006/main">
            <a:off x="762000" y="4905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B57FB324-FF2D-4E6F-B77D-5D7F7695277A}"/>
              </a:ext>
            </a:extLst>
          </p:cNvPr>
          <p:cNvSpPr>
            <a:spLocks xmlns:a="http://schemas.openxmlformats.org/drawingml/2006/main" noGrp="1"/>
          </p:cNvSpPr>
          <p:nvPr/>
        </p:nvSpPr>
        <p:spPr>
          <a:xfrm xmlns:a="http://schemas.openxmlformats.org/drawingml/2006/main">
            <a:off x="1619250" y="4857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Bad rows stay visible in the quality report</a:t>
            </a:r>
          </a:p>
        </p:txBody>
      </p:sp>
      <p:sp>
        <p:nvSpPr>
          <p:cNvPr id="11" name="">
            <a:extLst xmlns:a="http://schemas.openxmlformats.org/drawingml/2006/main">
              <a:ext uri="{FF2B5EF4-FFF2-40B4-BE49-F238E27FC236}">
                <a16:creationId xmlns:a16="http://schemas.microsoft.com/office/drawing/2014/main" id="{1BEBE4A3-1D68-4F31-B180-DBB5218BA6BF}"/>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06</a:t>
            </a:r>
          </a:p>
        </p:txBody>
      </p:sp>
    </p:spTree>
    <p:extLst>
      <p:ext uri="{BB962C8B-B14F-4D97-AF65-F5344CB8AC3E}">
        <p14:creationId xmlns:p14="http://schemas.microsoft.com/office/powerpoint/2010/main" val="982481481"/>
      </p:ext>
    </p:extLst>
  </p:cSld>
</p:sld>
</file>

<file path=ppt/slides/slide7.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8B87485-27A1-4D91-AB1D-8FB81C0A5965}"/>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Teacher search and class timetable</a:t>
            </a:r>
          </a:p>
        </p:txBody>
      </p:sp>
      <p:sp>
        <p:nvSpPr>
          <p:cNvPr id="2" name="">
            <a:extLst xmlns:a="http://schemas.openxmlformats.org/drawingml/2006/main">
              <a:ext uri="{FF2B5EF4-FFF2-40B4-BE49-F238E27FC236}">
                <a16:creationId xmlns:a16="http://schemas.microsoft.com/office/drawing/2014/main" id="{67F64B36-D441-4800-A69A-45075FE56294}"/>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5C21950-B685-4153-8BFB-13EFF82FCC65}"/>
              </a:ext>
            </a:extLst>
          </p:cNvPr>
          <p:cNvSpPr>
            <a:spLocks xmlns:a="http://schemas.openxmlformats.org/drawingml/2006/main" noGrp="1"/>
          </p:cNvSpPr>
          <p:nvPr/>
        </p:nvSpPr>
        <p:spPr>
          <a:xfrm xmlns:a="http://schemas.openxmlformats.org/drawingml/2006/main">
            <a:off x="762000" y="2047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0200C694-85B3-4C32-9796-9794D2D68F21}"/>
              </a:ext>
            </a:extLst>
          </p:cNvPr>
          <p:cNvSpPr>
            <a:spLocks xmlns:a="http://schemas.openxmlformats.org/drawingml/2006/main" noGrp="1"/>
          </p:cNvSpPr>
          <p:nvPr/>
        </p:nvSpPr>
        <p:spPr>
          <a:xfrm xmlns:a="http://schemas.openxmlformats.org/drawingml/2006/main">
            <a:off x="1619250" y="2000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search_teachers finds teachers by name, ID or filters</a:t>
            </a:r>
          </a:p>
        </p:txBody>
      </p:sp>
      <p:sp>
        <p:nvSpPr>
          <p:cNvPr id="5" name="">
            <a:extLst xmlns:a="http://schemas.openxmlformats.org/drawingml/2006/main">
              <a:ext uri="{FF2B5EF4-FFF2-40B4-BE49-F238E27FC236}">
                <a16:creationId xmlns:a16="http://schemas.microsoft.com/office/drawing/2014/main" id="{035DE9A2-41B0-49A5-B89E-49D1DAF02B2C}"/>
              </a:ext>
            </a:extLst>
          </p:cNvPr>
          <p:cNvSpPr>
            <a:spLocks xmlns:a="http://schemas.openxmlformats.org/drawingml/2006/main" noGrp="1"/>
          </p:cNvSpPr>
          <p:nvPr/>
        </p:nvSpPr>
        <p:spPr>
          <a:xfrm xmlns:a="http://schemas.openxmlformats.org/drawingml/2006/main">
            <a:off x="762000" y="3000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B9647475-B747-4F70-9BD0-2C8B4AF66DA0}"/>
              </a:ext>
            </a:extLst>
          </p:cNvPr>
          <p:cNvSpPr>
            <a:spLocks xmlns:a="http://schemas.openxmlformats.org/drawingml/2006/main" noGrp="1"/>
          </p:cNvSpPr>
          <p:nvPr/>
        </p:nvSpPr>
        <p:spPr>
          <a:xfrm xmlns:a="http://schemas.openxmlformats.org/drawingml/2006/main">
            <a:off x="1619250" y="2952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class_timetable shows the sections of a class</a:t>
            </a:r>
          </a:p>
        </p:txBody>
      </p:sp>
      <p:sp>
        <p:nvSpPr>
          <p:cNvPr id="7" name="">
            <a:extLst xmlns:a="http://schemas.openxmlformats.org/drawingml/2006/main">
              <a:ext uri="{FF2B5EF4-FFF2-40B4-BE49-F238E27FC236}">
                <a16:creationId xmlns:a16="http://schemas.microsoft.com/office/drawing/2014/main" id="{685FCC67-DEE2-450B-BAFA-2B0694FC151F}"/>
              </a:ext>
            </a:extLst>
          </p:cNvPr>
          <p:cNvSpPr>
            <a:spLocks xmlns:a="http://schemas.openxmlformats.org/drawingml/2006/main" noGrp="1"/>
          </p:cNvSpPr>
          <p:nvPr/>
        </p:nvSpPr>
        <p:spPr>
          <a:xfrm xmlns:a="http://schemas.openxmlformats.org/drawingml/2006/main">
            <a:off x="762000" y="3952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EFAA7DD2-B141-4006-A09E-A97731A51021}"/>
              </a:ext>
            </a:extLst>
          </p:cNvPr>
          <p:cNvSpPr>
            <a:spLocks xmlns:a="http://schemas.openxmlformats.org/drawingml/2006/main" noGrp="1"/>
          </p:cNvSpPr>
          <p:nvPr/>
        </p:nvSpPr>
        <p:spPr>
          <a:xfrm xmlns:a="http://schemas.openxmlformats.org/drawingml/2006/main">
            <a:off x="1619250" y="3905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IT01 has 3 sections in semester 2024-1</a:t>
            </a:r>
          </a:p>
        </p:txBody>
      </p:sp>
      <p:sp>
        <p:nvSpPr>
          <p:cNvPr id="9" name="">
            <a:extLst xmlns:a="http://schemas.openxmlformats.org/drawingml/2006/main">
              <a:ext uri="{FF2B5EF4-FFF2-40B4-BE49-F238E27FC236}">
                <a16:creationId xmlns:a16="http://schemas.microsoft.com/office/drawing/2014/main" id="{5158E03B-7A0D-4253-B5E2-C210C1FAA046}"/>
              </a:ext>
            </a:extLst>
          </p:cNvPr>
          <p:cNvSpPr>
            <a:spLocks xmlns:a="http://schemas.openxmlformats.org/drawingml/2006/main" noGrp="1"/>
          </p:cNvSpPr>
          <p:nvPr/>
        </p:nvSpPr>
        <p:spPr>
          <a:xfrm xmlns:a="http://schemas.openxmlformats.org/drawingml/2006/main">
            <a:off x="762000" y="4905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6AD1D8E3-274F-466C-BD7E-F7A1AE76E8FB}"/>
              </a:ext>
            </a:extLst>
          </p:cNvPr>
          <p:cNvSpPr>
            <a:spLocks xmlns:a="http://schemas.openxmlformats.org/drawingml/2006/main" noGrp="1"/>
          </p:cNvSpPr>
          <p:nvPr/>
        </p:nvSpPr>
        <p:spPr>
          <a:xfrm xmlns:a="http://schemas.openxmlformats.org/drawingml/2006/main">
            <a:off x="1619250" y="4857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An unknown class produces an error</a:t>
            </a:r>
          </a:p>
        </p:txBody>
      </p:sp>
      <p:sp>
        <p:nvSpPr>
          <p:cNvPr id="11" name="">
            <a:extLst xmlns:a="http://schemas.openxmlformats.org/drawingml/2006/main">
              <a:ext uri="{FF2B5EF4-FFF2-40B4-BE49-F238E27FC236}">
                <a16:creationId xmlns:a16="http://schemas.microsoft.com/office/drawing/2014/main" id="{2FC78F31-1897-4E8E-937B-6915570ED686}"/>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07</a:t>
            </a:r>
          </a:p>
        </p:txBody>
      </p:sp>
    </p:spTree>
    <p:extLst>
      <p:ext uri="{BB962C8B-B14F-4D97-AF65-F5344CB8AC3E}">
        <p14:creationId xmlns:p14="http://schemas.microsoft.com/office/powerpoint/2010/main" val="1667825766"/>
      </p:ext>
    </p:extLst>
  </p:cSld>
</p:sld>
</file>

<file path=ppt/slides/slide8.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A2E8942-760B-48B1-971E-9DA519561258}"/>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Teacher workload and grade report</a:t>
            </a:r>
          </a:p>
        </p:txBody>
      </p:sp>
      <p:sp>
        <p:nvSpPr>
          <p:cNvPr id="2" name="">
            <a:extLst xmlns:a="http://schemas.openxmlformats.org/drawingml/2006/main">
              <a:ext uri="{FF2B5EF4-FFF2-40B4-BE49-F238E27FC236}">
                <a16:creationId xmlns:a16="http://schemas.microsoft.com/office/drawing/2014/main" id="{E364D5DB-75F7-43B5-AC47-148286FE6B23}"/>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graphicFrame>
        <p:nvGraphicFramePr>
          <p:cNvPr id="3" name="">
            <a:extLst xmlns:a="http://schemas.openxmlformats.org/drawingml/2006/main">
              <a:ext uri="{FF2B5EF4-FFF2-40B4-BE49-F238E27FC236}">
                <a16:creationId xmlns:a16="http://schemas.microsoft.com/office/drawing/2014/main" id="{4AA8BBE7-B094-406C-A615-54BE3E29B0F0}"/>
              </a:ext>
            </a:extLst>
          </p:cNvPr>
          <p:cNvGraphicFramePr/>
          <p:nvPr/>
        </p:nvGraphicFramePr>
        <p:xfrm>
          <a:off xmlns:a="http://schemas.openxmlformats.org/drawingml/2006/main" x="762000" y="2000250"/>
          <a:ext xmlns:a="http://schemas.openxmlformats.org/drawingml/2006/main" cx="10668000" cy="3048000"/>
        </p:xfrm>
        <a:graphic xmlns:a="http://schemas.openxmlformats.org/drawingml/2006/main">
          <a:graphicData uri="http://schemas.openxmlformats.org/drawingml/2006/table">
            <a:tbl>
              <a:tblPr/>
              <a:tblGrid>
                <a:gridCol w="5334000"/>
                <a:gridCol w="5334000"/>
              </a:tblGrid>
              <a:tr h="609600">
                <a:tc>
                  <a:txBody>
                    <a:bodyPr/>
                    <a:lstStyle/>
                    <a:p>
                      <a:r>
                        <a:rPr sz="1800" b="1">
                          <a:solidFill>
                            <a:srgbClr val="FFFFFF"/>
                          </a:solidFill>
                          <a:latin typeface="Arial"/>
                          <a:ea typeface="Arial"/>
                          <a:cs typeface="Arial"/>
                        </a:rPr>
                        <a:t>Example</a:t>
                      </a:r>
                    </a:p>
                  </a:txBody>
                  <a:tcPr marL="91440" marR="91440" marT="45720" marB="45720">
                    <a:solidFill>
                      <a:srgbClr val="12324A"/>
                    </a:solidFill>
                  </a:tcPr>
                </a:tc>
                <a:tc>
                  <a:txBody>
                    <a:bodyPr/>
                    <a:lstStyle/>
                    <a:p>
                      <a:r>
                        <a:rPr sz="1800" b="1">
                          <a:solidFill>
                            <a:srgbClr val="FFFFFF"/>
                          </a:solidFill>
                          <a:latin typeface="Arial"/>
                          <a:ea typeface="Arial"/>
                          <a:cs typeface="Arial"/>
                        </a:rPr>
                        <a:t>Expected result</a:t>
                      </a:r>
                    </a:p>
                  </a:txBody>
                  <a:tcPr marL="91440" marR="91440" marT="45720" marB="45720">
                    <a:solidFill>
                      <a:srgbClr val="12324A"/>
                    </a:solidFill>
                  </a:tcPr>
                </a:tc>
              </a:tr>
              <a:tr h="609600">
                <a:tc>
                  <a:txBody>
                    <a:bodyPr/>
                    <a:lstStyle/>
                    <a:p>
                      <a:r>
                        <a:rPr sz="1800" b="0">
                          <a:solidFill>
                            <a:srgbClr val="203747"/>
                          </a:solidFill>
                          <a:latin typeface="Arial"/>
                          <a:ea typeface="Arial"/>
                          <a:cs typeface="Arial"/>
                        </a:rPr>
                        <a:t>T001 workload in 2024-1</a:t>
                      </a:r>
                    </a:p>
                  </a:txBody>
                  <a:tcPr marL="91440" marR="91440" marT="45720" marB="45720">
                    <a:solidFill>
                      <a:srgbClr val="FFFFFF"/>
                    </a:solidFill>
                  </a:tcPr>
                </a:tc>
                <a:tc>
                  <a:txBody>
                    <a:bodyPr/>
                    <a:lstStyle/>
                    <a:p>
                      <a:r>
                        <a:rPr sz="1800" b="0">
                          <a:solidFill>
                            <a:srgbClr val="203747"/>
                          </a:solidFill>
                          <a:latin typeface="Arial"/>
                          <a:ea typeface="Arial"/>
                          <a:cs typeface="Arial"/>
                        </a:rPr>
                        <a:t>3 sections and 9 periods per week</a:t>
                      </a:r>
                    </a:p>
                  </a:txBody>
                  <a:tcPr marL="91440" marR="91440" marT="45720" marB="45720">
                    <a:solidFill>
                      <a:srgbClr val="FFFFFF"/>
                    </a:solidFill>
                  </a:tcPr>
                </a:tc>
              </a:tr>
              <a:tr h="609600">
                <a:tc>
                  <a:txBody>
                    <a:bodyPr/>
                    <a:lstStyle/>
                    <a:p>
                      <a:r>
                        <a:rPr sz="1800" b="0">
                          <a:solidFill>
                            <a:srgbClr val="203747"/>
                          </a:solidFill>
                          <a:latin typeface="Arial"/>
                          <a:ea typeface="Arial"/>
                          <a:cs typeface="Arial"/>
                        </a:rPr>
                        <a:t>T001 workload in 2099-1</a:t>
                      </a:r>
                    </a:p>
                  </a:txBody>
                  <a:tcPr marL="91440" marR="91440" marT="45720" marB="45720">
                    <a:solidFill>
                      <a:srgbClr val="EDF2F0"/>
                    </a:solidFill>
                  </a:tcPr>
                </a:tc>
                <a:tc>
                  <a:txBody>
                    <a:bodyPr/>
                    <a:lstStyle/>
                    <a:p>
                      <a:r>
                        <a:rPr sz="1800" b="0">
                          <a:solidFill>
                            <a:srgbClr val="203747"/>
                          </a:solidFill>
                          <a:latin typeface="Arial"/>
                          <a:ea typeface="Arial"/>
                          <a:cs typeface="Arial"/>
                        </a:rPr>
                        <a:t>0 sections and 0 periods</a:t>
                      </a:r>
                    </a:p>
                  </a:txBody>
                  <a:tcPr marL="91440" marR="91440" marT="45720" marB="45720">
                    <a:solidFill>
                      <a:srgbClr val="EDF2F0"/>
                    </a:solidFill>
                  </a:tcPr>
                </a:tc>
              </a:tr>
              <a:tr h="609600">
                <a:tc>
                  <a:txBody>
                    <a:bodyPr/>
                    <a:lstStyle/>
                    <a:p>
                      <a:r>
                        <a:rPr sz="1800" b="0">
                          <a:solidFill>
                            <a:srgbClr val="203747"/>
                          </a:solidFill>
                          <a:latin typeface="Arial"/>
                          <a:ea typeface="Arial"/>
                          <a:cs typeface="Arial"/>
                        </a:rPr>
                        <a:t>T001 grade report in 2024-1</a:t>
                      </a:r>
                    </a:p>
                  </a:txBody>
                  <a:tcPr marL="91440" marR="91440" marT="45720" marB="45720">
                    <a:solidFill>
                      <a:srgbClr val="FFFFFF"/>
                    </a:solidFill>
                  </a:tcPr>
                </a:tc>
                <a:tc>
                  <a:txBody>
                    <a:bodyPr/>
                    <a:lstStyle/>
                    <a:p>
                      <a:r>
                        <a:rPr sz="1800" b="0">
                          <a:solidFill>
                            <a:srgbClr val="203747"/>
                          </a:solidFill>
                          <a:latin typeface="Arial"/>
                          <a:ea typeface="Arial"/>
                          <a:cs typeface="Arial"/>
                        </a:rPr>
                        <a:t>30 graded enrolments</a:t>
                      </a:r>
                    </a:p>
                  </a:txBody>
                  <a:tcPr marL="91440" marR="91440" marT="45720" marB="45720">
                    <a:solidFill>
                      <a:srgbClr val="FFFFFF"/>
                    </a:solidFill>
                  </a:tcPr>
                </a:tc>
              </a:tr>
              <a:tr h="609600">
                <a:tc>
                  <a:txBody>
                    <a:bodyPr/>
                    <a:lstStyle/>
                    <a:p>
                      <a:r>
                        <a:rPr sz="1800" b="0">
                          <a:solidFill>
                            <a:srgbClr val="203747"/>
                          </a:solidFill>
                          <a:latin typeface="Arial"/>
                          <a:ea typeface="Arial"/>
                          <a:cs typeface="Arial"/>
                        </a:rPr>
                        <a:t>Mean score and pass rate</a:t>
                      </a:r>
                    </a:p>
                  </a:txBody>
                  <a:tcPr marL="91440" marR="91440" marT="45720" marB="45720">
                    <a:solidFill>
                      <a:srgbClr val="EDF2F0"/>
                    </a:solidFill>
                  </a:tcPr>
                </a:tc>
                <a:tc>
                  <a:txBody>
                    <a:bodyPr/>
                    <a:lstStyle/>
                    <a:p>
                      <a:r>
                        <a:rPr sz="1800" b="0">
                          <a:solidFill>
                            <a:srgbClr val="203747"/>
                          </a:solidFill>
                          <a:latin typeface="Arial"/>
                          <a:ea typeface="Arial"/>
                          <a:cs typeface="Arial"/>
                        </a:rPr>
                        <a:t>7.4 out of 10 and 90.0 percent</a:t>
                      </a:r>
                    </a:p>
                  </a:txBody>
                  <a:tcPr marL="91440" marR="91440" marT="45720" marB="45720">
                    <a:solidFill>
                      <a:srgbClr val="EDF2F0"/>
                    </a:solidFill>
                  </a:tcPr>
                </a:tc>
              </a:tr>
            </a:tbl>
          </a:graphicData>
        </a:graphic>
      </p:graphicFrame>
      <p:sp>
        <p:nvSpPr>
          <p:cNvPr id="4" name="">
            <a:extLst xmlns:a="http://schemas.openxmlformats.org/drawingml/2006/main">
              <a:ext uri="{FF2B5EF4-FFF2-40B4-BE49-F238E27FC236}">
                <a16:creationId xmlns:a16="http://schemas.microsoft.com/office/drawing/2014/main" id="{06C7A551-0E01-4169-B9A9-6FDF376959C7}"/>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08</a:t>
            </a:r>
          </a:p>
        </p:txBody>
      </p:sp>
    </p:spTree>
    <p:extLst>
      <p:ext uri="{BB962C8B-B14F-4D97-AF65-F5344CB8AC3E}">
        <p14:creationId xmlns:p14="http://schemas.microsoft.com/office/powerpoint/2010/main" val="739662059"/>
      </p:ext>
    </p:extLst>
  </p:cSld>
</p:sld>
</file>

<file path=ppt/slides/slide9.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8C4ADB0-08F7-4809-A7BF-617F0DDEE696}"/>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Attendance at the exact boundary</a:t>
            </a:r>
          </a:p>
        </p:txBody>
      </p:sp>
      <p:sp>
        <p:nvSpPr>
          <p:cNvPr id="2" name="">
            <a:extLst xmlns:a="http://schemas.openxmlformats.org/drawingml/2006/main">
              <a:ext uri="{FF2B5EF4-FFF2-40B4-BE49-F238E27FC236}">
                <a16:creationId xmlns:a16="http://schemas.microsoft.com/office/drawing/2014/main" id="{81FC52D5-3143-49CC-972B-A03CDAA08BD9}"/>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graphicFrame>
        <p:nvGraphicFramePr>
          <p:cNvPr id="3" name="">
            <a:extLst xmlns:a="http://schemas.openxmlformats.org/drawingml/2006/main">
              <a:ext uri="{FF2B5EF4-FFF2-40B4-BE49-F238E27FC236}">
                <a16:creationId xmlns:a16="http://schemas.microsoft.com/office/drawing/2014/main" id="{513375D4-AA91-4AAB-8810-BD92D3C26B37}"/>
              </a:ext>
            </a:extLst>
          </p:cNvPr>
          <p:cNvGraphicFramePr/>
          <p:nvPr/>
        </p:nvGraphicFramePr>
        <p:xfrm>
          <a:off xmlns:a="http://schemas.openxmlformats.org/drawingml/2006/main" x="762000" y="2000250"/>
          <a:ext xmlns:a="http://schemas.openxmlformats.org/drawingml/2006/main" cx="10668000" cy="1828800"/>
        </p:xfrm>
        <a:graphic xmlns:a="http://schemas.openxmlformats.org/drawingml/2006/main">
          <a:graphicData uri="http://schemas.openxmlformats.org/drawingml/2006/table">
            <a:tbl>
              <a:tblPr/>
              <a:tblGrid>
                <a:gridCol w="2667000"/>
                <a:gridCol w="2667000"/>
                <a:gridCol w="2667000"/>
                <a:gridCol w="2667000"/>
              </a:tblGrid>
              <a:tr h="609600">
                <a:tc>
                  <a:txBody>
                    <a:bodyPr/>
                    <a:lstStyle/>
                    <a:p>
                      <a:r>
                        <a:rPr sz="1575" b="1">
                          <a:solidFill>
                            <a:srgbClr val="FFFFFF"/>
                          </a:solidFill>
                          <a:latin typeface="Arial"/>
                          <a:ea typeface="Arial"/>
                          <a:cs typeface="Arial"/>
                        </a:rPr>
                        <a:t>Meetings</a:t>
                      </a:r>
                    </a:p>
                  </a:txBody>
                  <a:tcPr marL="91440" marR="91440" marT="45720" marB="45720">
                    <a:solidFill>
                      <a:srgbClr val="12324A"/>
                    </a:solidFill>
                  </a:tcPr>
                </a:tc>
                <a:tc>
                  <a:txBody>
                    <a:bodyPr/>
                    <a:lstStyle/>
                    <a:p>
                      <a:r>
                        <a:rPr sz="1575" b="1">
                          <a:solidFill>
                            <a:srgbClr val="FFFFFF"/>
                          </a:solidFill>
                          <a:latin typeface="Arial"/>
                          <a:ea typeface="Arial"/>
                          <a:cs typeface="Arial"/>
                        </a:rPr>
                        <a:t>Absences</a:t>
                      </a:r>
                    </a:p>
                  </a:txBody>
                  <a:tcPr marL="91440" marR="91440" marT="45720" marB="45720">
                    <a:solidFill>
                      <a:srgbClr val="12324A"/>
                    </a:solidFill>
                  </a:tcPr>
                </a:tc>
                <a:tc>
                  <a:txBody>
                    <a:bodyPr/>
                    <a:lstStyle/>
                    <a:p>
                      <a:r>
                        <a:rPr sz="1575" b="1">
                          <a:solidFill>
                            <a:srgbClr val="FFFFFF"/>
                          </a:solidFill>
                          <a:latin typeface="Arial"/>
                          <a:ea typeface="Arial"/>
                          <a:cs typeface="Arial"/>
                        </a:rPr>
                        <a:t>Absence rate</a:t>
                      </a:r>
                    </a:p>
                  </a:txBody>
                  <a:tcPr marL="91440" marR="91440" marT="45720" marB="45720">
                    <a:solidFill>
                      <a:srgbClr val="12324A"/>
                    </a:solidFill>
                  </a:tcPr>
                </a:tc>
                <a:tc>
                  <a:txBody>
                    <a:bodyPr/>
                    <a:lstStyle/>
                    <a:p>
                      <a:r>
                        <a:rPr sz="1575" b="1">
                          <a:solidFill>
                            <a:srgbClr val="FFFFFF"/>
                          </a:solidFill>
                          <a:latin typeface="Arial"/>
                          <a:ea typeface="Arial"/>
                          <a:cs typeface="Arial"/>
                        </a:rPr>
                        <a:t>Exam ban</a:t>
                      </a:r>
                    </a:p>
                  </a:txBody>
                  <a:tcPr marL="91440" marR="91440" marT="45720" marB="45720">
                    <a:solidFill>
                      <a:srgbClr val="12324A"/>
                    </a:solidFill>
                  </a:tcPr>
                </a:tc>
              </a:tr>
              <a:tr h="609600">
                <a:tc>
                  <a:txBody>
                    <a:bodyPr/>
                    <a:lstStyle/>
                    <a:p>
                      <a:r>
                        <a:rPr sz="1575" b="0">
                          <a:solidFill>
                            <a:srgbClr val="203747"/>
                          </a:solidFill>
                          <a:latin typeface="Arial"/>
                          <a:ea typeface="Arial"/>
                          <a:cs typeface="Arial"/>
                        </a:rPr>
                        <a:t>15</a:t>
                      </a:r>
                    </a:p>
                  </a:txBody>
                  <a:tcPr marL="91440" marR="91440" marT="45720" marB="45720">
                    <a:solidFill>
                      <a:srgbClr val="FFFFFF"/>
                    </a:solidFill>
                  </a:tcPr>
                </a:tc>
                <a:tc>
                  <a:txBody>
                    <a:bodyPr/>
                    <a:lstStyle/>
                    <a:p>
                      <a:r>
                        <a:rPr sz="1575" b="0">
                          <a:solidFill>
                            <a:srgbClr val="203747"/>
                          </a:solidFill>
                          <a:latin typeface="Arial"/>
                          <a:ea typeface="Arial"/>
                          <a:cs typeface="Arial"/>
                        </a:rPr>
                        <a:t>3</a:t>
                      </a:r>
                    </a:p>
                  </a:txBody>
                  <a:tcPr marL="91440" marR="91440" marT="45720" marB="45720">
                    <a:solidFill>
                      <a:srgbClr val="FFFFFF"/>
                    </a:solidFill>
                  </a:tcPr>
                </a:tc>
                <a:tc>
                  <a:txBody>
                    <a:bodyPr/>
                    <a:lstStyle/>
                    <a:p>
                      <a:r>
                        <a:rPr sz="1575" b="0">
                          <a:solidFill>
                            <a:srgbClr val="203747"/>
                          </a:solidFill>
                          <a:latin typeface="Arial"/>
                          <a:ea typeface="Arial"/>
                          <a:cs typeface="Arial"/>
                        </a:rPr>
                        <a:t>20.0 percent</a:t>
                      </a:r>
                    </a:p>
                  </a:txBody>
                  <a:tcPr marL="91440" marR="91440" marT="45720" marB="45720">
                    <a:solidFill>
                      <a:srgbClr val="FFFFFF"/>
                    </a:solidFill>
                  </a:tcPr>
                </a:tc>
                <a:tc>
                  <a:txBody>
                    <a:bodyPr/>
                    <a:lstStyle/>
                    <a:p>
                      <a:r>
                        <a:rPr sz="1575" b="0">
                          <a:solidFill>
                            <a:srgbClr val="203747"/>
                          </a:solidFill>
                          <a:latin typeface="Arial"/>
                          <a:ea typeface="Arial"/>
                          <a:cs typeface="Arial"/>
                        </a:rPr>
                        <a:t>No</a:t>
                      </a:r>
                    </a:p>
                  </a:txBody>
                  <a:tcPr marL="91440" marR="91440" marT="45720" marB="45720">
                    <a:solidFill>
                      <a:srgbClr val="FFFFFF"/>
                    </a:solidFill>
                  </a:tcPr>
                </a:tc>
              </a:tr>
              <a:tr h="609600">
                <a:tc>
                  <a:txBody>
                    <a:bodyPr/>
                    <a:lstStyle/>
                    <a:p>
                      <a:r>
                        <a:rPr sz="1575" b="0">
                          <a:solidFill>
                            <a:srgbClr val="203747"/>
                          </a:solidFill>
                          <a:latin typeface="Arial"/>
                          <a:ea typeface="Arial"/>
                          <a:cs typeface="Arial"/>
                        </a:rPr>
                        <a:t>15</a:t>
                      </a:r>
                    </a:p>
                  </a:txBody>
                  <a:tcPr marL="91440" marR="91440" marT="45720" marB="45720">
                    <a:solidFill>
                      <a:srgbClr val="EDF2F0"/>
                    </a:solidFill>
                  </a:tcPr>
                </a:tc>
                <a:tc>
                  <a:txBody>
                    <a:bodyPr/>
                    <a:lstStyle/>
                    <a:p>
                      <a:r>
                        <a:rPr sz="1575" b="0">
                          <a:solidFill>
                            <a:srgbClr val="203747"/>
                          </a:solidFill>
                          <a:latin typeface="Arial"/>
                          <a:ea typeface="Arial"/>
                          <a:cs typeface="Arial"/>
                        </a:rPr>
                        <a:t>4</a:t>
                      </a:r>
                    </a:p>
                  </a:txBody>
                  <a:tcPr marL="91440" marR="91440" marT="45720" marB="45720">
                    <a:solidFill>
                      <a:srgbClr val="EDF2F0"/>
                    </a:solidFill>
                  </a:tcPr>
                </a:tc>
                <a:tc>
                  <a:txBody>
                    <a:bodyPr/>
                    <a:lstStyle/>
                    <a:p>
                      <a:r>
                        <a:rPr sz="1575" b="0">
                          <a:solidFill>
                            <a:srgbClr val="203747"/>
                          </a:solidFill>
                          <a:latin typeface="Arial"/>
                          <a:ea typeface="Arial"/>
                          <a:cs typeface="Arial"/>
                        </a:rPr>
                        <a:t>26.7 percent</a:t>
                      </a:r>
                    </a:p>
                  </a:txBody>
                  <a:tcPr marL="91440" marR="91440" marT="45720" marB="45720">
                    <a:solidFill>
                      <a:srgbClr val="EDF2F0"/>
                    </a:solidFill>
                  </a:tcPr>
                </a:tc>
                <a:tc>
                  <a:txBody>
                    <a:bodyPr/>
                    <a:lstStyle/>
                    <a:p>
                      <a:r>
                        <a:rPr sz="1575" b="0">
                          <a:solidFill>
                            <a:srgbClr val="203747"/>
                          </a:solidFill>
                          <a:latin typeface="Arial"/>
                          <a:ea typeface="Arial"/>
                          <a:cs typeface="Arial"/>
                        </a:rPr>
                        <a:t>Yes</a:t>
                      </a:r>
                    </a:p>
                  </a:txBody>
                  <a:tcPr marL="91440" marR="91440" marT="45720" marB="45720">
                    <a:solidFill>
                      <a:srgbClr val="EDF2F0"/>
                    </a:solidFill>
                  </a:tcPr>
                </a:tc>
              </a:tr>
            </a:tbl>
          </a:graphicData>
        </a:graphic>
      </p:graphicFrame>
      <p:sp>
        <p:nvSpPr>
          <p:cNvPr id="4" name="">
            <a:extLst xmlns:a="http://schemas.openxmlformats.org/drawingml/2006/main">
              <a:ext uri="{FF2B5EF4-FFF2-40B4-BE49-F238E27FC236}">
                <a16:creationId xmlns:a16="http://schemas.microsoft.com/office/drawing/2014/main" id="{9E80BD1A-8FF2-48B0-BB8E-BD2E99CED726}"/>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09</a:t>
            </a:r>
          </a:p>
        </p:txBody>
      </p:sp>
    </p:spTree>
    <p:extLst>
      <p:ext uri="{BB962C8B-B14F-4D97-AF65-F5344CB8AC3E}">
        <p14:creationId xmlns:p14="http://schemas.microsoft.com/office/powerpoint/2010/main" val="321729720"/>
      </p:ext>
    </p:extLst>
  </p:cSld>
</p:sld>
</file>

<file path=ppt/slides/slide10.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EB4C313-48CF-45BD-BE7F-3273D023E359}"/>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Conduct scores use a rule table</a:t>
            </a:r>
          </a:p>
        </p:txBody>
      </p:sp>
      <p:sp>
        <p:nvSpPr>
          <p:cNvPr id="2" name="">
            <a:extLst xmlns:a="http://schemas.openxmlformats.org/drawingml/2006/main">
              <a:ext uri="{FF2B5EF4-FFF2-40B4-BE49-F238E27FC236}">
                <a16:creationId xmlns:a16="http://schemas.microsoft.com/office/drawing/2014/main" id="{2A792ADB-AAD6-455C-8403-D55FF19D13F5}"/>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graphicFrame>
        <p:nvGraphicFramePr>
          <p:cNvPr id="3" name="">
            <a:extLst xmlns:a="http://schemas.openxmlformats.org/drawingml/2006/main">
              <a:ext uri="{FF2B5EF4-FFF2-40B4-BE49-F238E27FC236}">
                <a16:creationId xmlns:a16="http://schemas.microsoft.com/office/drawing/2014/main" id="{0D79259D-C446-41C9-8284-C3F2AFDC659A}"/>
              </a:ext>
            </a:extLst>
          </p:cNvPr>
          <p:cNvGraphicFramePr/>
          <p:nvPr/>
        </p:nvGraphicFramePr>
        <p:xfrm>
          <a:off xmlns:a="http://schemas.openxmlformats.org/drawingml/2006/main" x="762000" y="2000250"/>
          <a:ext xmlns:a="http://schemas.openxmlformats.org/drawingml/2006/main" cx="10668000" cy="3657600"/>
        </p:xfrm>
        <a:graphic xmlns:a="http://schemas.openxmlformats.org/drawingml/2006/main">
          <a:graphicData uri="http://schemas.openxmlformats.org/drawingml/2006/table">
            <a:tbl>
              <a:tblPr/>
              <a:tblGrid>
                <a:gridCol w="5334000"/>
                <a:gridCol w="5334000"/>
              </a:tblGrid>
              <a:tr h="609600">
                <a:tc>
                  <a:txBody>
                    <a:bodyPr/>
                    <a:lstStyle/>
                    <a:p>
                      <a:r>
                        <a:rPr sz="1800" b="1">
                          <a:solidFill>
                            <a:srgbClr val="FFFFFF"/>
                          </a:solidFill>
                          <a:latin typeface="Arial"/>
                          <a:ea typeface="Arial"/>
                          <a:cs typeface="Arial"/>
                        </a:rPr>
                        <a:t>Minimum score</a:t>
                      </a:r>
                    </a:p>
                  </a:txBody>
                  <a:tcPr marL="91440" marR="91440" marT="45720" marB="45720">
                    <a:solidFill>
                      <a:srgbClr val="12324A"/>
                    </a:solidFill>
                  </a:tcPr>
                </a:tc>
                <a:tc>
                  <a:txBody>
                    <a:bodyPr/>
                    <a:lstStyle/>
                    <a:p>
                      <a:r>
                        <a:rPr sz="1800" b="1">
                          <a:solidFill>
                            <a:srgbClr val="FFFFFF"/>
                          </a:solidFill>
                          <a:latin typeface="Arial"/>
                          <a:ea typeface="Arial"/>
                          <a:cs typeface="Arial"/>
                        </a:rPr>
                        <a:t>Conduct classification</a:t>
                      </a:r>
                    </a:p>
                  </a:txBody>
                  <a:tcPr marL="91440" marR="91440" marT="45720" marB="45720">
                    <a:solidFill>
                      <a:srgbClr val="12324A"/>
                    </a:solidFill>
                  </a:tcPr>
                </a:tc>
              </a:tr>
              <a:tr h="609600">
                <a:tc>
                  <a:txBody>
                    <a:bodyPr/>
                    <a:lstStyle/>
                    <a:p>
                      <a:r>
                        <a:rPr sz="1800" b="0">
                          <a:solidFill>
                            <a:srgbClr val="203747"/>
                          </a:solidFill>
                          <a:latin typeface="Arial"/>
                          <a:ea typeface="Arial"/>
                          <a:cs typeface="Arial"/>
                        </a:rPr>
                        <a:t>90</a:t>
                      </a:r>
                    </a:p>
                  </a:txBody>
                  <a:tcPr marL="91440" marR="91440" marT="45720" marB="45720">
                    <a:solidFill>
                      <a:srgbClr val="FFFFFF"/>
                    </a:solidFill>
                  </a:tcPr>
                </a:tc>
                <a:tc>
                  <a:txBody>
                    <a:bodyPr/>
                    <a:lstStyle/>
                    <a:p>
                      <a:r>
                        <a:rPr sz="1800" b="0">
                          <a:solidFill>
                            <a:srgbClr val="203747"/>
                          </a:solidFill>
                          <a:latin typeface="Arial"/>
                          <a:ea typeface="Arial"/>
                          <a:cs typeface="Arial"/>
                        </a:rPr>
                        <a:t>Excellent</a:t>
                      </a:r>
                    </a:p>
                  </a:txBody>
                  <a:tcPr marL="91440" marR="91440" marT="45720" marB="45720">
                    <a:solidFill>
                      <a:srgbClr val="FFFFFF"/>
                    </a:solidFill>
                  </a:tcPr>
                </a:tc>
              </a:tr>
              <a:tr h="609600">
                <a:tc>
                  <a:txBody>
                    <a:bodyPr/>
                    <a:lstStyle/>
                    <a:p>
                      <a:r>
                        <a:rPr sz="1800" b="0">
                          <a:solidFill>
                            <a:srgbClr val="203747"/>
                          </a:solidFill>
                          <a:latin typeface="Arial"/>
                          <a:ea typeface="Arial"/>
                          <a:cs typeface="Arial"/>
                        </a:rPr>
                        <a:t>80</a:t>
                      </a:r>
                    </a:p>
                  </a:txBody>
                  <a:tcPr marL="91440" marR="91440" marT="45720" marB="45720">
                    <a:solidFill>
                      <a:srgbClr val="EDF2F0"/>
                    </a:solidFill>
                  </a:tcPr>
                </a:tc>
                <a:tc>
                  <a:txBody>
                    <a:bodyPr/>
                    <a:lstStyle/>
                    <a:p>
                      <a:r>
                        <a:rPr sz="1800" b="0">
                          <a:solidFill>
                            <a:srgbClr val="203747"/>
                          </a:solidFill>
                          <a:latin typeface="Arial"/>
                          <a:ea typeface="Arial"/>
                          <a:cs typeface="Arial"/>
                        </a:rPr>
                        <a:t>Good</a:t>
                      </a:r>
                    </a:p>
                  </a:txBody>
                  <a:tcPr marL="91440" marR="91440" marT="45720" marB="45720">
                    <a:solidFill>
                      <a:srgbClr val="EDF2F0"/>
                    </a:solidFill>
                  </a:tcPr>
                </a:tc>
              </a:tr>
              <a:tr h="609600">
                <a:tc>
                  <a:txBody>
                    <a:bodyPr/>
                    <a:lstStyle/>
                    <a:p>
                      <a:r>
                        <a:rPr sz="1800" b="0">
                          <a:solidFill>
                            <a:srgbClr val="203747"/>
                          </a:solidFill>
                          <a:latin typeface="Arial"/>
                          <a:ea typeface="Arial"/>
                          <a:cs typeface="Arial"/>
                        </a:rPr>
                        <a:t>65</a:t>
                      </a:r>
                    </a:p>
                  </a:txBody>
                  <a:tcPr marL="91440" marR="91440" marT="45720" marB="45720">
                    <a:solidFill>
                      <a:srgbClr val="FFFFFF"/>
                    </a:solidFill>
                  </a:tcPr>
                </a:tc>
                <a:tc>
                  <a:txBody>
                    <a:bodyPr/>
                    <a:lstStyle/>
                    <a:p>
                      <a:r>
                        <a:rPr sz="1800" b="0">
                          <a:solidFill>
                            <a:srgbClr val="203747"/>
                          </a:solidFill>
                          <a:latin typeface="Arial"/>
                          <a:ea typeface="Arial"/>
                          <a:cs typeface="Arial"/>
                        </a:rPr>
                        <a:t>Fairly good</a:t>
                      </a:r>
                    </a:p>
                  </a:txBody>
                  <a:tcPr marL="91440" marR="91440" marT="45720" marB="45720">
                    <a:solidFill>
                      <a:srgbClr val="FFFFFF"/>
                    </a:solidFill>
                  </a:tcPr>
                </a:tc>
              </a:tr>
              <a:tr h="609600">
                <a:tc>
                  <a:txBody>
                    <a:bodyPr/>
                    <a:lstStyle/>
                    <a:p>
                      <a:r>
                        <a:rPr sz="1800" b="0">
                          <a:solidFill>
                            <a:srgbClr val="203747"/>
                          </a:solidFill>
                          <a:latin typeface="Arial"/>
                          <a:ea typeface="Arial"/>
                          <a:cs typeface="Arial"/>
                        </a:rPr>
                        <a:t>50</a:t>
                      </a:r>
                    </a:p>
                  </a:txBody>
                  <a:tcPr marL="91440" marR="91440" marT="45720" marB="45720">
                    <a:solidFill>
                      <a:srgbClr val="EDF2F0"/>
                    </a:solidFill>
                  </a:tcPr>
                </a:tc>
                <a:tc>
                  <a:txBody>
                    <a:bodyPr/>
                    <a:lstStyle/>
                    <a:p>
                      <a:r>
                        <a:rPr sz="1800" b="0">
                          <a:solidFill>
                            <a:srgbClr val="203747"/>
                          </a:solidFill>
                          <a:latin typeface="Arial"/>
                          <a:ea typeface="Arial"/>
                          <a:cs typeface="Arial"/>
                        </a:rPr>
                        <a:t>Average</a:t>
                      </a:r>
                    </a:p>
                  </a:txBody>
                  <a:tcPr marL="91440" marR="91440" marT="45720" marB="45720">
                    <a:solidFill>
                      <a:srgbClr val="EDF2F0"/>
                    </a:solidFill>
                  </a:tcPr>
                </a:tc>
              </a:tr>
              <a:tr h="609600">
                <a:tc>
                  <a:txBody>
                    <a:bodyPr/>
                    <a:lstStyle/>
                    <a:p>
                      <a:r>
                        <a:rPr sz="1800" b="0">
                          <a:solidFill>
                            <a:srgbClr val="203747"/>
                          </a:solidFill>
                          <a:latin typeface="Arial"/>
                          <a:ea typeface="Arial"/>
                          <a:cs typeface="Arial"/>
                        </a:rPr>
                        <a:t>0</a:t>
                      </a:r>
                    </a:p>
                  </a:txBody>
                  <a:tcPr marL="91440" marR="91440" marT="45720" marB="45720">
                    <a:solidFill>
                      <a:srgbClr val="FFFFFF"/>
                    </a:solidFill>
                  </a:tcPr>
                </a:tc>
                <a:tc>
                  <a:txBody>
                    <a:bodyPr/>
                    <a:lstStyle/>
                    <a:p>
                      <a:r>
                        <a:rPr sz="1800" b="0">
                          <a:solidFill>
                            <a:srgbClr val="203747"/>
                          </a:solidFill>
                          <a:latin typeface="Arial"/>
                          <a:ea typeface="Arial"/>
                          <a:cs typeface="Arial"/>
                        </a:rPr>
                        <a:t>Weak</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D477D382-9E8B-412F-9D11-0159AF232053}"/>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10</a:t>
            </a:r>
          </a:p>
        </p:txBody>
      </p:sp>
    </p:spTree>
    <p:extLst>
      <p:ext uri="{BB962C8B-B14F-4D97-AF65-F5344CB8AC3E}">
        <p14:creationId xmlns:p14="http://schemas.microsoft.com/office/powerpoint/2010/main" val="5718654"/>
      </p:ext>
    </p:extLst>
  </p:cSld>
</p:sld>
</file>

<file path=ppt/slides/slide11.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EA89740-3AC0-4CA8-9E87-F4EBE5939016}"/>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The risk tool explains each warning</a:t>
            </a:r>
          </a:p>
        </p:txBody>
      </p:sp>
      <p:sp>
        <p:nvSpPr>
          <p:cNvPr id="2" name="">
            <a:extLst xmlns:a="http://schemas.openxmlformats.org/drawingml/2006/main">
              <a:ext uri="{FF2B5EF4-FFF2-40B4-BE49-F238E27FC236}">
                <a16:creationId xmlns:a16="http://schemas.microsoft.com/office/drawing/2014/main" id="{1234B256-B7D6-48B7-B220-39C64D851065}"/>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3E34A5A-7BD9-4201-AC52-56F3C95BD659}"/>
              </a:ext>
            </a:extLst>
          </p:cNvPr>
          <p:cNvSpPr>
            <a:spLocks xmlns:a="http://schemas.openxmlformats.org/drawingml/2006/main" noGrp="1"/>
          </p:cNvSpPr>
          <p:nvPr/>
        </p:nvSpPr>
        <p:spPr>
          <a:xfrm xmlns:a="http://schemas.openxmlformats.org/drawingml/2006/main">
            <a:off x="762000" y="2047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CA1E3BAC-A172-4EA5-B9BB-D7E90A427093}"/>
              </a:ext>
            </a:extLst>
          </p:cNvPr>
          <p:cNvSpPr>
            <a:spLocks xmlns:a="http://schemas.openxmlformats.org/drawingml/2006/main" noGrp="1"/>
          </p:cNvSpPr>
          <p:nvPr/>
        </p:nvSpPr>
        <p:spPr>
          <a:xfrm xmlns:a="http://schemas.openxmlformats.org/drawingml/2006/main">
            <a:off x="1619250" y="2000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Low GPA, high section absence or low conduct can trigger a warning</a:t>
            </a:r>
          </a:p>
        </p:txBody>
      </p:sp>
      <p:sp>
        <p:nvSpPr>
          <p:cNvPr id="5" name="">
            <a:extLst xmlns:a="http://schemas.openxmlformats.org/drawingml/2006/main">
              <a:ext uri="{FF2B5EF4-FFF2-40B4-BE49-F238E27FC236}">
                <a16:creationId xmlns:a16="http://schemas.microsoft.com/office/drawing/2014/main" id="{8D319603-81DE-4AA7-A5C8-3F3A053D986A}"/>
              </a:ext>
            </a:extLst>
          </p:cNvPr>
          <p:cNvSpPr>
            <a:spLocks xmlns:a="http://schemas.openxmlformats.org/drawingml/2006/main" noGrp="1"/>
          </p:cNvSpPr>
          <p:nvPr/>
        </p:nvSpPr>
        <p:spPr>
          <a:xfrm xmlns:a="http://schemas.openxmlformats.org/drawingml/2006/main">
            <a:off x="762000" y="3000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4BB03E80-FD0F-4573-AC00-D9A7256E4E54}"/>
              </a:ext>
            </a:extLst>
          </p:cNvPr>
          <p:cNvSpPr>
            <a:spLocks xmlns:a="http://schemas.openxmlformats.org/drawingml/2006/main" noGrp="1"/>
          </p:cNvSpPr>
          <p:nvPr/>
        </p:nvSpPr>
        <p:spPr>
          <a:xfrm xmlns:a="http://schemas.openxmlformats.org/drawingml/2006/main">
            <a:off x="1619250" y="2952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IT01 has 2 flagged students out of 10</a:t>
            </a:r>
          </a:p>
        </p:txBody>
      </p:sp>
      <p:sp>
        <p:nvSpPr>
          <p:cNvPr id="7" name="">
            <a:extLst xmlns:a="http://schemas.openxmlformats.org/drawingml/2006/main">
              <a:ext uri="{FF2B5EF4-FFF2-40B4-BE49-F238E27FC236}">
                <a16:creationId xmlns:a16="http://schemas.microsoft.com/office/drawing/2014/main" id="{7236B44F-B3A2-465F-9D5A-D38963E6482B}"/>
              </a:ext>
            </a:extLst>
          </p:cNvPr>
          <p:cNvSpPr>
            <a:spLocks xmlns:a="http://schemas.openxmlformats.org/drawingml/2006/main" noGrp="1"/>
          </p:cNvSpPr>
          <p:nvPr/>
        </p:nvSpPr>
        <p:spPr>
          <a:xfrm xmlns:a="http://schemas.openxmlformats.org/drawingml/2006/main">
            <a:off x="762000" y="3952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89454F7D-9B80-462E-A9A5-3B7A33D4DC2A}"/>
              </a:ext>
            </a:extLst>
          </p:cNvPr>
          <p:cNvSpPr>
            <a:spLocks xmlns:a="http://schemas.openxmlformats.org/drawingml/2006/main" noGrp="1"/>
          </p:cNvSpPr>
          <p:nvPr/>
        </p:nvSpPr>
        <p:spPr>
          <a:xfrm xmlns:a="http://schemas.openxmlformats.org/drawingml/2006/main">
            <a:off x="1619250" y="3905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Business Administration has 4 out of 20</a:t>
            </a:r>
          </a:p>
        </p:txBody>
      </p:sp>
      <p:sp>
        <p:nvSpPr>
          <p:cNvPr id="9" name="">
            <a:extLst xmlns:a="http://schemas.openxmlformats.org/drawingml/2006/main">
              <a:ext uri="{FF2B5EF4-FFF2-40B4-BE49-F238E27FC236}">
                <a16:creationId xmlns:a16="http://schemas.microsoft.com/office/drawing/2014/main" id="{6F4343B6-A529-495D-A9E8-02F9936F14F6}"/>
              </a:ext>
            </a:extLst>
          </p:cNvPr>
          <p:cNvSpPr>
            <a:spLocks xmlns:a="http://schemas.openxmlformats.org/drawingml/2006/main" noGrp="1"/>
          </p:cNvSpPr>
          <p:nvPr/>
        </p:nvSpPr>
        <p:spPr>
          <a:xfrm xmlns:a="http://schemas.openxmlformats.org/drawingml/2006/main">
            <a:off x="762000" y="4905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AC363A4F-A910-471B-8897-1F243FBD60A2}"/>
              </a:ext>
            </a:extLst>
          </p:cNvPr>
          <p:cNvSpPr>
            <a:spLocks xmlns:a="http://schemas.openxmlformats.org/drawingml/2006/main" noGrp="1"/>
          </p:cNvSpPr>
          <p:nvPr/>
        </p:nvSpPr>
        <p:spPr>
          <a:xfrm xmlns:a="http://schemas.openxmlformats.org/drawingml/2006/main">
            <a:off x="1619250" y="4857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The result includes a reason for each student</a:t>
            </a:r>
          </a:p>
        </p:txBody>
      </p:sp>
      <p:sp>
        <p:nvSpPr>
          <p:cNvPr id="11" name="">
            <a:extLst xmlns:a="http://schemas.openxmlformats.org/drawingml/2006/main">
              <a:ext uri="{FF2B5EF4-FFF2-40B4-BE49-F238E27FC236}">
                <a16:creationId xmlns:a16="http://schemas.microsoft.com/office/drawing/2014/main" id="{E3EE2D73-5FA3-458C-99E5-9763819AB1F5}"/>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11</a:t>
            </a:r>
          </a:p>
        </p:txBody>
      </p:sp>
    </p:spTree>
    <p:extLst>
      <p:ext uri="{BB962C8B-B14F-4D97-AF65-F5344CB8AC3E}">
        <p14:creationId xmlns:p14="http://schemas.microsoft.com/office/powerpoint/2010/main" val="2040738772"/>
      </p:ext>
    </p:extLst>
  </p:cSld>
</p:sld>
</file>

<file path=ppt/slides/slide12.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3127B24-8904-4905-910F-3448CAEBEDDA}"/>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An advising meeting combines several tools</a:t>
            </a:r>
          </a:p>
        </p:txBody>
      </p:sp>
      <p:sp>
        <p:nvSpPr>
          <p:cNvPr id="2" name="">
            <a:extLst xmlns:a="http://schemas.openxmlformats.org/drawingml/2006/main">
              <a:ext uri="{FF2B5EF4-FFF2-40B4-BE49-F238E27FC236}">
                <a16:creationId xmlns:a16="http://schemas.microsoft.com/office/drawing/2014/main" id="{88FED4FF-38F2-4AF7-B4FD-07F4E1C5389E}"/>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0D8A1DA-4DF3-4AF3-AEA1-4C439EAD5090}"/>
              </a:ext>
            </a:extLst>
          </p:cNvPr>
          <p:cNvSpPr>
            <a:spLocks xmlns:a="http://schemas.openxmlformats.org/drawingml/2006/main" noGrp="1"/>
          </p:cNvSpPr>
          <p:nvPr/>
        </p:nvSpPr>
        <p:spPr>
          <a:xfrm xmlns:a="http://schemas.openxmlformats.org/drawingml/2006/main">
            <a:off x="762000" y="2047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3653E6DA-1FCB-48A9-9633-80E7651370C8}"/>
              </a:ext>
            </a:extLst>
          </p:cNvPr>
          <p:cNvSpPr>
            <a:spLocks xmlns:a="http://schemas.openxmlformats.org/drawingml/2006/main" noGrp="1"/>
          </p:cNvSpPr>
          <p:nvPr/>
        </p:nvSpPr>
        <p:spPr>
          <a:xfrm xmlns:a="http://schemas.openxmlformats.org/drawingml/2006/main">
            <a:off x="1619250" y="2000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Get the transcript for the selected semester</a:t>
            </a:r>
          </a:p>
        </p:txBody>
      </p:sp>
      <p:sp>
        <p:nvSpPr>
          <p:cNvPr id="5" name="">
            <a:extLst xmlns:a="http://schemas.openxmlformats.org/drawingml/2006/main">
              <a:ext uri="{FF2B5EF4-FFF2-40B4-BE49-F238E27FC236}">
                <a16:creationId xmlns:a16="http://schemas.microsoft.com/office/drawing/2014/main" id="{FAEAFFED-A9BB-4FA3-87C9-EAEA79A058D5}"/>
              </a:ext>
            </a:extLst>
          </p:cNvPr>
          <p:cNvSpPr>
            <a:spLocks xmlns:a="http://schemas.openxmlformats.org/drawingml/2006/main" noGrp="1"/>
          </p:cNvSpPr>
          <p:nvPr/>
        </p:nvSpPr>
        <p:spPr>
          <a:xfrm xmlns:a="http://schemas.openxmlformats.org/drawingml/2006/main">
            <a:off x="762000" y="3000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BD14DC47-4118-47F8-91E8-1930EA3A4881}"/>
              </a:ext>
            </a:extLst>
          </p:cNvPr>
          <p:cNvSpPr>
            <a:spLocks xmlns:a="http://schemas.openxmlformats.org/drawingml/2006/main" noGrp="1"/>
          </p:cNvSpPr>
          <p:nvPr/>
        </p:nvSpPr>
        <p:spPr>
          <a:xfrm xmlns:a="http://schemas.openxmlformats.org/drawingml/2006/main">
            <a:off x="1619250" y="2952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Check attendance and exam restrictions</a:t>
            </a:r>
          </a:p>
        </p:txBody>
      </p:sp>
      <p:sp>
        <p:nvSpPr>
          <p:cNvPr id="7" name="">
            <a:extLst xmlns:a="http://schemas.openxmlformats.org/drawingml/2006/main">
              <a:ext uri="{FF2B5EF4-FFF2-40B4-BE49-F238E27FC236}">
                <a16:creationId xmlns:a16="http://schemas.microsoft.com/office/drawing/2014/main" id="{DCEF443B-EA66-4F8D-A442-20C32F7B6272}"/>
              </a:ext>
            </a:extLst>
          </p:cNvPr>
          <p:cNvSpPr>
            <a:spLocks xmlns:a="http://schemas.openxmlformats.org/drawingml/2006/main" noGrp="1"/>
          </p:cNvSpPr>
          <p:nvPr/>
        </p:nvSpPr>
        <p:spPr>
          <a:xfrm xmlns:a="http://schemas.openxmlformats.org/drawingml/2006/main">
            <a:off x="762000" y="3952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5753DCBF-AD85-4BFB-B154-A56C5BD51A78}"/>
              </a:ext>
            </a:extLst>
          </p:cNvPr>
          <p:cNvSpPr>
            <a:spLocks xmlns:a="http://schemas.openxmlformats.org/drawingml/2006/main" noGrp="1"/>
          </p:cNvSpPr>
          <p:nvPr/>
        </p:nvSpPr>
        <p:spPr>
          <a:xfrm xmlns:a="http://schemas.openxmlformats.org/drawingml/2006/main">
            <a:off x="1619250" y="3905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Read the conduct score and classification</a:t>
            </a:r>
          </a:p>
        </p:txBody>
      </p:sp>
      <p:sp>
        <p:nvSpPr>
          <p:cNvPr id="9" name="">
            <a:extLst xmlns:a="http://schemas.openxmlformats.org/drawingml/2006/main">
              <a:ext uri="{FF2B5EF4-FFF2-40B4-BE49-F238E27FC236}">
                <a16:creationId xmlns:a16="http://schemas.microsoft.com/office/drawing/2014/main" id="{D4AF995F-7B01-480E-AE01-8A1D46FBF0B6}"/>
              </a:ext>
            </a:extLst>
          </p:cNvPr>
          <p:cNvSpPr>
            <a:spLocks xmlns:a="http://schemas.openxmlformats.org/drawingml/2006/main" noGrp="1"/>
          </p:cNvSpPr>
          <p:nvPr/>
        </p:nvSpPr>
        <p:spPr>
          <a:xfrm xmlns:a="http://schemas.openxmlformats.org/drawingml/2006/main">
            <a:off x="762000" y="4905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F8C366F8-1836-4261-9609-B5D143E16065}"/>
              </a:ext>
            </a:extLst>
          </p:cNvPr>
          <p:cNvSpPr>
            <a:spLocks xmlns:a="http://schemas.openxmlformats.org/drawingml/2006/main" noGrp="1"/>
          </p:cNvSpPr>
          <p:nvPr/>
        </p:nvSpPr>
        <p:spPr>
          <a:xfrm xmlns:a="http://schemas.openxmlformats.org/drawingml/2006/main">
            <a:off x="1619250" y="4857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Give a short summary with clear next steps</a:t>
            </a:r>
          </a:p>
        </p:txBody>
      </p:sp>
      <p:sp>
        <p:nvSpPr>
          <p:cNvPr id="11" name="">
            <a:extLst xmlns:a="http://schemas.openxmlformats.org/drawingml/2006/main">
              <a:ext uri="{FF2B5EF4-FFF2-40B4-BE49-F238E27FC236}">
                <a16:creationId xmlns:a16="http://schemas.microsoft.com/office/drawing/2014/main" id="{2B9FD456-601F-420D-857C-ED8129045E5F}"/>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12</a:t>
            </a:r>
          </a:p>
        </p:txBody>
      </p:sp>
    </p:spTree>
    <p:extLst>
      <p:ext uri="{BB962C8B-B14F-4D97-AF65-F5344CB8AC3E}">
        <p14:creationId xmlns:p14="http://schemas.microsoft.com/office/powerpoint/2010/main" val="178922982"/>
      </p:ext>
    </p:extLst>
  </p:cSld>
</p:sld>
</file>

<file path=ppt/slides/slide13.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E66E880-C436-4B45-A62F-60F01109D580}"/>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Finance begins with tuition</a:t>
            </a:r>
          </a:p>
        </p:txBody>
      </p:sp>
      <p:sp>
        <p:nvSpPr>
          <p:cNvPr id="2" name="">
            <a:extLst xmlns:a="http://schemas.openxmlformats.org/drawingml/2006/main">
              <a:ext uri="{FF2B5EF4-FFF2-40B4-BE49-F238E27FC236}">
                <a16:creationId xmlns:a16="http://schemas.microsoft.com/office/drawing/2014/main" id="{4E16E3E9-0D1E-49EB-A52E-BA734948039B}"/>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graphicFrame>
        <p:nvGraphicFramePr>
          <p:cNvPr id="3" name="">
            <a:extLst xmlns:a="http://schemas.openxmlformats.org/drawingml/2006/main">
              <a:ext uri="{FF2B5EF4-FFF2-40B4-BE49-F238E27FC236}">
                <a16:creationId xmlns:a16="http://schemas.microsoft.com/office/drawing/2014/main" id="{1DA31C6B-2A4C-46CA-9621-6A5CBA4E7F66}"/>
              </a:ext>
            </a:extLst>
          </p:cNvPr>
          <p:cNvGraphicFramePr/>
          <p:nvPr/>
        </p:nvGraphicFramePr>
        <p:xfrm>
          <a:off xmlns:a="http://schemas.openxmlformats.org/drawingml/2006/main" x="762000" y="2000250"/>
          <a:ext xmlns:a="http://schemas.openxmlformats.org/drawingml/2006/main" cx="10668000" cy="3048000"/>
        </p:xfrm>
        <a:graphic xmlns:a="http://schemas.openxmlformats.org/drawingml/2006/main">
          <a:graphicData uri="http://schemas.openxmlformats.org/drawingml/2006/table">
            <a:tbl>
              <a:tblPr/>
              <a:tblGrid>
                <a:gridCol w="5334000"/>
                <a:gridCol w="5334000"/>
              </a:tblGrid>
              <a:tr h="609600">
                <a:tc>
                  <a:txBody>
                    <a:bodyPr/>
                    <a:lstStyle/>
                    <a:p>
                      <a:r>
                        <a:rPr sz="1800" b="1">
                          <a:solidFill>
                            <a:srgbClr val="FFFFFF"/>
                          </a:solidFill>
                          <a:latin typeface="Arial"/>
                          <a:ea typeface="Arial"/>
                          <a:cs typeface="Arial"/>
                        </a:rPr>
                        <a:t>Example in 2024-1</a:t>
                      </a:r>
                    </a:p>
                  </a:txBody>
                  <a:tcPr marL="91440" marR="91440" marT="45720" marB="45720">
                    <a:solidFill>
                      <a:srgbClr val="12324A"/>
                    </a:solidFill>
                  </a:tcPr>
                </a:tc>
                <a:tc>
                  <a:txBody>
                    <a:bodyPr/>
                    <a:lstStyle/>
                    <a:p>
                      <a:r>
                        <a:rPr sz="1800" b="1">
                          <a:solidFill>
                            <a:srgbClr val="FFFFFF"/>
                          </a:solidFill>
                          <a:latin typeface="Arial"/>
                          <a:ea typeface="Arial"/>
                          <a:cs typeface="Arial"/>
                        </a:rPr>
                        <a:t>Expected value</a:t>
                      </a:r>
                    </a:p>
                  </a:txBody>
                  <a:tcPr marL="91440" marR="91440" marT="45720" marB="45720">
                    <a:solidFill>
                      <a:srgbClr val="12324A"/>
                    </a:solidFill>
                  </a:tcPr>
                </a:tc>
              </a:tr>
              <a:tr h="609600">
                <a:tc>
                  <a:txBody>
                    <a:bodyPr/>
                    <a:lstStyle/>
                    <a:p>
                      <a:r>
                        <a:rPr sz="1800" b="0">
                          <a:solidFill>
                            <a:srgbClr val="203747"/>
                          </a:solidFill>
                          <a:latin typeface="Arial"/>
                          <a:ea typeface="Arial"/>
                          <a:cs typeface="Arial"/>
                        </a:rPr>
                        <a:t>Student 2201001</a:t>
                      </a:r>
                    </a:p>
                  </a:txBody>
                  <a:tcPr marL="91440" marR="91440" marT="45720" marB="45720">
                    <a:solidFill>
                      <a:srgbClr val="FFFFFF"/>
                    </a:solidFill>
                  </a:tcPr>
                </a:tc>
                <a:tc>
                  <a:txBody>
                    <a:bodyPr/>
                    <a:lstStyle/>
                    <a:p>
                      <a:r>
                        <a:rPr sz="1800" b="0">
                          <a:solidFill>
                            <a:srgbClr val="203747"/>
                          </a:solidFill>
                          <a:latin typeface="Arial"/>
                          <a:ea typeface="Arial"/>
                          <a:cs typeface="Arial"/>
                        </a:rPr>
                        <a:t>Paid in full</a:t>
                      </a:r>
                    </a:p>
                  </a:txBody>
                  <a:tcPr marL="91440" marR="91440" marT="45720" marB="45720">
                    <a:solidFill>
                      <a:srgbClr val="FFFFFF"/>
                    </a:solidFill>
                  </a:tcPr>
                </a:tc>
              </a:tr>
              <a:tr h="609600">
                <a:tc>
                  <a:txBody>
                    <a:bodyPr/>
                    <a:lstStyle/>
                    <a:p>
                      <a:r>
                        <a:rPr sz="1800" b="0">
                          <a:solidFill>
                            <a:srgbClr val="203747"/>
                          </a:solidFill>
                          <a:latin typeface="Arial"/>
                          <a:ea typeface="Arial"/>
                          <a:cs typeface="Arial"/>
                        </a:rPr>
                        <a:t>Student 2201002 amount due</a:t>
                      </a:r>
                    </a:p>
                  </a:txBody>
                  <a:tcPr marL="91440" marR="91440" marT="45720" marB="45720">
                    <a:solidFill>
                      <a:srgbClr val="EDF2F0"/>
                    </a:solidFill>
                  </a:tcPr>
                </a:tc>
                <a:tc>
                  <a:txBody>
                    <a:bodyPr/>
                    <a:lstStyle/>
                    <a:p>
                      <a:r>
                        <a:rPr sz="1800" b="0">
                          <a:solidFill>
                            <a:srgbClr val="203747"/>
                          </a:solidFill>
                          <a:latin typeface="Arial"/>
                          <a:ea typeface="Arial"/>
                          <a:cs typeface="Arial"/>
                        </a:rPr>
                        <a:t>8,400,000 VND</a:t>
                      </a:r>
                    </a:p>
                  </a:txBody>
                  <a:tcPr marL="91440" marR="91440" marT="45720" marB="45720">
                    <a:solidFill>
                      <a:srgbClr val="EDF2F0"/>
                    </a:solidFill>
                  </a:tcPr>
                </a:tc>
              </a:tr>
              <a:tr h="609600">
                <a:tc>
                  <a:txBody>
                    <a:bodyPr/>
                    <a:lstStyle/>
                    <a:p>
                      <a:r>
                        <a:rPr sz="1800" b="0">
                          <a:solidFill>
                            <a:srgbClr val="203747"/>
                          </a:solidFill>
                          <a:latin typeface="Arial"/>
                          <a:ea typeface="Arial"/>
                          <a:cs typeface="Arial"/>
                        </a:rPr>
                        <a:t>Student 2201002 balance</a:t>
                      </a:r>
                    </a:p>
                  </a:txBody>
                  <a:tcPr marL="91440" marR="91440" marT="45720" marB="45720">
                    <a:solidFill>
                      <a:srgbClr val="FFFFFF"/>
                    </a:solidFill>
                  </a:tcPr>
                </a:tc>
                <a:tc>
                  <a:txBody>
                    <a:bodyPr/>
                    <a:lstStyle/>
                    <a:p>
                      <a:r>
                        <a:rPr sz="1800" b="0">
                          <a:solidFill>
                            <a:srgbClr val="203747"/>
                          </a:solidFill>
                          <a:latin typeface="Arial"/>
                          <a:ea typeface="Arial"/>
                          <a:cs typeface="Arial"/>
                        </a:rPr>
                        <a:t>8,400,000 VND</a:t>
                      </a:r>
                    </a:p>
                  </a:txBody>
                  <a:tcPr marL="91440" marR="91440" marT="45720" marB="45720">
                    <a:solidFill>
                      <a:srgbClr val="FFFFFF"/>
                    </a:solidFill>
                  </a:tcPr>
                </a:tc>
              </a:tr>
              <a:tr h="609600">
                <a:tc>
                  <a:txBody>
                    <a:bodyPr/>
                    <a:lstStyle/>
                    <a:p>
                      <a:r>
                        <a:rPr sz="1800" b="0">
                          <a:solidFill>
                            <a:srgbClr val="203747"/>
                          </a:solidFill>
                          <a:latin typeface="Arial"/>
                          <a:ea typeface="Arial"/>
                          <a:cs typeface="Arial"/>
                        </a:rPr>
                        <a:t>IT01 total outstanding balance</a:t>
                      </a:r>
                    </a:p>
                  </a:txBody>
                  <a:tcPr marL="91440" marR="91440" marT="45720" marB="45720">
                    <a:solidFill>
                      <a:srgbClr val="EDF2F0"/>
                    </a:solidFill>
                  </a:tcPr>
                </a:tc>
                <a:tc>
                  <a:txBody>
                    <a:bodyPr/>
                    <a:lstStyle/>
                    <a:p>
                      <a:r>
                        <a:rPr sz="1800" b="0">
                          <a:solidFill>
                            <a:srgbClr val="203747"/>
                          </a:solidFill>
                          <a:latin typeface="Arial"/>
                          <a:ea typeface="Arial"/>
                          <a:cs typeface="Arial"/>
                        </a:rPr>
                        <a:t>16,800,000 VND</a:t>
                      </a:r>
                    </a:p>
                  </a:txBody>
                  <a:tcPr marL="91440" marR="91440" marT="45720" marB="45720">
                    <a:solidFill>
                      <a:srgbClr val="EDF2F0"/>
                    </a:solidFill>
                  </a:tcPr>
                </a:tc>
              </a:tr>
            </a:tbl>
          </a:graphicData>
        </a:graphic>
      </p:graphicFrame>
      <p:sp>
        <p:nvSpPr>
          <p:cNvPr id="4" name="">
            <a:extLst xmlns:a="http://schemas.openxmlformats.org/drawingml/2006/main">
              <a:ext uri="{FF2B5EF4-FFF2-40B4-BE49-F238E27FC236}">
                <a16:creationId xmlns:a16="http://schemas.microsoft.com/office/drawing/2014/main" id="{3E7CDD57-BF7D-4210-A8E1-8A2407932F9B}"/>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13</a:t>
            </a:r>
          </a:p>
        </p:txBody>
      </p:sp>
    </p:spTree>
    <p:extLst>
      <p:ext uri="{BB962C8B-B14F-4D97-AF65-F5344CB8AC3E}">
        <p14:creationId xmlns:p14="http://schemas.microsoft.com/office/powerpoint/2010/main" val="1378230849"/>
      </p:ext>
    </p:extLst>
  </p:cSld>
</p:sld>
</file>

<file path=ppt/slides/slide14.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A47A3BE-0424-48B7-8848-B10C7E4820A7}"/>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Scholarship decisions are calculated in code</a:t>
            </a:r>
          </a:p>
        </p:txBody>
      </p:sp>
      <p:sp>
        <p:nvSpPr>
          <p:cNvPr id="2" name="">
            <a:extLst xmlns:a="http://schemas.openxmlformats.org/drawingml/2006/main">
              <a:ext uri="{FF2B5EF4-FFF2-40B4-BE49-F238E27FC236}">
                <a16:creationId xmlns:a16="http://schemas.microsoft.com/office/drawing/2014/main" id="{DA50EC14-4648-4B76-A4DB-D21303894BF7}"/>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3CE93D7-EBC1-4161-9524-F9AB69FA667D}"/>
              </a:ext>
            </a:extLst>
          </p:cNvPr>
          <p:cNvSpPr>
            <a:spLocks xmlns:a="http://schemas.openxmlformats.org/drawingml/2006/main" noGrp="1"/>
          </p:cNvSpPr>
          <p:nvPr/>
        </p:nvSpPr>
        <p:spPr>
          <a:xfrm xmlns:a="http://schemas.openxmlformats.org/drawingml/2006/main">
            <a:off x="762000" y="2047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AD17DA82-F138-4A97-AE2D-F1172A85ADFD}"/>
              </a:ext>
            </a:extLst>
          </p:cNvPr>
          <p:cNvSpPr>
            <a:spLocks xmlns:a="http://schemas.openxmlformats.org/drawingml/2006/main" noGrp="1"/>
          </p:cNvSpPr>
          <p:nvPr/>
        </p:nvSpPr>
        <p:spPr>
          <a:xfrm xmlns:a="http://schemas.openxmlformats.org/drawingml/2006/main">
            <a:off x="1619250" y="2000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Check semester GPA and conduct</a:t>
            </a:r>
          </a:p>
        </p:txBody>
      </p:sp>
      <p:sp>
        <p:nvSpPr>
          <p:cNvPr id="5" name="">
            <a:extLst xmlns:a="http://schemas.openxmlformats.org/drawingml/2006/main">
              <a:ext uri="{FF2B5EF4-FFF2-40B4-BE49-F238E27FC236}">
                <a16:creationId xmlns:a16="http://schemas.microsoft.com/office/drawing/2014/main" id="{2A8CE38C-F6EA-423A-862B-04DC033F99D3}"/>
              </a:ext>
            </a:extLst>
          </p:cNvPr>
          <p:cNvSpPr>
            <a:spLocks xmlns:a="http://schemas.openxmlformats.org/drawingml/2006/main" noGrp="1"/>
          </p:cNvSpPr>
          <p:nvPr/>
        </p:nvSpPr>
        <p:spPr>
          <a:xfrm xmlns:a="http://schemas.openxmlformats.org/drawingml/2006/main">
            <a:off x="762000" y="3000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35F4C08A-1B03-4FE9-B0CD-2ECAD58B10D6}"/>
              </a:ext>
            </a:extLst>
          </p:cNvPr>
          <p:cNvSpPr>
            <a:spLocks xmlns:a="http://schemas.openxmlformats.org/drawingml/2006/main" noGrp="1"/>
          </p:cNvSpPr>
          <p:nvPr/>
        </p:nvSpPr>
        <p:spPr>
          <a:xfrm xmlns:a="http://schemas.openxmlformats.org/drawingml/2006/main">
            <a:off x="1619250" y="2952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Require paid tuition and no owed courses</a:t>
            </a:r>
          </a:p>
        </p:txBody>
      </p:sp>
      <p:sp>
        <p:nvSpPr>
          <p:cNvPr id="7" name="">
            <a:extLst xmlns:a="http://schemas.openxmlformats.org/drawingml/2006/main">
              <a:ext uri="{FF2B5EF4-FFF2-40B4-BE49-F238E27FC236}">
                <a16:creationId xmlns:a16="http://schemas.microsoft.com/office/drawing/2014/main" id="{A146E38E-ABAA-4CAD-AD01-E9CB1F5DDA47}"/>
              </a:ext>
            </a:extLst>
          </p:cNvPr>
          <p:cNvSpPr>
            <a:spLocks xmlns:a="http://schemas.openxmlformats.org/drawingml/2006/main" noGrp="1"/>
          </p:cNvSpPr>
          <p:nvPr/>
        </p:nvSpPr>
        <p:spPr>
          <a:xfrm xmlns:a="http://schemas.openxmlformats.org/drawingml/2006/main">
            <a:off x="762000" y="3952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E09583AC-3B15-4323-A7AB-4DC91E086DF6}"/>
              </a:ext>
            </a:extLst>
          </p:cNvPr>
          <p:cNvSpPr>
            <a:spLocks xmlns:a="http://schemas.openxmlformats.org/drawingml/2006/main" noGrp="1"/>
          </p:cNvSpPr>
          <p:nvPr/>
        </p:nvSpPr>
        <p:spPr>
          <a:xfrm xmlns:a="http://schemas.openxmlformats.org/drawingml/2006/main">
            <a:off x="1619250" y="3905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Rank eligible students by GPA, then conduct</a:t>
            </a:r>
          </a:p>
        </p:txBody>
      </p:sp>
      <p:sp>
        <p:nvSpPr>
          <p:cNvPr id="9" name="">
            <a:extLst xmlns:a="http://schemas.openxmlformats.org/drawingml/2006/main">
              <a:ext uri="{FF2B5EF4-FFF2-40B4-BE49-F238E27FC236}">
                <a16:creationId xmlns:a16="http://schemas.microsoft.com/office/drawing/2014/main" id="{94C9D294-0336-4400-8001-51350AC9BDEF}"/>
              </a:ext>
            </a:extLst>
          </p:cNvPr>
          <p:cNvSpPr>
            <a:spLocks xmlns:a="http://schemas.openxmlformats.org/drawingml/2006/main" noGrp="1"/>
          </p:cNvSpPr>
          <p:nvPr/>
        </p:nvSpPr>
        <p:spPr>
          <a:xfrm xmlns:a="http://schemas.openxmlformats.org/drawingml/2006/main">
            <a:off x="762000" y="4905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99905DB0-1231-4799-9B31-DE90F86C4129}"/>
              </a:ext>
            </a:extLst>
          </p:cNvPr>
          <p:cNvSpPr>
            <a:spLocks xmlns:a="http://schemas.openxmlformats.org/drawingml/2006/main" noGrp="1"/>
          </p:cNvSpPr>
          <p:nvPr/>
        </p:nvSpPr>
        <p:spPr>
          <a:xfrm xmlns:a="http://schemas.openxmlformats.org/drawingml/2006/main">
            <a:off x="1619250" y="4857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Use the configured number of places</a:t>
            </a:r>
          </a:p>
        </p:txBody>
      </p:sp>
      <p:sp>
        <p:nvSpPr>
          <p:cNvPr id="11" name="">
            <a:extLst xmlns:a="http://schemas.openxmlformats.org/drawingml/2006/main">
              <a:ext uri="{FF2B5EF4-FFF2-40B4-BE49-F238E27FC236}">
                <a16:creationId xmlns:a16="http://schemas.microsoft.com/office/drawing/2014/main" id="{D4622A6D-B3CF-4F9F-A59D-CF6084BCCA8E}"/>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14</a:t>
            </a:r>
          </a:p>
        </p:txBody>
      </p:sp>
    </p:spTree>
    <p:extLst>
      <p:ext uri="{BB962C8B-B14F-4D97-AF65-F5344CB8AC3E}">
        <p14:creationId xmlns:p14="http://schemas.microsoft.com/office/powerpoint/2010/main" val="1731925886"/>
      </p:ext>
    </p:extLst>
  </p:cSld>
</p:sld>
</file>

<file path=ppt/slides/slide15.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C1103BB-DAD0-4B01-BF78-1BEC134A0C1D}"/>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The scholarship ranking has a checked result</a:t>
            </a:r>
          </a:p>
        </p:txBody>
      </p:sp>
      <p:sp>
        <p:nvSpPr>
          <p:cNvPr id="2" name="">
            <a:extLst xmlns:a="http://schemas.openxmlformats.org/drawingml/2006/main">
              <a:ext uri="{FF2B5EF4-FFF2-40B4-BE49-F238E27FC236}">
                <a16:creationId xmlns:a16="http://schemas.microsoft.com/office/drawing/2014/main" id="{EA7F5B1D-EA62-4AA1-9BAD-52BF7CC3D82C}"/>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graphicFrame>
        <p:nvGraphicFramePr>
          <p:cNvPr id="3" name="">
            <a:extLst xmlns:a="http://schemas.openxmlformats.org/drawingml/2006/main">
              <a:ext uri="{FF2B5EF4-FFF2-40B4-BE49-F238E27FC236}">
                <a16:creationId xmlns:a16="http://schemas.microsoft.com/office/drawing/2014/main" id="{3A516D46-0A41-4966-853A-F3F1B9AE77CD}"/>
              </a:ext>
            </a:extLst>
          </p:cNvPr>
          <p:cNvGraphicFramePr/>
          <p:nvPr/>
        </p:nvGraphicFramePr>
        <p:xfrm>
          <a:off xmlns:a="http://schemas.openxmlformats.org/drawingml/2006/main" x="762000" y="2000250"/>
          <a:ext xmlns:a="http://schemas.openxmlformats.org/drawingml/2006/main" cx="10668000" cy="2438400"/>
        </p:xfrm>
        <a:graphic xmlns:a="http://schemas.openxmlformats.org/drawingml/2006/main">
          <a:graphicData uri="http://schemas.openxmlformats.org/drawingml/2006/table">
            <a:tbl>
              <a:tblPr/>
              <a:tblGrid>
                <a:gridCol w="5334000"/>
                <a:gridCol w="5334000"/>
              </a:tblGrid>
              <a:tr h="609600">
                <a:tc>
                  <a:txBody>
                    <a:bodyPr/>
                    <a:lstStyle/>
                    <a:p>
                      <a:r>
                        <a:rPr sz="1800" b="1">
                          <a:solidFill>
                            <a:srgbClr val="FFFFFF"/>
                          </a:solidFill>
                          <a:latin typeface="Arial"/>
                          <a:ea typeface="Arial"/>
                          <a:cs typeface="Arial"/>
                        </a:rPr>
                        <a:t>SCH02 in Information Technology</a:t>
                      </a:r>
                    </a:p>
                  </a:txBody>
                  <a:tcPr marL="91440" marR="91440" marT="45720" marB="45720">
                    <a:solidFill>
                      <a:srgbClr val="12324A"/>
                    </a:solidFill>
                  </a:tcPr>
                </a:tc>
                <a:tc>
                  <a:txBody>
                    <a:bodyPr/>
                    <a:lstStyle/>
                    <a:p>
                      <a:r>
                        <a:rPr sz="1800" b="1">
                          <a:solidFill>
                            <a:srgbClr val="FFFFFF"/>
                          </a:solidFill>
                          <a:latin typeface="Arial"/>
                          <a:ea typeface="Arial"/>
                          <a:cs typeface="Arial"/>
                        </a:rPr>
                        <a:t>2024-1 result</a:t>
                      </a:r>
                    </a:p>
                  </a:txBody>
                  <a:tcPr marL="91440" marR="91440" marT="45720" marB="45720">
                    <a:solidFill>
                      <a:srgbClr val="12324A"/>
                    </a:solidFill>
                  </a:tcPr>
                </a:tc>
              </a:tr>
              <a:tr h="609600">
                <a:tc>
                  <a:txBody>
                    <a:bodyPr/>
                    <a:lstStyle/>
                    <a:p>
                      <a:r>
                        <a:rPr sz="1800" b="0">
                          <a:solidFill>
                            <a:srgbClr val="203747"/>
                          </a:solidFill>
                          <a:latin typeface="Arial"/>
                          <a:ea typeface="Arial"/>
                          <a:cs typeface="Arial"/>
                        </a:rPr>
                        <a:t>Eligible candidates</a:t>
                      </a:r>
                    </a:p>
                  </a:txBody>
                  <a:tcPr marL="91440" marR="91440" marT="45720" marB="45720">
                    <a:solidFill>
                      <a:srgbClr val="FFFFFF"/>
                    </a:solidFill>
                  </a:tcPr>
                </a:tc>
                <a:tc>
                  <a:txBody>
                    <a:bodyPr/>
                    <a:lstStyle/>
                    <a:p>
                      <a:r>
                        <a:rPr sz="1800" b="0">
                          <a:solidFill>
                            <a:srgbClr val="203747"/>
                          </a:solidFill>
                          <a:latin typeface="Arial"/>
                          <a:ea typeface="Arial"/>
                          <a:cs typeface="Arial"/>
                        </a:rPr>
                        <a:t>9</a:t>
                      </a:r>
                    </a:p>
                  </a:txBody>
                  <a:tcPr marL="91440" marR="91440" marT="45720" marB="45720">
                    <a:solidFill>
                      <a:srgbClr val="FFFFFF"/>
                    </a:solidFill>
                  </a:tcPr>
                </a:tc>
              </a:tr>
              <a:tr h="609600">
                <a:tc>
                  <a:txBody>
                    <a:bodyPr/>
                    <a:lstStyle/>
                    <a:p>
                      <a:r>
                        <a:rPr sz="1800" b="0">
                          <a:solidFill>
                            <a:srgbClr val="203747"/>
                          </a:solidFill>
                          <a:latin typeface="Arial"/>
                          <a:ea typeface="Arial"/>
                          <a:cs typeface="Arial"/>
                        </a:rPr>
                        <a:t>First candidate</a:t>
                      </a:r>
                    </a:p>
                  </a:txBody>
                  <a:tcPr marL="91440" marR="91440" marT="45720" marB="45720">
                    <a:solidFill>
                      <a:srgbClr val="EDF2F0"/>
                    </a:solidFill>
                  </a:tcPr>
                </a:tc>
                <a:tc>
                  <a:txBody>
                    <a:bodyPr/>
                    <a:lstStyle/>
                    <a:p>
                      <a:r>
                        <a:rPr sz="1800" b="0">
                          <a:solidFill>
                            <a:srgbClr val="203747"/>
                          </a:solidFill>
                          <a:latin typeface="Arial"/>
                          <a:ea typeface="Arial"/>
                          <a:cs typeface="Arial"/>
                        </a:rPr>
                        <a:t>2201016</a:t>
                      </a:r>
                    </a:p>
                  </a:txBody>
                  <a:tcPr marL="91440" marR="91440" marT="45720" marB="45720">
                    <a:solidFill>
                      <a:srgbClr val="EDF2F0"/>
                    </a:solidFill>
                  </a:tcPr>
                </a:tc>
              </a:tr>
              <a:tr h="609600">
                <a:tc>
                  <a:txBody>
                    <a:bodyPr/>
                    <a:lstStyle/>
                    <a:p>
                      <a:r>
                        <a:rPr sz="1800" b="0">
                          <a:solidFill>
                            <a:srgbClr val="203747"/>
                          </a:solidFill>
                          <a:latin typeface="Arial"/>
                          <a:ea typeface="Arial"/>
                          <a:cs typeface="Arial"/>
                        </a:rPr>
                        <a:t>First candidate GPA</a:t>
                      </a:r>
                    </a:p>
                  </a:txBody>
                  <a:tcPr marL="91440" marR="91440" marT="45720" marB="45720">
                    <a:solidFill>
                      <a:srgbClr val="FFFFFF"/>
                    </a:solidFill>
                  </a:tcPr>
                </a:tc>
                <a:tc>
                  <a:txBody>
                    <a:bodyPr/>
                    <a:lstStyle/>
                    <a:p>
                      <a:r>
                        <a:rPr sz="1800" b="0">
                          <a:solidFill>
                            <a:srgbClr val="203747"/>
                          </a:solidFill>
                          <a:latin typeface="Arial"/>
                          <a:ea typeface="Arial"/>
                          <a:cs typeface="Arial"/>
                        </a:rPr>
                        <a:t>4.0</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151D04CD-23F7-4406-8858-D4B9E86D6540}"/>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15</a:t>
            </a:r>
          </a:p>
        </p:txBody>
      </p:sp>
    </p:spTree>
    <p:extLst>
      <p:ext uri="{BB962C8B-B14F-4D97-AF65-F5344CB8AC3E}">
        <p14:creationId xmlns:p14="http://schemas.microsoft.com/office/powerpoint/2010/main" val="1708119712"/>
      </p:ext>
    </p:extLst>
  </p:cSld>
</p:sld>
</file>

<file path=ppt/slides/slide16.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601F095-8AB2-4AB2-B756-1157A8B64EBF}"/>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Teacher pay has visible calculation steps</a:t>
            </a:r>
          </a:p>
        </p:txBody>
      </p:sp>
      <p:sp>
        <p:nvSpPr>
          <p:cNvPr id="2" name="">
            <a:extLst xmlns:a="http://schemas.openxmlformats.org/drawingml/2006/main">
              <a:ext uri="{FF2B5EF4-FFF2-40B4-BE49-F238E27FC236}">
                <a16:creationId xmlns:a16="http://schemas.microsoft.com/office/drawing/2014/main" id="{0F94FB0B-5A66-477A-9CA9-79087572ED65}"/>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88FCE00-2AF3-4DEC-A030-AE5E14464DCC}"/>
              </a:ext>
            </a:extLst>
          </p:cNvPr>
          <p:cNvSpPr>
            <a:spLocks xmlns:a="http://schemas.openxmlformats.org/drawingml/2006/main" noGrp="1"/>
          </p:cNvSpPr>
          <p:nvPr/>
        </p:nvSpPr>
        <p:spPr>
          <a:xfrm xmlns:a="http://schemas.openxmlformats.org/drawingml/2006/main">
            <a:off x="762000" y="2047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EF7CB7F3-F928-49D2-9F2E-47614316743E}"/>
              </a:ext>
            </a:extLst>
          </p:cNvPr>
          <p:cNvSpPr>
            <a:spLocks xmlns:a="http://schemas.openxmlformats.org/drawingml/2006/main" noGrp="1"/>
          </p:cNvSpPr>
          <p:nvPr/>
        </p:nvSpPr>
        <p:spPr>
          <a:xfrm xmlns:a="http://schemas.openxmlformats.org/drawingml/2006/main">
            <a:off x="1619250" y="2000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Monthly periods come from sections and weeks per month</a:t>
            </a:r>
          </a:p>
        </p:txBody>
      </p:sp>
      <p:sp>
        <p:nvSpPr>
          <p:cNvPr id="5" name="">
            <a:extLst xmlns:a="http://schemas.openxmlformats.org/drawingml/2006/main">
              <a:ext uri="{FF2B5EF4-FFF2-40B4-BE49-F238E27FC236}">
                <a16:creationId xmlns:a16="http://schemas.microsoft.com/office/drawing/2014/main" id="{2B99E924-573B-44FA-9327-767147794139}"/>
              </a:ext>
            </a:extLst>
          </p:cNvPr>
          <p:cNvSpPr>
            <a:spLocks xmlns:a="http://schemas.openxmlformats.org/drawingml/2006/main" noGrp="1"/>
          </p:cNvSpPr>
          <p:nvPr/>
        </p:nvSpPr>
        <p:spPr>
          <a:xfrm xmlns:a="http://schemas.openxmlformats.org/drawingml/2006/main">
            <a:off x="762000" y="3000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F4996CA4-9E89-4E8F-ADC0-993200C40461}"/>
              </a:ext>
            </a:extLst>
          </p:cNvPr>
          <p:cNvSpPr>
            <a:spLocks xmlns:a="http://schemas.openxmlformats.org/drawingml/2006/main" noGrp="1"/>
          </p:cNvSpPr>
          <p:nvPr/>
        </p:nvSpPr>
        <p:spPr>
          <a:xfrm xmlns:a="http://schemas.openxmlformats.org/drawingml/2006/main">
            <a:off x="1619250" y="2952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The title selects the payment rate</a:t>
            </a:r>
          </a:p>
        </p:txBody>
      </p:sp>
      <p:sp>
        <p:nvSpPr>
          <p:cNvPr id="7" name="">
            <a:extLst xmlns:a="http://schemas.openxmlformats.org/drawingml/2006/main">
              <a:ext uri="{FF2B5EF4-FFF2-40B4-BE49-F238E27FC236}">
                <a16:creationId xmlns:a16="http://schemas.microsoft.com/office/drawing/2014/main" id="{798A224F-C0C7-4DE8-9EAA-60B9B22E316F}"/>
              </a:ext>
            </a:extLst>
          </p:cNvPr>
          <p:cNvSpPr>
            <a:spLocks xmlns:a="http://schemas.openxmlformats.org/drawingml/2006/main" noGrp="1"/>
          </p:cNvSpPr>
          <p:nvPr/>
        </p:nvSpPr>
        <p:spPr>
          <a:xfrm xmlns:a="http://schemas.openxmlformats.org/drawingml/2006/main">
            <a:off x="762000" y="3952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2FF784D1-B9E5-41F1-AEE6-873EB7124EE7}"/>
              </a:ext>
            </a:extLst>
          </p:cNvPr>
          <p:cNvSpPr>
            <a:spLocks xmlns:a="http://schemas.openxmlformats.org/drawingml/2006/main" noGrp="1"/>
          </p:cNvSpPr>
          <p:nvPr/>
        </p:nvSpPr>
        <p:spPr>
          <a:xfrm xmlns:a="http://schemas.openxmlformats.org/drawingml/2006/main">
            <a:off x="1619250" y="3905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Overtime uses the configured threshold and bonus</a:t>
            </a:r>
          </a:p>
        </p:txBody>
      </p:sp>
      <p:sp>
        <p:nvSpPr>
          <p:cNvPr id="9" name="">
            <a:extLst xmlns:a="http://schemas.openxmlformats.org/drawingml/2006/main">
              <a:ext uri="{FF2B5EF4-FFF2-40B4-BE49-F238E27FC236}">
                <a16:creationId xmlns:a16="http://schemas.microsoft.com/office/drawing/2014/main" id="{AADEBA04-BA22-4551-A749-297D539654E4}"/>
              </a:ext>
            </a:extLst>
          </p:cNvPr>
          <p:cNvSpPr>
            <a:spLocks xmlns:a="http://schemas.openxmlformats.org/drawingml/2006/main" noGrp="1"/>
          </p:cNvSpPr>
          <p:nvPr/>
        </p:nvSpPr>
        <p:spPr>
          <a:xfrm xmlns:a="http://schemas.openxmlformats.org/drawingml/2006/main">
            <a:off x="762000" y="4905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42A4F62B-F9EF-4F3C-9E04-A775752A91EE}"/>
              </a:ext>
            </a:extLst>
          </p:cNvPr>
          <p:cNvSpPr>
            <a:spLocks xmlns:a="http://schemas.openxmlformats.org/drawingml/2006/main" noGrp="1"/>
          </p:cNvSpPr>
          <p:nvPr/>
        </p:nvSpPr>
        <p:spPr>
          <a:xfrm xmlns:a="http://schemas.openxmlformats.org/drawingml/2006/main">
            <a:off x="1619250" y="4857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Net pay subtracts deductions from gross pay</a:t>
            </a:r>
          </a:p>
        </p:txBody>
      </p:sp>
      <p:sp>
        <p:nvSpPr>
          <p:cNvPr id="11" name="">
            <a:extLst xmlns:a="http://schemas.openxmlformats.org/drawingml/2006/main">
              <a:ext uri="{FF2B5EF4-FFF2-40B4-BE49-F238E27FC236}">
                <a16:creationId xmlns:a16="http://schemas.microsoft.com/office/drawing/2014/main" id="{40917792-1DAB-4B91-8EFE-ADD9E1BF586B}"/>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16</a:t>
            </a:r>
          </a:p>
        </p:txBody>
      </p:sp>
    </p:spTree>
    <p:extLst>
      <p:ext uri="{BB962C8B-B14F-4D97-AF65-F5344CB8AC3E}">
        <p14:creationId xmlns:p14="http://schemas.microsoft.com/office/powerpoint/2010/main" val="1892040214"/>
      </p:ext>
    </p:extLst>
  </p:cSld>
</p:sld>
</file>

<file path=ppt/slides/slide17.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70FF7D9-961D-4F19-845A-B926F45F869C}"/>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Sensitive actions need confirmation</a:t>
            </a:r>
          </a:p>
        </p:txBody>
      </p:sp>
      <p:sp>
        <p:nvSpPr>
          <p:cNvPr id="2" name="">
            <a:extLst xmlns:a="http://schemas.openxmlformats.org/drawingml/2006/main">
              <a:ext uri="{FF2B5EF4-FFF2-40B4-BE49-F238E27FC236}">
                <a16:creationId xmlns:a16="http://schemas.microsoft.com/office/drawing/2014/main" id="{0B5E2545-FBA9-4BD3-B99D-233CAF86AB59}"/>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57521D2-0216-46DC-92D9-11C577CA3D06}"/>
              </a:ext>
            </a:extLst>
          </p:cNvPr>
          <p:cNvSpPr>
            <a:spLocks xmlns:a="http://schemas.openxmlformats.org/drawingml/2006/main" noGrp="1"/>
          </p:cNvSpPr>
          <p:nvPr/>
        </p:nvSpPr>
        <p:spPr>
          <a:xfrm xmlns:a="http://schemas.openxmlformats.org/drawingml/2006/main">
            <a:off x="762000" y="2047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D4412EE0-48B8-4563-957C-53469B7F6640}"/>
              </a:ext>
            </a:extLst>
          </p:cNvPr>
          <p:cNvSpPr>
            <a:spLocks xmlns:a="http://schemas.openxmlformats.org/drawingml/2006/main" noGrp="1"/>
          </p:cNvSpPr>
          <p:nvPr/>
        </p:nvSpPr>
        <p:spPr>
          <a:xfrm xmlns:a="http://schemas.openxmlformats.org/drawingml/2006/main">
            <a:off x="1619250" y="2000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A finance-free host should not guess money values</a:t>
            </a:r>
          </a:p>
        </p:txBody>
      </p:sp>
      <p:sp>
        <p:nvSpPr>
          <p:cNvPr id="5" name="">
            <a:extLst xmlns:a="http://schemas.openxmlformats.org/drawingml/2006/main">
              <a:ext uri="{FF2B5EF4-FFF2-40B4-BE49-F238E27FC236}">
                <a16:creationId xmlns:a16="http://schemas.microsoft.com/office/drawing/2014/main" id="{0DB87197-9697-46ED-A316-57E934A87035}"/>
              </a:ext>
            </a:extLst>
          </p:cNvPr>
          <p:cNvSpPr>
            <a:spLocks xmlns:a="http://schemas.openxmlformats.org/drawingml/2006/main" noGrp="1"/>
          </p:cNvSpPr>
          <p:nvPr/>
        </p:nvSpPr>
        <p:spPr>
          <a:xfrm xmlns:a="http://schemas.openxmlformats.org/drawingml/2006/main">
            <a:off x="762000" y="3000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DD70A4EF-A1C9-4DBE-9B47-EF78AB5BF1C7}"/>
              </a:ext>
            </a:extLst>
          </p:cNvPr>
          <p:cNvSpPr>
            <a:spLocks xmlns:a="http://schemas.openxmlformats.org/drawingml/2006/main" noGrp="1"/>
          </p:cNvSpPr>
          <p:nvPr/>
        </p:nvSpPr>
        <p:spPr>
          <a:xfrm xmlns:a="http://schemas.openxmlformats.org/drawingml/2006/main">
            <a:off x="1619250" y="2952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Separate data folders prevent generic academic access</a:t>
            </a:r>
          </a:p>
        </p:txBody>
      </p:sp>
      <p:sp>
        <p:nvSpPr>
          <p:cNvPr id="7" name="">
            <a:extLst xmlns:a="http://schemas.openxmlformats.org/drawingml/2006/main">
              <a:ext uri="{FF2B5EF4-FFF2-40B4-BE49-F238E27FC236}">
                <a16:creationId xmlns:a16="http://schemas.microsoft.com/office/drawing/2014/main" id="{EC9F84AD-275E-4B76-96A4-4504F642126D}"/>
              </a:ext>
            </a:extLst>
          </p:cNvPr>
          <p:cNvSpPr>
            <a:spLocks xmlns:a="http://schemas.openxmlformats.org/drawingml/2006/main" noGrp="1"/>
          </p:cNvSpPr>
          <p:nvPr/>
        </p:nvSpPr>
        <p:spPr>
          <a:xfrm xmlns:a="http://schemas.openxmlformats.org/drawingml/2006/main">
            <a:off x="762000" y="3952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C348FC07-3F3D-45BD-B17E-711132E95658}"/>
              </a:ext>
            </a:extLst>
          </p:cNvPr>
          <p:cNvSpPr>
            <a:spLocks xmlns:a="http://schemas.openxmlformats.org/drawingml/2006/main" noGrp="1"/>
          </p:cNvSpPr>
          <p:nvPr/>
        </p:nvSpPr>
        <p:spPr>
          <a:xfrm xmlns:a="http://schemas.openxmlformats.org/drawingml/2006/main">
            <a:off x="1619250" y="3905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approve_payroll must ask the user to confirm</a:t>
            </a:r>
          </a:p>
        </p:txBody>
      </p:sp>
      <p:sp>
        <p:nvSpPr>
          <p:cNvPr id="9" name="">
            <a:extLst xmlns:a="http://schemas.openxmlformats.org/drawingml/2006/main">
              <a:ext uri="{FF2B5EF4-FFF2-40B4-BE49-F238E27FC236}">
                <a16:creationId xmlns:a16="http://schemas.microsoft.com/office/drawing/2014/main" id="{DBB668BF-80CF-47F3-A115-CB838E182ED3}"/>
              </a:ext>
            </a:extLst>
          </p:cNvPr>
          <p:cNvSpPr>
            <a:spLocks xmlns:a="http://schemas.openxmlformats.org/drawingml/2006/main" noGrp="1"/>
          </p:cNvSpPr>
          <p:nvPr/>
        </p:nvSpPr>
        <p:spPr>
          <a:xfrm xmlns:a="http://schemas.openxmlformats.org/drawingml/2006/main">
            <a:off x="762000" y="4905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537E39C6-EC47-42A5-81FA-5F733C35BE22}"/>
              </a:ext>
            </a:extLst>
          </p:cNvPr>
          <p:cNvSpPr>
            <a:spLocks xmlns:a="http://schemas.openxmlformats.org/drawingml/2006/main" noGrp="1"/>
          </p:cNvSpPr>
          <p:nvPr/>
        </p:nvSpPr>
        <p:spPr>
          <a:xfrm xmlns:a="http://schemas.openxmlformats.org/drawingml/2006/main">
            <a:off x="1619250" y="4857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Declining confirmation must keep the record unchanged</a:t>
            </a:r>
          </a:p>
        </p:txBody>
      </p:sp>
      <p:sp>
        <p:nvSpPr>
          <p:cNvPr id="11" name="">
            <a:extLst xmlns:a="http://schemas.openxmlformats.org/drawingml/2006/main">
              <a:ext uri="{FF2B5EF4-FFF2-40B4-BE49-F238E27FC236}">
                <a16:creationId xmlns:a16="http://schemas.microsoft.com/office/drawing/2014/main" id="{3D969DB9-781A-4280-9227-3960AB4FB3B1}"/>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17</a:t>
            </a:r>
          </a:p>
        </p:txBody>
      </p:sp>
    </p:spTree>
    <p:extLst>
      <p:ext uri="{BB962C8B-B14F-4D97-AF65-F5344CB8AC3E}">
        <p14:creationId xmlns:p14="http://schemas.microsoft.com/office/powerpoint/2010/main" val="1589417347"/>
      </p:ext>
    </p:extLst>
  </p:cSld>
</p:sld>
</file>

<file path=ppt/slides/slide18.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CBB8FE5-CD44-4167-8389-18749F634F3C}"/>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Our test set covers the new features</a:t>
            </a:r>
          </a:p>
        </p:txBody>
      </p:sp>
      <p:sp>
        <p:nvSpPr>
          <p:cNvPr id="2" name="">
            <a:extLst xmlns:a="http://schemas.openxmlformats.org/drawingml/2006/main">
              <a:ext uri="{FF2B5EF4-FFF2-40B4-BE49-F238E27FC236}">
                <a16:creationId xmlns:a16="http://schemas.microsoft.com/office/drawing/2014/main" id="{8425CB54-21AE-4F62-B26F-5E52BBB1EE76}"/>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graphicFrame>
        <p:nvGraphicFramePr>
          <p:cNvPr id="3" name="">
            <a:extLst xmlns:a="http://schemas.openxmlformats.org/drawingml/2006/main">
              <a:ext uri="{FF2B5EF4-FFF2-40B4-BE49-F238E27FC236}">
                <a16:creationId xmlns:a16="http://schemas.microsoft.com/office/drawing/2014/main" id="{A883C1E1-D05E-4F5C-A14B-E0EEBDB99704}"/>
              </a:ext>
            </a:extLst>
          </p:cNvPr>
          <p:cNvGraphicFramePr/>
          <p:nvPr/>
        </p:nvGraphicFramePr>
        <p:xfrm>
          <a:off xmlns:a="http://schemas.openxmlformats.org/drawingml/2006/main" x="762000" y="2000250"/>
          <a:ext xmlns:a="http://schemas.openxmlformats.org/drawingml/2006/main" cx="10668000" cy="3048000"/>
        </p:xfrm>
        <a:graphic xmlns:a="http://schemas.openxmlformats.org/drawingml/2006/main">
          <a:graphicData uri="http://schemas.openxmlformats.org/drawingml/2006/table">
            <a:tbl>
              <a:tblPr/>
              <a:tblGrid>
                <a:gridCol w="5334000"/>
                <a:gridCol w="5334000"/>
              </a:tblGrid>
              <a:tr h="609600">
                <a:tc>
                  <a:txBody>
                    <a:bodyPr/>
                    <a:lstStyle/>
                    <a:p>
                      <a:r>
                        <a:rPr sz="1800" b="1">
                          <a:solidFill>
                            <a:srgbClr val="FFFFFF"/>
                          </a:solidFill>
                          <a:latin typeface="Arial"/>
                          <a:ea typeface="Arial"/>
                          <a:cs typeface="Arial"/>
                        </a:rPr>
                        <a:t>Group</a:t>
                      </a:r>
                    </a:p>
                  </a:txBody>
                  <a:tcPr marL="91440" marR="91440" marT="45720" marB="45720">
                    <a:solidFill>
                      <a:srgbClr val="12324A"/>
                    </a:solidFill>
                  </a:tcPr>
                </a:tc>
                <a:tc>
                  <a:txBody>
                    <a:bodyPr/>
                    <a:lstStyle/>
                    <a:p>
                      <a:r>
                        <a:rPr sz="1800" b="1">
                          <a:solidFill>
                            <a:srgbClr val="FFFFFF"/>
                          </a:solidFill>
                          <a:latin typeface="Arial"/>
                          <a:ea typeface="Arial"/>
                          <a:cs typeface="Arial"/>
                        </a:rPr>
                        <a:t>Questions</a:t>
                      </a:r>
                    </a:p>
                  </a:txBody>
                  <a:tcPr marL="91440" marR="91440" marT="45720" marB="45720">
                    <a:solidFill>
                      <a:srgbClr val="12324A"/>
                    </a:solidFill>
                  </a:tcPr>
                </a:tc>
              </a:tr>
              <a:tr h="609600">
                <a:tc>
                  <a:txBody>
                    <a:bodyPr/>
                    <a:lstStyle/>
                    <a:p>
                      <a:r>
                        <a:rPr sz="1800" b="0">
                          <a:solidFill>
                            <a:srgbClr val="203747"/>
                          </a:solidFill>
                          <a:latin typeface="Arial"/>
                          <a:ea typeface="Arial"/>
                          <a:cs typeface="Arial"/>
                        </a:rPr>
                        <a:t>Academic and advising</a:t>
                      </a:r>
                    </a:p>
                  </a:txBody>
                  <a:tcPr marL="91440" marR="91440" marT="45720" marB="45720">
                    <a:solidFill>
                      <a:srgbClr val="FFFFFF"/>
                    </a:solidFill>
                  </a:tcPr>
                </a:tc>
                <a:tc>
                  <a:txBody>
                    <a:bodyPr/>
                    <a:lstStyle/>
                    <a:p>
                      <a:r>
                        <a:rPr sz="1800" b="0">
                          <a:solidFill>
                            <a:srgbClr val="203747"/>
                          </a:solidFill>
                          <a:latin typeface="Arial"/>
                          <a:ea typeface="Arial"/>
                          <a:cs typeface="Arial"/>
                        </a:rPr>
                        <a:t>15</a:t>
                      </a:r>
                    </a:p>
                  </a:txBody>
                  <a:tcPr marL="91440" marR="91440" marT="45720" marB="45720">
                    <a:solidFill>
                      <a:srgbClr val="FFFFFF"/>
                    </a:solidFill>
                  </a:tcPr>
                </a:tc>
              </a:tr>
              <a:tr h="609600">
                <a:tc>
                  <a:txBody>
                    <a:bodyPr/>
                    <a:lstStyle/>
                    <a:p>
                      <a:r>
                        <a:rPr sz="1800" b="0">
                          <a:solidFill>
                            <a:srgbClr val="203747"/>
                          </a:solidFill>
                          <a:latin typeface="Arial"/>
                          <a:ea typeface="Arial"/>
                          <a:cs typeface="Arial"/>
                        </a:rPr>
                        <a:t>Finance</a:t>
                      </a:r>
                    </a:p>
                  </a:txBody>
                  <a:tcPr marL="91440" marR="91440" marT="45720" marB="45720">
                    <a:solidFill>
                      <a:srgbClr val="EDF2F0"/>
                    </a:solidFill>
                  </a:tcPr>
                </a:tc>
                <a:tc>
                  <a:txBody>
                    <a:bodyPr/>
                    <a:lstStyle/>
                    <a:p>
                      <a:r>
                        <a:rPr sz="1800" b="0">
                          <a:solidFill>
                            <a:srgbClr val="203747"/>
                          </a:solidFill>
                          <a:latin typeface="Arial"/>
                          <a:ea typeface="Arial"/>
                          <a:cs typeface="Arial"/>
                        </a:rPr>
                        <a:t>9</a:t>
                      </a:r>
                    </a:p>
                  </a:txBody>
                  <a:tcPr marL="91440" marR="91440" marT="45720" marB="45720">
                    <a:solidFill>
                      <a:srgbClr val="EDF2F0"/>
                    </a:solidFill>
                  </a:tcPr>
                </a:tc>
              </a:tr>
              <a:tr h="609600">
                <a:tc>
                  <a:txBody>
                    <a:bodyPr/>
                    <a:lstStyle/>
                    <a:p>
                      <a:r>
                        <a:rPr sz="1800" b="0">
                          <a:solidFill>
                            <a:srgbClr val="203747"/>
                          </a:solidFill>
                          <a:latin typeface="Arial"/>
                          <a:ea typeface="Arial"/>
                          <a:cs typeface="Arial"/>
                        </a:rPr>
                        <a:t>Total natural English questions</a:t>
                      </a:r>
                    </a:p>
                  </a:txBody>
                  <a:tcPr marL="91440" marR="91440" marT="45720" marB="45720">
                    <a:solidFill>
                      <a:srgbClr val="FFFFFF"/>
                    </a:solidFill>
                  </a:tcPr>
                </a:tc>
                <a:tc>
                  <a:txBody>
                    <a:bodyPr/>
                    <a:lstStyle/>
                    <a:p>
                      <a:r>
                        <a:rPr sz="1800" b="0">
                          <a:solidFill>
                            <a:srgbClr val="203747"/>
                          </a:solidFill>
                          <a:latin typeface="Arial"/>
                          <a:ea typeface="Arial"/>
                          <a:cs typeface="Arial"/>
                        </a:rPr>
                        <a:t>24</a:t>
                      </a:r>
                    </a:p>
                  </a:txBody>
                  <a:tcPr marL="91440" marR="91440" marT="45720" marB="45720">
                    <a:solidFill>
                      <a:srgbClr val="FFFFFF"/>
                    </a:solidFill>
                  </a:tcPr>
                </a:tc>
              </a:tr>
              <a:tr h="609600">
                <a:tc>
                  <a:txBody>
                    <a:bodyPr/>
                    <a:lstStyle/>
                    <a:p>
                      <a:r>
                        <a:rPr sz="1800" b="0">
                          <a:solidFill>
                            <a:srgbClr val="203747"/>
                          </a:solidFill>
                          <a:latin typeface="Arial"/>
                          <a:ea typeface="Arial"/>
                          <a:cs typeface="Arial"/>
                        </a:rPr>
                        <a:t>Independent Excel answer metrics</a:t>
                      </a:r>
                    </a:p>
                  </a:txBody>
                  <a:tcPr marL="91440" marR="91440" marT="45720" marB="45720">
                    <a:solidFill>
                      <a:srgbClr val="EDF2F0"/>
                    </a:solidFill>
                  </a:tcPr>
                </a:tc>
                <a:tc>
                  <a:txBody>
                    <a:bodyPr/>
                    <a:lstStyle/>
                    <a:p>
                      <a:r>
                        <a:rPr sz="1800" b="0">
                          <a:solidFill>
                            <a:srgbClr val="203747"/>
                          </a:solidFill>
                          <a:latin typeface="Arial"/>
                          <a:ea typeface="Arial"/>
                          <a:cs typeface="Arial"/>
                        </a:rPr>
                        <a:t>55</a:t>
                      </a:r>
                    </a:p>
                  </a:txBody>
                  <a:tcPr marL="91440" marR="91440" marT="45720" marB="45720">
                    <a:solidFill>
                      <a:srgbClr val="EDF2F0"/>
                    </a:solidFill>
                  </a:tcPr>
                </a:tc>
              </a:tr>
            </a:tbl>
          </a:graphicData>
        </a:graphic>
      </p:graphicFrame>
      <p:sp>
        <p:nvSpPr>
          <p:cNvPr id="4" name="">
            <a:extLst xmlns:a="http://schemas.openxmlformats.org/drawingml/2006/main">
              <a:ext uri="{FF2B5EF4-FFF2-40B4-BE49-F238E27FC236}">
                <a16:creationId xmlns:a16="http://schemas.microsoft.com/office/drawing/2014/main" id="{93734AB3-5771-48CB-AC8A-5398A31227BB}"/>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18</a:t>
            </a:r>
          </a:p>
        </p:txBody>
      </p:sp>
    </p:spTree>
    <p:extLst>
      <p:ext uri="{BB962C8B-B14F-4D97-AF65-F5344CB8AC3E}">
        <p14:creationId xmlns:p14="http://schemas.microsoft.com/office/powerpoint/2010/main" val="651046417"/>
      </p:ext>
    </p:extLst>
  </p:cSld>
</p:sld>
</file>

<file path=ppt/slides/slide19.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DD85D4E-110A-4E68-99A4-9F76AB2AAC78}"/>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How to check an answer in Excel</a:t>
            </a:r>
          </a:p>
        </p:txBody>
      </p:sp>
      <p:sp>
        <p:nvSpPr>
          <p:cNvPr id="2" name="">
            <a:extLst xmlns:a="http://schemas.openxmlformats.org/drawingml/2006/main">
              <a:ext uri="{FF2B5EF4-FFF2-40B4-BE49-F238E27FC236}">
                <a16:creationId xmlns:a16="http://schemas.microsoft.com/office/drawing/2014/main" id="{AFD2B7FE-01F9-4434-97CE-E380E4BA7372}"/>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B4913030-0BD4-490A-A3F3-412D913E0380}"/>
              </a:ext>
            </a:extLst>
          </p:cNvPr>
          <p:cNvSpPr>
            <a:spLocks xmlns:a="http://schemas.openxmlformats.org/drawingml/2006/main" noGrp="1"/>
          </p:cNvSpPr>
          <p:nvPr/>
        </p:nvSpPr>
        <p:spPr>
          <a:xfrm xmlns:a="http://schemas.openxmlformats.org/drawingml/2006/main">
            <a:off x="762000" y="2047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3569028C-A50D-4D16-887B-14AAE4648FAF}"/>
              </a:ext>
            </a:extLst>
          </p:cNvPr>
          <p:cNvSpPr>
            <a:spLocks xmlns:a="http://schemas.openxmlformats.org/drawingml/2006/main" noGrp="1"/>
          </p:cNvSpPr>
          <p:nvPr/>
        </p:nvSpPr>
        <p:spPr>
          <a:xfrm xmlns:a="http://schemas.openxmlformats.org/drawingml/2006/main">
            <a:off x="1619250" y="2000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Open Answers and find the test ID</a:t>
            </a:r>
          </a:p>
        </p:txBody>
      </p:sp>
      <p:sp>
        <p:nvSpPr>
          <p:cNvPr id="5" name="">
            <a:extLst xmlns:a="http://schemas.openxmlformats.org/drawingml/2006/main">
              <a:ext uri="{FF2B5EF4-FFF2-40B4-BE49-F238E27FC236}">
                <a16:creationId xmlns:a16="http://schemas.microsoft.com/office/drawing/2014/main" id="{36526D23-6183-41CE-B902-B55E00F02109}"/>
              </a:ext>
            </a:extLst>
          </p:cNvPr>
          <p:cNvSpPr>
            <a:spLocks xmlns:a="http://schemas.openxmlformats.org/drawingml/2006/main" noGrp="1"/>
          </p:cNvSpPr>
          <p:nvPr/>
        </p:nvSpPr>
        <p:spPr>
          <a:xfrm xmlns:a="http://schemas.openxmlformats.org/drawingml/2006/main">
            <a:off x="762000" y="3000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0CEC6C7C-DFA6-4A78-9299-FB5E859CB737}"/>
              </a:ext>
            </a:extLst>
          </p:cNvPr>
          <p:cNvSpPr>
            <a:spLocks xmlns:a="http://schemas.openxmlformats.org/drawingml/2006/main" noGrp="1"/>
          </p:cNvSpPr>
          <p:nvPr/>
        </p:nvSpPr>
        <p:spPr>
          <a:xfrm xmlns:a="http://schemas.openxmlformats.org/drawingml/2006/main">
            <a:off x="1619250" y="2952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Follow the formula to its source rows</a:t>
            </a:r>
          </a:p>
        </p:txBody>
      </p:sp>
      <p:sp>
        <p:nvSpPr>
          <p:cNvPr id="7" name="">
            <a:extLst xmlns:a="http://schemas.openxmlformats.org/drawingml/2006/main">
              <a:ext uri="{FF2B5EF4-FFF2-40B4-BE49-F238E27FC236}">
                <a16:creationId xmlns:a16="http://schemas.microsoft.com/office/drawing/2014/main" id="{EC0B4E38-155B-4822-824A-5A82581AB52A}"/>
              </a:ext>
            </a:extLst>
          </p:cNvPr>
          <p:cNvSpPr>
            <a:spLocks xmlns:a="http://schemas.openxmlformats.org/drawingml/2006/main" noGrp="1"/>
          </p:cNvSpPr>
          <p:nvPr/>
        </p:nvSpPr>
        <p:spPr>
          <a:xfrm xmlns:a="http://schemas.openxmlformats.org/drawingml/2006/main">
            <a:off x="762000" y="3952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E38DE1F5-B14E-482F-8E42-3581E9B688DE}"/>
              </a:ext>
            </a:extLst>
          </p:cNvPr>
          <p:cNvSpPr>
            <a:spLocks xmlns:a="http://schemas.openxmlformats.org/drawingml/2006/main" noGrp="1"/>
          </p:cNvSpPr>
          <p:nvPr/>
        </p:nvSpPr>
        <p:spPr>
          <a:xfrm xmlns:a="http://schemas.openxmlformats.org/drawingml/2006/main">
            <a:off x="1619250" y="3905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Check the rule threshold and intermediate totals</a:t>
            </a:r>
          </a:p>
        </p:txBody>
      </p:sp>
      <p:sp>
        <p:nvSpPr>
          <p:cNvPr id="9" name="">
            <a:extLst xmlns:a="http://schemas.openxmlformats.org/drawingml/2006/main">
              <a:ext uri="{FF2B5EF4-FFF2-40B4-BE49-F238E27FC236}">
                <a16:creationId xmlns:a16="http://schemas.microsoft.com/office/drawing/2014/main" id="{814C4DAA-FEF6-465F-A1CC-5B0CE1DBEA4B}"/>
              </a:ext>
            </a:extLst>
          </p:cNvPr>
          <p:cNvSpPr>
            <a:spLocks xmlns:a="http://schemas.openxmlformats.org/drawingml/2006/main" noGrp="1"/>
          </p:cNvSpPr>
          <p:nvPr/>
        </p:nvSpPr>
        <p:spPr>
          <a:xfrm xmlns:a="http://schemas.openxmlformats.org/drawingml/2006/main">
            <a:off x="762000" y="4905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28BEFD45-6050-4E50-B012-BA19FF753045}"/>
              </a:ext>
            </a:extLst>
          </p:cNvPr>
          <p:cNvSpPr>
            <a:spLocks xmlns:a="http://schemas.openxmlformats.org/drawingml/2006/main" noGrp="1"/>
          </p:cNvSpPr>
          <p:nvPr/>
        </p:nvSpPr>
        <p:spPr>
          <a:xfrm xmlns:a="http://schemas.openxmlformats.org/drawingml/2006/main">
            <a:off x="1619250" y="4857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Compare the Excel result with the tool output</a:t>
            </a:r>
          </a:p>
        </p:txBody>
      </p:sp>
      <p:sp>
        <p:nvSpPr>
          <p:cNvPr id="11" name="">
            <a:extLst xmlns:a="http://schemas.openxmlformats.org/drawingml/2006/main">
              <a:ext uri="{FF2B5EF4-FFF2-40B4-BE49-F238E27FC236}">
                <a16:creationId xmlns:a16="http://schemas.microsoft.com/office/drawing/2014/main" id="{30794E4D-CED7-44A9-B1BB-802610DBBA70}"/>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19</a:t>
            </a:r>
          </a:p>
        </p:txBody>
      </p:sp>
    </p:spTree>
    <p:extLst>
      <p:ext uri="{BB962C8B-B14F-4D97-AF65-F5344CB8AC3E}">
        <p14:creationId xmlns:p14="http://schemas.microsoft.com/office/powerpoint/2010/main" val="102746364"/>
      </p:ext>
    </p:extLst>
  </p:cSld>
</p:sld>
</file>

<file path=ppt/slides/slide20.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5E68516-215C-40AE-87A7-5DC87CDD5640}"/>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Settings used in Khoa tests</a:t>
            </a:r>
          </a:p>
        </p:txBody>
      </p:sp>
      <p:sp>
        <p:nvSpPr>
          <p:cNvPr id="2" name="">
            <a:extLst xmlns:a="http://schemas.openxmlformats.org/drawingml/2006/main">
              <a:ext uri="{FF2B5EF4-FFF2-40B4-BE49-F238E27FC236}">
                <a16:creationId xmlns:a16="http://schemas.microsoft.com/office/drawing/2014/main" id="{6BFBB989-5A60-4C8C-8D58-4177A5D5754B}"/>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graphicFrame>
        <p:nvGraphicFramePr>
          <p:cNvPr id="3" name="">
            <a:extLst xmlns:a="http://schemas.openxmlformats.org/drawingml/2006/main">
              <a:ext uri="{FF2B5EF4-FFF2-40B4-BE49-F238E27FC236}">
                <a16:creationId xmlns:a16="http://schemas.microsoft.com/office/drawing/2014/main" id="{CA5F21A2-3CBE-4823-BAAA-41522F7FA822}"/>
              </a:ext>
            </a:extLst>
          </p:cNvPr>
          <p:cNvGraphicFramePr/>
          <p:nvPr/>
        </p:nvGraphicFramePr>
        <p:xfrm>
          <a:off xmlns:a="http://schemas.openxmlformats.org/drawingml/2006/main" x="762000" y="2000250"/>
          <a:ext xmlns:a="http://schemas.openxmlformats.org/drawingml/2006/main" cx="10668000" cy="3657600"/>
        </p:xfrm>
        <a:graphic xmlns:a="http://schemas.openxmlformats.org/drawingml/2006/main">
          <a:graphicData uri="http://schemas.openxmlformats.org/drawingml/2006/table">
            <a:tbl>
              <a:tblPr/>
              <a:tblGrid>
                <a:gridCol w="5334000"/>
                <a:gridCol w="5334000"/>
              </a:tblGrid>
              <a:tr h="609600">
                <a:tc>
                  <a:txBody>
                    <a:bodyPr/>
                    <a:lstStyle/>
                    <a:p>
                      <a:r>
                        <a:rPr sz="1800" b="1">
                          <a:solidFill>
                            <a:srgbClr val="FFFFFF"/>
                          </a:solidFill>
                          <a:latin typeface="Arial"/>
                          <a:ea typeface="Arial"/>
                          <a:cs typeface="Arial"/>
                        </a:rPr>
                        <a:t>Setting</a:t>
                      </a:r>
                    </a:p>
                  </a:txBody>
                  <a:tcPr marL="91440" marR="91440" marT="45720" marB="45720">
                    <a:solidFill>
                      <a:srgbClr val="12324A"/>
                    </a:solidFill>
                  </a:tcPr>
                </a:tc>
                <a:tc>
                  <a:txBody>
                    <a:bodyPr/>
                    <a:lstStyle/>
                    <a:p>
                      <a:r>
                        <a:rPr sz="1800" b="1">
                          <a:solidFill>
                            <a:srgbClr val="FFFFFF"/>
                          </a:solidFill>
                          <a:latin typeface="Arial"/>
                          <a:ea typeface="Arial"/>
                          <a:cs typeface="Arial"/>
                        </a:rPr>
                        <a:t>Value</a:t>
                      </a:r>
                    </a:p>
                  </a:txBody>
                  <a:tcPr marL="91440" marR="91440" marT="45720" marB="45720">
                    <a:solidFill>
                      <a:srgbClr val="12324A"/>
                    </a:solidFill>
                  </a:tcPr>
                </a:tc>
              </a:tr>
              <a:tr h="609600">
                <a:tc>
                  <a:txBody>
                    <a:bodyPr/>
                    <a:lstStyle/>
                    <a:p>
                      <a:r>
                        <a:rPr sz="1800" b="0">
                          <a:solidFill>
                            <a:srgbClr val="203747"/>
                          </a:solidFill>
                          <a:latin typeface="Arial"/>
                          <a:ea typeface="Arial"/>
                          <a:cs typeface="Arial"/>
                        </a:rPr>
                        <a:t>Gemini model</a:t>
                      </a:r>
                    </a:p>
                  </a:txBody>
                  <a:tcPr marL="91440" marR="91440" marT="45720" marB="45720">
                    <a:solidFill>
                      <a:srgbClr val="FFFFFF"/>
                    </a:solidFill>
                  </a:tcPr>
                </a:tc>
                <a:tc>
                  <a:txBody>
                    <a:bodyPr/>
                    <a:lstStyle/>
                    <a:p>
                      <a:r>
                        <a:rPr sz="1800" b="0">
                          <a:solidFill>
                            <a:srgbClr val="203747"/>
                          </a:solidFill>
                          <a:latin typeface="Arial"/>
                          <a:ea typeface="Arial"/>
                          <a:cs typeface="Arial"/>
                        </a:rPr>
                        <a:t>gemini-3.5-flash-lite</a:t>
                      </a:r>
                    </a:p>
                  </a:txBody>
                  <a:tcPr marL="91440" marR="91440" marT="45720" marB="45720">
                    <a:solidFill>
                      <a:srgbClr val="FFFFFF"/>
                    </a:solidFill>
                  </a:tcPr>
                </a:tc>
              </a:tr>
              <a:tr h="609600">
                <a:tc>
                  <a:txBody>
                    <a:bodyPr/>
                    <a:lstStyle/>
                    <a:p>
                      <a:r>
                        <a:rPr sz="1800" b="0">
                          <a:solidFill>
                            <a:srgbClr val="203747"/>
                          </a:solidFill>
                          <a:latin typeface="Arial"/>
                          <a:ea typeface="Arial"/>
                          <a:cs typeface="Arial"/>
                        </a:rPr>
                        <a:t>Temperature</a:t>
                      </a:r>
                    </a:p>
                  </a:txBody>
                  <a:tcPr marL="91440" marR="91440" marT="45720" marB="45720">
                    <a:solidFill>
                      <a:srgbClr val="EDF2F0"/>
                    </a:solidFill>
                  </a:tcPr>
                </a:tc>
                <a:tc>
                  <a:txBody>
                    <a:bodyPr/>
                    <a:lstStyle/>
                    <a:p>
                      <a:r>
                        <a:rPr sz="1800" b="0">
                          <a:solidFill>
                            <a:srgbClr val="203747"/>
                          </a:solidFill>
                          <a:latin typeface="Arial"/>
                          <a:ea typeface="Arial"/>
                          <a:cs typeface="Arial"/>
                        </a:rPr>
                        <a:t>0.2</a:t>
                      </a:r>
                    </a:p>
                  </a:txBody>
                  <a:tcPr marL="91440" marR="91440" marT="45720" marB="45720">
                    <a:solidFill>
                      <a:srgbClr val="EDF2F0"/>
                    </a:solidFill>
                  </a:tcPr>
                </a:tc>
              </a:tr>
              <a:tr h="609600">
                <a:tc>
                  <a:txBody>
                    <a:bodyPr/>
                    <a:lstStyle/>
                    <a:p>
                      <a:r>
                        <a:rPr sz="1800" b="0">
                          <a:solidFill>
                            <a:srgbClr val="203747"/>
                          </a:solidFill>
                          <a:latin typeface="Arial"/>
                          <a:ea typeface="Arial"/>
                          <a:cs typeface="Arial"/>
                        </a:rPr>
                        <a:t>Maximum tool rounds</a:t>
                      </a:r>
                    </a:p>
                  </a:txBody>
                  <a:tcPr marL="91440" marR="91440" marT="45720" marB="45720">
                    <a:solidFill>
                      <a:srgbClr val="FFFFFF"/>
                    </a:solidFill>
                  </a:tcPr>
                </a:tc>
                <a:tc>
                  <a:txBody>
                    <a:bodyPr/>
                    <a:lstStyle/>
                    <a:p>
                      <a:r>
                        <a:rPr sz="1800" b="0">
                          <a:solidFill>
                            <a:srgbClr val="203747"/>
                          </a:solidFill>
                          <a:latin typeface="Arial"/>
                          <a:ea typeface="Arial"/>
                          <a:cs typeface="Arial"/>
                        </a:rPr>
                        <a:t>8</a:t>
                      </a:r>
                    </a:p>
                  </a:txBody>
                  <a:tcPr marL="91440" marR="91440" marT="45720" marB="45720">
                    <a:solidFill>
                      <a:srgbClr val="FFFFFF"/>
                    </a:solidFill>
                  </a:tcPr>
                </a:tc>
              </a:tr>
              <a:tr h="609600">
                <a:tc>
                  <a:txBody>
                    <a:bodyPr/>
                    <a:lstStyle/>
                    <a:p>
                      <a:r>
                        <a:rPr sz="1800" b="0">
                          <a:solidFill>
                            <a:srgbClr val="203747"/>
                          </a:solidFill>
                          <a:latin typeface="Arial"/>
                          <a:ea typeface="Arial"/>
                          <a:cs typeface="Arial"/>
                        </a:rPr>
                        <a:t>Conversation</a:t>
                      </a:r>
                    </a:p>
                  </a:txBody>
                  <a:tcPr marL="91440" marR="91440" marT="45720" marB="45720">
                    <a:solidFill>
                      <a:srgbClr val="EDF2F0"/>
                    </a:solidFill>
                  </a:tcPr>
                </a:tc>
                <a:tc>
                  <a:txBody>
                    <a:bodyPr/>
                    <a:lstStyle/>
                    <a:p>
                      <a:r>
                        <a:rPr sz="1800" b="0">
                          <a:solidFill>
                            <a:srgbClr val="203747"/>
                          </a:solidFill>
                          <a:latin typeface="Arial"/>
                          <a:ea typeface="Arial"/>
                          <a:cs typeface="Arial"/>
                        </a:rPr>
                        <a:t>Fresh for each question</a:t>
                      </a:r>
                    </a:p>
                  </a:txBody>
                  <a:tcPr marL="91440" marR="91440" marT="45720" marB="45720">
                    <a:solidFill>
                      <a:srgbClr val="EDF2F0"/>
                    </a:solidFill>
                  </a:tcPr>
                </a:tc>
              </a:tr>
              <a:tr h="609600">
                <a:tc>
                  <a:txBody>
                    <a:bodyPr/>
                    <a:lstStyle/>
                    <a:p>
                      <a:r>
                        <a:rPr sz="1800" b="0">
                          <a:solidFill>
                            <a:srgbClr val="203747"/>
                          </a:solidFill>
                          <a:latin typeface="Arial"/>
                          <a:ea typeface="Arial"/>
                          <a:cs typeface="Arial"/>
                        </a:rPr>
                        <a:t>Model fallback</a:t>
                      </a:r>
                    </a:p>
                  </a:txBody>
                  <a:tcPr marL="91440" marR="91440" marT="45720" marB="45720">
                    <a:solidFill>
                      <a:srgbClr val="FFFFFF"/>
                    </a:solidFill>
                  </a:tcPr>
                </a:tc>
                <a:tc>
                  <a:txBody>
                    <a:bodyPr/>
                    <a:lstStyle/>
                    <a:p>
                      <a:r>
                        <a:rPr sz="1800" b="0">
                          <a:solidFill>
                            <a:srgbClr val="203747"/>
                          </a:solidFill>
                          <a:latin typeface="Arial"/>
                          <a:ea typeface="Arial"/>
                          <a:cs typeface="Arial"/>
                        </a:rPr>
                        <a:t>Disabled</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CE7296A3-68E7-4F2E-AE9C-3FD6BD2F2173}"/>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20</a:t>
            </a:r>
          </a:p>
        </p:txBody>
      </p:sp>
    </p:spTree>
    <p:extLst>
      <p:ext uri="{BB962C8B-B14F-4D97-AF65-F5344CB8AC3E}">
        <p14:creationId xmlns:p14="http://schemas.microsoft.com/office/powerpoint/2010/main" val="207057752"/>
      </p:ext>
    </p:extLst>
  </p:cSld>
</p:sld>
</file>

<file path=ppt/slides/slide21.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5699CDB-45C7-4213-94C1-485042FF3EA7}"/>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Khoa results from the new test set</a:t>
            </a:r>
          </a:p>
        </p:txBody>
      </p:sp>
      <p:sp>
        <p:nvSpPr>
          <p:cNvPr id="2" name="">
            <a:extLst xmlns:a="http://schemas.openxmlformats.org/drawingml/2006/main">
              <a:ext uri="{FF2B5EF4-FFF2-40B4-BE49-F238E27FC236}">
                <a16:creationId xmlns:a16="http://schemas.microsoft.com/office/drawing/2014/main" id="{FC39F0B3-694D-4F6E-83EF-6683DEDEC716}"/>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graphicFrame>
        <p:nvGraphicFramePr>
          <p:cNvPr id="3" name="">
            <a:extLst xmlns:a="http://schemas.openxmlformats.org/drawingml/2006/main">
              <a:ext uri="{FF2B5EF4-FFF2-40B4-BE49-F238E27FC236}">
                <a16:creationId xmlns:a16="http://schemas.microsoft.com/office/drawing/2014/main" id="{B701AACA-7351-4906-8FDF-E4011D93980B}"/>
              </a:ext>
            </a:extLst>
          </p:cNvPr>
          <p:cNvGraphicFramePr/>
          <p:nvPr/>
        </p:nvGraphicFramePr>
        <p:xfrm>
          <a:off xmlns:a="http://schemas.openxmlformats.org/drawingml/2006/main" x="762000" y="2000250"/>
          <a:ext xmlns:a="http://schemas.openxmlformats.org/drawingml/2006/main" cx="10668000" cy="2438400"/>
        </p:xfrm>
        <a:graphic xmlns:a="http://schemas.openxmlformats.org/drawingml/2006/main">
          <a:graphicData uri="http://schemas.openxmlformats.org/drawingml/2006/table">
            <a:tbl>
              <a:tblPr/>
              <a:tblGrid>
                <a:gridCol w="2667000"/>
                <a:gridCol w="2667000"/>
                <a:gridCol w="2667000"/>
                <a:gridCol w="2667000"/>
              </a:tblGrid>
              <a:tr h="609600">
                <a:tc>
                  <a:txBody>
                    <a:bodyPr/>
                    <a:lstStyle/>
                    <a:p>
                      <a:r>
                        <a:rPr sz="1575" b="1">
                          <a:solidFill>
                            <a:srgbClr val="FFFFFF"/>
                          </a:solidFill>
                          <a:latin typeface="Arial"/>
                          <a:ea typeface="Arial"/>
                          <a:cs typeface="Arial"/>
                        </a:rPr>
                        <a:t>Run</a:t>
                      </a:r>
                    </a:p>
                  </a:txBody>
                  <a:tcPr marL="91440" marR="91440" marT="45720" marB="45720">
                    <a:solidFill>
                      <a:srgbClr val="12324A"/>
                    </a:solidFill>
                  </a:tcPr>
                </a:tc>
                <a:tc>
                  <a:txBody>
                    <a:bodyPr/>
                    <a:lstStyle/>
                    <a:p>
                      <a:r>
                        <a:rPr sz="1575" b="1">
                          <a:solidFill>
                            <a:srgbClr val="FFFFFF"/>
                          </a:solidFill>
                          <a:latin typeface="Arial"/>
                          <a:ea typeface="Arial"/>
                          <a:cs typeface="Arial"/>
                        </a:rPr>
                        <a:t>Checked cases</a:t>
                      </a:r>
                    </a:p>
                  </a:txBody>
                  <a:tcPr marL="91440" marR="91440" marT="45720" marB="45720">
                    <a:solidFill>
                      <a:srgbClr val="12324A"/>
                    </a:solidFill>
                  </a:tcPr>
                </a:tc>
                <a:tc>
                  <a:txBody>
                    <a:bodyPr/>
                    <a:lstStyle/>
                    <a:p>
                      <a:r>
                        <a:rPr sz="1575" b="1">
                          <a:solidFill>
                            <a:srgbClr val="FFFFFF"/>
                          </a:solidFill>
                          <a:latin typeface="Arial"/>
                          <a:ea typeface="Arial"/>
                          <a:cs typeface="Arial"/>
                        </a:rPr>
                        <a:t>Passed</a:t>
                      </a:r>
                    </a:p>
                  </a:txBody>
                  <a:tcPr marL="91440" marR="91440" marT="45720" marB="45720">
                    <a:solidFill>
                      <a:srgbClr val="12324A"/>
                    </a:solidFill>
                  </a:tcPr>
                </a:tc>
                <a:tc>
                  <a:txBody>
                    <a:bodyPr/>
                    <a:lstStyle/>
                    <a:p>
                      <a:r>
                        <a:rPr sz="1575" b="1">
                          <a:solidFill>
                            <a:srgbClr val="FFFFFF"/>
                          </a:solidFill>
                          <a:latin typeface="Arial"/>
                          <a:ea typeface="Arial"/>
                          <a:cs typeface="Arial"/>
                        </a:rPr>
                        <a:t>Errors</a:t>
                      </a:r>
                    </a:p>
                  </a:txBody>
                  <a:tcPr marL="91440" marR="91440" marT="45720" marB="45720">
                    <a:solidFill>
                      <a:srgbClr val="12324A"/>
                    </a:solidFill>
                  </a:tcPr>
                </a:tc>
              </a:tr>
              <a:tr h="609600">
                <a:tc>
                  <a:txBody>
                    <a:bodyPr/>
                    <a:lstStyle/>
                    <a:p>
                      <a:r>
                        <a:rPr sz="1575" b="0">
                          <a:solidFill>
                            <a:srgbClr val="203747"/>
                          </a:solidFill>
                          <a:latin typeface="Arial"/>
                          <a:ea typeface="Arial"/>
                          <a:cs typeface="Arial"/>
                        </a:rPr>
                        <a:t>Direct MCP stdio</a:t>
                      </a:r>
                    </a:p>
                  </a:txBody>
                  <a:tcPr marL="91440" marR="91440" marT="45720" marB="45720">
                    <a:solidFill>
                      <a:srgbClr val="FFFFFF"/>
                    </a:solidFill>
                  </a:tcPr>
                </a:tc>
                <a:tc>
                  <a:txBody>
                    <a:bodyPr/>
                    <a:lstStyle/>
                    <a:p>
                      <a:r>
                        <a:rPr sz="1575" b="0">
                          <a:solidFill>
                            <a:srgbClr val="203747"/>
                          </a:solidFill>
                          <a:latin typeface="Arial"/>
                          <a:ea typeface="Arial"/>
                          <a:cs typeface="Arial"/>
                        </a:rPr>
                        <a:t>24</a:t>
                      </a:r>
                    </a:p>
                  </a:txBody>
                  <a:tcPr marL="91440" marR="91440" marT="45720" marB="45720">
                    <a:solidFill>
                      <a:srgbClr val="FFFFFF"/>
                    </a:solidFill>
                  </a:tcPr>
                </a:tc>
                <a:tc>
                  <a:txBody>
                    <a:bodyPr/>
                    <a:lstStyle/>
                    <a:p>
                      <a:r>
                        <a:rPr sz="1575" b="0">
                          <a:solidFill>
                            <a:srgbClr val="203747"/>
                          </a:solidFill>
                          <a:latin typeface="Arial"/>
                          <a:ea typeface="Arial"/>
                          <a:cs typeface="Arial"/>
                        </a:rPr>
                        <a:t>24</a:t>
                      </a:r>
                    </a:p>
                  </a:txBody>
                  <a:tcPr marL="91440" marR="91440" marT="45720" marB="45720">
                    <a:solidFill>
                      <a:srgbClr val="FFFFFF"/>
                    </a:solidFill>
                  </a:tcPr>
                </a:tc>
                <a:tc>
                  <a:txBody>
                    <a:bodyPr/>
                    <a:lstStyle/>
                    <a:p>
                      <a:r>
                        <a:rPr sz="1575" b="0">
                          <a:solidFill>
                            <a:srgbClr val="203747"/>
                          </a:solidFill>
                          <a:latin typeface="Arial"/>
                          <a:ea typeface="Arial"/>
                          <a:cs typeface="Arial"/>
                        </a:rPr>
                        <a:t>0</a:t>
                      </a:r>
                    </a:p>
                  </a:txBody>
                  <a:tcPr marL="91440" marR="91440" marT="45720" marB="45720">
                    <a:solidFill>
                      <a:srgbClr val="FFFFFF"/>
                    </a:solidFill>
                  </a:tcPr>
                </a:tc>
              </a:tr>
              <a:tr h="609600">
                <a:tc>
                  <a:txBody>
                    <a:bodyPr/>
                    <a:lstStyle/>
                    <a:p>
                      <a:r>
                        <a:rPr sz="1575" b="0">
                          <a:solidFill>
                            <a:srgbClr val="203747"/>
                          </a:solidFill>
                          <a:latin typeface="Arial"/>
                          <a:ea typeface="Arial"/>
                          <a:cs typeface="Arial"/>
                        </a:rPr>
                        <a:t>Direct MCP HTTP</a:t>
                      </a:r>
                    </a:p>
                  </a:txBody>
                  <a:tcPr marL="91440" marR="91440" marT="45720" marB="45720">
                    <a:solidFill>
                      <a:srgbClr val="EDF2F0"/>
                    </a:solidFill>
                  </a:tcPr>
                </a:tc>
                <a:tc>
                  <a:txBody>
                    <a:bodyPr/>
                    <a:lstStyle/>
                    <a:p>
                      <a:r>
                        <a:rPr sz="1575" b="0">
                          <a:solidFill>
                            <a:srgbClr val="203747"/>
                          </a:solidFill>
                          <a:latin typeface="Arial"/>
                          <a:ea typeface="Arial"/>
                          <a:cs typeface="Arial"/>
                        </a:rPr>
                        <a:t>24</a:t>
                      </a:r>
                    </a:p>
                  </a:txBody>
                  <a:tcPr marL="91440" marR="91440" marT="45720" marB="45720">
                    <a:solidFill>
                      <a:srgbClr val="EDF2F0"/>
                    </a:solidFill>
                  </a:tcPr>
                </a:tc>
                <a:tc>
                  <a:txBody>
                    <a:bodyPr/>
                    <a:lstStyle/>
                    <a:p>
                      <a:r>
                        <a:rPr sz="1575" b="0">
                          <a:solidFill>
                            <a:srgbClr val="203747"/>
                          </a:solidFill>
                          <a:latin typeface="Arial"/>
                          <a:ea typeface="Arial"/>
                          <a:cs typeface="Arial"/>
                        </a:rPr>
                        <a:t>24</a:t>
                      </a:r>
                    </a:p>
                  </a:txBody>
                  <a:tcPr marL="91440" marR="91440" marT="45720" marB="45720">
                    <a:solidFill>
                      <a:srgbClr val="EDF2F0"/>
                    </a:solidFill>
                  </a:tcPr>
                </a:tc>
                <a:tc>
                  <a:txBody>
                    <a:bodyPr/>
                    <a:lstStyle/>
                    <a:p>
                      <a:r>
                        <a:rPr sz="1575" b="0">
                          <a:solidFill>
                            <a:srgbClr val="203747"/>
                          </a:solidFill>
                          <a:latin typeface="Arial"/>
                          <a:ea typeface="Arial"/>
                          <a:cs typeface="Arial"/>
                        </a:rPr>
                        <a:t>0</a:t>
                      </a:r>
                    </a:p>
                  </a:txBody>
                  <a:tcPr marL="91440" marR="91440" marT="45720" marB="45720">
                    <a:solidFill>
                      <a:srgbClr val="EDF2F0"/>
                    </a:solidFill>
                  </a:tcPr>
                </a:tc>
              </a:tr>
              <a:tr h="609600">
                <a:tc>
                  <a:txBody>
                    <a:bodyPr/>
                    <a:lstStyle/>
                    <a:p>
                      <a:r>
                        <a:rPr sz="1575" b="0">
                          <a:solidFill>
                            <a:srgbClr val="203747"/>
                          </a:solidFill>
                          <a:latin typeface="Arial"/>
                          <a:ea typeface="Arial"/>
                          <a:cs typeface="Arial"/>
                        </a:rPr>
                        <a:t>Gemini stdio</a:t>
                      </a:r>
                    </a:p>
                  </a:txBody>
                  <a:tcPr marL="91440" marR="91440" marT="45720" marB="45720">
                    <a:solidFill>
                      <a:srgbClr val="FFFFFF"/>
                    </a:solidFill>
                  </a:tcPr>
                </a:tc>
                <a:tc>
                  <a:txBody>
                    <a:bodyPr/>
                    <a:lstStyle/>
                    <a:p>
                      <a:r>
                        <a:rPr sz="1575" b="0">
                          <a:solidFill>
                            <a:srgbClr val="203747"/>
                          </a:solidFill>
                          <a:latin typeface="Arial"/>
                          <a:ea typeface="Arial"/>
                          <a:cs typeface="Arial"/>
                        </a:rPr>
                        <a:t>24</a:t>
                      </a:r>
                    </a:p>
                  </a:txBody>
                  <a:tcPr marL="91440" marR="91440" marT="45720" marB="45720">
                    <a:solidFill>
                      <a:srgbClr val="FFFFFF"/>
                    </a:solidFill>
                  </a:tcPr>
                </a:tc>
                <a:tc>
                  <a:txBody>
                    <a:bodyPr/>
                    <a:lstStyle/>
                    <a:p>
                      <a:r>
                        <a:rPr sz="1575" b="0">
                          <a:solidFill>
                            <a:srgbClr val="203747"/>
                          </a:solidFill>
                          <a:latin typeface="Arial"/>
                          <a:ea typeface="Arial"/>
                          <a:cs typeface="Arial"/>
                        </a:rPr>
                        <a:t>24</a:t>
                      </a:r>
                    </a:p>
                  </a:txBody>
                  <a:tcPr marL="91440" marR="91440" marT="45720" marB="45720">
                    <a:solidFill>
                      <a:srgbClr val="FFFFFF"/>
                    </a:solidFill>
                  </a:tcPr>
                </a:tc>
                <a:tc>
                  <a:txBody>
                    <a:bodyPr/>
                    <a:lstStyle/>
                    <a:p>
                      <a:r>
                        <a:rPr sz="1575" b="0">
                          <a:solidFill>
                            <a:srgbClr val="203747"/>
                          </a:solidFill>
                          <a:latin typeface="Arial"/>
                          <a:ea typeface="Arial"/>
                          <a:cs typeface="Arial"/>
                        </a:rPr>
                        <a:t>0</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94789917-FFFD-4485-9DA0-99F866A5471C}"/>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21</a:t>
            </a:r>
          </a:p>
        </p:txBody>
      </p:sp>
    </p:spTree>
    <p:extLst>
      <p:ext uri="{BB962C8B-B14F-4D97-AF65-F5344CB8AC3E}">
        <p14:creationId xmlns:p14="http://schemas.microsoft.com/office/powerpoint/2010/main" val="1820359372"/>
      </p:ext>
    </p:extLst>
  </p:cSld>
</p:sld>
</file>

<file path=ppt/slides/slide22.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C061883-13AE-48BB-A49F-0DF0F8FB08CC}"/>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Timing and token measurements</a:t>
            </a:r>
          </a:p>
        </p:txBody>
      </p:sp>
      <p:sp>
        <p:nvSpPr>
          <p:cNvPr id="2" name="">
            <a:extLst xmlns:a="http://schemas.openxmlformats.org/drawingml/2006/main">
              <a:ext uri="{FF2B5EF4-FFF2-40B4-BE49-F238E27FC236}">
                <a16:creationId xmlns:a16="http://schemas.microsoft.com/office/drawing/2014/main" id="{73714368-BE2C-4196-A644-265375F203C4}"/>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graphicFrame>
        <p:nvGraphicFramePr>
          <p:cNvPr id="3" name="">
            <a:extLst xmlns:a="http://schemas.openxmlformats.org/drawingml/2006/main">
              <a:ext uri="{FF2B5EF4-FFF2-40B4-BE49-F238E27FC236}">
                <a16:creationId xmlns:a16="http://schemas.microsoft.com/office/drawing/2014/main" id="{1D57659E-EF18-4882-BE27-5A7BC558F06D}"/>
              </a:ext>
            </a:extLst>
          </p:cNvPr>
          <p:cNvGraphicFramePr/>
          <p:nvPr/>
        </p:nvGraphicFramePr>
        <p:xfrm>
          <a:off xmlns:a="http://schemas.openxmlformats.org/drawingml/2006/main" x="762000" y="2000250"/>
          <a:ext xmlns:a="http://schemas.openxmlformats.org/drawingml/2006/main" cx="10668000" cy="3048000"/>
        </p:xfrm>
        <a:graphic xmlns:a="http://schemas.openxmlformats.org/drawingml/2006/main">
          <a:graphicData uri="http://schemas.openxmlformats.org/drawingml/2006/table">
            <a:tbl>
              <a:tblPr/>
              <a:tblGrid>
                <a:gridCol w="5334000"/>
                <a:gridCol w="5334000"/>
              </a:tblGrid>
              <a:tr h="609600">
                <a:tc>
                  <a:txBody>
                    <a:bodyPr/>
                    <a:lstStyle/>
                    <a:p>
                      <a:r>
                        <a:rPr sz="1800" b="1">
                          <a:solidFill>
                            <a:srgbClr val="FFFFFF"/>
                          </a:solidFill>
                          <a:latin typeface="Arial"/>
                          <a:ea typeface="Arial"/>
                          <a:cs typeface="Arial"/>
                        </a:rPr>
                        <a:t>Measurement</a:t>
                      </a:r>
                    </a:p>
                  </a:txBody>
                  <a:tcPr marL="91440" marR="91440" marT="45720" marB="45720">
                    <a:solidFill>
                      <a:srgbClr val="12324A"/>
                    </a:solidFill>
                  </a:tcPr>
                </a:tc>
                <a:tc>
                  <a:txBody>
                    <a:bodyPr/>
                    <a:lstStyle/>
                    <a:p>
                      <a:r>
                        <a:rPr sz="1800" b="1">
                          <a:solidFill>
                            <a:srgbClr val="FFFFFF"/>
                          </a:solidFill>
                          <a:latin typeface="Arial"/>
                          <a:ea typeface="Arial"/>
                          <a:cs typeface="Arial"/>
                        </a:rPr>
                        <a:t>New run result</a:t>
                      </a:r>
                    </a:p>
                  </a:txBody>
                  <a:tcPr marL="91440" marR="91440" marT="45720" marB="45720">
                    <a:solidFill>
                      <a:srgbClr val="12324A"/>
                    </a:solidFill>
                  </a:tcPr>
                </a:tc>
              </a:tr>
              <a:tr h="609600">
                <a:tc>
                  <a:txBody>
                    <a:bodyPr/>
                    <a:lstStyle/>
                    <a:p>
                      <a:r>
                        <a:rPr sz="1800" b="0">
                          <a:solidFill>
                            <a:srgbClr val="203747"/>
                          </a:solidFill>
                          <a:latin typeface="Arial"/>
                          <a:ea typeface="Arial"/>
                          <a:cs typeface="Arial"/>
                        </a:rPr>
                        <a:t>Direct stdio median</a:t>
                      </a:r>
                    </a:p>
                  </a:txBody>
                  <a:tcPr marL="91440" marR="91440" marT="45720" marB="45720">
                    <a:solidFill>
                      <a:srgbClr val="FFFFFF"/>
                    </a:solidFill>
                  </a:tcPr>
                </a:tc>
                <a:tc>
                  <a:txBody>
                    <a:bodyPr/>
                    <a:lstStyle/>
                    <a:p>
                      <a:r>
                        <a:rPr sz="1800" b="0">
                          <a:solidFill>
                            <a:srgbClr val="203747"/>
                          </a:solidFill>
                          <a:latin typeface="Arial"/>
                          <a:ea typeface="Arial"/>
                          <a:cs typeface="Arial"/>
                        </a:rPr>
                        <a:t>3 ms</a:t>
                      </a:r>
                    </a:p>
                  </a:txBody>
                  <a:tcPr marL="91440" marR="91440" marT="45720" marB="45720">
                    <a:solidFill>
                      <a:srgbClr val="FFFFFF"/>
                    </a:solidFill>
                  </a:tcPr>
                </a:tc>
              </a:tr>
              <a:tr h="609600">
                <a:tc>
                  <a:txBody>
                    <a:bodyPr/>
                    <a:lstStyle/>
                    <a:p>
                      <a:r>
                        <a:rPr sz="1800" b="0">
                          <a:solidFill>
                            <a:srgbClr val="203747"/>
                          </a:solidFill>
                          <a:latin typeface="Arial"/>
                          <a:ea typeface="Arial"/>
                          <a:cs typeface="Arial"/>
                        </a:rPr>
                        <a:t>Direct HTTP median</a:t>
                      </a:r>
                    </a:p>
                  </a:txBody>
                  <a:tcPr marL="91440" marR="91440" marT="45720" marB="45720">
                    <a:solidFill>
                      <a:srgbClr val="EDF2F0"/>
                    </a:solidFill>
                  </a:tcPr>
                </a:tc>
                <a:tc>
                  <a:txBody>
                    <a:bodyPr/>
                    <a:lstStyle/>
                    <a:p>
                      <a:r>
                        <a:rPr sz="1800" b="0">
                          <a:solidFill>
                            <a:srgbClr val="203747"/>
                          </a:solidFill>
                          <a:latin typeface="Arial"/>
                          <a:ea typeface="Arial"/>
                          <a:cs typeface="Arial"/>
                        </a:rPr>
                        <a:t>7.5 ms</a:t>
                      </a:r>
                    </a:p>
                  </a:txBody>
                  <a:tcPr marL="91440" marR="91440" marT="45720" marB="45720">
                    <a:solidFill>
                      <a:srgbClr val="EDF2F0"/>
                    </a:solidFill>
                  </a:tcPr>
                </a:tc>
              </a:tr>
              <a:tr h="609600">
                <a:tc>
                  <a:txBody>
                    <a:bodyPr/>
                    <a:lstStyle/>
                    <a:p>
                      <a:r>
                        <a:rPr sz="1800" b="0">
                          <a:solidFill>
                            <a:srgbClr val="203747"/>
                          </a:solidFill>
                          <a:latin typeface="Arial"/>
                          <a:ea typeface="Arial"/>
                          <a:cs typeface="Arial"/>
                        </a:rPr>
                        <a:t>Gemini median per question</a:t>
                      </a:r>
                    </a:p>
                  </a:txBody>
                  <a:tcPr marL="91440" marR="91440" marT="45720" marB="45720">
                    <a:solidFill>
                      <a:srgbClr val="FFFFFF"/>
                    </a:solidFill>
                  </a:tcPr>
                </a:tc>
                <a:tc>
                  <a:txBody>
                    <a:bodyPr/>
                    <a:lstStyle/>
                    <a:p>
                      <a:r>
                        <a:rPr sz="1800" b="0">
                          <a:solidFill>
                            <a:srgbClr val="203747"/>
                          </a:solidFill>
                          <a:latin typeface="Arial"/>
                          <a:ea typeface="Arial"/>
                          <a:cs typeface="Arial"/>
                        </a:rPr>
                        <a:t>2.85 s</a:t>
                      </a:r>
                    </a:p>
                  </a:txBody>
                  <a:tcPr marL="91440" marR="91440" marT="45720" marB="45720">
                    <a:solidFill>
                      <a:srgbClr val="FFFFFF"/>
                    </a:solidFill>
                  </a:tcPr>
                </a:tc>
              </a:tr>
              <a:tr h="609600">
                <a:tc>
                  <a:txBody>
                    <a:bodyPr/>
                    <a:lstStyle/>
                    <a:p>
                      <a:r>
                        <a:rPr sz="1800" b="0">
                          <a:solidFill>
                            <a:srgbClr val="203747"/>
                          </a:solidFill>
                          <a:latin typeface="Arial"/>
                          <a:ea typeface="Arial"/>
                          <a:cs typeface="Arial"/>
                        </a:rPr>
                        <a:t>Gemini input and output tokens</a:t>
                      </a:r>
                    </a:p>
                  </a:txBody>
                  <a:tcPr marL="91440" marR="91440" marT="45720" marB="45720">
                    <a:solidFill>
                      <a:srgbClr val="EDF2F0"/>
                    </a:solidFill>
                  </a:tcPr>
                </a:tc>
                <a:tc>
                  <a:txBody>
                    <a:bodyPr/>
                    <a:lstStyle/>
                    <a:p>
                      <a:r>
                        <a:rPr sz="1800" b="0">
                          <a:solidFill>
                            <a:srgbClr val="203747"/>
                          </a:solidFill>
                          <a:latin typeface="Arial"/>
                          <a:ea typeface="Arial"/>
                          <a:cs typeface="Arial"/>
                        </a:rPr>
                        <a:t>237,665 / 3,692</a:t>
                      </a:r>
                    </a:p>
                  </a:txBody>
                  <a:tcPr marL="91440" marR="91440" marT="45720" marB="45720">
                    <a:solidFill>
                      <a:srgbClr val="EDF2F0"/>
                    </a:solidFill>
                  </a:tcPr>
                </a:tc>
              </a:tr>
            </a:tbl>
          </a:graphicData>
        </a:graphic>
      </p:graphicFrame>
      <p:sp>
        <p:nvSpPr>
          <p:cNvPr id="4" name="">
            <a:extLst xmlns:a="http://schemas.openxmlformats.org/drawingml/2006/main">
              <a:ext uri="{FF2B5EF4-FFF2-40B4-BE49-F238E27FC236}">
                <a16:creationId xmlns:a16="http://schemas.microsoft.com/office/drawing/2014/main" id="{27F33354-29D0-4677-B77A-D04172A816D8}"/>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22</a:t>
            </a:r>
          </a:p>
        </p:txBody>
      </p:sp>
    </p:spTree>
    <p:extLst>
      <p:ext uri="{BB962C8B-B14F-4D97-AF65-F5344CB8AC3E}">
        <p14:creationId xmlns:p14="http://schemas.microsoft.com/office/powerpoint/2010/main" val="1937026598"/>
      </p:ext>
    </p:extLst>
  </p:cSld>
</p:sld>
</file>

<file path=ppt/slides/slide23.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1E38AC5-3074-4C31-ACD2-217A11F47680}"/>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Hoang compared the tool round limit</a:t>
            </a:r>
          </a:p>
        </p:txBody>
      </p:sp>
      <p:sp>
        <p:nvSpPr>
          <p:cNvPr id="2" name="">
            <a:extLst xmlns:a="http://schemas.openxmlformats.org/drawingml/2006/main">
              <a:ext uri="{FF2B5EF4-FFF2-40B4-BE49-F238E27FC236}">
                <a16:creationId xmlns:a16="http://schemas.microsoft.com/office/drawing/2014/main" id="{95DCE49E-1C2C-4D89-BC60-AFE0036080D4}"/>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graphicFrame>
        <p:nvGraphicFramePr>
          <p:cNvPr id="3" name="">
            <a:extLst xmlns:a="http://schemas.openxmlformats.org/drawingml/2006/main">
              <a:ext uri="{FF2B5EF4-FFF2-40B4-BE49-F238E27FC236}">
                <a16:creationId xmlns:a16="http://schemas.microsoft.com/office/drawing/2014/main" id="{47695231-162E-4E0F-AB09-00DAD3558C88}"/>
              </a:ext>
            </a:extLst>
          </p:cNvPr>
          <p:cNvGraphicFramePr/>
          <p:nvPr/>
        </p:nvGraphicFramePr>
        <p:xfrm>
          <a:off xmlns:a="http://schemas.openxmlformats.org/drawingml/2006/main" x="762000" y="2000250"/>
          <a:ext xmlns:a="http://schemas.openxmlformats.org/drawingml/2006/main" cx="10668000" cy="2438400"/>
        </p:xfrm>
        <a:graphic xmlns:a="http://schemas.openxmlformats.org/drawingml/2006/main">
          <a:graphicData uri="http://schemas.openxmlformats.org/drawingml/2006/table">
            <a:tbl>
              <a:tblPr/>
              <a:tblGrid>
                <a:gridCol w="3556000"/>
                <a:gridCol w="3556000"/>
                <a:gridCol w="3556000"/>
              </a:tblGrid>
              <a:tr h="609600">
                <a:tc>
                  <a:txBody>
                    <a:bodyPr/>
                    <a:lstStyle/>
                    <a:p>
                      <a:r>
                        <a:rPr sz="1800" b="1">
                          <a:solidFill>
                            <a:srgbClr val="FFFFFF"/>
                          </a:solidFill>
                          <a:latin typeface="Arial"/>
                          <a:ea typeface="Arial"/>
                          <a:cs typeface="Arial"/>
                        </a:rPr>
                        <a:t>Maximum rounds</a:t>
                      </a:r>
                    </a:p>
                  </a:txBody>
                  <a:tcPr marL="91440" marR="91440" marT="45720" marB="45720">
                    <a:solidFill>
                      <a:srgbClr val="12324A"/>
                    </a:solidFill>
                  </a:tcPr>
                </a:tc>
                <a:tc>
                  <a:txBody>
                    <a:bodyPr/>
                    <a:lstStyle/>
                    <a:p>
                      <a:r>
                        <a:rPr sz="1800" b="1">
                          <a:solidFill>
                            <a:srgbClr val="FFFFFF"/>
                          </a:solidFill>
                          <a:latin typeface="Arial"/>
                          <a:ea typeface="Arial"/>
                          <a:cs typeface="Arial"/>
                        </a:rPr>
                        <a:t>Report workflow used</a:t>
                      </a:r>
                    </a:p>
                  </a:txBody>
                  <a:tcPr marL="91440" marR="91440" marT="45720" marB="45720">
                    <a:solidFill>
                      <a:srgbClr val="12324A"/>
                    </a:solidFill>
                  </a:tcPr>
                </a:tc>
                <a:tc>
                  <a:txBody>
                    <a:bodyPr/>
                    <a:lstStyle/>
                    <a:p>
                      <a:r>
                        <a:rPr sz="1800" b="1">
                          <a:solidFill>
                            <a:srgbClr val="FFFFFF"/>
                          </a:solidFill>
                          <a:latin typeface="Arial"/>
                          <a:ea typeface="Arial"/>
                          <a:cs typeface="Arial"/>
                        </a:rPr>
                        <a:t>Observed outcome</a:t>
                      </a:r>
                    </a:p>
                  </a:txBody>
                  <a:tcPr marL="91440" marR="91440" marT="45720" marB="45720">
                    <a:solidFill>
                      <a:srgbClr val="12324A"/>
                    </a:solidFill>
                  </a:tcPr>
                </a:tc>
              </a:tr>
              <a:tr h="609600">
                <a:tc>
                  <a:txBody>
                    <a:bodyPr/>
                    <a:lstStyle/>
                    <a:p>
                      <a:r>
                        <a:rPr sz="1800" b="0">
                          <a:solidFill>
                            <a:srgbClr val="203747"/>
                          </a:solidFill>
                          <a:latin typeface="Arial"/>
                          <a:ea typeface="Arial"/>
                          <a:cs typeface="Arial"/>
                        </a:rPr>
                        <a:t>2</a:t>
                      </a:r>
                    </a:p>
                  </a:txBody>
                  <a:tcPr marL="91440" marR="91440" marT="45720" marB="45720">
                    <a:solidFill>
                      <a:srgbClr val="FFFFFF"/>
                    </a:solidFill>
                  </a:tcPr>
                </a:tc>
                <a:tc>
                  <a:txBody>
                    <a:bodyPr/>
                    <a:lstStyle/>
                    <a:p>
                      <a:r>
                        <a:rPr sz="1800" b="0">
                          <a:solidFill>
                            <a:srgbClr val="203747"/>
                          </a:solidFill>
                          <a:latin typeface="Arial"/>
                          <a:ea typeface="Arial"/>
                          <a:cs typeface="Arial"/>
                        </a:rPr>
                        <a:t>2 rounds</a:t>
                      </a:r>
                    </a:p>
                  </a:txBody>
                  <a:tcPr marL="91440" marR="91440" marT="45720" marB="45720">
                    <a:solidFill>
                      <a:srgbClr val="FFFFFF"/>
                    </a:solidFill>
                  </a:tcPr>
                </a:tc>
                <a:tc>
                  <a:txBody>
                    <a:bodyPr/>
                    <a:lstStyle/>
                    <a:p>
                      <a:r>
                        <a:rPr sz="1800" b="0">
                          <a:solidFill>
                            <a:srgbClr val="203747"/>
                          </a:solidFill>
                          <a:latin typeface="Arial"/>
                          <a:ea typeface="Arial"/>
                          <a:cs typeface="Arial"/>
                        </a:rPr>
                        <a:t>Report completed</a:t>
                      </a:r>
                    </a:p>
                  </a:txBody>
                  <a:tcPr marL="91440" marR="91440" marT="45720" marB="45720">
                    <a:solidFill>
                      <a:srgbClr val="FFFFFF"/>
                    </a:solidFill>
                  </a:tcPr>
                </a:tc>
              </a:tr>
              <a:tr h="609600">
                <a:tc>
                  <a:txBody>
                    <a:bodyPr/>
                    <a:lstStyle/>
                    <a:p>
                      <a:r>
                        <a:rPr sz="1800" b="0">
                          <a:solidFill>
                            <a:srgbClr val="203747"/>
                          </a:solidFill>
                          <a:latin typeface="Arial"/>
                          <a:ea typeface="Arial"/>
                          <a:cs typeface="Arial"/>
                        </a:rPr>
                        <a:t>4</a:t>
                      </a:r>
                    </a:p>
                  </a:txBody>
                  <a:tcPr marL="91440" marR="91440" marT="45720" marB="45720">
                    <a:solidFill>
                      <a:srgbClr val="EDF2F0"/>
                    </a:solidFill>
                  </a:tcPr>
                </a:tc>
                <a:tc>
                  <a:txBody>
                    <a:bodyPr/>
                    <a:lstStyle/>
                    <a:p>
                      <a:r>
                        <a:rPr sz="1800" b="0">
                          <a:solidFill>
                            <a:srgbClr val="203747"/>
                          </a:solidFill>
                          <a:latin typeface="Arial"/>
                          <a:ea typeface="Arial"/>
                          <a:cs typeface="Arial"/>
                        </a:rPr>
                        <a:t>2 rounds</a:t>
                      </a:r>
                    </a:p>
                  </a:txBody>
                  <a:tcPr marL="91440" marR="91440" marT="45720" marB="45720">
                    <a:solidFill>
                      <a:srgbClr val="EDF2F0"/>
                    </a:solidFill>
                  </a:tcPr>
                </a:tc>
                <a:tc>
                  <a:txBody>
                    <a:bodyPr/>
                    <a:lstStyle/>
                    <a:p>
                      <a:r>
                        <a:rPr sz="1800" b="0">
                          <a:solidFill>
                            <a:srgbClr val="203747"/>
                          </a:solidFill>
                          <a:latin typeface="Arial"/>
                          <a:ea typeface="Arial"/>
                          <a:cs typeface="Arial"/>
                        </a:rPr>
                        <a:t>Report completed</a:t>
                      </a:r>
                    </a:p>
                  </a:txBody>
                  <a:tcPr marL="91440" marR="91440" marT="45720" marB="45720">
                    <a:solidFill>
                      <a:srgbClr val="EDF2F0"/>
                    </a:solidFill>
                  </a:tcPr>
                </a:tc>
              </a:tr>
              <a:tr h="609600">
                <a:tc>
                  <a:txBody>
                    <a:bodyPr/>
                    <a:lstStyle/>
                    <a:p>
                      <a:r>
                        <a:rPr sz="1800" b="0">
                          <a:solidFill>
                            <a:srgbClr val="203747"/>
                          </a:solidFill>
                          <a:latin typeface="Arial"/>
                          <a:ea typeface="Arial"/>
                          <a:cs typeface="Arial"/>
                        </a:rPr>
                        <a:t>8</a:t>
                      </a:r>
                    </a:p>
                  </a:txBody>
                  <a:tcPr marL="91440" marR="91440" marT="45720" marB="45720">
                    <a:solidFill>
                      <a:srgbClr val="FFFFFF"/>
                    </a:solidFill>
                  </a:tcPr>
                </a:tc>
                <a:tc>
                  <a:txBody>
                    <a:bodyPr/>
                    <a:lstStyle/>
                    <a:p>
                      <a:r>
                        <a:rPr sz="1800" b="0">
                          <a:solidFill>
                            <a:srgbClr val="203747"/>
                          </a:solidFill>
                          <a:latin typeface="Arial"/>
                          <a:ea typeface="Arial"/>
                          <a:cs typeface="Arial"/>
                        </a:rPr>
                        <a:t>2 rounds</a:t>
                      </a:r>
                    </a:p>
                  </a:txBody>
                  <a:tcPr marL="91440" marR="91440" marT="45720" marB="45720">
                    <a:solidFill>
                      <a:srgbClr val="FFFFFF"/>
                    </a:solidFill>
                  </a:tcPr>
                </a:tc>
                <a:tc>
                  <a:txBody>
                    <a:bodyPr/>
                    <a:lstStyle/>
                    <a:p>
                      <a:r>
                        <a:rPr sz="1800" b="0">
                          <a:solidFill>
                            <a:srgbClr val="203747"/>
                          </a:solidFill>
                          <a:latin typeface="Arial"/>
                          <a:ea typeface="Arial"/>
                          <a:cs typeface="Arial"/>
                        </a:rPr>
                        <a:t>Report completed</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8F3C9A1E-D99D-4F80-9A26-308B3CEF114E}"/>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23</a:t>
            </a:r>
          </a:p>
        </p:txBody>
      </p:sp>
    </p:spTree>
    <p:extLst>
      <p:ext uri="{BB962C8B-B14F-4D97-AF65-F5344CB8AC3E}">
        <p14:creationId xmlns:p14="http://schemas.microsoft.com/office/powerpoint/2010/main" val="826744413"/>
      </p:ext>
    </p:extLst>
  </p:cSld>
</p:sld>
</file>

<file path=ppt/slides/slide24.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2F50899-C49A-4475-91D4-7DEED5626B6E}"/>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Hoang compared temperature settings</a:t>
            </a:r>
          </a:p>
        </p:txBody>
      </p:sp>
      <p:sp>
        <p:nvSpPr>
          <p:cNvPr id="2" name="">
            <a:extLst xmlns:a="http://schemas.openxmlformats.org/drawingml/2006/main">
              <a:ext uri="{FF2B5EF4-FFF2-40B4-BE49-F238E27FC236}">
                <a16:creationId xmlns:a16="http://schemas.microsoft.com/office/drawing/2014/main" id="{F8807D98-88EB-49C5-9AE3-C3699FBB7DAD}"/>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graphicFrame>
        <p:nvGraphicFramePr>
          <p:cNvPr id="3" name="">
            <a:extLst xmlns:a="http://schemas.openxmlformats.org/drawingml/2006/main">
              <a:ext uri="{FF2B5EF4-FFF2-40B4-BE49-F238E27FC236}">
                <a16:creationId xmlns:a16="http://schemas.microsoft.com/office/drawing/2014/main" id="{8BE0DE77-868F-43E8-9321-F0F302D919A8}"/>
              </a:ext>
            </a:extLst>
          </p:cNvPr>
          <p:cNvGraphicFramePr/>
          <p:nvPr/>
        </p:nvGraphicFramePr>
        <p:xfrm>
          <a:off xmlns:a="http://schemas.openxmlformats.org/drawingml/2006/main" x="762000" y="2000250"/>
          <a:ext xmlns:a="http://schemas.openxmlformats.org/drawingml/2006/main" cx="10668000" cy="2438400"/>
        </p:xfrm>
        <a:graphic xmlns:a="http://schemas.openxmlformats.org/drawingml/2006/main">
          <a:graphicData uri="http://schemas.openxmlformats.org/drawingml/2006/table">
            <a:tbl>
              <a:tblPr/>
              <a:tblGrid>
                <a:gridCol w="3556000"/>
                <a:gridCol w="3556000"/>
                <a:gridCol w="3556000"/>
              </a:tblGrid>
              <a:tr h="609600">
                <a:tc>
                  <a:txBody>
                    <a:bodyPr/>
                    <a:lstStyle/>
                    <a:p>
                      <a:r>
                        <a:rPr sz="1800" b="1">
                          <a:solidFill>
                            <a:srgbClr val="FFFFFF"/>
                          </a:solidFill>
                          <a:latin typeface="Arial"/>
                          <a:ea typeface="Arial"/>
                          <a:cs typeface="Arial"/>
                        </a:rPr>
                        <a:t>Temperature</a:t>
                      </a:r>
                    </a:p>
                  </a:txBody>
                  <a:tcPr marL="91440" marR="91440" marT="45720" marB="45720">
                    <a:solidFill>
                      <a:srgbClr val="12324A"/>
                    </a:solidFill>
                  </a:tcPr>
                </a:tc>
                <a:tc>
                  <a:txBody>
                    <a:bodyPr/>
                    <a:lstStyle/>
                    <a:p>
                      <a:r>
                        <a:rPr sz="1800" b="1">
                          <a:solidFill>
                            <a:srgbClr val="FFFFFF"/>
                          </a:solidFill>
                          <a:latin typeface="Arial"/>
                          <a:ea typeface="Arial"/>
                          <a:cs typeface="Arial"/>
                        </a:rPr>
                        <a:t>Questions</a:t>
                      </a:r>
                    </a:p>
                  </a:txBody>
                  <a:tcPr marL="91440" marR="91440" marT="45720" marB="45720">
                    <a:solidFill>
                      <a:srgbClr val="12324A"/>
                    </a:solidFill>
                  </a:tcPr>
                </a:tc>
                <a:tc>
                  <a:txBody>
                    <a:bodyPr/>
                    <a:lstStyle/>
                    <a:p>
                      <a:r>
                        <a:rPr sz="1800" b="1">
                          <a:solidFill>
                            <a:srgbClr val="FFFFFF"/>
                          </a:solidFill>
                          <a:latin typeface="Arial"/>
                          <a:ea typeface="Arial"/>
                          <a:cs typeface="Arial"/>
                        </a:rPr>
                        <a:t>Output tokens</a:t>
                      </a:r>
                    </a:p>
                  </a:txBody>
                  <a:tcPr marL="91440" marR="91440" marT="45720" marB="45720">
                    <a:solidFill>
                      <a:srgbClr val="12324A"/>
                    </a:solidFill>
                  </a:tcPr>
                </a:tc>
              </a:tr>
              <a:tr h="609600">
                <a:tc>
                  <a:txBody>
                    <a:bodyPr/>
                    <a:lstStyle/>
                    <a:p>
                      <a:r>
                        <a:rPr sz="1800" b="0">
                          <a:solidFill>
                            <a:srgbClr val="203747"/>
                          </a:solidFill>
                          <a:latin typeface="Arial"/>
                          <a:ea typeface="Arial"/>
                          <a:cs typeface="Arial"/>
                        </a:rPr>
                        <a:t>0.0</a:t>
                      </a:r>
                    </a:p>
                  </a:txBody>
                  <a:tcPr marL="91440" marR="91440" marT="45720" marB="45720">
                    <a:solidFill>
                      <a:srgbClr val="FFFFFF"/>
                    </a:solidFill>
                  </a:tcPr>
                </a:tc>
                <a:tc>
                  <a:txBody>
                    <a:bodyPr/>
                    <a:lstStyle/>
                    <a:p>
                      <a:r>
                        <a:rPr sz="1800" b="0">
                          <a:solidFill>
                            <a:srgbClr val="203747"/>
                          </a:solidFill>
                          <a:latin typeface="Arial"/>
                          <a:ea typeface="Arial"/>
                          <a:cs typeface="Arial"/>
                        </a:rPr>
                        <a:t>6</a:t>
                      </a:r>
                    </a:p>
                  </a:txBody>
                  <a:tcPr marL="91440" marR="91440" marT="45720" marB="45720">
                    <a:solidFill>
                      <a:srgbClr val="FFFFFF"/>
                    </a:solidFill>
                  </a:tcPr>
                </a:tc>
                <a:tc>
                  <a:txBody>
                    <a:bodyPr/>
                    <a:lstStyle/>
                    <a:p>
                      <a:r>
                        <a:rPr sz="1800" b="0">
                          <a:solidFill>
                            <a:srgbClr val="203747"/>
                          </a:solidFill>
                          <a:latin typeface="Arial"/>
                          <a:ea typeface="Arial"/>
                          <a:cs typeface="Arial"/>
                        </a:rPr>
                        <a:t>4200</a:t>
                      </a:r>
                    </a:p>
                  </a:txBody>
                  <a:tcPr marL="91440" marR="91440" marT="45720" marB="45720">
                    <a:solidFill>
                      <a:srgbClr val="FFFFFF"/>
                    </a:solidFill>
                  </a:tcPr>
                </a:tc>
              </a:tr>
              <a:tr h="609600">
                <a:tc>
                  <a:txBody>
                    <a:bodyPr/>
                    <a:lstStyle/>
                    <a:p>
                      <a:r>
                        <a:rPr sz="1800" b="0">
                          <a:solidFill>
                            <a:srgbClr val="203747"/>
                          </a:solidFill>
                          <a:latin typeface="Arial"/>
                          <a:ea typeface="Arial"/>
                          <a:cs typeface="Arial"/>
                        </a:rPr>
                        <a:t>0.2</a:t>
                      </a:r>
                    </a:p>
                  </a:txBody>
                  <a:tcPr marL="91440" marR="91440" marT="45720" marB="45720">
                    <a:solidFill>
                      <a:srgbClr val="EDF2F0"/>
                    </a:solidFill>
                  </a:tcPr>
                </a:tc>
                <a:tc>
                  <a:txBody>
                    <a:bodyPr/>
                    <a:lstStyle/>
                    <a:p>
                      <a:r>
                        <a:rPr sz="1800" b="0">
                          <a:solidFill>
                            <a:srgbClr val="203747"/>
                          </a:solidFill>
                          <a:latin typeface="Arial"/>
                          <a:ea typeface="Arial"/>
                          <a:cs typeface="Arial"/>
                        </a:rPr>
                        <a:t>6</a:t>
                      </a:r>
                    </a:p>
                  </a:txBody>
                  <a:tcPr marL="91440" marR="91440" marT="45720" marB="45720">
                    <a:solidFill>
                      <a:srgbClr val="EDF2F0"/>
                    </a:solidFill>
                  </a:tcPr>
                </a:tc>
                <a:tc>
                  <a:txBody>
                    <a:bodyPr/>
                    <a:lstStyle/>
                    <a:p>
                      <a:r>
                        <a:rPr sz="1800" b="0">
                          <a:solidFill>
                            <a:srgbClr val="203747"/>
                          </a:solidFill>
                          <a:latin typeface="Arial"/>
                          <a:ea typeface="Arial"/>
                          <a:cs typeface="Arial"/>
                        </a:rPr>
                        <a:t>3611</a:t>
                      </a:r>
                    </a:p>
                  </a:txBody>
                  <a:tcPr marL="91440" marR="91440" marT="45720" marB="45720">
                    <a:solidFill>
                      <a:srgbClr val="EDF2F0"/>
                    </a:solidFill>
                  </a:tcPr>
                </a:tc>
              </a:tr>
              <a:tr h="609600">
                <a:tc>
                  <a:txBody>
                    <a:bodyPr/>
                    <a:lstStyle/>
                    <a:p>
                      <a:r>
                        <a:rPr sz="1800" b="0">
                          <a:solidFill>
                            <a:srgbClr val="203747"/>
                          </a:solidFill>
                          <a:latin typeface="Arial"/>
                          <a:ea typeface="Arial"/>
                          <a:cs typeface="Arial"/>
                        </a:rPr>
                        <a:t>1.0</a:t>
                      </a:r>
                    </a:p>
                  </a:txBody>
                  <a:tcPr marL="91440" marR="91440" marT="45720" marB="45720">
                    <a:solidFill>
                      <a:srgbClr val="FFFFFF"/>
                    </a:solidFill>
                  </a:tcPr>
                </a:tc>
                <a:tc>
                  <a:txBody>
                    <a:bodyPr/>
                    <a:lstStyle/>
                    <a:p>
                      <a:r>
                        <a:rPr sz="1800" b="0">
                          <a:solidFill>
                            <a:srgbClr val="203747"/>
                          </a:solidFill>
                          <a:latin typeface="Arial"/>
                          <a:ea typeface="Arial"/>
                          <a:cs typeface="Arial"/>
                        </a:rPr>
                        <a:t>6</a:t>
                      </a:r>
                    </a:p>
                  </a:txBody>
                  <a:tcPr marL="91440" marR="91440" marT="45720" marB="45720">
                    <a:solidFill>
                      <a:srgbClr val="FFFFFF"/>
                    </a:solidFill>
                  </a:tcPr>
                </a:tc>
                <a:tc>
                  <a:txBody>
                    <a:bodyPr/>
                    <a:lstStyle/>
                    <a:p>
                      <a:r>
                        <a:rPr sz="1800" b="0">
                          <a:solidFill>
                            <a:srgbClr val="203747"/>
                          </a:solidFill>
                          <a:latin typeface="Arial"/>
                          <a:ea typeface="Arial"/>
                          <a:cs typeface="Arial"/>
                        </a:rPr>
                        <a:t>5320</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49AFC8ED-D18C-425A-A150-A9D4B84CEA9A}"/>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24</a:t>
            </a:r>
          </a:p>
        </p:txBody>
      </p:sp>
    </p:spTree>
    <p:extLst>
      <p:ext uri="{BB962C8B-B14F-4D97-AF65-F5344CB8AC3E}">
        <p14:creationId xmlns:p14="http://schemas.microsoft.com/office/powerpoint/2010/main" val="774953943"/>
      </p:ext>
    </p:extLst>
  </p:cSld>
</p:sld>
</file>

<file path=ppt/slides/slide25.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543D440-3C21-474A-B743-FA3DE8ED52DC}"/>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Tool descriptions need a real comparison</a:t>
            </a:r>
          </a:p>
        </p:txBody>
      </p:sp>
      <p:sp>
        <p:nvSpPr>
          <p:cNvPr id="2" name="">
            <a:extLst xmlns:a="http://schemas.openxmlformats.org/drawingml/2006/main">
              <a:ext uri="{FF2B5EF4-FFF2-40B4-BE49-F238E27FC236}">
                <a16:creationId xmlns:a16="http://schemas.microsoft.com/office/drawing/2014/main" id="{FB3D03BF-8A42-4271-9CCA-C124C638C41A}"/>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76A9029-FCC0-44A1-B00B-075B108DD0FE}"/>
              </a:ext>
            </a:extLst>
          </p:cNvPr>
          <p:cNvSpPr>
            <a:spLocks xmlns:a="http://schemas.openxmlformats.org/drawingml/2006/main" noGrp="1"/>
          </p:cNvSpPr>
          <p:nvPr/>
        </p:nvSpPr>
        <p:spPr>
          <a:xfrm xmlns:a="http://schemas.openxmlformats.org/drawingml/2006/main">
            <a:off x="762000" y="2047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08776955-A732-4DD0-B371-7277E28F6526}"/>
              </a:ext>
            </a:extLst>
          </p:cNvPr>
          <p:cNvSpPr>
            <a:spLocks xmlns:a="http://schemas.openxmlformats.org/drawingml/2006/main" noGrp="1"/>
          </p:cNvSpPr>
          <p:nvPr/>
        </p:nvSpPr>
        <p:spPr>
          <a:xfrm xmlns:a="http://schemas.openxmlformats.org/drawingml/2006/main">
            <a:off x="1619250" y="2000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Clear descriptions explain the job and parameters</a:t>
            </a:r>
          </a:p>
        </p:txBody>
      </p:sp>
      <p:sp>
        <p:nvSpPr>
          <p:cNvPr id="5" name="">
            <a:extLst xmlns:a="http://schemas.openxmlformats.org/drawingml/2006/main">
              <a:ext uri="{FF2B5EF4-FFF2-40B4-BE49-F238E27FC236}">
                <a16:creationId xmlns:a16="http://schemas.microsoft.com/office/drawing/2014/main" id="{BF2F8FD3-017E-4992-B159-9D181BE6F2AD}"/>
              </a:ext>
            </a:extLst>
          </p:cNvPr>
          <p:cNvSpPr>
            <a:spLocks xmlns:a="http://schemas.openxmlformats.org/drawingml/2006/main" noGrp="1"/>
          </p:cNvSpPr>
          <p:nvPr/>
        </p:nvSpPr>
        <p:spPr>
          <a:xfrm xmlns:a="http://schemas.openxmlformats.org/drawingml/2006/main">
            <a:off x="762000" y="3000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8EE61B65-DFC7-4236-82F5-B1B8536EA0F7}"/>
              </a:ext>
            </a:extLst>
          </p:cNvPr>
          <p:cNvSpPr>
            <a:spLocks xmlns:a="http://schemas.openxmlformats.org/drawingml/2006/main" noGrp="1"/>
          </p:cNvSpPr>
          <p:nvPr/>
        </p:nvSpPr>
        <p:spPr>
          <a:xfrm xmlns:a="http://schemas.openxmlformats.org/drawingml/2006/main">
            <a:off x="1619250" y="2952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Terse descriptions may save prompt space</a:t>
            </a:r>
          </a:p>
        </p:txBody>
      </p:sp>
      <p:sp>
        <p:nvSpPr>
          <p:cNvPr id="7" name="">
            <a:extLst xmlns:a="http://schemas.openxmlformats.org/drawingml/2006/main">
              <a:ext uri="{FF2B5EF4-FFF2-40B4-BE49-F238E27FC236}">
                <a16:creationId xmlns:a16="http://schemas.microsoft.com/office/drawing/2014/main" id="{4AB6240A-32F4-4FA6-ABA7-F48659AEE5DB}"/>
              </a:ext>
            </a:extLst>
          </p:cNvPr>
          <p:cNvSpPr>
            <a:spLocks xmlns:a="http://schemas.openxmlformats.org/drawingml/2006/main" noGrp="1"/>
          </p:cNvSpPr>
          <p:nvPr/>
        </p:nvSpPr>
        <p:spPr>
          <a:xfrm xmlns:a="http://schemas.openxmlformats.org/drawingml/2006/main">
            <a:off x="762000" y="3952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4AA43511-22B3-4CBD-A02D-0BB2AE162859}"/>
              </a:ext>
            </a:extLst>
          </p:cNvPr>
          <p:cNvSpPr>
            <a:spLocks xmlns:a="http://schemas.openxmlformats.org/drawingml/2006/main" noGrp="1"/>
          </p:cNvSpPr>
          <p:nvPr/>
        </p:nvSpPr>
        <p:spPr>
          <a:xfrm xmlns:a="http://schemas.openxmlformats.org/drawingml/2006/main">
            <a:off x="1619250" y="3905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Changing only the host prompt does not shorten schemas</a:t>
            </a:r>
          </a:p>
        </p:txBody>
      </p:sp>
      <p:sp>
        <p:nvSpPr>
          <p:cNvPr id="9" name="">
            <a:extLst xmlns:a="http://schemas.openxmlformats.org/drawingml/2006/main">
              <a:ext uri="{FF2B5EF4-FFF2-40B4-BE49-F238E27FC236}">
                <a16:creationId xmlns:a16="http://schemas.microsoft.com/office/drawing/2014/main" id="{849BFCED-7D2D-4889-911C-16BDBF1F1E1E}"/>
              </a:ext>
            </a:extLst>
          </p:cNvPr>
          <p:cNvSpPr>
            <a:spLocks xmlns:a="http://schemas.openxmlformats.org/drawingml/2006/main" noGrp="1"/>
          </p:cNvSpPr>
          <p:nvPr/>
        </p:nvSpPr>
        <p:spPr>
          <a:xfrm xmlns:a="http://schemas.openxmlformats.org/drawingml/2006/main">
            <a:off x="762000" y="4905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E56A822B-BDDA-4998-822F-D7FBF5E1F0E3}"/>
              </a:ext>
            </a:extLst>
          </p:cNvPr>
          <p:cNvSpPr>
            <a:spLocks xmlns:a="http://schemas.openxmlformats.org/drawingml/2006/main" noGrp="1"/>
          </p:cNvSpPr>
          <p:nvPr/>
        </p:nvSpPr>
        <p:spPr>
          <a:xfrm xmlns:a="http://schemas.openxmlformats.org/drawingml/2006/main">
            <a:off x="1619250" y="4857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The true terse-schema variant is not yet measured</a:t>
            </a:r>
          </a:p>
        </p:txBody>
      </p:sp>
      <p:sp>
        <p:nvSpPr>
          <p:cNvPr id="11" name="">
            <a:extLst xmlns:a="http://schemas.openxmlformats.org/drawingml/2006/main">
              <a:ext uri="{FF2B5EF4-FFF2-40B4-BE49-F238E27FC236}">
                <a16:creationId xmlns:a16="http://schemas.microsoft.com/office/drawing/2014/main" id="{958C99B8-8718-423B-BCAF-53560B199613}"/>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25</a:t>
            </a:r>
          </a:p>
        </p:txBody>
      </p:sp>
    </p:spTree>
    <p:extLst>
      <p:ext uri="{BB962C8B-B14F-4D97-AF65-F5344CB8AC3E}">
        <p14:creationId xmlns:p14="http://schemas.microsoft.com/office/powerpoint/2010/main" val="1781183465"/>
      </p:ext>
    </p:extLst>
  </p:cSld>
</p:sld>
</file>

<file path=ppt/slides/slide26.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5B22C5D-36E6-49D1-95FC-5AF564613E78}"/>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Earlier model comparison gives context</a:t>
            </a:r>
          </a:p>
        </p:txBody>
      </p:sp>
      <p:sp>
        <p:nvSpPr>
          <p:cNvPr id="2" name="">
            <a:extLst xmlns:a="http://schemas.openxmlformats.org/drawingml/2006/main">
              <a:ext uri="{FF2B5EF4-FFF2-40B4-BE49-F238E27FC236}">
                <a16:creationId xmlns:a16="http://schemas.microsoft.com/office/drawing/2014/main" id="{6AB9AC35-A3BB-4C6C-981D-266C6EFE381A}"/>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graphicFrame>
        <p:nvGraphicFramePr>
          <p:cNvPr id="3" name="">
            <a:extLst xmlns:a="http://schemas.openxmlformats.org/drawingml/2006/main">
              <a:ext uri="{FF2B5EF4-FFF2-40B4-BE49-F238E27FC236}">
                <a16:creationId xmlns:a16="http://schemas.microsoft.com/office/drawing/2014/main" id="{D5F22556-C17A-4842-A98D-5BBC3A2577F7}"/>
              </a:ext>
            </a:extLst>
          </p:cNvPr>
          <p:cNvGraphicFramePr/>
          <p:nvPr/>
        </p:nvGraphicFramePr>
        <p:xfrm>
          <a:off xmlns:a="http://schemas.openxmlformats.org/drawingml/2006/main" x="762000" y="2000250"/>
          <a:ext xmlns:a="http://schemas.openxmlformats.org/drawingml/2006/main" cx="10668000" cy="2438400"/>
        </p:xfrm>
        <a:graphic xmlns:a="http://schemas.openxmlformats.org/drawingml/2006/main">
          <a:graphicData uri="http://schemas.openxmlformats.org/drawingml/2006/table">
            <a:tbl>
              <a:tblPr/>
              <a:tblGrid>
                <a:gridCol w="3556000"/>
                <a:gridCol w="3556000"/>
                <a:gridCol w="3556000"/>
              </a:tblGrid>
              <a:tr h="609600">
                <a:tc>
                  <a:txBody>
                    <a:bodyPr/>
                    <a:lstStyle/>
                    <a:p>
                      <a:r>
                        <a:rPr sz="1800" b="1">
                          <a:solidFill>
                            <a:srgbClr val="FFFFFF"/>
                          </a:solidFill>
                          <a:latin typeface="Arial"/>
                          <a:ea typeface="Arial"/>
                          <a:cs typeface="Arial"/>
                        </a:rPr>
                        <a:t>Earlier 11 cases run twice</a:t>
                      </a:r>
                    </a:p>
                  </a:txBody>
                  <a:tcPr marL="91440" marR="91440" marT="45720" marB="45720">
                    <a:solidFill>
                      <a:srgbClr val="12324A"/>
                    </a:solidFill>
                  </a:tcPr>
                </a:tc>
                <a:tc>
                  <a:txBody>
                    <a:bodyPr/>
                    <a:lstStyle/>
                    <a:p>
                      <a:r>
                        <a:rPr sz="1800" b="1">
                          <a:solidFill>
                            <a:srgbClr val="FFFFFF"/>
                          </a:solidFill>
                          <a:latin typeface="Arial"/>
                          <a:ea typeface="Arial"/>
                          <a:cs typeface="Arial"/>
                        </a:rPr>
                        <a:t>Passes</a:t>
                      </a:r>
                    </a:p>
                  </a:txBody>
                  <a:tcPr marL="91440" marR="91440" marT="45720" marB="45720">
                    <a:solidFill>
                      <a:srgbClr val="12324A"/>
                    </a:solidFill>
                  </a:tcPr>
                </a:tc>
                <a:tc>
                  <a:txBody>
                    <a:bodyPr/>
                    <a:lstStyle/>
                    <a:p>
                      <a:r>
                        <a:rPr sz="1800" b="1">
                          <a:solidFill>
                            <a:srgbClr val="FFFFFF"/>
                          </a:solidFill>
                          <a:latin typeface="Arial"/>
                          <a:ea typeface="Arial"/>
                          <a:cs typeface="Arial"/>
                        </a:rPr>
                        <a:t>Median model time</a:t>
                      </a:r>
                    </a:p>
                  </a:txBody>
                  <a:tcPr marL="91440" marR="91440" marT="45720" marB="45720">
                    <a:solidFill>
                      <a:srgbClr val="12324A"/>
                    </a:solidFill>
                  </a:tcPr>
                </a:tc>
              </a:tr>
              <a:tr h="609600">
                <a:tc>
                  <a:txBody>
                    <a:bodyPr/>
                    <a:lstStyle/>
                    <a:p>
                      <a:r>
                        <a:rPr sz="1800" b="0">
                          <a:solidFill>
                            <a:srgbClr val="203747"/>
                          </a:solidFill>
                          <a:latin typeface="Arial"/>
                          <a:ea typeface="Arial"/>
                          <a:cs typeface="Arial"/>
                        </a:rPr>
                        <a:t>Gemini Flash Lite</a:t>
                      </a:r>
                    </a:p>
                  </a:txBody>
                  <a:tcPr marL="91440" marR="91440" marT="45720" marB="45720">
                    <a:solidFill>
                      <a:srgbClr val="FFFFFF"/>
                    </a:solidFill>
                  </a:tcPr>
                </a:tc>
                <a:tc>
                  <a:txBody>
                    <a:bodyPr/>
                    <a:lstStyle/>
                    <a:p>
                      <a:r>
                        <a:rPr sz="1800" b="0">
                          <a:solidFill>
                            <a:srgbClr val="203747"/>
                          </a:solidFill>
                          <a:latin typeface="Arial"/>
                          <a:ea typeface="Arial"/>
                          <a:cs typeface="Arial"/>
                        </a:rPr>
                        <a:t>22 of 22</a:t>
                      </a:r>
                    </a:p>
                  </a:txBody>
                  <a:tcPr marL="91440" marR="91440" marT="45720" marB="45720">
                    <a:solidFill>
                      <a:srgbClr val="FFFFFF"/>
                    </a:solidFill>
                  </a:tcPr>
                </a:tc>
                <a:tc>
                  <a:txBody>
                    <a:bodyPr/>
                    <a:lstStyle/>
                    <a:p>
                      <a:r>
                        <a:rPr sz="1800" b="0">
                          <a:solidFill>
                            <a:srgbClr val="203747"/>
                          </a:solidFill>
                          <a:latin typeface="Arial"/>
                          <a:ea typeface="Arial"/>
                          <a:cs typeface="Arial"/>
                        </a:rPr>
                        <a:t>2.7 s</a:t>
                      </a:r>
                    </a:p>
                  </a:txBody>
                  <a:tcPr marL="91440" marR="91440" marT="45720" marB="45720">
                    <a:solidFill>
                      <a:srgbClr val="FFFFFF"/>
                    </a:solidFill>
                  </a:tcPr>
                </a:tc>
              </a:tr>
              <a:tr h="609600">
                <a:tc>
                  <a:txBody>
                    <a:bodyPr/>
                    <a:lstStyle/>
                    <a:p>
                      <a:r>
                        <a:rPr sz="1800" b="0">
                          <a:solidFill>
                            <a:srgbClr val="203747"/>
                          </a:solidFill>
                          <a:latin typeface="Arial"/>
                          <a:ea typeface="Arial"/>
                          <a:cs typeface="Arial"/>
                        </a:rPr>
                        <a:t>Qwen 4B Instruct</a:t>
                      </a:r>
                    </a:p>
                  </a:txBody>
                  <a:tcPr marL="91440" marR="91440" marT="45720" marB="45720">
                    <a:solidFill>
                      <a:srgbClr val="EDF2F0"/>
                    </a:solidFill>
                  </a:tcPr>
                </a:tc>
                <a:tc>
                  <a:txBody>
                    <a:bodyPr/>
                    <a:lstStyle/>
                    <a:p>
                      <a:r>
                        <a:rPr sz="1800" b="0">
                          <a:solidFill>
                            <a:srgbClr val="203747"/>
                          </a:solidFill>
                          <a:latin typeface="Arial"/>
                          <a:ea typeface="Arial"/>
                          <a:cs typeface="Arial"/>
                        </a:rPr>
                        <a:t>22 of 22</a:t>
                      </a:r>
                    </a:p>
                  </a:txBody>
                  <a:tcPr marL="91440" marR="91440" marT="45720" marB="45720">
                    <a:solidFill>
                      <a:srgbClr val="EDF2F0"/>
                    </a:solidFill>
                  </a:tcPr>
                </a:tc>
                <a:tc>
                  <a:txBody>
                    <a:bodyPr/>
                    <a:lstStyle/>
                    <a:p>
                      <a:r>
                        <a:rPr sz="1800" b="0">
                          <a:solidFill>
                            <a:srgbClr val="203747"/>
                          </a:solidFill>
                          <a:latin typeface="Arial"/>
                          <a:ea typeface="Arial"/>
                          <a:cs typeface="Arial"/>
                        </a:rPr>
                        <a:t>2.1 s</a:t>
                      </a:r>
                    </a:p>
                  </a:txBody>
                  <a:tcPr marL="91440" marR="91440" marT="45720" marB="45720">
                    <a:solidFill>
                      <a:srgbClr val="EDF2F0"/>
                    </a:solidFill>
                  </a:tcPr>
                </a:tc>
              </a:tr>
              <a:tr h="609600">
                <a:tc>
                  <a:txBody>
                    <a:bodyPr/>
                    <a:lstStyle/>
                    <a:p>
                      <a:r>
                        <a:rPr sz="1800" b="0">
                          <a:solidFill>
                            <a:srgbClr val="203747"/>
                          </a:solidFill>
                          <a:latin typeface="Arial"/>
                          <a:ea typeface="Arial"/>
                          <a:cs typeface="Arial"/>
                        </a:rPr>
                        <a:t>Qwen 4B Thinking</a:t>
                      </a:r>
                    </a:p>
                  </a:txBody>
                  <a:tcPr marL="91440" marR="91440" marT="45720" marB="45720">
                    <a:solidFill>
                      <a:srgbClr val="FFFFFF"/>
                    </a:solidFill>
                  </a:tcPr>
                </a:tc>
                <a:tc>
                  <a:txBody>
                    <a:bodyPr/>
                    <a:lstStyle/>
                    <a:p>
                      <a:r>
                        <a:rPr sz="1800" b="0">
                          <a:solidFill>
                            <a:srgbClr val="203747"/>
                          </a:solidFill>
                          <a:latin typeface="Arial"/>
                          <a:ea typeface="Arial"/>
                          <a:cs typeface="Arial"/>
                        </a:rPr>
                        <a:t>22 of 22</a:t>
                      </a:r>
                    </a:p>
                  </a:txBody>
                  <a:tcPr marL="91440" marR="91440" marT="45720" marB="45720">
                    <a:solidFill>
                      <a:srgbClr val="FFFFFF"/>
                    </a:solidFill>
                  </a:tcPr>
                </a:tc>
                <a:tc>
                  <a:txBody>
                    <a:bodyPr/>
                    <a:lstStyle/>
                    <a:p>
                      <a:r>
                        <a:rPr sz="1800" b="0">
                          <a:solidFill>
                            <a:srgbClr val="203747"/>
                          </a:solidFill>
                          <a:latin typeface="Arial"/>
                          <a:ea typeface="Arial"/>
                          <a:cs typeface="Arial"/>
                        </a:rPr>
                        <a:t>24.4 s</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756EF3CC-3F4F-423D-A9D2-E352C6CAA2B1}"/>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26</a:t>
            </a:r>
          </a:p>
        </p:txBody>
      </p:sp>
    </p:spTree>
    <p:extLst>
      <p:ext uri="{BB962C8B-B14F-4D97-AF65-F5344CB8AC3E}">
        <p14:creationId xmlns:p14="http://schemas.microsoft.com/office/powerpoint/2010/main" val="2118502003"/>
      </p:ext>
    </p:extLst>
  </p:cSld>
</p:sld>
</file>

<file path=ppt/slides/slide27.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F47F4FC-FE47-4594-AC4A-1B3E8EFC0D05}"/>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Context budget must match the actual tool set</a:t>
            </a:r>
          </a:p>
        </p:txBody>
      </p:sp>
      <p:sp>
        <p:nvSpPr>
          <p:cNvPr id="2" name="">
            <a:extLst xmlns:a="http://schemas.openxmlformats.org/drawingml/2006/main">
              <a:ext uri="{FF2B5EF4-FFF2-40B4-BE49-F238E27FC236}">
                <a16:creationId xmlns:a16="http://schemas.microsoft.com/office/drawing/2014/main" id="{FE381DA3-ADF9-41E1-8C90-D4CD897940EE}"/>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B0F8DF1-FB9C-4050-AF09-4400385B890B}"/>
              </a:ext>
            </a:extLst>
          </p:cNvPr>
          <p:cNvSpPr>
            <a:spLocks xmlns:a="http://schemas.openxmlformats.org/drawingml/2006/main" noGrp="1"/>
          </p:cNvSpPr>
          <p:nvPr/>
        </p:nvSpPr>
        <p:spPr>
          <a:xfrm xmlns:a="http://schemas.openxmlformats.org/drawingml/2006/main">
            <a:off x="762000" y="2047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E3033101-BD3A-457E-8C2E-2EEBC2B11E3E}"/>
              </a:ext>
            </a:extLst>
          </p:cNvPr>
          <p:cNvSpPr>
            <a:spLocks xmlns:a="http://schemas.openxmlformats.org/drawingml/2006/main" noGrp="1"/>
          </p:cNvSpPr>
          <p:nvPr/>
        </p:nvSpPr>
        <p:spPr>
          <a:xfrm xmlns:a="http://schemas.openxmlformats.org/drawingml/2006/main">
            <a:off x="1619250" y="2000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Our combined setup exposes 27 tools</a:t>
            </a:r>
          </a:p>
        </p:txBody>
      </p:sp>
      <p:sp>
        <p:nvSpPr>
          <p:cNvPr id="5" name="">
            <a:extLst xmlns:a="http://schemas.openxmlformats.org/drawingml/2006/main">
              <a:ext uri="{FF2B5EF4-FFF2-40B4-BE49-F238E27FC236}">
                <a16:creationId xmlns:a16="http://schemas.microsoft.com/office/drawing/2014/main" id="{9E7C3DB9-8795-4653-9143-027DD0EBC766}"/>
              </a:ext>
            </a:extLst>
          </p:cNvPr>
          <p:cNvSpPr>
            <a:spLocks xmlns:a="http://schemas.openxmlformats.org/drawingml/2006/main" noGrp="1"/>
          </p:cNvSpPr>
          <p:nvPr/>
        </p:nvSpPr>
        <p:spPr>
          <a:xfrm xmlns:a="http://schemas.openxmlformats.org/drawingml/2006/main">
            <a:off x="762000" y="3000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EA7E54A9-EBA6-430B-A5F3-CE04D64E08C2}"/>
              </a:ext>
            </a:extLst>
          </p:cNvPr>
          <p:cNvSpPr>
            <a:spLocks xmlns:a="http://schemas.openxmlformats.org/drawingml/2006/main" noGrp="1"/>
          </p:cNvSpPr>
          <p:nvPr/>
        </p:nvSpPr>
        <p:spPr>
          <a:xfrm xmlns:a="http://schemas.openxmlformats.org/drawingml/2006/main">
            <a:off x="1619250" y="2952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Tien measured 20 tools on Qwen with an 8192 context</a:t>
            </a:r>
          </a:p>
        </p:txBody>
      </p:sp>
      <p:sp>
        <p:nvSpPr>
          <p:cNvPr id="7" name="">
            <a:extLst xmlns:a="http://schemas.openxmlformats.org/drawingml/2006/main">
              <a:ext uri="{FF2B5EF4-FFF2-40B4-BE49-F238E27FC236}">
                <a16:creationId xmlns:a16="http://schemas.microsoft.com/office/drawing/2014/main" id="{EA792762-F91D-44B0-9B2C-1BE70EB7994C}"/>
              </a:ext>
            </a:extLst>
          </p:cNvPr>
          <p:cNvSpPr>
            <a:spLocks xmlns:a="http://schemas.openxmlformats.org/drawingml/2006/main" noGrp="1"/>
          </p:cNvSpPr>
          <p:nvPr/>
        </p:nvSpPr>
        <p:spPr>
          <a:xfrm xmlns:a="http://schemas.openxmlformats.org/drawingml/2006/main">
            <a:off x="762000" y="3952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B9D49F10-F6D9-40F1-B0DF-D8E63AAD0526}"/>
              </a:ext>
            </a:extLst>
          </p:cNvPr>
          <p:cNvSpPr>
            <a:spLocks xmlns:a="http://schemas.openxmlformats.org/drawingml/2006/main" noGrp="1"/>
          </p:cNvSpPr>
          <p:nvPr/>
        </p:nvSpPr>
        <p:spPr>
          <a:xfrm xmlns:a="http://schemas.openxmlformats.org/drawingml/2006/main">
            <a:off x="1619250" y="3905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That earlier setup used about 2981 prompt tokens</a:t>
            </a:r>
          </a:p>
        </p:txBody>
      </p:sp>
      <p:sp>
        <p:nvSpPr>
          <p:cNvPr id="9" name="">
            <a:extLst xmlns:a="http://schemas.openxmlformats.org/drawingml/2006/main">
              <a:ext uri="{FF2B5EF4-FFF2-40B4-BE49-F238E27FC236}">
                <a16:creationId xmlns:a16="http://schemas.microsoft.com/office/drawing/2014/main" id="{DE4E6E82-9D5F-4297-97C3-6B13DAB8A0F3}"/>
              </a:ext>
            </a:extLst>
          </p:cNvPr>
          <p:cNvSpPr>
            <a:spLocks xmlns:a="http://schemas.openxmlformats.org/drawingml/2006/main" noGrp="1"/>
          </p:cNvSpPr>
          <p:nvPr/>
        </p:nvSpPr>
        <p:spPr>
          <a:xfrm xmlns:a="http://schemas.openxmlformats.org/drawingml/2006/main">
            <a:off x="762000" y="4905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80852F29-5A65-47A8-A4C5-E0EB0C5DF24B}"/>
              </a:ext>
            </a:extLst>
          </p:cNvPr>
          <p:cNvSpPr>
            <a:spLocks xmlns:a="http://schemas.openxmlformats.org/drawingml/2006/main" noGrp="1"/>
          </p:cNvSpPr>
          <p:nvPr/>
        </p:nvSpPr>
        <p:spPr>
          <a:xfrm xmlns:a="http://schemas.openxmlformats.org/drawingml/2006/main">
            <a:off x="1619250" y="4857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The complete 27-tool set still needs a Qwen token check</a:t>
            </a:r>
          </a:p>
        </p:txBody>
      </p:sp>
      <p:sp>
        <p:nvSpPr>
          <p:cNvPr id="11" name="">
            <a:extLst xmlns:a="http://schemas.openxmlformats.org/drawingml/2006/main">
              <a:ext uri="{FF2B5EF4-FFF2-40B4-BE49-F238E27FC236}">
                <a16:creationId xmlns:a16="http://schemas.microsoft.com/office/drawing/2014/main" id="{6F05490D-D7BA-4033-9F0A-FE9C5E8339DD}"/>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27</a:t>
            </a:r>
          </a:p>
        </p:txBody>
      </p:sp>
    </p:spTree>
    <p:extLst>
      <p:ext uri="{BB962C8B-B14F-4D97-AF65-F5344CB8AC3E}">
        <p14:creationId xmlns:p14="http://schemas.microsoft.com/office/powerpoint/2010/main" val="710287228"/>
      </p:ext>
    </p:extLst>
  </p:cSld>
</p:sld>
</file>

<file path=ppt/slides/slide28.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969B211-695E-4175-ADB5-2E80B02FA718}"/>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Improvements follow observed problems</a:t>
            </a:r>
          </a:p>
        </p:txBody>
      </p:sp>
      <p:sp>
        <p:nvSpPr>
          <p:cNvPr id="2" name="">
            <a:extLst xmlns:a="http://schemas.openxmlformats.org/drawingml/2006/main">
              <a:ext uri="{FF2B5EF4-FFF2-40B4-BE49-F238E27FC236}">
                <a16:creationId xmlns:a16="http://schemas.microsoft.com/office/drawing/2014/main" id="{D991BA4E-E0F7-4409-AA00-7DA007184552}"/>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A4CF521-143A-4D7F-AD87-8E4F2AAC59A8}"/>
              </a:ext>
            </a:extLst>
          </p:cNvPr>
          <p:cNvSpPr>
            <a:spLocks xmlns:a="http://schemas.openxmlformats.org/drawingml/2006/main" noGrp="1"/>
          </p:cNvSpPr>
          <p:nvPr/>
        </p:nvSpPr>
        <p:spPr>
          <a:xfrm xmlns:a="http://schemas.openxmlformats.org/drawingml/2006/main">
            <a:off x="762000" y="2047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C9C41CDC-DB85-4E7A-8265-FD1302EC9EA5}"/>
              </a:ext>
            </a:extLst>
          </p:cNvPr>
          <p:cNvSpPr>
            <a:spLocks xmlns:a="http://schemas.openxmlformats.org/drawingml/2006/main" noGrp="1"/>
          </p:cNvSpPr>
          <p:nvPr/>
        </p:nvSpPr>
        <p:spPr>
          <a:xfrm xmlns:a="http://schemas.openxmlformats.org/drawingml/2006/main">
            <a:off x="1619250" y="2000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Keep omitted grade fields unchanged</a:t>
            </a:r>
          </a:p>
        </p:txBody>
      </p:sp>
      <p:sp>
        <p:nvSpPr>
          <p:cNvPr id="5" name="">
            <a:extLst xmlns:a="http://schemas.openxmlformats.org/drawingml/2006/main">
              <a:ext uri="{FF2B5EF4-FFF2-40B4-BE49-F238E27FC236}">
                <a16:creationId xmlns:a16="http://schemas.microsoft.com/office/drawing/2014/main" id="{C2A242DE-4B2A-45B6-8413-498AFDFFDD1A}"/>
              </a:ext>
            </a:extLst>
          </p:cNvPr>
          <p:cNvSpPr>
            <a:spLocks xmlns:a="http://schemas.openxmlformats.org/drawingml/2006/main" noGrp="1"/>
          </p:cNvSpPr>
          <p:nvPr/>
        </p:nvSpPr>
        <p:spPr>
          <a:xfrm xmlns:a="http://schemas.openxmlformats.org/drawingml/2006/main">
            <a:off x="762000" y="3000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8B105027-2089-44A8-A2F6-6A45EAAE5CF1}"/>
              </a:ext>
            </a:extLst>
          </p:cNvPr>
          <p:cNvSpPr>
            <a:spLocks xmlns:a="http://schemas.openxmlformats.org/drawingml/2006/main" noGrp="1"/>
          </p:cNvSpPr>
          <p:nvPr/>
        </p:nvSpPr>
        <p:spPr>
          <a:xfrm xmlns:a="http://schemas.openxmlformats.org/drawingml/2006/main">
            <a:off x="1619250" y="2952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Reply in the language of the question</a:t>
            </a:r>
          </a:p>
        </p:txBody>
      </p:sp>
      <p:sp>
        <p:nvSpPr>
          <p:cNvPr id="7" name="">
            <a:extLst xmlns:a="http://schemas.openxmlformats.org/drawingml/2006/main">
              <a:ext uri="{FF2B5EF4-FFF2-40B4-BE49-F238E27FC236}">
                <a16:creationId xmlns:a16="http://schemas.microsoft.com/office/drawing/2014/main" id="{2E92EA7D-48DF-45FD-B01B-26555859A4BD}"/>
              </a:ext>
            </a:extLst>
          </p:cNvPr>
          <p:cNvSpPr>
            <a:spLocks xmlns:a="http://schemas.openxmlformats.org/drawingml/2006/main" noGrp="1"/>
          </p:cNvSpPr>
          <p:nvPr/>
        </p:nvSpPr>
        <p:spPr>
          <a:xfrm xmlns:a="http://schemas.openxmlformats.org/drawingml/2006/main">
            <a:off x="762000" y="3952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07017BAE-6148-4D81-9FAC-EFA87C296647}"/>
              </a:ext>
            </a:extLst>
          </p:cNvPr>
          <p:cNvSpPr>
            <a:spLocks xmlns:a="http://schemas.openxmlformats.org/drawingml/2006/main" noGrp="1"/>
          </p:cNvSpPr>
          <p:nvPr/>
        </p:nvSpPr>
        <p:spPr>
          <a:xfrm xmlns:a="http://schemas.openxmlformats.org/drawingml/2006/main">
            <a:off x="1619250" y="3905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Disable fallback for fair model measurement</a:t>
            </a:r>
          </a:p>
        </p:txBody>
      </p:sp>
      <p:sp>
        <p:nvSpPr>
          <p:cNvPr id="9" name="">
            <a:extLst xmlns:a="http://schemas.openxmlformats.org/drawingml/2006/main">
              <a:ext uri="{FF2B5EF4-FFF2-40B4-BE49-F238E27FC236}">
                <a16:creationId xmlns:a16="http://schemas.microsoft.com/office/drawing/2014/main" id="{8DB44775-695F-46BA-855B-2567FDC58D3A}"/>
              </a:ext>
            </a:extLst>
          </p:cNvPr>
          <p:cNvSpPr>
            <a:spLocks xmlns:a="http://schemas.openxmlformats.org/drawingml/2006/main" noGrp="1"/>
          </p:cNvSpPr>
          <p:nvPr/>
        </p:nvSpPr>
        <p:spPr>
          <a:xfrm xmlns:a="http://schemas.openxmlformats.org/drawingml/2006/main">
            <a:off x="762000" y="4905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B75DDD33-B749-4B31-BD48-BFCCCD743695}"/>
              </a:ext>
            </a:extLst>
          </p:cNvPr>
          <p:cNvSpPr>
            <a:spLocks xmlns:a="http://schemas.openxmlformats.org/drawingml/2006/main" noGrp="1"/>
          </p:cNvSpPr>
          <p:nvPr/>
        </p:nvSpPr>
        <p:spPr>
          <a:xfrm xmlns:a="http://schemas.openxmlformats.org/drawingml/2006/main">
            <a:off x="1619250" y="4857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Check answers independently from server calculations</a:t>
            </a:r>
          </a:p>
        </p:txBody>
      </p:sp>
      <p:sp>
        <p:nvSpPr>
          <p:cNvPr id="11" name="">
            <a:extLst xmlns:a="http://schemas.openxmlformats.org/drawingml/2006/main">
              <a:ext uri="{FF2B5EF4-FFF2-40B4-BE49-F238E27FC236}">
                <a16:creationId xmlns:a16="http://schemas.microsoft.com/office/drawing/2014/main" id="{13416582-7B7F-4085-8204-DD1661DCAB25}"/>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28</a:t>
            </a:r>
          </a:p>
        </p:txBody>
      </p:sp>
    </p:spTree>
    <p:extLst>
      <p:ext uri="{BB962C8B-B14F-4D97-AF65-F5344CB8AC3E}">
        <p14:creationId xmlns:p14="http://schemas.microsoft.com/office/powerpoint/2010/main" val="533069463"/>
      </p:ext>
    </p:extLst>
  </p:cSld>
</p:sld>
</file>

<file path=ppt/slides/slide29.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6AD6615-6B8A-4959-B44E-6AFC7AAC450D}"/>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Limits and the next useful tests</a:t>
            </a:r>
          </a:p>
        </p:txBody>
      </p:sp>
      <p:sp>
        <p:nvSpPr>
          <p:cNvPr id="2" name="">
            <a:extLst xmlns:a="http://schemas.openxmlformats.org/drawingml/2006/main">
              <a:ext uri="{FF2B5EF4-FFF2-40B4-BE49-F238E27FC236}">
                <a16:creationId xmlns:a16="http://schemas.microsoft.com/office/drawing/2014/main" id="{2E8629F6-DA42-4A92-85D9-8B7860AA1F41}"/>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54E10DF-DECB-4E93-8BF1-DF08D9E6EC39}"/>
              </a:ext>
            </a:extLst>
          </p:cNvPr>
          <p:cNvSpPr>
            <a:spLocks xmlns:a="http://schemas.openxmlformats.org/drawingml/2006/main" noGrp="1"/>
          </p:cNvSpPr>
          <p:nvPr/>
        </p:nvSpPr>
        <p:spPr>
          <a:xfrm xmlns:a="http://schemas.openxmlformats.org/drawingml/2006/main">
            <a:off x="762000" y="2047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66C870BD-C589-4B0C-A03A-75ABB019CCBD}"/>
              </a:ext>
            </a:extLst>
          </p:cNvPr>
          <p:cNvSpPr>
            <a:spLocks xmlns:a="http://schemas.openxmlformats.org/drawingml/2006/main" noGrp="1"/>
          </p:cNvSpPr>
          <p:nvPr/>
        </p:nvSpPr>
        <p:spPr>
          <a:xfrm xmlns:a="http://schemas.openxmlformats.org/drawingml/2006/main">
            <a:off x="1619250" y="2000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Finance is measured from its feature snapshot before merge</a:t>
            </a:r>
          </a:p>
        </p:txBody>
      </p:sp>
      <p:sp>
        <p:nvSpPr>
          <p:cNvPr id="5" name="">
            <a:extLst xmlns:a="http://schemas.openxmlformats.org/drawingml/2006/main">
              <a:ext uri="{FF2B5EF4-FFF2-40B4-BE49-F238E27FC236}">
                <a16:creationId xmlns:a16="http://schemas.microsoft.com/office/drawing/2014/main" id="{29FB3347-55AC-44B4-B0FD-DA99DFE827CF}"/>
              </a:ext>
            </a:extLst>
          </p:cNvPr>
          <p:cNvSpPr>
            <a:spLocks xmlns:a="http://schemas.openxmlformats.org/drawingml/2006/main" noGrp="1"/>
          </p:cNvSpPr>
          <p:nvPr/>
        </p:nvSpPr>
        <p:spPr>
          <a:xfrm xmlns:a="http://schemas.openxmlformats.org/drawingml/2006/main">
            <a:off x="762000" y="3000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DA03150A-C99D-48C4-BC59-A5D5452D7BAB}"/>
              </a:ext>
            </a:extLst>
          </p:cNvPr>
          <p:cNvSpPr>
            <a:spLocks xmlns:a="http://schemas.openxmlformats.org/drawingml/2006/main" noGrp="1"/>
          </p:cNvSpPr>
          <p:nvPr/>
        </p:nvSpPr>
        <p:spPr>
          <a:xfrm xmlns:a="http://schemas.openxmlformats.org/drawingml/2006/main">
            <a:off x="1619250" y="2952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One run does not prove general speed or accuracy</a:t>
            </a:r>
          </a:p>
        </p:txBody>
      </p:sp>
      <p:sp>
        <p:nvSpPr>
          <p:cNvPr id="7" name="">
            <a:extLst xmlns:a="http://schemas.openxmlformats.org/drawingml/2006/main">
              <a:ext uri="{FF2B5EF4-FFF2-40B4-BE49-F238E27FC236}">
                <a16:creationId xmlns:a16="http://schemas.microsoft.com/office/drawing/2014/main" id="{C33AD931-146E-4A5F-AAE8-1715ABFE7134}"/>
              </a:ext>
            </a:extLst>
          </p:cNvPr>
          <p:cNvSpPr>
            <a:spLocks xmlns:a="http://schemas.openxmlformats.org/drawingml/2006/main" noGrp="1"/>
          </p:cNvSpPr>
          <p:nvPr/>
        </p:nvSpPr>
        <p:spPr>
          <a:xfrm xmlns:a="http://schemas.openxmlformats.org/drawingml/2006/main">
            <a:off x="762000" y="3952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B3F9E1B8-0A6F-439C-A43A-162FF9D01985}"/>
              </a:ext>
            </a:extLst>
          </p:cNvPr>
          <p:cNvSpPr>
            <a:spLocks xmlns:a="http://schemas.openxmlformats.org/drawingml/2006/main" noGrp="1"/>
          </p:cNvSpPr>
          <p:nvPr/>
        </p:nvSpPr>
        <p:spPr>
          <a:xfrm xmlns:a="http://schemas.openxmlformats.org/drawingml/2006/main">
            <a:off x="1619250" y="3905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Check complete reasons in advising answers</a:t>
            </a:r>
          </a:p>
        </p:txBody>
      </p:sp>
      <p:sp>
        <p:nvSpPr>
          <p:cNvPr id="9" name="">
            <a:extLst xmlns:a="http://schemas.openxmlformats.org/drawingml/2006/main">
              <a:ext uri="{FF2B5EF4-FFF2-40B4-BE49-F238E27FC236}">
                <a16:creationId xmlns:a16="http://schemas.microsoft.com/office/drawing/2014/main" id="{085EDD97-85F7-40A4-928E-8A2FAC0462EA}"/>
              </a:ext>
            </a:extLst>
          </p:cNvPr>
          <p:cNvSpPr>
            <a:spLocks xmlns:a="http://schemas.openxmlformats.org/drawingml/2006/main" noGrp="1"/>
          </p:cNvSpPr>
          <p:nvPr/>
        </p:nvSpPr>
        <p:spPr>
          <a:xfrm xmlns:a="http://schemas.openxmlformats.org/drawingml/2006/main">
            <a:off x="762000" y="4905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0E9C6510-271B-4456-BF97-A75DD647D93E}"/>
              </a:ext>
            </a:extLst>
          </p:cNvPr>
          <p:cNvSpPr>
            <a:spLocks xmlns:a="http://schemas.openxmlformats.org/drawingml/2006/main" noGrp="1"/>
          </p:cNvSpPr>
          <p:nvPr/>
        </p:nvSpPr>
        <p:spPr>
          <a:xfrm xmlns:a="http://schemas.openxmlformats.org/drawingml/2006/main">
            <a:off x="1619250" y="4857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Repeat the full set after the final feature merge</a:t>
            </a:r>
          </a:p>
        </p:txBody>
      </p:sp>
      <p:sp>
        <p:nvSpPr>
          <p:cNvPr id="11" name="">
            <a:extLst xmlns:a="http://schemas.openxmlformats.org/drawingml/2006/main">
              <a:ext uri="{FF2B5EF4-FFF2-40B4-BE49-F238E27FC236}">
                <a16:creationId xmlns:a16="http://schemas.microsoft.com/office/drawing/2014/main" id="{BBD80BC4-9D02-4C49-A424-EC4C15594167}"/>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29</a:t>
            </a:r>
          </a:p>
        </p:txBody>
      </p:sp>
    </p:spTree>
    <p:extLst>
      <p:ext uri="{BB962C8B-B14F-4D97-AF65-F5344CB8AC3E}">
        <p14:creationId xmlns:p14="http://schemas.microsoft.com/office/powerpoint/2010/main" val="1600970965"/>
      </p:ext>
    </p:extLst>
  </p:cSld>
</p:sld>
</file>

<file path=ppt/slides/slide30.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CB84DDF-9D6B-4C08-B7C5-5A93833A8CF7}"/>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A short live demonstration</a:t>
            </a:r>
          </a:p>
        </p:txBody>
      </p:sp>
      <p:sp>
        <p:nvSpPr>
          <p:cNvPr id="2" name="">
            <a:extLst xmlns:a="http://schemas.openxmlformats.org/drawingml/2006/main">
              <a:ext uri="{FF2B5EF4-FFF2-40B4-BE49-F238E27FC236}">
                <a16:creationId xmlns:a16="http://schemas.microsoft.com/office/drawing/2014/main" id="{8DE7AB28-4B06-41FF-B19B-D90912DA4117}"/>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0EFF4D2D-B3B0-4EF5-BF25-BB3ACFBEC0D2}"/>
              </a:ext>
            </a:extLst>
          </p:cNvPr>
          <p:cNvSpPr>
            <a:spLocks xmlns:a="http://schemas.openxmlformats.org/drawingml/2006/main" noGrp="1"/>
          </p:cNvSpPr>
          <p:nvPr/>
        </p:nvSpPr>
        <p:spPr>
          <a:xfrm xmlns:a="http://schemas.openxmlformats.org/drawingml/2006/main">
            <a:off x="762000" y="2047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4AD6F9D1-9E8A-4B7D-B7EB-5C48F148A995}"/>
              </a:ext>
            </a:extLst>
          </p:cNvPr>
          <p:cNvSpPr>
            <a:spLocks xmlns:a="http://schemas.openxmlformats.org/drawingml/2006/main" noGrp="1"/>
          </p:cNvSpPr>
          <p:nvPr/>
        </p:nvSpPr>
        <p:spPr>
          <a:xfrm xmlns:a="http://schemas.openxmlformats.org/drawingml/2006/main">
            <a:off x="1619250" y="2000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Ask for T001 workload in 2024-1</a:t>
            </a:r>
          </a:p>
        </p:txBody>
      </p:sp>
      <p:sp>
        <p:nvSpPr>
          <p:cNvPr id="5" name="">
            <a:extLst xmlns:a="http://schemas.openxmlformats.org/drawingml/2006/main">
              <a:ext uri="{FF2B5EF4-FFF2-40B4-BE49-F238E27FC236}">
                <a16:creationId xmlns:a16="http://schemas.microsoft.com/office/drawing/2014/main" id="{C42E30FF-7062-4D6D-95FF-92B83E30921A}"/>
              </a:ext>
            </a:extLst>
          </p:cNvPr>
          <p:cNvSpPr>
            <a:spLocks xmlns:a="http://schemas.openxmlformats.org/drawingml/2006/main" noGrp="1"/>
          </p:cNvSpPr>
          <p:nvPr/>
        </p:nvSpPr>
        <p:spPr>
          <a:xfrm xmlns:a="http://schemas.openxmlformats.org/drawingml/2006/main">
            <a:off x="762000" y="3000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9694E75F-29F8-4A23-A7D1-C77D3AB87739}"/>
              </a:ext>
            </a:extLst>
          </p:cNvPr>
          <p:cNvSpPr>
            <a:spLocks xmlns:a="http://schemas.openxmlformats.org/drawingml/2006/main" noGrp="1"/>
          </p:cNvSpPr>
          <p:nvPr/>
        </p:nvSpPr>
        <p:spPr>
          <a:xfrm xmlns:a="http://schemas.openxmlformats.org/drawingml/2006/main">
            <a:off x="1619250" y="2952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Compare the two attendance boundary cases</a:t>
            </a:r>
          </a:p>
        </p:txBody>
      </p:sp>
      <p:sp>
        <p:nvSpPr>
          <p:cNvPr id="7" name="">
            <a:extLst xmlns:a="http://schemas.openxmlformats.org/drawingml/2006/main">
              <a:ext uri="{FF2B5EF4-FFF2-40B4-BE49-F238E27FC236}">
                <a16:creationId xmlns:a16="http://schemas.microsoft.com/office/drawing/2014/main" id="{B5334447-20C0-49E5-BC31-996299E7E3AC}"/>
              </a:ext>
            </a:extLst>
          </p:cNvPr>
          <p:cNvSpPr>
            <a:spLocks xmlns:a="http://schemas.openxmlformats.org/drawingml/2006/main" noGrp="1"/>
          </p:cNvSpPr>
          <p:nvPr/>
        </p:nvSpPr>
        <p:spPr>
          <a:xfrm xmlns:a="http://schemas.openxmlformats.org/drawingml/2006/main">
            <a:off x="762000" y="3952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F4D66AF2-8ECF-422D-B586-A1478B5AD751}"/>
              </a:ext>
            </a:extLst>
          </p:cNvPr>
          <p:cNvSpPr>
            <a:spLocks xmlns:a="http://schemas.openxmlformats.org/drawingml/2006/main" noGrp="1"/>
          </p:cNvSpPr>
          <p:nvPr/>
        </p:nvSpPr>
        <p:spPr>
          <a:xfrm xmlns:a="http://schemas.openxmlformats.org/drawingml/2006/main">
            <a:off x="1619250" y="3905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Check SCH02 eligibility and ranking</a:t>
            </a:r>
          </a:p>
        </p:txBody>
      </p:sp>
      <p:sp>
        <p:nvSpPr>
          <p:cNvPr id="9" name="">
            <a:extLst xmlns:a="http://schemas.openxmlformats.org/drawingml/2006/main">
              <a:ext uri="{FF2B5EF4-FFF2-40B4-BE49-F238E27FC236}">
                <a16:creationId xmlns:a16="http://schemas.microsoft.com/office/drawing/2014/main" id="{82FE3867-6881-4930-84F1-E4792F950858}"/>
              </a:ext>
            </a:extLst>
          </p:cNvPr>
          <p:cNvSpPr>
            <a:spLocks xmlns:a="http://schemas.openxmlformats.org/drawingml/2006/main" noGrp="1"/>
          </p:cNvSpPr>
          <p:nvPr/>
        </p:nvSpPr>
        <p:spPr>
          <a:xfrm xmlns:a="http://schemas.openxmlformats.org/drawingml/2006/main">
            <a:off x="762000" y="4905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72268EA1-8F0B-4108-93C7-977C73B0ECD8}"/>
              </a:ext>
            </a:extLst>
          </p:cNvPr>
          <p:cNvSpPr>
            <a:spLocks xmlns:a="http://schemas.openxmlformats.org/drawingml/2006/main" noGrp="1"/>
          </p:cNvSpPr>
          <p:nvPr/>
        </p:nvSpPr>
        <p:spPr>
          <a:xfrm xmlns:a="http://schemas.openxmlformats.org/drawingml/2006/main">
            <a:off x="1619250" y="4857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Open a log and show the tool call and result</a:t>
            </a:r>
          </a:p>
        </p:txBody>
      </p:sp>
      <p:sp>
        <p:nvSpPr>
          <p:cNvPr id="11" name="">
            <a:extLst xmlns:a="http://schemas.openxmlformats.org/drawingml/2006/main">
              <a:ext uri="{FF2B5EF4-FFF2-40B4-BE49-F238E27FC236}">
                <a16:creationId xmlns:a16="http://schemas.microsoft.com/office/drawing/2014/main" id="{FD32D773-B5FB-4A8F-9D89-A4D63A49CAA7}"/>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30</a:t>
            </a:r>
          </a:p>
        </p:txBody>
      </p:sp>
    </p:spTree>
    <p:extLst>
      <p:ext uri="{BB962C8B-B14F-4D97-AF65-F5344CB8AC3E}">
        <p14:creationId xmlns:p14="http://schemas.microsoft.com/office/powerpoint/2010/main" val="1504687153"/>
      </p:ext>
    </p:extLst>
  </p:cSld>
</p:sld>
</file>

<file path=ppt/slides/slide31.xml><?xml version="1.0" encoding="utf-8"?>
<p:sld xmlns:p="http://schemas.openxmlformats.org/presentationml/2006/main">
  <p:cSld>
    <p:bg>
      <p:bgPr>
        <a:solidFill xmlns:a="http://schemas.openxmlformats.org/drawingml/2006/main">
          <a:srgbClr val="F7F8F5"/>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357E307-9E29-4E3B-863B-2530FEE79639}"/>
              </a:ext>
            </a:extLst>
          </p:cNvPr>
          <p:cNvSpPr>
            <a:spLocks xmlns:a="http://schemas.openxmlformats.org/drawingml/2006/main" noGrp="1"/>
          </p:cNvSpPr>
          <p:nvPr/>
        </p:nvSpPr>
        <p:spPr>
          <a:xfrm xmlns:a="http://schemas.openxmlformats.org/drawingml/2006/main">
            <a:off x="762000" y="476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150" b="1">
                <a:solidFill>
                  <a:srgbClr val="12324A"/>
                </a:solidFill>
                <a:latin typeface="Arial"/>
                <a:ea typeface="Arial"/>
                <a:cs typeface="Arial"/>
              </a:defRPr>
            </a:defPPr>
            <a:lvl1pPr>
              <a:defRPr sz="3150" b="1">
                <a:solidFill>
                  <a:srgbClr val="12324A"/>
                </a:solidFill>
                <a:latin typeface="Arial"/>
                <a:ea typeface="Arial"/>
                <a:cs typeface="Arial"/>
              </a:defRPr>
            </a:lvl1pPr>
            <a:lvl2pPr>
              <a:defRPr sz="3150" b="1">
                <a:solidFill>
                  <a:srgbClr val="12324A"/>
                </a:solidFill>
                <a:latin typeface="Arial"/>
                <a:ea typeface="Arial"/>
                <a:cs typeface="Arial"/>
              </a:defRPr>
            </a:lvl2pPr>
            <a:lvl3pPr>
              <a:defRPr sz="3150" b="1">
                <a:solidFill>
                  <a:srgbClr val="12324A"/>
                </a:solidFill>
                <a:latin typeface="Arial"/>
                <a:ea typeface="Arial"/>
                <a:cs typeface="Arial"/>
              </a:defRPr>
            </a:lvl3pPr>
            <a:lvl4pPr>
              <a:defRPr sz="3150" b="1">
                <a:solidFill>
                  <a:srgbClr val="12324A"/>
                </a:solidFill>
                <a:latin typeface="Arial"/>
                <a:ea typeface="Arial"/>
                <a:cs typeface="Arial"/>
              </a:defRPr>
            </a:lvl4pPr>
            <a:lvl5pPr>
              <a:defRPr sz="3150" b="1">
                <a:solidFill>
                  <a:srgbClr val="12324A"/>
                </a:solidFill>
                <a:latin typeface="Arial"/>
                <a:ea typeface="Arial"/>
                <a:cs typeface="Arial"/>
              </a:defRPr>
            </a:lvl5pPr>
            <a:lvl6pPr>
              <a:defRPr sz="3150" b="1">
                <a:solidFill>
                  <a:srgbClr val="12324A"/>
                </a:solidFill>
                <a:latin typeface="Arial"/>
                <a:ea typeface="Arial"/>
                <a:cs typeface="Arial"/>
              </a:defRPr>
            </a:lvl6pPr>
            <a:lvl7pPr>
              <a:defRPr sz="3150" b="1">
                <a:solidFill>
                  <a:srgbClr val="12324A"/>
                </a:solidFill>
                <a:latin typeface="Arial"/>
                <a:ea typeface="Arial"/>
                <a:cs typeface="Arial"/>
              </a:defRPr>
            </a:lvl7pPr>
            <a:lvl8pPr>
              <a:defRPr sz="3150" b="1">
                <a:solidFill>
                  <a:srgbClr val="12324A"/>
                </a:solidFill>
                <a:latin typeface="Arial"/>
                <a:ea typeface="Arial"/>
                <a:cs typeface="Arial"/>
              </a:defRPr>
            </a:lvl8pPr>
            <a:lvl9pPr>
              <a:defRPr sz="3150" b="1">
                <a:solidFill>
                  <a:srgbClr val="12324A"/>
                </a:solidFill>
                <a:latin typeface="Arial"/>
                <a:ea typeface="Arial"/>
                <a:cs typeface="Arial"/>
              </a:defRPr>
            </a:lvl9pPr>
          </a:lstStyle>
          <a:p xmlns:a="http://schemas.openxmlformats.org/drawingml/2006/main">
            <a:pPr>
              <a:defRPr sz="3150" b="1">
                <a:solidFill>
                  <a:srgbClr val="12324A"/>
                </a:solidFill>
                <a:latin typeface="Arial"/>
                <a:ea typeface="Arial"/>
                <a:cs typeface="Arial"/>
              </a:defRPr>
            </a:pPr>
            <a:r>
              <a:rPr sz="3150" b="1">
                <a:solidFill>
                  <a:srgbClr val="12324A"/>
                </a:solidFill>
                <a:latin typeface="Arial"/>
                <a:ea typeface="Arial"/>
                <a:cs typeface="Arial"/>
              </a:rPr>
              <a:t>Main findings</a:t>
            </a:r>
          </a:p>
        </p:txBody>
      </p:sp>
      <p:sp>
        <p:nvSpPr>
          <p:cNvPr id="2" name="">
            <a:extLst xmlns:a="http://schemas.openxmlformats.org/drawingml/2006/main">
              <a:ext uri="{FF2B5EF4-FFF2-40B4-BE49-F238E27FC236}">
                <a16:creationId xmlns:a16="http://schemas.microsoft.com/office/drawing/2014/main" id="{E2139B43-F59B-4773-9D36-45A43A21F39F}"/>
              </a:ext>
            </a:extLst>
          </p:cNvPr>
          <p:cNvSpPr>
            <a:spLocks xmlns:a="http://schemas.openxmlformats.org/drawingml/2006/main" noGrp="1"/>
          </p:cNvSpPr>
          <p:nvPr/>
        </p:nvSpPr>
        <p:spPr>
          <a:xfrm xmlns:a="http://schemas.openxmlformats.org/drawingml/2006/main">
            <a:off x="762000" y="1571625"/>
            <a:ext cx="10668000" cy="19050"/>
          </a:xfrm>
          <a:prstGeom xmlns:a="http://schemas.openxmlformats.org/drawingml/2006/main" prst="rect">
            <a:avLst/>
          </a:prstGeom>
          <a:solidFill xmlns:a="http://schemas.openxmlformats.org/drawingml/2006/main">
            <a:srgbClr val="087F8C"/>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9FF2E869-C48B-4441-A254-B55CC7314E4A}"/>
              </a:ext>
            </a:extLst>
          </p:cNvPr>
          <p:cNvSpPr>
            <a:spLocks xmlns:a="http://schemas.openxmlformats.org/drawingml/2006/main" noGrp="1"/>
          </p:cNvSpPr>
          <p:nvPr/>
        </p:nvSpPr>
        <p:spPr>
          <a:xfrm xmlns:a="http://schemas.openxmlformats.org/drawingml/2006/main">
            <a:off x="762000" y="2047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7B6B55F1-2E59-46F4-9EB1-5A3B0FE27872}"/>
              </a:ext>
            </a:extLst>
          </p:cNvPr>
          <p:cNvSpPr>
            <a:spLocks xmlns:a="http://schemas.openxmlformats.org/drawingml/2006/main" noGrp="1"/>
          </p:cNvSpPr>
          <p:nvPr/>
        </p:nvSpPr>
        <p:spPr>
          <a:xfrm xmlns:a="http://schemas.openxmlformats.org/drawingml/2006/main">
            <a:off x="1619250" y="2000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The new tools answer useful university questions</a:t>
            </a:r>
          </a:p>
        </p:txBody>
      </p:sp>
      <p:sp>
        <p:nvSpPr>
          <p:cNvPr id="5" name="">
            <a:extLst xmlns:a="http://schemas.openxmlformats.org/drawingml/2006/main">
              <a:ext uri="{FF2B5EF4-FFF2-40B4-BE49-F238E27FC236}">
                <a16:creationId xmlns:a16="http://schemas.microsoft.com/office/drawing/2014/main" id="{9F435E7A-970A-4BDE-A005-73621C176CD2}"/>
              </a:ext>
            </a:extLst>
          </p:cNvPr>
          <p:cNvSpPr>
            <a:spLocks xmlns:a="http://schemas.openxmlformats.org/drawingml/2006/main" noGrp="1"/>
          </p:cNvSpPr>
          <p:nvPr/>
        </p:nvSpPr>
        <p:spPr>
          <a:xfrm xmlns:a="http://schemas.openxmlformats.org/drawingml/2006/main">
            <a:off x="762000" y="3000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CEF1AD35-88C7-4358-A237-8079B47D69B6}"/>
              </a:ext>
            </a:extLst>
          </p:cNvPr>
          <p:cNvSpPr>
            <a:spLocks xmlns:a="http://schemas.openxmlformats.org/drawingml/2006/main" noGrp="1"/>
          </p:cNvSpPr>
          <p:nvPr/>
        </p:nvSpPr>
        <p:spPr>
          <a:xfrm xmlns:a="http://schemas.openxmlformats.org/drawingml/2006/main">
            <a:off x="1619250" y="2952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Independent checks connect answers to CSV data</a:t>
            </a:r>
          </a:p>
        </p:txBody>
      </p:sp>
      <p:sp>
        <p:nvSpPr>
          <p:cNvPr id="7" name="">
            <a:extLst xmlns:a="http://schemas.openxmlformats.org/drawingml/2006/main">
              <a:ext uri="{FF2B5EF4-FFF2-40B4-BE49-F238E27FC236}">
                <a16:creationId xmlns:a16="http://schemas.microsoft.com/office/drawing/2014/main" id="{DF19EC08-2E61-4DA2-ABE7-3BF2207CF192}"/>
              </a:ext>
            </a:extLst>
          </p:cNvPr>
          <p:cNvSpPr>
            <a:spLocks xmlns:a="http://schemas.openxmlformats.org/drawingml/2006/main" noGrp="1"/>
          </p:cNvSpPr>
          <p:nvPr/>
        </p:nvSpPr>
        <p:spPr>
          <a:xfrm xmlns:a="http://schemas.openxmlformats.org/drawingml/2006/main">
            <a:off x="762000" y="39528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10D50F1F-6B70-4E64-8491-1633B9BEB6B3}"/>
              </a:ext>
            </a:extLst>
          </p:cNvPr>
          <p:cNvSpPr>
            <a:spLocks xmlns:a="http://schemas.openxmlformats.org/drawingml/2006/main" noGrp="1"/>
          </p:cNvSpPr>
          <p:nvPr/>
        </p:nvSpPr>
        <p:spPr>
          <a:xfrm xmlns:a="http://schemas.openxmlformats.org/drawingml/2006/main">
            <a:off x="1619250" y="39052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Settings affect cost, time and recovery room</a:t>
            </a:r>
          </a:p>
        </p:txBody>
      </p:sp>
      <p:sp>
        <p:nvSpPr>
          <p:cNvPr id="9" name="">
            <a:extLst xmlns:a="http://schemas.openxmlformats.org/drawingml/2006/main">
              <a:ext uri="{FF2B5EF4-FFF2-40B4-BE49-F238E27FC236}">
                <a16:creationId xmlns:a16="http://schemas.microsoft.com/office/drawing/2014/main" id="{30B14D79-39B3-4A87-806E-47F98B16EDB8}"/>
              </a:ext>
            </a:extLst>
          </p:cNvPr>
          <p:cNvSpPr>
            <a:spLocks xmlns:a="http://schemas.openxmlformats.org/drawingml/2006/main" noGrp="1"/>
          </p:cNvSpPr>
          <p:nvPr/>
        </p:nvSpPr>
        <p:spPr>
          <a:xfrm xmlns:a="http://schemas.openxmlformats.org/drawingml/2006/main">
            <a:off x="762000" y="490537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087F8C"/>
                </a:solidFill>
                <a:latin typeface="Arial"/>
                <a:ea typeface="Arial"/>
                <a:cs typeface="Arial"/>
              </a:defRPr>
            </a:defPPr>
            <a:lvl1pPr>
              <a:defRPr sz="1800" b="1">
                <a:solidFill>
                  <a:srgbClr val="087F8C"/>
                </a:solidFill>
                <a:latin typeface="Arial"/>
                <a:ea typeface="Arial"/>
                <a:cs typeface="Arial"/>
              </a:defRPr>
            </a:lvl1pPr>
            <a:lvl2pPr>
              <a:defRPr sz="1800" b="1">
                <a:solidFill>
                  <a:srgbClr val="087F8C"/>
                </a:solidFill>
                <a:latin typeface="Arial"/>
                <a:ea typeface="Arial"/>
                <a:cs typeface="Arial"/>
              </a:defRPr>
            </a:lvl2pPr>
            <a:lvl3pPr>
              <a:defRPr sz="1800" b="1">
                <a:solidFill>
                  <a:srgbClr val="087F8C"/>
                </a:solidFill>
                <a:latin typeface="Arial"/>
                <a:ea typeface="Arial"/>
                <a:cs typeface="Arial"/>
              </a:defRPr>
            </a:lvl3pPr>
            <a:lvl4pPr>
              <a:defRPr sz="1800" b="1">
                <a:solidFill>
                  <a:srgbClr val="087F8C"/>
                </a:solidFill>
                <a:latin typeface="Arial"/>
                <a:ea typeface="Arial"/>
                <a:cs typeface="Arial"/>
              </a:defRPr>
            </a:lvl4pPr>
            <a:lvl5pPr>
              <a:defRPr sz="1800" b="1">
                <a:solidFill>
                  <a:srgbClr val="087F8C"/>
                </a:solidFill>
                <a:latin typeface="Arial"/>
                <a:ea typeface="Arial"/>
                <a:cs typeface="Arial"/>
              </a:defRPr>
            </a:lvl5pPr>
            <a:lvl6pPr>
              <a:defRPr sz="1800" b="1">
                <a:solidFill>
                  <a:srgbClr val="087F8C"/>
                </a:solidFill>
                <a:latin typeface="Arial"/>
                <a:ea typeface="Arial"/>
                <a:cs typeface="Arial"/>
              </a:defRPr>
            </a:lvl6pPr>
            <a:lvl7pPr>
              <a:defRPr sz="1800" b="1">
                <a:solidFill>
                  <a:srgbClr val="087F8C"/>
                </a:solidFill>
                <a:latin typeface="Arial"/>
                <a:ea typeface="Arial"/>
                <a:cs typeface="Arial"/>
              </a:defRPr>
            </a:lvl7pPr>
            <a:lvl8pPr>
              <a:defRPr sz="1800" b="1">
                <a:solidFill>
                  <a:srgbClr val="087F8C"/>
                </a:solidFill>
                <a:latin typeface="Arial"/>
                <a:ea typeface="Arial"/>
                <a:cs typeface="Arial"/>
              </a:defRPr>
            </a:lvl8pPr>
            <a:lvl9pPr>
              <a:defRPr sz="1800" b="1">
                <a:solidFill>
                  <a:srgbClr val="087F8C"/>
                </a:solidFill>
                <a:latin typeface="Arial"/>
                <a:ea typeface="Arial"/>
                <a:cs typeface="Arial"/>
              </a:defRPr>
            </a:lvl9pPr>
          </a:lstStyle>
          <a:p xmlns:a="http://schemas.openxmlformats.org/drawingml/2006/main">
            <a:pPr>
              <a:defRPr sz="1800" b="1">
                <a:solidFill>
                  <a:srgbClr val="087F8C"/>
                </a:solidFill>
                <a:latin typeface="Arial"/>
                <a:ea typeface="Arial"/>
                <a:cs typeface="Arial"/>
              </a:defRPr>
            </a:pPr>
            <a:r>
              <a:rPr sz="1800" b="1">
                <a:solidFill>
                  <a:srgbClr val="087F8C"/>
                </a:solidFill>
                <a:latin typeface="Arial"/>
                <a:ea typeface="Arial"/>
                <a:cs typeface="Arial"/>
              </a:rPr>
              <a:t>04</a:t>
            </a:r>
          </a:p>
        </p:txBody>
      </p:sp>
      <p:sp>
        <p:nvSpPr>
          <p:cNvPr id="10" name="">
            <a:extLst xmlns:a="http://schemas.openxmlformats.org/drawingml/2006/main">
              <a:ext uri="{FF2B5EF4-FFF2-40B4-BE49-F238E27FC236}">
                <a16:creationId xmlns:a16="http://schemas.microsoft.com/office/drawing/2014/main" id="{8F1BF4F1-7263-4F0F-9F5A-529E5A3A41D9}"/>
              </a:ext>
            </a:extLst>
          </p:cNvPr>
          <p:cNvSpPr>
            <a:spLocks xmlns:a="http://schemas.openxmlformats.org/drawingml/2006/main" noGrp="1"/>
          </p:cNvSpPr>
          <p:nvPr/>
        </p:nvSpPr>
        <p:spPr>
          <a:xfrm xmlns:a="http://schemas.openxmlformats.org/drawingml/2006/main">
            <a:off x="1619250" y="4857750"/>
            <a:ext cx="9715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203747"/>
                </a:solidFill>
                <a:latin typeface="Arial"/>
                <a:ea typeface="Arial"/>
                <a:cs typeface="Arial"/>
              </a:defRPr>
            </a:defPPr>
            <a:lvl1pPr>
              <a:defRPr sz="2250" b="0">
                <a:solidFill>
                  <a:srgbClr val="203747"/>
                </a:solidFill>
                <a:latin typeface="Arial"/>
                <a:ea typeface="Arial"/>
                <a:cs typeface="Arial"/>
              </a:defRPr>
            </a:lvl1pPr>
            <a:lvl2pPr>
              <a:defRPr sz="2250" b="0">
                <a:solidFill>
                  <a:srgbClr val="203747"/>
                </a:solidFill>
                <a:latin typeface="Arial"/>
                <a:ea typeface="Arial"/>
                <a:cs typeface="Arial"/>
              </a:defRPr>
            </a:lvl2pPr>
            <a:lvl3pPr>
              <a:defRPr sz="2250" b="0">
                <a:solidFill>
                  <a:srgbClr val="203747"/>
                </a:solidFill>
                <a:latin typeface="Arial"/>
                <a:ea typeface="Arial"/>
                <a:cs typeface="Arial"/>
              </a:defRPr>
            </a:lvl3pPr>
            <a:lvl4pPr>
              <a:defRPr sz="2250" b="0">
                <a:solidFill>
                  <a:srgbClr val="203747"/>
                </a:solidFill>
                <a:latin typeface="Arial"/>
                <a:ea typeface="Arial"/>
                <a:cs typeface="Arial"/>
              </a:defRPr>
            </a:lvl4pPr>
            <a:lvl5pPr>
              <a:defRPr sz="2250" b="0">
                <a:solidFill>
                  <a:srgbClr val="203747"/>
                </a:solidFill>
                <a:latin typeface="Arial"/>
                <a:ea typeface="Arial"/>
                <a:cs typeface="Arial"/>
              </a:defRPr>
            </a:lvl5pPr>
            <a:lvl6pPr>
              <a:defRPr sz="2250" b="0">
                <a:solidFill>
                  <a:srgbClr val="203747"/>
                </a:solidFill>
                <a:latin typeface="Arial"/>
                <a:ea typeface="Arial"/>
                <a:cs typeface="Arial"/>
              </a:defRPr>
            </a:lvl6pPr>
            <a:lvl7pPr>
              <a:defRPr sz="2250" b="0">
                <a:solidFill>
                  <a:srgbClr val="203747"/>
                </a:solidFill>
                <a:latin typeface="Arial"/>
                <a:ea typeface="Arial"/>
                <a:cs typeface="Arial"/>
              </a:defRPr>
            </a:lvl7pPr>
            <a:lvl8pPr>
              <a:defRPr sz="2250" b="0">
                <a:solidFill>
                  <a:srgbClr val="203747"/>
                </a:solidFill>
                <a:latin typeface="Arial"/>
                <a:ea typeface="Arial"/>
                <a:cs typeface="Arial"/>
              </a:defRPr>
            </a:lvl8pPr>
            <a:lvl9pPr>
              <a:defRPr sz="2250" b="0">
                <a:solidFill>
                  <a:srgbClr val="203747"/>
                </a:solidFill>
                <a:latin typeface="Arial"/>
                <a:ea typeface="Arial"/>
                <a:cs typeface="Arial"/>
              </a:defRPr>
            </a:lvl9pPr>
          </a:lstStyle>
          <a:p xmlns:a="http://schemas.openxmlformats.org/drawingml/2006/main">
            <a:pPr>
              <a:defRPr sz="2250" b="0">
                <a:solidFill>
                  <a:srgbClr val="203747"/>
                </a:solidFill>
                <a:latin typeface="Arial"/>
                <a:ea typeface="Arial"/>
                <a:cs typeface="Arial"/>
              </a:defRPr>
            </a:pPr>
            <a:r>
              <a:rPr sz="2250" b="0">
                <a:solidFill>
                  <a:srgbClr val="203747"/>
                </a:solidFill>
                <a:latin typeface="Arial"/>
                <a:ea typeface="Arial"/>
                <a:cs typeface="Arial"/>
              </a:rPr>
              <a:t>Logs make the results easy to inspect</a:t>
            </a:r>
          </a:p>
        </p:txBody>
      </p:sp>
      <p:sp>
        <p:nvSpPr>
          <p:cNvPr id="11" name="">
            <a:extLst xmlns:a="http://schemas.openxmlformats.org/drawingml/2006/main">
              <a:ext uri="{FF2B5EF4-FFF2-40B4-BE49-F238E27FC236}">
                <a16:creationId xmlns:a16="http://schemas.microsoft.com/office/drawing/2014/main" id="{0BBE8030-4ACA-4553-9484-51CBD1E4C5D4}"/>
              </a:ext>
            </a:extLst>
          </p:cNvPr>
          <p:cNvSpPr>
            <a:spLocks xmlns:a="http://schemas.openxmlformats.org/drawingml/2006/main" noGrp="1"/>
          </p:cNvSpPr>
          <p:nvPr/>
        </p:nvSpPr>
        <p:spPr>
          <a:xfrm xmlns:a="http://schemas.openxmlformats.org/drawingml/2006/main">
            <a:off x="10810875"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4C6575"/>
                </a:solidFill>
                <a:latin typeface="Arial"/>
                <a:ea typeface="Arial"/>
                <a:cs typeface="Arial"/>
              </a:defRPr>
            </a:defPPr>
            <a:lvl1pPr>
              <a:defRPr sz="1350" b="0">
                <a:solidFill>
                  <a:srgbClr val="4C6575"/>
                </a:solidFill>
                <a:latin typeface="Arial"/>
                <a:ea typeface="Arial"/>
                <a:cs typeface="Arial"/>
              </a:defRPr>
            </a:lvl1pPr>
            <a:lvl2pPr>
              <a:defRPr sz="1350" b="0">
                <a:solidFill>
                  <a:srgbClr val="4C6575"/>
                </a:solidFill>
                <a:latin typeface="Arial"/>
                <a:ea typeface="Arial"/>
                <a:cs typeface="Arial"/>
              </a:defRPr>
            </a:lvl2pPr>
            <a:lvl3pPr>
              <a:defRPr sz="1350" b="0">
                <a:solidFill>
                  <a:srgbClr val="4C6575"/>
                </a:solidFill>
                <a:latin typeface="Arial"/>
                <a:ea typeface="Arial"/>
                <a:cs typeface="Arial"/>
              </a:defRPr>
            </a:lvl3pPr>
            <a:lvl4pPr>
              <a:defRPr sz="1350" b="0">
                <a:solidFill>
                  <a:srgbClr val="4C6575"/>
                </a:solidFill>
                <a:latin typeface="Arial"/>
                <a:ea typeface="Arial"/>
                <a:cs typeface="Arial"/>
              </a:defRPr>
            </a:lvl4pPr>
            <a:lvl5pPr>
              <a:defRPr sz="1350" b="0">
                <a:solidFill>
                  <a:srgbClr val="4C6575"/>
                </a:solidFill>
                <a:latin typeface="Arial"/>
                <a:ea typeface="Arial"/>
                <a:cs typeface="Arial"/>
              </a:defRPr>
            </a:lvl5pPr>
            <a:lvl6pPr>
              <a:defRPr sz="1350" b="0">
                <a:solidFill>
                  <a:srgbClr val="4C6575"/>
                </a:solidFill>
                <a:latin typeface="Arial"/>
                <a:ea typeface="Arial"/>
                <a:cs typeface="Arial"/>
              </a:defRPr>
            </a:lvl6pPr>
            <a:lvl7pPr>
              <a:defRPr sz="1350" b="0">
                <a:solidFill>
                  <a:srgbClr val="4C6575"/>
                </a:solidFill>
                <a:latin typeface="Arial"/>
                <a:ea typeface="Arial"/>
                <a:cs typeface="Arial"/>
              </a:defRPr>
            </a:lvl7pPr>
            <a:lvl8pPr>
              <a:defRPr sz="1350" b="0">
                <a:solidFill>
                  <a:srgbClr val="4C6575"/>
                </a:solidFill>
                <a:latin typeface="Arial"/>
                <a:ea typeface="Arial"/>
                <a:cs typeface="Arial"/>
              </a:defRPr>
            </a:lvl8pPr>
            <a:lvl9pPr>
              <a:defRPr sz="1350" b="0">
                <a:solidFill>
                  <a:srgbClr val="4C6575"/>
                </a:solidFill>
                <a:latin typeface="Arial"/>
                <a:ea typeface="Arial"/>
                <a:cs typeface="Arial"/>
              </a:defRPr>
            </a:lvl9pPr>
          </a:lstStyle>
          <a:p xmlns:a="http://schemas.openxmlformats.org/drawingml/2006/main">
            <a:pPr>
              <a:defRPr sz="1350" b="0">
                <a:solidFill>
                  <a:srgbClr val="4C6575"/>
                </a:solidFill>
                <a:latin typeface="Arial"/>
                <a:ea typeface="Arial"/>
                <a:cs typeface="Arial"/>
              </a:defRPr>
            </a:pPr>
            <a:r>
              <a:rPr sz="1350" b="0">
                <a:solidFill>
                  <a:srgbClr val="4C6575"/>
                </a:solidFill>
                <a:latin typeface="Arial"/>
                <a:ea typeface="Arial"/>
                <a:cs typeface="Arial"/>
              </a:rPr>
              <a:t>31</a:t>
            </a:r>
          </a:p>
        </p:txBody>
      </p:sp>
    </p:spTree>
    <p:extLst>
      <p:ext uri="{BB962C8B-B14F-4D97-AF65-F5344CB8AC3E}">
        <p14:creationId xmlns:p14="http://schemas.microsoft.com/office/powerpoint/2010/main" val="17784721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2026-10-18T12:25:06.1140000Z</dcterms:created>
  <dcterms:modified xsi:type="dcterms:W3CDTF">2026-10-18T12:25:06.1140000Z</dcterms:modified>
</coreProperties>
</file>