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2ebbe0e4f247f7" /><Relationship Type="http://schemas.openxmlformats.org/officeDocument/2006/relationships/extended-properties" Target="/docProps/app.xml" Id="R201d95cd1a2447e0" /><Relationship Type="http://schemas.openxmlformats.org/officeDocument/2006/relationships/officeDocument" Target="/ppt/presentation.xml" Id="R7dace1a39b0e4742" /></Relationships>
</file>

<file path=ppt/presentation.xml><?xml version="1.0" encoding="utf-8"?>
<p:presentation xmlns:p="http://schemas.openxmlformats.org/presentationml/2006/main">
  <p:sldMasterIdLst>
    <p:sldMasterId xmlns:r="http://schemas.openxmlformats.org/officeDocument/2006/relationships" id="2147483648" r:id="Ref8c47e2b3cf4d0d"/>
  </p:sldMasterIdLst>
  <p:notesMasterIdLst>
    <p:notesMasterId xmlns:r="http://schemas.openxmlformats.org/officeDocument/2006/relationships" r:id="Ra2b0ba9bc5344d01"/>
  </p:notesMasterIdLst>
  <p:sldIdLst>
    <p:sldId xmlns:r="http://schemas.openxmlformats.org/officeDocument/2006/relationships" id="256" r:id="Rc2d7f9fba1154420"/>
    <p:sldId xmlns:r="http://schemas.openxmlformats.org/officeDocument/2006/relationships" id="257" r:id="R635207f3f2fa4a97"/>
    <p:sldId xmlns:r="http://schemas.openxmlformats.org/officeDocument/2006/relationships" id="258" r:id="R321cf5115a4d4278"/>
    <p:sldId xmlns:r="http://schemas.openxmlformats.org/officeDocument/2006/relationships" id="259" r:id="R6d2122cb0ef24589"/>
    <p:sldId xmlns:r="http://schemas.openxmlformats.org/officeDocument/2006/relationships" id="260" r:id="R986b118274c64cb4"/>
    <p:sldId xmlns:r="http://schemas.openxmlformats.org/officeDocument/2006/relationships" id="261" r:id="Ra0172f072dd14acd"/>
    <p:sldId xmlns:r="http://schemas.openxmlformats.org/officeDocument/2006/relationships" id="262" r:id="R9d6dde68e7bb4e6d"/>
    <p:sldId xmlns:r="http://schemas.openxmlformats.org/officeDocument/2006/relationships" id="263" r:id="R2d103c08b6354b9b"/>
    <p:sldId xmlns:r="http://schemas.openxmlformats.org/officeDocument/2006/relationships" id="264" r:id="R0c1c38e4965141a8"/>
    <p:sldId xmlns:r="http://schemas.openxmlformats.org/officeDocument/2006/relationships" id="265" r:id="R124580f36aee4efc"/>
    <p:sldId xmlns:r="http://schemas.openxmlformats.org/officeDocument/2006/relationships" id="266" r:id="Reea37fd989b64276"/>
    <p:sldId xmlns:r="http://schemas.openxmlformats.org/officeDocument/2006/relationships" id="267" r:id="R6e869eba79f14479"/>
    <p:sldId xmlns:r="http://schemas.openxmlformats.org/officeDocument/2006/relationships" id="268" r:id="R6050a724b402483c"/>
    <p:sldId xmlns:r="http://schemas.openxmlformats.org/officeDocument/2006/relationships" id="269" r:id="R7eb4f93b3941463f"/>
    <p:sldId xmlns:r="http://schemas.openxmlformats.org/officeDocument/2006/relationships" id="270" r:id="Rb3b1bfc8e9f84b0d"/>
    <p:sldId xmlns:r="http://schemas.openxmlformats.org/officeDocument/2006/relationships" id="271" r:id="Re8ab1807a3414bd4"/>
    <p:sldId xmlns:r="http://schemas.openxmlformats.org/officeDocument/2006/relationships" id="272" r:id="Rcde1ddc93ac24046"/>
    <p:sldId xmlns:r="http://schemas.openxmlformats.org/officeDocument/2006/relationships" id="273" r:id="Rd30362053c8e4f5b"/>
    <p:sldId xmlns:r="http://schemas.openxmlformats.org/officeDocument/2006/relationships" id="274" r:id="R22920ccb1e444279"/>
    <p:sldId xmlns:r="http://schemas.openxmlformats.org/officeDocument/2006/relationships" id="275" r:id="R3d3f03fa71b349ee"/>
    <p:sldId xmlns:r="http://schemas.openxmlformats.org/officeDocument/2006/relationships" id="276" r:id="R962f4d9ec20d4b83"/>
    <p:sldId xmlns:r="http://schemas.openxmlformats.org/officeDocument/2006/relationships" id="277" r:id="Refa3fa368a414a5c"/>
    <p:sldId xmlns:r="http://schemas.openxmlformats.org/officeDocument/2006/relationships" id="278" r:id="Ra8cb7d88d83a47f5"/>
    <p:sldId xmlns:r="http://schemas.openxmlformats.org/officeDocument/2006/relationships" id="279" r:id="R2961c67db21c4d76"/>
    <p:sldId xmlns:r="http://schemas.openxmlformats.org/officeDocument/2006/relationships" id="280" r:id="R1fb23277c1d242d7"/>
    <p:sldId xmlns:r="http://schemas.openxmlformats.org/officeDocument/2006/relationships" id="281" r:id="Rc5e4871d5d4f4044"/>
    <p:sldId xmlns:r="http://schemas.openxmlformats.org/officeDocument/2006/relationships" id="282" r:id="R80e62866e67f4adb"/>
    <p:sldId xmlns:r="http://schemas.openxmlformats.org/officeDocument/2006/relationships" id="283" r:id="R8cdd8482cc064d19"/>
    <p:sldId xmlns:r="http://schemas.openxmlformats.org/officeDocument/2006/relationships" id="284" r:id="R8384fd97717d4764"/>
    <p:sldId xmlns:r="http://schemas.openxmlformats.org/officeDocument/2006/relationships" id="285" r:id="R4680711911de4120"/>
    <p:sldId xmlns:r="http://schemas.openxmlformats.org/officeDocument/2006/relationships" id="286" r:id="R3694fb0e51004d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e7878225524aad" /><Relationship Type="http://schemas.openxmlformats.org/officeDocument/2006/relationships/slideMaster" Target="/ppt/slideMasters/slideMaster1.xml" Id="Ref8c47e2b3cf4d0d" /><Relationship Type="http://schemas.openxmlformats.org/officeDocument/2006/relationships/notesMaster" Target="/ppt/notesMasters/notesMaster1.xml" Id="Ra2b0ba9bc5344d01" /><Relationship Type="http://schemas.openxmlformats.org/officeDocument/2006/relationships/presProps" Target="/ppt/presProps.xml" Id="R5bc71c43bacd4384" /><Relationship Type="http://schemas.openxmlformats.org/officeDocument/2006/relationships/tableStyles" Target="/ppt/tableStyles.xml" Id="R009f56cb400c4178" /><Relationship Type="http://schemas.openxmlformats.org/officeDocument/2006/relationships/slide" Target="/ppt/slides/slide1.xml" Id="Rc2d7f9fba1154420" /><Relationship Type="http://schemas.openxmlformats.org/officeDocument/2006/relationships/slide" Target="/ppt/slides/slide2.xml" Id="R635207f3f2fa4a97" /><Relationship Type="http://schemas.openxmlformats.org/officeDocument/2006/relationships/slide" Target="/ppt/slides/slide3.xml" Id="R321cf5115a4d4278" /><Relationship Type="http://schemas.openxmlformats.org/officeDocument/2006/relationships/slide" Target="/ppt/slides/slide4.xml" Id="R6d2122cb0ef24589" /><Relationship Type="http://schemas.openxmlformats.org/officeDocument/2006/relationships/slide" Target="/ppt/slides/slide5.xml" Id="R986b118274c64cb4" /><Relationship Type="http://schemas.openxmlformats.org/officeDocument/2006/relationships/slide" Target="/ppt/slides/slide6.xml" Id="Ra0172f072dd14acd" /><Relationship Type="http://schemas.openxmlformats.org/officeDocument/2006/relationships/slide" Target="/ppt/slides/slide7.xml" Id="R9d6dde68e7bb4e6d" /><Relationship Type="http://schemas.openxmlformats.org/officeDocument/2006/relationships/slide" Target="/ppt/slides/slide8.xml" Id="R2d103c08b6354b9b" /><Relationship Type="http://schemas.openxmlformats.org/officeDocument/2006/relationships/slide" Target="/ppt/slides/slide9.xml" Id="R0c1c38e4965141a8" /><Relationship Type="http://schemas.openxmlformats.org/officeDocument/2006/relationships/slide" Target="/ppt/slides/slide10.xml" Id="R124580f36aee4efc" /><Relationship Type="http://schemas.openxmlformats.org/officeDocument/2006/relationships/slide" Target="/ppt/slides/slide11.xml" Id="Reea37fd989b64276" /><Relationship Type="http://schemas.openxmlformats.org/officeDocument/2006/relationships/slide" Target="/ppt/slides/slide12.xml" Id="R6e869eba79f14479" /><Relationship Type="http://schemas.openxmlformats.org/officeDocument/2006/relationships/slide" Target="/ppt/slides/slide13.xml" Id="R6050a724b402483c" /><Relationship Type="http://schemas.openxmlformats.org/officeDocument/2006/relationships/slide" Target="/ppt/slides/slide14.xml" Id="R7eb4f93b3941463f" /><Relationship Type="http://schemas.openxmlformats.org/officeDocument/2006/relationships/slide" Target="/ppt/slides/slide15.xml" Id="Rb3b1bfc8e9f84b0d" /><Relationship Type="http://schemas.openxmlformats.org/officeDocument/2006/relationships/slide" Target="/ppt/slides/slide16.xml" Id="Re8ab1807a3414bd4" /><Relationship Type="http://schemas.openxmlformats.org/officeDocument/2006/relationships/slide" Target="/ppt/slides/slide17.xml" Id="Rcde1ddc93ac24046" /><Relationship Type="http://schemas.openxmlformats.org/officeDocument/2006/relationships/slide" Target="/ppt/slides/slide18.xml" Id="Rd30362053c8e4f5b" /><Relationship Type="http://schemas.openxmlformats.org/officeDocument/2006/relationships/slide" Target="/ppt/slides/slide19.xml" Id="R22920ccb1e444279" /><Relationship Type="http://schemas.openxmlformats.org/officeDocument/2006/relationships/slide" Target="/ppt/slides/slide20.xml" Id="R3d3f03fa71b349ee" /><Relationship Type="http://schemas.openxmlformats.org/officeDocument/2006/relationships/slide" Target="/ppt/slides/slide21.xml" Id="R962f4d9ec20d4b83" /><Relationship Type="http://schemas.openxmlformats.org/officeDocument/2006/relationships/slide" Target="/ppt/slides/slide22.xml" Id="Refa3fa368a414a5c" /><Relationship Type="http://schemas.openxmlformats.org/officeDocument/2006/relationships/slide" Target="/ppt/slides/slide23.xml" Id="Ra8cb7d88d83a47f5" /><Relationship Type="http://schemas.openxmlformats.org/officeDocument/2006/relationships/slide" Target="/ppt/slides/slide24.xml" Id="R2961c67db21c4d76" /><Relationship Type="http://schemas.openxmlformats.org/officeDocument/2006/relationships/slide" Target="/ppt/slides/slide25.xml" Id="R1fb23277c1d242d7" /><Relationship Type="http://schemas.openxmlformats.org/officeDocument/2006/relationships/slide" Target="/ppt/slides/slide26.xml" Id="Rc5e4871d5d4f4044" /><Relationship Type="http://schemas.openxmlformats.org/officeDocument/2006/relationships/slide" Target="/ppt/slides/slide27.xml" Id="R80e62866e67f4adb" /><Relationship Type="http://schemas.openxmlformats.org/officeDocument/2006/relationships/slide" Target="/ppt/slides/slide28.xml" Id="R8cdd8482cc064d19" /><Relationship Type="http://schemas.openxmlformats.org/officeDocument/2006/relationships/slide" Target="/ppt/slides/slide29.xml" Id="R8384fd97717d4764" /><Relationship Type="http://schemas.openxmlformats.org/officeDocument/2006/relationships/slide" Target="/ppt/slides/slide30.xml" Id="R4680711911de4120" /><Relationship Type="http://schemas.openxmlformats.org/officeDocument/2006/relationships/slide" Target="/ppt/slides/slide31.xml" Id="R3694fb0e51004d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a6002d104d46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c72b9309cc4fc5" /><Relationship Type="http://schemas.openxmlformats.org/officeDocument/2006/relationships/notesMaster" Target="/ppt/notesMasters/notesMaster1.xml" Id="Rf4f04a8e96814d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bb7d9fbddd4265" /><Relationship Type="http://schemas.openxmlformats.org/officeDocument/2006/relationships/notesMaster" Target="/ppt/notesMasters/notesMaster1.xml" Id="R8610ee0cb1bc44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17a5022ee4225" /><Relationship Type="http://schemas.openxmlformats.org/officeDocument/2006/relationships/notesMaster" Target="/ppt/notesMasters/notesMaster1.xml" Id="R1840dcc0fabc43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33ad864a514d21" /><Relationship Type="http://schemas.openxmlformats.org/officeDocument/2006/relationships/notesMaster" Target="/ppt/notesMasters/notesMaster1.xml" Id="R02dbce312e9743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037e219be34591" /><Relationship Type="http://schemas.openxmlformats.org/officeDocument/2006/relationships/notesMaster" Target="/ppt/notesMasters/notesMaster1.xml" Id="R00a5fc89a8b145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b14403989f40bc" /><Relationship Type="http://schemas.openxmlformats.org/officeDocument/2006/relationships/notesMaster" Target="/ppt/notesMasters/notesMaster1.xml" Id="R1cc15c14896f49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1a7642d6814f6a" /><Relationship Type="http://schemas.openxmlformats.org/officeDocument/2006/relationships/notesMaster" Target="/ppt/notesMasters/notesMaster1.xml" Id="Rf2397beb049b4b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b921c1b6a403f" /><Relationship Type="http://schemas.openxmlformats.org/officeDocument/2006/relationships/notesMaster" Target="/ppt/notesMasters/notesMaster1.xml" Id="R1c00c32bdb0d4d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ed1451f2c9473e" /><Relationship Type="http://schemas.openxmlformats.org/officeDocument/2006/relationships/notesMaster" Target="/ppt/notesMasters/notesMaster1.xml" Id="R58b3c4f614354a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29e7e0a5bc45bc" /><Relationship Type="http://schemas.openxmlformats.org/officeDocument/2006/relationships/notesMaster" Target="/ppt/notesMasters/notesMaster1.xml" Id="Rb4591f3799d049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9c59ccd4944fcc" /><Relationship Type="http://schemas.openxmlformats.org/officeDocument/2006/relationships/notesMaster" Target="/ppt/notesMasters/notesMaster1.xml" Id="R5c1eb26c768840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7bcf391ff048f3" /><Relationship Type="http://schemas.openxmlformats.org/officeDocument/2006/relationships/notesMaster" Target="/ppt/notesMasters/notesMaster1.xml" Id="R3bf6b18cf1e64d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49a32160ff4613" /><Relationship Type="http://schemas.openxmlformats.org/officeDocument/2006/relationships/notesMaster" Target="/ppt/notesMasters/notesMaster1.xml" Id="R187bcd67ca514f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268f5a60954df7" /><Relationship Type="http://schemas.openxmlformats.org/officeDocument/2006/relationships/notesMaster" Target="/ppt/notesMasters/notesMaster1.xml" Id="R6deaf79e15ca48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54bd1376ef4c35" /><Relationship Type="http://schemas.openxmlformats.org/officeDocument/2006/relationships/notesMaster" Target="/ppt/notesMasters/notesMaster1.xml" Id="Rba2b08ed1f1b4d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0f1d1edb9c406a" /><Relationship Type="http://schemas.openxmlformats.org/officeDocument/2006/relationships/notesMaster" Target="/ppt/notesMasters/notesMaster1.xml" Id="R8e76ad73883f4b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ef602e53ed4da2" /><Relationship Type="http://schemas.openxmlformats.org/officeDocument/2006/relationships/notesMaster" Target="/ppt/notesMasters/notesMaster1.xml" Id="R26be10c0e6ad48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1ebf6f7afe4b51" /><Relationship Type="http://schemas.openxmlformats.org/officeDocument/2006/relationships/notesMaster" Target="/ppt/notesMasters/notesMaster1.xml" Id="R309307ab63094b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0d610fd737476a" /><Relationship Type="http://schemas.openxmlformats.org/officeDocument/2006/relationships/notesMaster" Target="/ppt/notesMasters/notesMaster1.xml" Id="R8970786ba96f44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8f0e5d93a643c8" /><Relationship Type="http://schemas.openxmlformats.org/officeDocument/2006/relationships/notesMaster" Target="/ppt/notesMasters/notesMaster1.xml" Id="R51e244502cb14f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ba97acc136456e" /><Relationship Type="http://schemas.openxmlformats.org/officeDocument/2006/relationships/notesMaster" Target="/ppt/notesMasters/notesMaster1.xml" Id="Rbb3616fd19af40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54e9e9d59e4594" /><Relationship Type="http://schemas.openxmlformats.org/officeDocument/2006/relationships/notesMaster" Target="/ppt/notesMasters/notesMaster1.xml" Id="Rd4635d2145594a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0e3253e6984648" /><Relationship Type="http://schemas.openxmlformats.org/officeDocument/2006/relationships/notesMaster" Target="/ppt/notesMasters/notesMaster1.xml" Id="R0390dc4290714d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9b20557b8b46b0" /><Relationship Type="http://schemas.openxmlformats.org/officeDocument/2006/relationships/notesMaster" Target="/ppt/notesMasters/notesMaster1.xml" Id="Ra52d9593bf184b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9a75ade774b48a8" /><Relationship Type="http://schemas.openxmlformats.org/officeDocument/2006/relationships/notesMaster" Target="/ppt/notesMasters/notesMaster1.xml" Id="R96e4719c79464e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5dcea58ba224357" /><Relationship Type="http://schemas.openxmlformats.org/officeDocument/2006/relationships/notesMaster" Target="/ppt/notesMasters/notesMaster1.xml" Id="R5191a6457def41b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6049b3961b4921" /><Relationship Type="http://schemas.openxmlformats.org/officeDocument/2006/relationships/notesMaster" Target="/ppt/notesMasters/notesMaster1.xml" Id="R635dd42ef3f948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2538d965794836" /><Relationship Type="http://schemas.openxmlformats.org/officeDocument/2006/relationships/notesMaster" Target="/ppt/notesMasters/notesMaster1.xml" Id="R38b0de5fd4b049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924204c15d54859" /><Relationship Type="http://schemas.openxmlformats.org/officeDocument/2006/relationships/notesMaster" Target="/ppt/notesMasters/notesMaster1.xml" Id="R01c8a2c2b5fa42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8aea6a82ae4584" /><Relationship Type="http://schemas.openxmlformats.org/officeDocument/2006/relationships/notesMaster" Target="/ppt/notesMasters/notesMaster1.xml" Id="Rcd5d44349c76497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d4979f714134038" /><Relationship Type="http://schemas.openxmlformats.org/officeDocument/2006/relationships/notesMaster" Target="/ppt/notesMasters/notesMaster1.xml" Id="R0d1c2c0a1efa47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we will present Phase Two of our MCP academic assistant. We added more data and new tools for teachers, attendance, conduct and finance. We will explain the test situations, the settings we used and the results. We will also discuss what worked, what needs care and how we can improve the system.</a:t>
            </a:r>
          </a:p>
          <a:p xmlns:a="http://schemas.openxmlformats.org/drawingml/2006/main">
            <a:r>
              <a:t/>
            </a:r>
          </a:p>
          <a:p xmlns:a="http://schemas.openxmlformats.org/drawingml/2006/main">
            <a:r>
              <a:t>Sources: TASKS.md; Khoa final test pack</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Two asks for more than new code. We need useful situations that show what the assistant can do. We also need settings, results, comparisons and comments. A log must support each measured result. Our presentation follows these parts. We use generated sample data, so the people, grades and money values in the examples are for testing.</a:t>
            </a:r>
          </a:p>
          <a:p xmlns:a="http://schemas.openxmlformats.org/drawingml/2006/main">
            <a:r>
              <a:t/>
            </a:r>
          </a:p>
          <a:p xmlns:a="http://schemas.openxmlformats.org/drawingml/2006/main">
            <a:r>
              <a:t>Sources: phase2/requirement.md; TASKS.md</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starts with a normal question. The host gives the language model a list of tools. The model chooses a tool and supplies its arguments. The host sends the request to an MCP server. The server reads the data and calculates the result. Finally, the model explains that result. Important calculations stay in code instead of being left to the model.</a:t>
            </a:r>
          </a:p>
          <a:p xmlns:a="http://schemas.openxmlformats.org/drawingml/2006/main">
            <a:r>
              <a:t/>
            </a:r>
          </a:p>
          <a:p xmlns:a="http://schemas.openxmlformats.org/drawingml/2006/main">
            <a:r>
              <a:t>Sources: mcp-academic/docs/architecture.md; src/host/host.ts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shared test set uses academic and utility on main. Together they expose twenty tools. Finance is a separate pending feature with seven tools. Its sample data is different, so we keep its questions and examples provisional until it is rebased and merged. The main benchmark does not enable finance.</a:t>
            </a:r>
          </a:p>
          <a:p xmlns:a="http://schemas.openxmlformats.org/drawingml/2006/main">
            <a:r>
              <a:t/>
            </a:r>
          </a:p>
          <a:p xmlns:a="http://schemas.openxmlformats.org/drawingml/2006/main">
            <a:r>
              <a:t>Sources: Current check-stdio.jsonl capabilities; finance PR2 feature snapshot</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academic sample on main has forty valid students, twenty teachers and forty-one sections. It also has two hundred and sixty-one valid grade rows, attendance records and conduct scores. Finance is still in a separate pull request. Its teacher and conduct records differ. We exclude those financial expectations from the shared test file and label them provisional in the workbook.</a:t>
            </a:r>
          </a:p>
          <a:p xmlns:a="http://schemas.openxmlformats.org/drawingml/2006/main">
            <a:r>
              <a:t/>
            </a:r>
          </a:p>
          <a:p xmlns:a="http://schemas.openxmlformats.org/drawingml/2006/main">
            <a:r>
              <a:t>Sources: mcp-academic/data/sample/README_data.md; sources.json</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CSV file can contain a row that looks correct but refers to an unknown student or course. The data loader checks these links. It also checks duplicate IDs, missing scores and scores outside the valid range. For a grade, the course, semester and student’s class must match a section. Invalid rows are reported and excluded from academic calculations.</a:t>
            </a:r>
          </a:p>
          <a:p xmlns:a="http://schemas.openxmlformats.org/drawingml/2006/main">
            <a:r>
              <a:t/>
            </a:r>
          </a:p>
          <a:p xmlns:a="http://schemas.openxmlformats.org/drawingml/2006/main">
            <a:r>
              <a:t>Sources: src/server/academic/data.ts; data/sample/README_data.md</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Phu’s first tools help us find teachers and class schedules. We can search by a teacher ID or use faculty and title filters. A timetable question needs both the class and semester. In our sample, class IT zero one has three sections in semester twenty twenty-four dash one. If the class does not exist, the tool returns an error instead of inventing a schedule.</a:t>
            </a:r>
          </a:p>
          <a:p xmlns:a="http://schemas.openxmlformats.org/drawingml/2006/main">
            <a:r>
              <a:t/>
            </a:r>
          </a:p>
          <a:p xmlns:a="http://schemas.openxmlformats.org/drawingml/2006/main">
            <a:r>
              <a:t>Sources: K01 to K03; academic tools.ts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workload tool reports both sections and weekly teaching periods. T zero zero one has three sections with three periods each, so the total is nine periods per week. A future semester with no assignments returns zero. The grade report counts graded enrolments across sections. It reports thirty enrolments, a mean score of seven point four and a pass rate of ninety percent.</a:t>
            </a:r>
          </a:p>
          <a:p xmlns:a="http://schemas.openxmlformats.org/drawingml/2006/main">
            <a:r>
              <a:t/>
            </a:r>
          </a:p>
          <a:p xmlns:a="http://schemas.openxmlformats.org/drawingml/2006/main">
            <a:r>
              <a:t>Sources: K04 to K06; Excel Answers and Grades sheets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Hoang’s attendance rule uses a strict greater-than comparison. Three absences out of fifteen meetings equal twenty percent. That does not cross the limit. Four absences give about twenty-six point seven percent, so the student is banned from the exam in that section. These cases are useful because a small change from greater than to greater than or equal would change the first answer.</a:t>
            </a:r>
          </a:p>
          <a:p xmlns:a="http://schemas.openxmlformats.org/drawingml/2006/main">
            <a:r>
              <a:t/>
            </a:r>
          </a:p>
          <a:p xmlns:a="http://schemas.openxmlformats.org/drawingml/2006/main">
            <a:r>
              <a:t>Sources: K07 and K08; config/academic-rules.json</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Conduct scores use a scale from zero to one hundred. The classification bands are stored in a configuration file. A score of ninety is Excellent, and a score of fifty is Average. The model should report the tool’s classification. It should not create a new grading scale. We tested both a high score and an exact band boundary.</a:t>
            </a:r>
          </a:p>
          <a:p xmlns:a="http://schemas.openxmlformats.org/drawingml/2006/main">
            <a:r>
              <a:t/>
            </a:r>
          </a:p>
          <a:p xmlns:a="http://schemas.openxmlformats.org/drawingml/2006/main">
            <a:r>
              <a:t>Sources: config/academic-rules.json; K10 and K11</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flags a student when any configured risk condition applies. A student does not need to fail all three checks. In semester twenty twenty-four dash one, two of ten students in IT zero one are flagged. Four of twenty students in Business Administration are flagged. A useful answer must also include the actual reasons, not only the total count.</a:t>
            </a:r>
          </a:p>
          <a:p xmlns:a="http://schemas.openxmlformats.org/drawingml/2006/main">
            <a:r>
              <a:t/>
            </a:r>
          </a:p>
          <a:p xmlns:a="http://schemas.openxmlformats.org/drawingml/2006/main">
            <a:r>
              <a:t>Sources: K12 and K13; academic tools.ts, at_risk_students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advising meeting needs more than GPA. The assistant should combine the transcript, attendance and conduct for the same student and semester. Our question asks for these parts together. The advisor meeting prompt helps prepare that context. When we review the final answer, we should check that it keeps important exam restrictions and gives advice that follows from the records.</a:t>
            </a:r>
          </a:p>
          <a:p xmlns:a="http://schemas.openxmlformats.org/drawingml/2006/main">
            <a:r>
              <a:t/>
            </a:r>
          </a:p>
          <a:p xmlns:a="http://schemas.openxmlformats.org/drawingml/2006/main">
            <a:r>
              <a:t>Sources: K15; academic prompts.ts, advisor_meeting</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provisional tuition example from the finance pull request. The server calculates the amount due, the amount paid and the remaining balance. A balance is the amount due minus the amount paid. These figures were measured on the older finance snapshot. We keep them for explaining the feature, but we must recalculate them after finance uses the shared data on main.</a:t>
            </a:r>
          </a:p>
          <a:p xmlns:a="http://schemas.openxmlformats.org/drawingml/2006/main">
            <a:r>
              <a:t/>
            </a:r>
          </a:p>
          <a:p xmlns:a="http://schemas.openxmlformats.org/drawingml/2006/main">
            <a:r>
              <a:t>Sources: finance-pending.csv K16–K19; provisional PR2 snapshot 530d5da</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pending finance feature checks several conditions for a scholarship. A high GPA alone is not enough. The code also checks conduct, paid tuition and owed courses. We can explain these rules now. However, the financial test expectations remain provisional until the feature uses the same student and conduct data as main.</a:t>
            </a:r>
          </a:p>
          <a:p xmlns:a="http://schemas.openxmlformats.org/drawingml/2006/main">
            <a:r>
              <a:t/>
            </a:r>
          </a:p>
          <a:p xmlns:a="http://schemas.openxmlformats.org/drawingml/2006/main">
            <a:r>
              <a:t>Sources: K20 and K21; finance rules.ts and scholarships.csv</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ranking is an example from the older finance snapshot. Nine candidates qualify and student two two zero one zero one six ranks first. Those numbers are provisional. They do not describe the current shared dataset. After finance is rebased and merged, we will recalculate the candidate list from the common CSV files before restoring this test to the benchmark.</a:t>
            </a:r>
          </a:p>
          <a:p xmlns:a="http://schemas.openxmlformats.org/drawingml/2006/main">
            <a:r>
              <a:t/>
            </a:r>
          </a:p>
          <a:p xmlns:a="http://schemas.openxmlformats.org/drawingml/2006/main">
            <a:r>
              <a:t>Sources: finance-pending.csv K21; provisional PR2 snapshot 530d5da</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pending payroll feature uses assigned sections and a payroll row. It converts weekly teaching periods to monthly periods, selects the rate by teacher title, adds teaching pay and bonuses, then subtracts deductions. Teacher T zero zero one in the old finance snapshot is a different record from T zero zero one on main. We therefore keep this payroll example separate and provisional. All payroll data is fictional.</a:t>
            </a:r>
          </a:p>
          <a:p xmlns:a="http://schemas.openxmlformats.org/drawingml/2006/main">
            <a:r>
              <a:t/>
            </a:r>
          </a:p>
          <a:p xmlns:a="http://schemas.openxmlformats.org/drawingml/2006/main">
            <a:r>
              <a:t>Sources: K22 and K23; finance/config/finance.json and rules.ts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Finance also introduces an access boundary. Without finance tools, the assistant should explain that it cannot answer a money question. It must not guess. Tien’s tests show that scholarship questions still need care, because a model can answer from GPA alone when the correct tool is missing. A payroll approval is different from reading a salary: it must ask for confirmation before changing state.</a:t>
            </a:r>
          </a:p>
          <a:p xmlns:a="http://schemas.openxmlformats.org/drawingml/2006/main">
            <a:r>
              <a:t/>
            </a:r>
          </a:p>
          <a:p xmlns:a="http://schemas.openxmlformats.org/drawingml/2006/main">
            <a:r>
              <a:t>Sources: Pending finance PR2 least-privilege and elicitation experiments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test file now contains fifteen natural English questions, all using main. It covers teacher tools, attendance, conduct, risk and advising. The nine finance questions are in a separate provisional file. The workbook contains twenty-nine source-linked metrics for the shared cases and twenty-six provisional finance metrics. Only the fifteen shared cases should be copied into the current team benchmark.</a:t>
            </a:r>
          </a:p>
          <a:p xmlns:a="http://schemas.openxmlformats.org/drawingml/2006/main">
            <a:r>
              <a:t/>
            </a:r>
          </a:p>
          <a:p xmlns:a="http://schemas.openxmlformats.org/drawingml/2006/main">
            <a:r>
              <a:t>Sources: phase2/test-cases.csv; finance-pending.csv; workbook scope columns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check the scope column in the workbook. Main rows belong to the shared benchmark. Provisional rows belong to the pending finance snapshot. Next, read the arithmetic on the Manual sheet and follow the source-linked formulas on Answers. We checked the exact absence boundary and the risk reasons against the raw CSV files. Finally, compare the result and its explanation with the log.</a:t>
            </a:r>
          </a:p>
          <a:p xmlns:a="http://schemas.openxmlformats.org/drawingml/2006/main">
            <a:r>
              <a:t/>
            </a:r>
          </a:p>
          <a:p xmlns:a="http://schemas.openxmlformats.org/drawingml/2006/main">
            <a:r>
              <a:t>Sources: test-reference.xlsx, Answers and source sheets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main-only Gemini run uses Flash Lite with temperature zero point two and a maximum of eight tool rounds. Each question starts a fresh conversation. Fallback is disabled. The configuration enables academic and utility only. The committed runner reads the fifteen questions directly from the shared CSV and records the configuration and source hashes.</a:t>
            </a:r>
          </a:p>
          <a:p xmlns:a="http://schemas.openxmlformats.org/drawingml/2006/main">
            <a:r>
              <a:t/>
            </a:r>
          </a:p>
          <a:p xmlns:a="http://schemas.openxmlformats.org/drawingml/2006/main">
            <a:r>
              <a:t>Sources: Current configs/host-stdio.json; current gemini-stdio.jsonl metadata</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new runs use only the fifteen shared cases on main. We ran the committed script through direct MCP over standard input and output, direct MCP over HTTP, and Gemini. The table shows the measured results from those logs. The earlier twenty-four-case run is saved separately as historical evidence because it mixed two snapshots. It is not the shared benchmark result.</a:t>
            </a:r>
          </a:p>
          <a:p xmlns:a="http://schemas.openxmlformats.org/drawingml/2006/main">
            <a:r>
              <a:t/>
            </a:r>
          </a:p>
          <a:p xmlns:a="http://schemas.openxmlformats.org/drawingml/2006/main">
            <a:r>
              <a:t>Sources: Current check-stdio.jsonl, check-http.jsonl, gemini-stdio.jsonl; committed run-khoa-cases.ts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times and token totals come from the new main-only run. Direct MCP time measures the local tool path. Gemini time also includes model requests and any retries inside a question. The pacing gap between questions is outside the per-question measurement. One run is a small sample, so we report these observations without claiming that one transport is always faster.</a:t>
            </a:r>
          </a:p>
          <a:p xmlns:a="http://schemas.openxmlformats.org/drawingml/2006/main">
            <a:r>
              <a:t/>
            </a:r>
          </a:p>
          <a:p xmlns:a="http://schemas.openxmlformats.org/drawingml/2006/main">
            <a:r>
              <a:t>Sources: Current comparison.csv and Gemini provider usage</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Hoang’s separate experiment uses maximum tool-round settings of two, four and eight. The report workflow completed in two rounds in each of those runs. This means that two rounds were enough for that tested workflow. It does not mean two rounds are enough for every question. More rounds can leave room for correcting an invalid call or completing a longer chain.</a:t>
            </a:r>
          </a:p>
          <a:p xmlns:a="http://schemas.openxmlformats.org/drawingml/2006/main">
            <a:r>
              <a:t/>
            </a:r>
          </a:p>
          <a:p xmlns:a="http://schemas.openxmlformats.org/drawingml/2006/main">
            <a:r>
              <a:t>Sources: phase2/runs/hoang/maxToolRounds-*.jsonl; docs/experiments.md</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Hoang also ran six questions at each of three temperatures. The output-token totals come from his raw logs. Temperature zero point two used fewer output tokens in these runs than zero or one. The answers still need to be checked for content. This small experiment supports a concise default for the demo, but it does not prove that one temperature is best for every task.</a:t>
            </a:r>
          </a:p>
          <a:p xmlns:a="http://schemas.openxmlformats.org/drawingml/2006/main">
            <a:r>
              <a:t/>
            </a:r>
          </a:p>
          <a:p xmlns:a="http://schemas.openxmlformats.org/drawingml/2006/main">
            <a:r>
              <a:t>Sources: phase2/runs/hoang/temperature-*.jsonl</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descriptions can affect both tool choice and prompt size. A clear description tells the model when to use the tool and what each parameter means. A shorter description may save space. However, changing the host’s system prompt is not the same as shortening the registered tool schemas. The current report marks the genuine terse-schema comparison as not measured, so we do not invent an accuracy difference.</a:t>
            </a:r>
          </a:p>
          <a:p xmlns:a="http://schemas.openxmlformats.org/drawingml/2006/main">
            <a:r>
              <a:t/>
            </a:r>
          </a:p>
          <a:p xmlns:a="http://schemas.openxmlformats.org/drawingml/2006/main">
            <a:r>
              <a:t>Sources: mcp-academic/docs/experiments.md, Experiment 1</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model comparison used eleven cases, with two runs per model, on another machine. All three measured models passed those turns. The instruct model was faster than the thinking model in that test. These are historical results. They are separate from the new fifteen-case Gemini run on main and do not provide a new direct Qwen comparison on this machine.</a:t>
            </a:r>
          </a:p>
          <a:p xmlns:a="http://schemas.openxmlformats.org/drawingml/2006/main">
            <a:r>
              <a:t/>
            </a:r>
          </a:p>
          <a:p xmlns:a="http://schemas.openxmlformats.org/drawingml/2006/main">
            <a:r>
              <a:t>Sources: mcp-academic/docs/model-comparison.md; docs/model-observations.md, 2026-09-21</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academic and utility configuration exposes twenty tools. The historical configuration with provisional finance exposed twenty-seven. Tien also measured an earlier tool set on Qwen, using about two thousand nine hundred and eighty-one prompt tokens in an eight-thousand-one-hundred-and-ninety-two-token context. A matching tool count does not prove a matching token budget. We should measure the actual final tool schemas after finance merges.</a:t>
            </a:r>
          </a:p>
          <a:p xmlns:a="http://schemas.openxmlformats.org/drawingml/2006/main">
            <a:r>
              <a:t/>
            </a:r>
          </a:p>
          <a:p xmlns:a="http://schemas.openxmlformats.org/drawingml/2006/main">
            <a:r>
              <a:t>Sources: Current and historical capabilities; finance PR2 F2 experiment</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improvements follow observed problems. A grade update keeps omitted scores unchanged. The host follows the language of the question. Benchmarks disable fallback. In the new Khoa run, we clarified that a risk result reports the maximum section absence rate, while the attendance summary reports the aggregate rate for its scope. The earlier wording mistake and the corrected answer are kept in separate logs for comparison.</a:t>
            </a:r>
          </a:p>
          <a:p xmlns:a="http://schemas.openxmlformats.org/drawingml/2006/main">
            <a:r>
              <a:t/>
            </a:r>
          </a:p>
          <a:p xmlns:a="http://schemas.openxmlformats.org/drawingml/2006/main">
            <a:r>
              <a:t>Sources: phase2/improvements.md; docs/model-observations.md; Khoa Excel key</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limitation is the pending finance integration. We have moved those nine questions out of the shared CSV. After finance is rebased and merged, we must replace the provisional teacher, section and conduct inputs with the shared data, recalculate the financial answers and run the tests again. The historical logs stay unchanged as evidence of what was measured before the review.</a:t>
            </a:r>
          </a:p>
          <a:p xmlns:a="http://schemas.openxmlformats.org/drawingml/2006/main">
            <a:r>
              <a:t/>
            </a:r>
          </a:p>
          <a:p xmlns:a="http://schemas.openxmlformats.org/drawingml/2006/main">
            <a:r>
              <a:t>Sources: Khoa sources and logs; docs/experiments.md limits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demonstration uses the current shared dataset. Start with the workload of teacher T zero zero one. Then compare the two attendance boundary cases. Next, ask for the risk reasons in class IT zero one. Finally, open the current log and show the actual tool call and result. Finance examples can be explained from the slides, but they are provisional and are not part of this live main-only demonstration.</a:t>
            </a:r>
          </a:p>
          <a:p xmlns:a="http://schemas.openxmlformats.org/drawingml/2006/main">
            <a:r>
              <a:t/>
            </a:r>
          </a:p>
          <a:p xmlns:a="http://schemas.openxmlformats.org/drawingml/2006/main">
            <a:r>
              <a:t>Sources: Shared cases K04, K07, K08, K12 and current logs</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finish, Phase Two makes the assistant useful for more university situations. The servers calculate the important values, and the Excel key connects those values to the CSV data. Settings affect response time, output length and the room available for error recovery. The logs let us inspect what really happened. Thank you for listening. We are ready for your questions.</a:t>
            </a:r>
          </a:p>
          <a:p xmlns:a="http://schemas.openxmlformats.org/drawingml/2006/main">
            <a:r>
              <a:t/>
            </a:r>
          </a:p>
          <a:p xmlns:a="http://schemas.openxmlformats.org/drawingml/2006/main">
            <a:r>
              <a:t>Sources: Khoa final pack; phase2/improvements.md</a:t>
            </a:r>
          </a:p>
          <a:p xmlns:a="http://schemas.openxmlformats.org/drawingml/2006/main">
            <a:r>
              <a:t>Data is synthetic. Shared runs use main only. Finance examples are provisional PR2 snapshots and excluded from the shared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265351966d40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2ac3bc6f8044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e1b3995fcd42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dffe2be56d41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540296ec034e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ba18b331924d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44D4C0-2A4A-4646-8DD8-8C996A9189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AB383D-B967-4229-BF78-078C3E06F2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AC513E-5487-4240-A353-4AE2798D38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EA200B-2A0A-447C-87B1-9BFD067BCF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041B9C-2E37-4A89-9B6C-2348D8461B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CD6AAB-39D6-4D18-9A1E-16A443EFAD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8E1E8A-7FAA-4672-8999-BDA74B1BFC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1992B6-B23F-4999-8A8B-4A2535F138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C9EBE3-090A-40F6-A781-F113508043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D4006-BCD4-4603-A4F6-7B20DBA3AD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bb876496cc4876" /><Relationship Type="http://schemas.openxmlformats.org/officeDocument/2006/relationships/slideLayout" Target="/ppt/slideLayouts/slideLayout1.xml" Id="R78b588a67a694b88" /><Relationship Type="http://schemas.openxmlformats.org/officeDocument/2006/relationships/slideLayout" Target="/ppt/slideLayouts/slideLayout2.xml" Id="Rf67d9b5940054440" /><Relationship Type="http://schemas.openxmlformats.org/officeDocument/2006/relationships/slideLayout" Target="/ppt/slideLayouts/slideLayout3.xml" Id="Re878cd4d9a194d72" /><Relationship Type="http://schemas.openxmlformats.org/officeDocument/2006/relationships/slideLayout" Target="/ppt/slideLayouts/slideLayout4.xml" Id="R61bc8fd6931f4343" /><Relationship Type="http://schemas.openxmlformats.org/officeDocument/2006/relationships/slideLayout" Target="/ppt/slideLayouts/slideLayout5.xml" Id="Rb2aacf96d33444d1" /><Relationship Type="http://schemas.openxmlformats.org/officeDocument/2006/relationships/slideLayout" Target="/ppt/slideLayouts/slideLayout6.xml" Id="R2252901a3e794c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b588a67a694b88"/>
    <p:sldLayoutId xmlns:r="http://schemas.openxmlformats.org/officeDocument/2006/relationships" id="2147483650" r:id="Rf67d9b5940054440"/>
    <p:sldLayoutId xmlns:r="http://schemas.openxmlformats.org/officeDocument/2006/relationships" id="2147483651" r:id="Re878cd4d9a194d72"/>
    <p:sldLayoutId xmlns:r="http://schemas.openxmlformats.org/officeDocument/2006/relationships" id="2147483652" r:id="R61bc8fd6931f4343"/>
    <p:sldLayoutId xmlns:r="http://schemas.openxmlformats.org/officeDocument/2006/relationships" id="2147483653" r:id="Rb2aacf96d33444d1"/>
    <p:sldLayoutId xmlns:r="http://schemas.openxmlformats.org/officeDocument/2006/relationships" id="2147483654" r:id="R2252901a3e794c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093eef9b2d436f" /><Relationship Type="http://schemas.openxmlformats.org/officeDocument/2006/relationships/notesSlide" Target="/ppt/notesSlides/notesSlide1.xml" Id="R432d32dde0df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f91c5e6d604842" /><Relationship Type="http://schemas.openxmlformats.org/officeDocument/2006/relationships/notesSlide" Target="/ppt/notesSlides/notesSlide2.xml" Id="R94db066ac8cf4d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f977989a104759" /><Relationship Type="http://schemas.openxmlformats.org/officeDocument/2006/relationships/notesSlide" Target="/ppt/notesSlides/notesSlide3.xml" Id="R37fce80edd9848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1e6097484b4060" /><Relationship Type="http://schemas.openxmlformats.org/officeDocument/2006/relationships/notesSlide" Target="/ppt/notesSlides/notesSlide4.xml" Id="R6cc9f24e79544d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20c44d1c204513" /><Relationship Type="http://schemas.openxmlformats.org/officeDocument/2006/relationships/notesSlide" Target="/ppt/notesSlides/notesSlide5.xml" Id="R4286780be55148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08e901cb67496e" /><Relationship Type="http://schemas.openxmlformats.org/officeDocument/2006/relationships/notesSlide" Target="/ppt/notesSlides/notesSlide6.xml" Id="R5fb07cd5bfac4f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6442ad719546f0" /><Relationship Type="http://schemas.openxmlformats.org/officeDocument/2006/relationships/notesSlide" Target="/ppt/notesSlides/notesSlide7.xml" Id="R9472e1aebd954b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c0828523954f41" /><Relationship Type="http://schemas.openxmlformats.org/officeDocument/2006/relationships/notesSlide" Target="/ppt/notesSlides/notesSlide8.xml" Id="Rc435524b2b6b46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725b6838a240fe" /><Relationship Type="http://schemas.openxmlformats.org/officeDocument/2006/relationships/notesSlide" Target="/ppt/notesSlides/notesSlide9.xml" Id="R6f34ab963c2448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1933ae456a43da" /><Relationship Type="http://schemas.openxmlformats.org/officeDocument/2006/relationships/notesSlide" Target="/ppt/notesSlides/notesSlide10.xml" Id="R00df7078428b41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a2c3443a4d4603" /><Relationship Type="http://schemas.openxmlformats.org/officeDocument/2006/relationships/notesSlide" Target="/ppt/notesSlides/notesSlide11.xml" Id="R057e9cbbe9874e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f059c5bb21408f" /><Relationship Type="http://schemas.openxmlformats.org/officeDocument/2006/relationships/notesSlide" Target="/ppt/notesSlides/notesSlide12.xml" Id="Rb32c1741358d43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460b604520343c1" /><Relationship Type="http://schemas.openxmlformats.org/officeDocument/2006/relationships/notesSlide" Target="/ppt/notesSlides/notesSlide13.xml" Id="Rca1cf875351841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b019d3fa16433f" /><Relationship Type="http://schemas.openxmlformats.org/officeDocument/2006/relationships/notesSlide" Target="/ppt/notesSlides/notesSlide14.xml" Id="Re20b401613c640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248d6e9caa64742" /><Relationship Type="http://schemas.openxmlformats.org/officeDocument/2006/relationships/notesSlide" Target="/ppt/notesSlides/notesSlide15.xml" Id="R07599aee62f340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8e6eedf3d04390" /><Relationship Type="http://schemas.openxmlformats.org/officeDocument/2006/relationships/notesSlide" Target="/ppt/notesSlides/notesSlide16.xml" Id="Rb7941f7b453c46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46da63867314204" /><Relationship Type="http://schemas.openxmlformats.org/officeDocument/2006/relationships/notesSlide" Target="/ppt/notesSlides/notesSlide17.xml" Id="R5f3428b575d14e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bfc3b36726042e5" /><Relationship Type="http://schemas.openxmlformats.org/officeDocument/2006/relationships/notesSlide" Target="/ppt/notesSlides/notesSlide18.xml" Id="R965d589b1f8a4c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e7a983d4ef149b9" /><Relationship Type="http://schemas.openxmlformats.org/officeDocument/2006/relationships/notesSlide" Target="/ppt/notesSlides/notesSlide19.xml" Id="R7386ae727a2141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5d91cd2a1414dd5" /><Relationship Type="http://schemas.openxmlformats.org/officeDocument/2006/relationships/notesSlide" Target="/ppt/notesSlides/notesSlide20.xml" Id="Ra49b51e2ee51470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4221bbec6e40fb" /><Relationship Type="http://schemas.openxmlformats.org/officeDocument/2006/relationships/notesSlide" Target="/ppt/notesSlides/notesSlide21.xml" Id="R2f9877ef13774c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22a09278274053" /><Relationship Type="http://schemas.openxmlformats.org/officeDocument/2006/relationships/notesSlide" Target="/ppt/notesSlides/notesSlide22.xml" Id="R767d2f593d4143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779ff9acd1473a" /><Relationship Type="http://schemas.openxmlformats.org/officeDocument/2006/relationships/notesSlide" Target="/ppt/notesSlides/notesSlide23.xml" Id="Rede0e1b7ccc24d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bf4d3f3e0d8447d" /><Relationship Type="http://schemas.openxmlformats.org/officeDocument/2006/relationships/notesSlide" Target="/ppt/notesSlides/notesSlide24.xml" Id="Reaa54529a06347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51ecad245e348a0" /><Relationship Type="http://schemas.openxmlformats.org/officeDocument/2006/relationships/notesSlide" Target="/ppt/notesSlides/notesSlide25.xml" Id="Rfe82a59425ac4c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7efa603fa974583" /><Relationship Type="http://schemas.openxmlformats.org/officeDocument/2006/relationships/notesSlide" Target="/ppt/notesSlides/notesSlide26.xml" Id="R567a539ad74e4a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585d30836e44d00" /><Relationship Type="http://schemas.openxmlformats.org/officeDocument/2006/relationships/notesSlide" Target="/ppt/notesSlides/notesSlide27.xml" Id="Rcfbcc342a9c348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e3bd4c333084c06" /><Relationship Type="http://schemas.openxmlformats.org/officeDocument/2006/relationships/notesSlide" Target="/ppt/notesSlides/notesSlide28.xml" Id="Rec37b38bf57a47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df10c8e0f044d50" /><Relationship Type="http://schemas.openxmlformats.org/officeDocument/2006/relationships/notesSlide" Target="/ppt/notesSlides/notesSlide29.xml" Id="R9e9d893ad61e469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555696715934c7d" /><Relationship Type="http://schemas.openxmlformats.org/officeDocument/2006/relationships/notesSlide" Target="/ppt/notesSlides/notesSlide30.xml" Id="R4d2b9ae6a2e8435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306ceb13a9d427d" /><Relationship Type="http://schemas.openxmlformats.org/officeDocument/2006/relationships/notesSlide" Target="/ppt/notesSlides/notesSlide31.xml" Id="R3e58dc2c876b41fb" /></Relationships>
</file>

<file path=ppt/slides/slide1.xml><?xml version="1.0" encoding="utf-8"?>
<p:sld xmlns:p="http://schemas.openxmlformats.org/presentationml/2006/main">
  <p:cSld>
    <p:bg>
      <p:bgPr>
        <a:solidFill xmlns:a="http://schemas.openxmlformats.org/drawingml/2006/main">
          <a:srgbClr val="12324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6ED7DB-83DF-442A-9DBA-84BEF1ADF74A}"/>
              </a:ext>
            </a:extLst>
          </p:cNvPr>
          <p:cNvSpPr>
            <a:spLocks xmlns:a="http://schemas.openxmlformats.org/drawingml/2006/main" noGrp="1"/>
          </p:cNvSpPr>
          <p:nvPr/>
        </p:nvSpPr>
        <p:spPr>
          <a:xfrm xmlns:a="http://schemas.openxmlformats.org/drawingml/2006/main">
            <a:off x="762000" y="109537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MCP Academic Assistant</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Phase Two</a:t>
            </a:r>
          </a:p>
        </p:txBody>
      </p:sp>
      <p:sp>
        <p:nvSpPr>
          <p:cNvPr id="2" name="">
            <a:extLst xmlns:a="http://schemas.openxmlformats.org/drawingml/2006/main">
              <a:ext uri="{FF2B5EF4-FFF2-40B4-BE49-F238E27FC236}">
                <a16:creationId xmlns:a16="http://schemas.microsoft.com/office/drawing/2014/main" id="{7037B42B-4AA9-4826-ADF0-916E3D312276}"/>
              </a:ext>
            </a:extLst>
          </p:cNvPr>
          <p:cNvSpPr>
            <a:spLocks xmlns:a="http://schemas.openxmlformats.org/drawingml/2006/main" noGrp="1"/>
          </p:cNvSpPr>
          <p:nvPr/>
        </p:nvSpPr>
        <p:spPr>
          <a:xfrm xmlns:a="http://schemas.openxmlformats.org/drawingml/2006/main">
            <a:off x="762000" y="3514725"/>
            <a:ext cx="2095500" cy="57150"/>
          </a:xfrm>
          <a:prstGeom xmlns:a="http://schemas.openxmlformats.org/drawingml/2006/main" prst="rect">
            <a:avLst/>
          </a:prstGeom>
          <a:solidFill xmlns:a="http://schemas.openxmlformats.org/drawingml/2006/main">
            <a:srgbClr val="63C5B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14F378-9371-4AD1-88B6-1AE5903C8368}"/>
              </a:ext>
            </a:extLst>
          </p:cNvPr>
          <p:cNvSpPr>
            <a:spLocks xmlns:a="http://schemas.openxmlformats.org/drawingml/2006/main" noGrp="1"/>
          </p:cNvSpPr>
          <p:nvPr/>
        </p:nvSpPr>
        <p:spPr>
          <a:xfrm xmlns:a="http://schemas.openxmlformats.org/drawingml/2006/main">
            <a:off x="762000" y="3857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4F0EF"/>
                </a:solidFill>
                <a:latin typeface="Arial"/>
                <a:ea typeface="Arial"/>
                <a:cs typeface="Arial"/>
              </a:defRPr>
            </a:defPPr>
            <a:lvl1pPr>
              <a:defRPr sz="2250" b="0">
                <a:solidFill>
                  <a:srgbClr val="E4F0EF"/>
                </a:solidFill>
                <a:latin typeface="Arial"/>
                <a:ea typeface="Arial"/>
                <a:cs typeface="Arial"/>
              </a:defRPr>
            </a:lvl1pPr>
            <a:lvl2pPr>
              <a:defRPr sz="2250" b="0">
                <a:solidFill>
                  <a:srgbClr val="E4F0EF"/>
                </a:solidFill>
                <a:latin typeface="Arial"/>
                <a:ea typeface="Arial"/>
                <a:cs typeface="Arial"/>
              </a:defRPr>
            </a:lvl2pPr>
            <a:lvl3pPr>
              <a:defRPr sz="2250" b="0">
                <a:solidFill>
                  <a:srgbClr val="E4F0EF"/>
                </a:solidFill>
                <a:latin typeface="Arial"/>
                <a:ea typeface="Arial"/>
                <a:cs typeface="Arial"/>
              </a:defRPr>
            </a:lvl3pPr>
            <a:lvl4pPr>
              <a:defRPr sz="2250" b="0">
                <a:solidFill>
                  <a:srgbClr val="E4F0EF"/>
                </a:solidFill>
                <a:latin typeface="Arial"/>
                <a:ea typeface="Arial"/>
                <a:cs typeface="Arial"/>
              </a:defRPr>
            </a:lvl4pPr>
            <a:lvl5pPr>
              <a:defRPr sz="2250" b="0">
                <a:solidFill>
                  <a:srgbClr val="E4F0EF"/>
                </a:solidFill>
                <a:latin typeface="Arial"/>
                <a:ea typeface="Arial"/>
                <a:cs typeface="Arial"/>
              </a:defRPr>
            </a:lvl5pPr>
            <a:lvl6pPr>
              <a:defRPr sz="2250" b="0">
                <a:solidFill>
                  <a:srgbClr val="E4F0EF"/>
                </a:solidFill>
                <a:latin typeface="Arial"/>
                <a:ea typeface="Arial"/>
                <a:cs typeface="Arial"/>
              </a:defRPr>
            </a:lvl6pPr>
            <a:lvl7pPr>
              <a:defRPr sz="2250" b="0">
                <a:solidFill>
                  <a:srgbClr val="E4F0EF"/>
                </a:solidFill>
                <a:latin typeface="Arial"/>
                <a:ea typeface="Arial"/>
                <a:cs typeface="Arial"/>
              </a:defRPr>
            </a:lvl7pPr>
            <a:lvl8pPr>
              <a:defRPr sz="2250" b="0">
                <a:solidFill>
                  <a:srgbClr val="E4F0EF"/>
                </a:solidFill>
                <a:latin typeface="Arial"/>
                <a:ea typeface="Arial"/>
                <a:cs typeface="Arial"/>
              </a:defRPr>
            </a:lvl8pPr>
            <a:lvl9pPr>
              <a:defRPr sz="2250" b="0">
                <a:solidFill>
                  <a:srgbClr val="E4F0EF"/>
                </a:solidFill>
                <a:latin typeface="Arial"/>
                <a:ea typeface="Arial"/>
                <a:cs typeface="Arial"/>
              </a:defRPr>
            </a:lvl9pPr>
          </a:lstStyle>
          <a:p xmlns:a="http://schemas.openxmlformats.org/drawingml/2006/main">
            <a:pPr>
              <a:defRPr sz="2250" b="0">
                <a:solidFill>
                  <a:srgbClr val="E4F0EF"/>
                </a:solidFill>
                <a:latin typeface="Arial"/>
                <a:ea typeface="Arial"/>
                <a:cs typeface="Arial"/>
              </a:defRPr>
            </a:pPr>
            <a:r>
              <a:rPr sz="2250" b="0">
                <a:solidFill>
                  <a:srgbClr val="E4F0EF"/>
                </a:solidFill>
                <a:latin typeface="Arial"/>
                <a:ea typeface="Arial"/>
                <a:cs typeface="Arial"/>
              </a:rPr>
              <a:t>Academic results and provisional finance features</a:t>
            </a:r>
          </a:p>
        </p:txBody>
      </p:sp>
      <p:sp>
        <p:nvSpPr>
          <p:cNvPr id="4" name="">
            <a:extLst xmlns:a="http://schemas.openxmlformats.org/drawingml/2006/main">
              <a:ext uri="{FF2B5EF4-FFF2-40B4-BE49-F238E27FC236}">
                <a16:creationId xmlns:a16="http://schemas.microsoft.com/office/drawing/2014/main" id="{BC773F79-3728-427A-A48D-31F1BA0BB87C}"/>
              </a:ext>
            </a:extLst>
          </p:cNvPr>
          <p:cNvSpPr>
            <a:spLocks xmlns:a="http://schemas.openxmlformats.org/drawingml/2006/main" noGrp="1"/>
          </p:cNvSpPr>
          <p:nvPr/>
        </p:nvSpPr>
        <p:spPr>
          <a:xfrm xmlns:a="http://schemas.openxmlformats.org/drawingml/2006/main">
            <a:off x="762000" y="52197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8D7D8"/>
                </a:solidFill>
                <a:latin typeface="Arial"/>
                <a:ea typeface="Arial"/>
                <a:cs typeface="Arial"/>
              </a:defRPr>
            </a:defPPr>
            <a:lvl1pPr>
              <a:defRPr sz="1725" b="0">
                <a:solidFill>
                  <a:srgbClr val="B8D7D8"/>
                </a:solidFill>
                <a:latin typeface="Arial"/>
                <a:ea typeface="Arial"/>
                <a:cs typeface="Arial"/>
              </a:defRPr>
            </a:lvl1pPr>
            <a:lvl2pPr>
              <a:defRPr sz="1725" b="0">
                <a:solidFill>
                  <a:srgbClr val="B8D7D8"/>
                </a:solidFill>
                <a:latin typeface="Arial"/>
                <a:ea typeface="Arial"/>
                <a:cs typeface="Arial"/>
              </a:defRPr>
            </a:lvl2pPr>
            <a:lvl3pPr>
              <a:defRPr sz="1725" b="0">
                <a:solidFill>
                  <a:srgbClr val="B8D7D8"/>
                </a:solidFill>
                <a:latin typeface="Arial"/>
                <a:ea typeface="Arial"/>
                <a:cs typeface="Arial"/>
              </a:defRPr>
            </a:lvl3pPr>
            <a:lvl4pPr>
              <a:defRPr sz="1725" b="0">
                <a:solidFill>
                  <a:srgbClr val="B8D7D8"/>
                </a:solidFill>
                <a:latin typeface="Arial"/>
                <a:ea typeface="Arial"/>
                <a:cs typeface="Arial"/>
              </a:defRPr>
            </a:lvl4pPr>
            <a:lvl5pPr>
              <a:defRPr sz="1725" b="0">
                <a:solidFill>
                  <a:srgbClr val="B8D7D8"/>
                </a:solidFill>
                <a:latin typeface="Arial"/>
                <a:ea typeface="Arial"/>
                <a:cs typeface="Arial"/>
              </a:defRPr>
            </a:lvl5pPr>
            <a:lvl6pPr>
              <a:defRPr sz="1725" b="0">
                <a:solidFill>
                  <a:srgbClr val="B8D7D8"/>
                </a:solidFill>
                <a:latin typeface="Arial"/>
                <a:ea typeface="Arial"/>
                <a:cs typeface="Arial"/>
              </a:defRPr>
            </a:lvl6pPr>
            <a:lvl7pPr>
              <a:defRPr sz="1725" b="0">
                <a:solidFill>
                  <a:srgbClr val="B8D7D8"/>
                </a:solidFill>
                <a:latin typeface="Arial"/>
                <a:ea typeface="Arial"/>
                <a:cs typeface="Arial"/>
              </a:defRPr>
            </a:lvl7pPr>
            <a:lvl8pPr>
              <a:defRPr sz="1725" b="0">
                <a:solidFill>
                  <a:srgbClr val="B8D7D8"/>
                </a:solidFill>
                <a:latin typeface="Arial"/>
                <a:ea typeface="Arial"/>
                <a:cs typeface="Arial"/>
              </a:defRPr>
            </a:lvl8pPr>
            <a:lvl9pPr>
              <a:defRPr sz="1725" b="0">
                <a:solidFill>
                  <a:srgbClr val="B8D7D8"/>
                </a:solidFill>
                <a:latin typeface="Arial"/>
                <a:ea typeface="Arial"/>
                <a:cs typeface="Arial"/>
              </a:defRPr>
            </a:lvl9pPr>
          </a:lstStyle>
          <a:p xmlns:a="http://schemas.openxmlformats.org/drawingml/2006/main">
            <a:pPr>
              <a:defRPr sz="1725" b="0">
                <a:solidFill>
                  <a:srgbClr val="B8D7D8"/>
                </a:solidFill>
                <a:latin typeface="Arial"/>
                <a:ea typeface="Arial"/>
                <a:cs typeface="Arial"/>
              </a:defRPr>
            </a:pPr>
            <a:r>
              <a:rPr sz="1725" b="0">
                <a:solidFill>
                  <a:srgbClr val="B8D7D8"/>
                </a:solidFill>
                <a:latin typeface="Arial"/>
                <a:ea typeface="Arial"/>
                <a:cs typeface="Arial"/>
              </a:rPr>
              <a:t>Khoa presentation</a:t>
            </a:r>
          </a:p>
        </p:txBody>
      </p:sp>
    </p:spTree>
    <p:extLst>
      <p:ext uri="{BB962C8B-B14F-4D97-AF65-F5344CB8AC3E}">
        <p14:creationId xmlns:p14="http://schemas.microsoft.com/office/powerpoint/2010/main" val="1003486576"/>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1227A4-2AA5-45FD-B9B9-6056C7FA5465}"/>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What Phase Two must show</a:t>
            </a:r>
          </a:p>
        </p:txBody>
      </p:sp>
      <p:sp>
        <p:nvSpPr>
          <p:cNvPr id="2" name="">
            <a:extLst xmlns:a="http://schemas.openxmlformats.org/drawingml/2006/main">
              <a:ext uri="{FF2B5EF4-FFF2-40B4-BE49-F238E27FC236}">
                <a16:creationId xmlns:a16="http://schemas.microsoft.com/office/drawing/2014/main" id="{6B177ACF-7FB3-4CEB-BDD8-F7DC942065FC}"/>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7D4E8B-FA9D-460A-B4FA-F63319819210}"/>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9A33BFB-219E-4304-AB52-06A4711510D4}"/>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Useful test situations</a:t>
            </a:r>
          </a:p>
        </p:txBody>
      </p:sp>
      <p:sp>
        <p:nvSpPr>
          <p:cNvPr id="5" name="">
            <a:extLst xmlns:a="http://schemas.openxmlformats.org/drawingml/2006/main">
              <a:ext uri="{FF2B5EF4-FFF2-40B4-BE49-F238E27FC236}">
                <a16:creationId xmlns:a16="http://schemas.microsoft.com/office/drawing/2014/main" id="{3F92E2A4-4E05-4236-916B-E37BFB8716B4}"/>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E119302-E535-45EF-B0ED-CA41547B59C0}"/>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Different settings and measured results</a:t>
            </a:r>
          </a:p>
        </p:txBody>
      </p:sp>
      <p:sp>
        <p:nvSpPr>
          <p:cNvPr id="7" name="">
            <a:extLst xmlns:a="http://schemas.openxmlformats.org/drawingml/2006/main">
              <a:ext uri="{FF2B5EF4-FFF2-40B4-BE49-F238E27FC236}">
                <a16:creationId xmlns:a16="http://schemas.microsoft.com/office/drawing/2014/main" id="{B52F1050-E9E3-4B4B-9F6F-298C7EE9C0B8}"/>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CFF47ECC-52B5-410F-A79A-41CDFF6ACE9F}"/>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Clear comments and improvements</a:t>
            </a:r>
          </a:p>
        </p:txBody>
      </p:sp>
      <p:sp>
        <p:nvSpPr>
          <p:cNvPr id="9" name="">
            <a:extLst xmlns:a="http://schemas.openxmlformats.org/drawingml/2006/main">
              <a:ext uri="{FF2B5EF4-FFF2-40B4-BE49-F238E27FC236}">
                <a16:creationId xmlns:a16="http://schemas.microsoft.com/office/drawing/2014/main" id="{36E94425-4C28-4D69-8EC8-4BD0A993370B}"/>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BD47F92-CAF4-40AC-80B3-699EE27E0EFE}"/>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Logs that support the results</a:t>
            </a:r>
          </a:p>
        </p:txBody>
      </p:sp>
      <p:sp>
        <p:nvSpPr>
          <p:cNvPr id="11" name="">
            <a:extLst xmlns:a="http://schemas.openxmlformats.org/drawingml/2006/main">
              <a:ext uri="{FF2B5EF4-FFF2-40B4-BE49-F238E27FC236}">
                <a16:creationId xmlns:a16="http://schemas.microsoft.com/office/drawing/2014/main" id="{4982FA86-D0B8-4821-955E-474085825988}"/>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02</a:t>
            </a:r>
          </a:p>
        </p:txBody>
      </p:sp>
    </p:spTree>
    <p:extLst>
      <p:ext uri="{BB962C8B-B14F-4D97-AF65-F5344CB8AC3E}">
        <p14:creationId xmlns:p14="http://schemas.microsoft.com/office/powerpoint/2010/main" val="198637350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F030FF6-DB3D-482D-A0A7-A09F54EC199D}"/>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How the assistant works</a:t>
            </a:r>
          </a:p>
        </p:txBody>
      </p:sp>
      <p:sp>
        <p:nvSpPr>
          <p:cNvPr id="2" name="">
            <a:extLst xmlns:a="http://schemas.openxmlformats.org/drawingml/2006/main">
              <a:ext uri="{FF2B5EF4-FFF2-40B4-BE49-F238E27FC236}">
                <a16:creationId xmlns:a16="http://schemas.microsoft.com/office/drawing/2014/main" id="{BDF1A525-735D-42B5-9119-5785D7F19E47}"/>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C37F8C-0E53-44D6-85F2-524C4B08E698}"/>
              </a:ext>
            </a:extLst>
          </p:cNvPr>
          <p:cNvSpPr>
            <a:spLocks xmlns:a="http://schemas.openxmlformats.org/drawingml/2006/main" noGrp="1"/>
          </p:cNvSpPr>
          <p:nvPr/>
        </p:nvSpPr>
        <p:spPr>
          <a:xfrm xmlns:a="http://schemas.openxmlformats.org/drawingml/2006/main">
            <a:off x="762000" y="2190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657E8B-8F85-4239-8D09-05FBC7789F7B}"/>
              </a:ext>
            </a:extLst>
          </p:cNvPr>
          <p:cNvSpPr>
            <a:spLocks xmlns:a="http://schemas.openxmlformats.org/drawingml/2006/main" noGrp="1"/>
          </p:cNvSpPr>
          <p:nvPr/>
        </p:nvSpPr>
        <p:spPr>
          <a:xfrm xmlns:a="http://schemas.openxmlformats.org/drawingml/2006/main">
            <a:off x="1000125" y="2438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The user asks a question in English</a:t>
            </a:r>
          </a:p>
        </p:txBody>
      </p:sp>
      <p:sp>
        <p:nvSpPr>
          <p:cNvPr id="5" name="">
            <a:extLst xmlns:a="http://schemas.openxmlformats.org/drawingml/2006/main">
              <a:ext uri="{FF2B5EF4-FFF2-40B4-BE49-F238E27FC236}">
                <a16:creationId xmlns:a16="http://schemas.microsoft.com/office/drawing/2014/main" id="{34641AA6-EB2E-44F8-930E-EBDE950468BD}"/>
              </a:ext>
            </a:extLst>
          </p:cNvPr>
          <p:cNvSpPr>
            <a:spLocks xmlns:a="http://schemas.openxmlformats.org/drawingml/2006/main" noGrp="1"/>
          </p:cNvSpPr>
          <p:nvPr/>
        </p:nvSpPr>
        <p:spPr>
          <a:xfrm xmlns:a="http://schemas.openxmlformats.org/drawingml/2006/main">
            <a:off x="6477000" y="2190750"/>
            <a:ext cx="4857750" cy="9525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1D8CD2-50F7-4C27-9C5F-EDBC57BAAC34}"/>
              </a:ext>
            </a:extLst>
          </p:cNvPr>
          <p:cNvSpPr>
            <a:spLocks xmlns:a="http://schemas.openxmlformats.org/drawingml/2006/main" noGrp="1"/>
          </p:cNvSpPr>
          <p:nvPr/>
        </p:nvSpPr>
        <p:spPr>
          <a:xfrm xmlns:a="http://schemas.openxmlformats.org/drawingml/2006/main">
            <a:off x="6715125" y="2438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The host gives the model the enabled tools</a:t>
            </a:r>
          </a:p>
        </p:txBody>
      </p:sp>
      <p:sp>
        <p:nvSpPr>
          <p:cNvPr id="7" name="">
            <a:extLst xmlns:a="http://schemas.openxmlformats.org/drawingml/2006/main">
              <a:ext uri="{FF2B5EF4-FFF2-40B4-BE49-F238E27FC236}">
                <a16:creationId xmlns:a16="http://schemas.microsoft.com/office/drawing/2014/main" id="{C255EE83-634D-4734-ABD5-F742044501ED}"/>
              </a:ext>
            </a:extLst>
          </p:cNvPr>
          <p:cNvSpPr>
            <a:spLocks xmlns:a="http://schemas.openxmlformats.org/drawingml/2006/main" noGrp="1"/>
          </p:cNvSpPr>
          <p:nvPr/>
        </p:nvSpPr>
        <p:spPr>
          <a:xfrm xmlns:a="http://schemas.openxmlformats.org/drawingml/2006/main">
            <a:off x="6477000" y="4095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4FCBA6-3E84-4F6D-94B3-418F5D627D8B}"/>
              </a:ext>
            </a:extLst>
          </p:cNvPr>
          <p:cNvSpPr>
            <a:spLocks xmlns:a="http://schemas.openxmlformats.org/drawingml/2006/main" noGrp="1"/>
          </p:cNvSpPr>
          <p:nvPr/>
        </p:nvSpPr>
        <p:spPr>
          <a:xfrm xmlns:a="http://schemas.openxmlformats.org/drawingml/2006/main">
            <a:off x="6715125" y="4343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An MCP server reads data and calculates the result</a:t>
            </a:r>
          </a:p>
        </p:txBody>
      </p:sp>
      <p:sp>
        <p:nvSpPr>
          <p:cNvPr id="9" name="">
            <a:extLst xmlns:a="http://schemas.openxmlformats.org/drawingml/2006/main">
              <a:ext uri="{FF2B5EF4-FFF2-40B4-BE49-F238E27FC236}">
                <a16:creationId xmlns:a16="http://schemas.microsoft.com/office/drawing/2014/main" id="{2FF71906-28DF-4C7A-81CD-1783CBE9D35A}"/>
              </a:ext>
            </a:extLst>
          </p:cNvPr>
          <p:cNvSpPr>
            <a:spLocks xmlns:a="http://schemas.openxmlformats.org/drawingml/2006/main" noGrp="1"/>
          </p:cNvSpPr>
          <p:nvPr/>
        </p:nvSpPr>
        <p:spPr>
          <a:xfrm xmlns:a="http://schemas.openxmlformats.org/drawingml/2006/main">
            <a:off x="762000" y="4095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D07211F-30F0-49D6-9DB7-435193F273BA}"/>
              </a:ext>
            </a:extLst>
          </p:cNvPr>
          <p:cNvSpPr>
            <a:spLocks xmlns:a="http://schemas.openxmlformats.org/drawingml/2006/main" noGrp="1"/>
          </p:cNvSpPr>
          <p:nvPr/>
        </p:nvSpPr>
        <p:spPr>
          <a:xfrm xmlns:a="http://schemas.openxmlformats.org/drawingml/2006/main">
            <a:off x="1000125" y="4343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The model explains the result to the user</a:t>
            </a:r>
          </a:p>
        </p:txBody>
      </p:sp>
      <p:sp>
        <p:nvSpPr>
          <p:cNvPr id="11" name="">
            <a:extLst xmlns:a="http://schemas.openxmlformats.org/drawingml/2006/main">
              <a:ext uri="{FF2B5EF4-FFF2-40B4-BE49-F238E27FC236}">
                <a16:creationId xmlns:a16="http://schemas.microsoft.com/office/drawing/2014/main" id="{5998B357-D1D2-488E-ABE0-84CDDF16E819}"/>
              </a:ext>
            </a:extLst>
          </p:cNvPr>
          <p:cNvSpPr>
            <a:spLocks xmlns:a="http://schemas.openxmlformats.org/drawingml/2006/main" noGrp="1"/>
          </p:cNvSpPr>
          <p:nvPr/>
        </p:nvSpPr>
        <p:spPr>
          <a:xfrm xmlns:a="http://schemas.openxmlformats.org/drawingml/2006/main">
            <a:off x="809625" y="1866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6B2DC354-42BA-40D7-9878-07EFA1131F75}"/>
              </a:ext>
            </a:extLst>
          </p:cNvPr>
          <p:cNvSpPr>
            <a:spLocks xmlns:a="http://schemas.openxmlformats.org/drawingml/2006/main" noGrp="1"/>
          </p:cNvSpPr>
          <p:nvPr/>
        </p:nvSpPr>
        <p:spPr>
          <a:xfrm xmlns:a="http://schemas.openxmlformats.org/drawingml/2006/main">
            <a:off x="6524625" y="1866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FF44890D-CD36-4BA0-864F-42496A6A5E2D}"/>
              </a:ext>
            </a:extLst>
          </p:cNvPr>
          <p:cNvSpPr>
            <a:spLocks xmlns:a="http://schemas.openxmlformats.org/drawingml/2006/main" noGrp="1"/>
          </p:cNvSpPr>
          <p:nvPr/>
        </p:nvSpPr>
        <p:spPr>
          <a:xfrm xmlns:a="http://schemas.openxmlformats.org/drawingml/2006/main">
            <a:off x="65246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EF1419EE-5A87-4632-BE4E-64A651279A5A}"/>
              </a:ext>
            </a:extLst>
          </p:cNvPr>
          <p:cNvSpPr>
            <a:spLocks xmlns:a="http://schemas.openxmlformats.org/drawingml/2006/main" noGrp="1"/>
          </p:cNvSpPr>
          <p:nvPr/>
        </p:nvSpPr>
        <p:spPr>
          <a:xfrm xmlns:a="http://schemas.openxmlformats.org/drawingml/2006/main">
            <a:off x="8096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E7B6B56E-3458-47C1-8F65-5DC3067577B7}"/>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03</a:t>
            </a:r>
          </a:p>
        </p:txBody>
      </p:sp>
    </p:spTree>
    <p:extLst>
      <p:ext uri="{BB962C8B-B14F-4D97-AF65-F5344CB8AC3E}">
        <p14:creationId xmlns:p14="http://schemas.microsoft.com/office/powerpoint/2010/main" val="1489666602"/>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5DF52E-23F5-49B9-823D-A282B5B6B068}"/>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Two active servers and a pending finance feature</a:t>
            </a:r>
          </a:p>
        </p:txBody>
      </p:sp>
      <p:sp>
        <p:nvSpPr>
          <p:cNvPr id="2" name="">
            <a:extLst xmlns:a="http://schemas.openxmlformats.org/drawingml/2006/main">
              <a:ext uri="{FF2B5EF4-FFF2-40B4-BE49-F238E27FC236}">
                <a16:creationId xmlns:a16="http://schemas.microsoft.com/office/drawing/2014/main" id="{17A3E3DF-AE32-4A7B-9FBE-3708AD7F884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4938A55-356F-4FA0-9F3B-289051CF04DF}"/>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Server and status</a:t>
                      </a:r>
                    </a:p>
                  </a:txBody>
                  <a:tcPr marL="91440" marR="91440" marT="45720" marB="45720">
                    <a:solidFill>
                      <a:srgbClr val="12324A"/>
                    </a:solidFill>
                  </a:tcPr>
                </a:tc>
                <a:tc>
                  <a:txBody>
                    <a:bodyPr/>
                    <a:lstStyle/>
                    <a:p>
                      <a:r>
                        <a:rPr sz="1800" b="1">
                          <a:solidFill>
                            <a:srgbClr val="FFFFFF"/>
                          </a:solidFill>
                          <a:latin typeface="Arial"/>
                          <a:ea typeface="Arial"/>
                          <a:cs typeface="Arial"/>
                        </a:rPr>
                        <a:t>Tools</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Academic on main</a:t>
                      </a:r>
                    </a:p>
                  </a:txBody>
                  <a:tcPr marL="91440" marR="91440" marT="45720" marB="45720">
                    <a:solidFill>
                      <a:srgbClr val="FFFFFF"/>
                    </a:solidFill>
                  </a:tcPr>
                </a:tc>
                <a:tc>
                  <a:txBody>
                    <a:bodyPr/>
                    <a:lstStyle/>
                    <a:p>
                      <a:r>
                        <a:rPr sz="1800" b="0">
                          <a:solidFill>
                            <a:srgbClr val="203747"/>
                          </a:solidFill>
                          <a:latin typeface="Arial"/>
                          <a:ea typeface="Arial"/>
                          <a:cs typeface="Arial"/>
                        </a:rPr>
                        <a:t>17</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Utility on main</a:t>
                      </a:r>
                    </a:p>
                  </a:txBody>
                  <a:tcPr marL="91440" marR="91440" marT="45720" marB="45720">
                    <a:solidFill>
                      <a:srgbClr val="EDF2F0"/>
                    </a:solidFill>
                  </a:tcPr>
                </a:tc>
                <a:tc>
                  <a:txBody>
                    <a:bodyPr/>
                    <a:lstStyle/>
                    <a:p>
                      <a:r>
                        <a:rPr sz="1800" b="0">
                          <a:solidFill>
                            <a:srgbClr val="203747"/>
                          </a:solidFill>
                          <a:latin typeface="Arial"/>
                          <a:ea typeface="Arial"/>
                          <a:cs typeface="Arial"/>
                        </a:rPr>
                        <a:t>3</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Finance PR2, provisional</a:t>
                      </a:r>
                    </a:p>
                  </a:txBody>
                  <a:tcPr marL="91440" marR="91440" marT="45720" marB="45720">
                    <a:solidFill>
                      <a:srgbClr val="FFFFFF"/>
                    </a:solidFill>
                  </a:tcPr>
                </a:tc>
                <a:tc>
                  <a:txBody>
                    <a:bodyPr/>
                    <a:lstStyle/>
                    <a:p>
                      <a:r>
                        <a:rPr sz="1800" b="0">
                          <a:solidFill>
                            <a:srgbClr val="203747"/>
                          </a:solidFill>
                          <a:latin typeface="Arial"/>
                          <a:ea typeface="Arial"/>
                          <a:cs typeface="Arial"/>
                        </a:rPr>
                        <a:t>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E1A1149-A0A2-41BE-BB19-81935CC2F902}"/>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04</a:t>
            </a:r>
          </a:p>
        </p:txBody>
      </p:sp>
    </p:spTree>
    <p:extLst>
      <p:ext uri="{BB962C8B-B14F-4D97-AF65-F5344CB8AC3E}">
        <p14:creationId xmlns:p14="http://schemas.microsoft.com/office/powerpoint/2010/main" val="123707514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904838-E79B-40CF-9904-502E575A531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Data and source versions</a:t>
            </a:r>
          </a:p>
        </p:txBody>
      </p:sp>
      <p:sp>
        <p:nvSpPr>
          <p:cNvPr id="2" name="">
            <a:extLst xmlns:a="http://schemas.openxmlformats.org/drawingml/2006/main">
              <a:ext uri="{FF2B5EF4-FFF2-40B4-BE49-F238E27FC236}">
                <a16:creationId xmlns:a16="http://schemas.microsoft.com/office/drawing/2014/main" id="{C5AB2B2C-0E66-437B-8162-875E182C0462}"/>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BCF775-0252-4F24-B483-9E5923048EA9}"/>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45B2249-9D82-478C-8736-EE7CDB1EECA6}"/>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Main: 40 valid students, 20 teachers and 41 sections</a:t>
            </a:r>
          </a:p>
        </p:txBody>
      </p:sp>
      <p:sp>
        <p:nvSpPr>
          <p:cNvPr id="5" name="">
            <a:extLst xmlns:a="http://schemas.openxmlformats.org/drawingml/2006/main">
              <a:ext uri="{FF2B5EF4-FFF2-40B4-BE49-F238E27FC236}">
                <a16:creationId xmlns:a16="http://schemas.microsoft.com/office/drawing/2014/main" id="{787DFEB9-7140-422F-86E2-D35923EA1872}"/>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FD5F801-E2E5-4CAD-8D71-CCBBE9145674}"/>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Main: 261 valid grade rows plus attendance and conduct</a:t>
            </a:r>
          </a:p>
        </p:txBody>
      </p:sp>
      <p:sp>
        <p:nvSpPr>
          <p:cNvPr id="7" name="">
            <a:extLst xmlns:a="http://schemas.openxmlformats.org/drawingml/2006/main">
              <a:ext uri="{FF2B5EF4-FFF2-40B4-BE49-F238E27FC236}">
                <a16:creationId xmlns:a16="http://schemas.microsoft.com/office/drawing/2014/main" id="{43A92F9D-436C-46E3-B9B3-1DEDC34A3CB0}"/>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6FC88EF-9B31-41D2-BAFC-C4C0B383639C}"/>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Finance data is provisional and differs from main</a:t>
            </a:r>
          </a:p>
        </p:txBody>
      </p:sp>
      <p:sp>
        <p:nvSpPr>
          <p:cNvPr id="9" name="">
            <a:extLst xmlns:a="http://schemas.openxmlformats.org/drawingml/2006/main">
              <a:ext uri="{FF2B5EF4-FFF2-40B4-BE49-F238E27FC236}">
                <a16:creationId xmlns:a16="http://schemas.microsoft.com/office/drawing/2014/main" id="{CCD58A52-08FB-4A70-BEC5-C2311D328AD0}"/>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7DEDFA9-F90E-4ECD-BCC4-76A4FF4B0BDC}"/>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Recompute finance expectations after PR2 merges</a:t>
            </a:r>
          </a:p>
        </p:txBody>
      </p:sp>
      <p:sp>
        <p:nvSpPr>
          <p:cNvPr id="11" name="">
            <a:extLst xmlns:a="http://schemas.openxmlformats.org/drawingml/2006/main">
              <a:ext uri="{FF2B5EF4-FFF2-40B4-BE49-F238E27FC236}">
                <a16:creationId xmlns:a16="http://schemas.microsoft.com/office/drawing/2014/main" id="{9F101787-9DB0-4AA3-AF27-5A46DA7AC8A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05</a:t>
            </a:r>
          </a:p>
        </p:txBody>
      </p:sp>
    </p:spTree>
    <p:extLst>
      <p:ext uri="{BB962C8B-B14F-4D97-AF65-F5344CB8AC3E}">
        <p14:creationId xmlns:p14="http://schemas.microsoft.com/office/powerpoint/2010/main" val="1566064023"/>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77B99A-D1E6-483B-9952-C673128D51A0}"/>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data loader checks bad rows</a:t>
            </a:r>
          </a:p>
        </p:txBody>
      </p:sp>
      <p:sp>
        <p:nvSpPr>
          <p:cNvPr id="2" name="">
            <a:extLst xmlns:a="http://schemas.openxmlformats.org/drawingml/2006/main">
              <a:ext uri="{FF2B5EF4-FFF2-40B4-BE49-F238E27FC236}">
                <a16:creationId xmlns:a16="http://schemas.microsoft.com/office/drawing/2014/main" id="{10081C22-3596-49BD-B026-1D8875E2643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568BD5-EB6D-4068-A758-4FAF10CF567F}"/>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82FFB5E-7226-4FC6-B352-B5DC9AA798E4}"/>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Duplicate IDs and invalid scores are reported</a:t>
            </a:r>
          </a:p>
        </p:txBody>
      </p:sp>
      <p:sp>
        <p:nvSpPr>
          <p:cNvPr id="5" name="">
            <a:extLst xmlns:a="http://schemas.openxmlformats.org/drawingml/2006/main">
              <a:ext uri="{FF2B5EF4-FFF2-40B4-BE49-F238E27FC236}">
                <a16:creationId xmlns:a16="http://schemas.microsoft.com/office/drawing/2014/main" id="{487A1A2A-4340-49D5-80B5-1A6E60EA02AF}"/>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082539F-8941-491F-B000-605BB92808B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Unknown student and course IDs are rejected</a:t>
            </a:r>
          </a:p>
        </p:txBody>
      </p:sp>
      <p:sp>
        <p:nvSpPr>
          <p:cNvPr id="7" name="">
            <a:extLst xmlns:a="http://schemas.openxmlformats.org/drawingml/2006/main">
              <a:ext uri="{FF2B5EF4-FFF2-40B4-BE49-F238E27FC236}">
                <a16:creationId xmlns:a16="http://schemas.microsoft.com/office/drawing/2014/main" id="{09718AA8-C548-4B1C-B786-8FAEF36F9023}"/>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050D702-33FC-431C-BC4A-7B3982538125}"/>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 grade joins a section by course, semester and class</a:t>
            </a:r>
          </a:p>
        </p:txBody>
      </p:sp>
      <p:sp>
        <p:nvSpPr>
          <p:cNvPr id="9" name="">
            <a:extLst xmlns:a="http://schemas.openxmlformats.org/drawingml/2006/main">
              <a:ext uri="{FF2B5EF4-FFF2-40B4-BE49-F238E27FC236}">
                <a16:creationId xmlns:a16="http://schemas.microsoft.com/office/drawing/2014/main" id="{67E4EE75-3848-4E72-9932-AAF23F7D353D}"/>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712FF02-A849-46F2-B5D5-73CDD1A55306}"/>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Bad rows stay visible in the quality report</a:t>
            </a:r>
          </a:p>
        </p:txBody>
      </p:sp>
      <p:sp>
        <p:nvSpPr>
          <p:cNvPr id="11" name="">
            <a:extLst xmlns:a="http://schemas.openxmlformats.org/drawingml/2006/main">
              <a:ext uri="{FF2B5EF4-FFF2-40B4-BE49-F238E27FC236}">
                <a16:creationId xmlns:a16="http://schemas.microsoft.com/office/drawing/2014/main" id="{F09452A2-245E-4C3D-82BC-D8D69B6724BE}"/>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06</a:t>
            </a:r>
          </a:p>
        </p:txBody>
      </p:sp>
    </p:spTree>
    <p:extLst>
      <p:ext uri="{BB962C8B-B14F-4D97-AF65-F5344CB8AC3E}">
        <p14:creationId xmlns:p14="http://schemas.microsoft.com/office/powerpoint/2010/main" val="822140235"/>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F3A3A7-BAEB-44B7-B7C1-5CF079549066}"/>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Teacher search and class timetable</a:t>
            </a:r>
          </a:p>
        </p:txBody>
      </p:sp>
      <p:sp>
        <p:nvSpPr>
          <p:cNvPr id="2" name="">
            <a:extLst xmlns:a="http://schemas.openxmlformats.org/drawingml/2006/main">
              <a:ext uri="{FF2B5EF4-FFF2-40B4-BE49-F238E27FC236}">
                <a16:creationId xmlns:a16="http://schemas.microsoft.com/office/drawing/2014/main" id="{C08DD253-1CFB-44B4-9327-EF59BDEF8D43}"/>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F868BB-D416-41FE-94A9-762C792F6DDE}"/>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274D5D3-F5C1-4215-8B26-C545E7E2DFB0}"/>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search_teachers finds teachers by name, ID or filters</a:t>
            </a:r>
          </a:p>
        </p:txBody>
      </p:sp>
      <p:sp>
        <p:nvSpPr>
          <p:cNvPr id="5" name="">
            <a:extLst xmlns:a="http://schemas.openxmlformats.org/drawingml/2006/main">
              <a:ext uri="{FF2B5EF4-FFF2-40B4-BE49-F238E27FC236}">
                <a16:creationId xmlns:a16="http://schemas.microsoft.com/office/drawing/2014/main" id="{8250BC4D-AC99-4842-BB55-D0ACD6A92332}"/>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09DFE7F-84E8-4FB0-A062-91DA894D7B9C}"/>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class_timetable shows the sections of a class</a:t>
            </a:r>
          </a:p>
        </p:txBody>
      </p:sp>
      <p:sp>
        <p:nvSpPr>
          <p:cNvPr id="7" name="">
            <a:extLst xmlns:a="http://schemas.openxmlformats.org/drawingml/2006/main">
              <a:ext uri="{FF2B5EF4-FFF2-40B4-BE49-F238E27FC236}">
                <a16:creationId xmlns:a16="http://schemas.microsoft.com/office/drawing/2014/main" id="{E317D7C3-FB3E-4AD7-BA29-21288BB27B5F}"/>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B5686E16-B737-47DA-B3E3-0B7EC39CBA3A}"/>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IT01 has 3 sections in semester 2024-1</a:t>
            </a:r>
          </a:p>
        </p:txBody>
      </p:sp>
      <p:sp>
        <p:nvSpPr>
          <p:cNvPr id="9" name="">
            <a:extLst xmlns:a="http://schemas.openxmlformats.org/drawingml/2006/main">
              <a:ext uri="{FF2B5EF4-FFF2-40B4-BE49-F238E27FC236}">
                <a16:creationId xmlns:a16="http://schemas.microsoft.com/office/drawing/2014/main" id="{01299C1A-0A78-48C1-98A3-0CD20765DE08}"/>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7930AB4D-0860-4A9F-9D80-8268F352A87F}"/>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An unknown class produces an error</a:t>
            </a:r>
          </a:p>
        </p:txBody>
      </p:sp>
      <p:sp>
        <p:nvSpPr>
          <p:cNvPr id="11" name="">
            <a:extLst xmlns:a="http://schemas.openxmlformats.org/drawingml/2006/main">
              <a:ext uri="{FF2B5EF4-FFF2-40B4-BE49-F238E27FC236}">
                <a16:creationId xmlns:a16="http://schemas.microsoft.com/office/drawing/2014/main" id="{BD7537A9-C2A6-4BDD-98B3-08BE1EC85C9E}"/>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07</a:t>
            </a:r>
          </a:p>
        </p:txBody>
      </p:sp>
    </p:spTree>
    <p:extLst>
      <p:ext uri="{BB962C8B-B14F-4D97-AF65-F5344CB8AC3E}">
        <p14:creationId xmlns:p14="http://schemas.microsoft.com/office/powerpoint/2010/main" val="1618119703"/>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9FB651-BEFB-4F83-B642-E9B091A984E9}"/>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Teacher workload and grade report</a:t>
            </a:r>
          </a:p>
        </p:txBody>
      </p:sp>
      <p:sp>
        <p:nvSpPr>
          <p:cNvPr id="2" name="">
            <a:extLst xmlns:a="http://schemas.openxmlformats.org/drawingml/2006/main">
              <a:ext uri="{FF2B5EF4-FFF2-40B4-BE49-F238E27FC236}">
                <a16:creationId xmlns:a16="http://schemas.microsoft.com/office/drawing/2014/main" id="{06C676C9-4A40-495A-BA6E-96F50B31ACB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0FDE9391-1F41-4AAB-9A56-B16E13E8FD10}"/>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Example</a:t>
                      </a:r>
                    </a:p>
                  </a:txBody>
                  <a:tcPr marL="91440" marR="91440" marT="45720" marB="45720">
                    <a:solidFill>
                      <a:srgbClr val="12324A"/>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T001 workload in 2024-1</a:t>
                      </a:r>
                    </a:p>
                  </a:txBody>
                  <a:tcPr marL="91440" marR="91440" marT="45720" marB="45720">
                    <a:solidFill>
                      <a:srgbClr val="FFFFFF"/>
                    </a:solidFill>
                  </a:tcPr>
                </a:tc>
                <a:tc>
                  <a:txBody>
                    <a:bodyPr/>
                    <a:lstStyle/>
                    <a:p>
                      <a:r>
                        <a:rPr sz="1800" b="0">
                          <a:solidFill>
                            <a:srgbClr val="203747"/>
                          </a:solidFill>
                          <a:latin typeface="Arial"/>
                          <a:ea typeface="Arial"/>
                          <a:cs typeface="Arial"/>
                        </a:rPr>
                        <a:t>3 sections and 9 periods per week</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T001 workload in 2099-1</a:t>
                      </a:r>
                    </a:p>
                  </a:txBody>
                  <a:tcPr marL="91440" marR="91440" marT="45720" marB="45720">
                    <a:solidFill>
                      <a:srgbClr val="EDF2F0"/>
                    </a:solidFill>
                  </a:tcPr>
                </a:tc>
                <a:tc>
                  <a:txBody>
                    <a:bodyPr/>
                    <a:lstStyle/>
                    <a:p>
                      <a:r>
                        <a:rPr sz="1800" b="0">
                          <a:solidFill>
                            <a:srgbClr val="203747"/>
                          </a:solidFill>
                          <a:latin typeface="Arial"/>
                          <a:ea typeface="Arial"/>
                          <a:cs typeface="Arial"/>
                        </a:rPr>
                        <a:t>0 sections and 0 periods</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T001 grade report in 2024-1</a:t>
                      </a:r>
                    </a:p>
                  </a:txBody>
                  <a:tcPr marL="91440" marR="91440" marT="45720" marB="45720">
                    <a:solidFill>
                      <a:srgbClr val="FFFFFF"/>
                    </a:solidFill>
                  </a:tcPr>
                </a:tc>
                <a:tc>
                  <a:txBody>
                    <a:bodyPr/>
                    <a:lstStyle/>
                    <a:p>
                      <a:r>
                        <a:rPr sz="1800" b="0">
                          <a:solidFill>
                            <a:srgbClr val="203747"/>
                          </a:solidFill>
                          <a:latin typeface="Arial"/>
                          <a:ea typeface="Arial"/>
                          <a:cs typeface="Arial"/>
                        </a:rPr>
                        <a:t>30 graded enrolments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Mean score and pass rate</a:t>
                      </a:r>
                    </a:p>
                  </a:txBody>
                  <a:tcPr marL="91440" marR="91440" marT="45720" marB="45720">
                    <a:solidFill>
                      <a:srgbClr val="EDF2F0"/>
                    </a:solidFill>
                  </a:tcPr>
                </a:tc>
                <a:tc>
                  <a:txBody>
                    <a:bodyPr/>
                    <a:lstStyle/>
                    <a:p>
                      <a:r>
                        <a:rPr sz="1800" b="0">
                          <a:solidFill>
                            <a:srgbClr val="203747"/>
                          </a:solidFill>
                          <a:latin typeface="Arial"/>
                          <a:ea typeface="Arial"/>
                          <a:cs typeface="Arial"/>
                        </a:rPr>
                        <a:t>7.4 out of 10 and 90.0 percent</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811B5921-F841-4243-8E39-123388A09504}"/>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08</a:t>
            </a:r>
          </a:p>
        </p:txBody>
      </p:sp>
    </p:spTree>
    <p:extLst>
      <p:ext uri="{BB962C8B-B14F-4D97-AF65-F5344CB8AC3E}">
        <p14:creationId xmlns:p14="http://schemas.microsoft.com/office/powerpoint/2010/main" val="2005188684"/>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8A2114-349C-4B7C-989F-AF6E17801CFC}"/>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Attendance at the exact boundary</a:t>
            </a:r>
          </a:p>
        </p:txBody>
      </p:sp>
      <p:sp>
        <p:nvSpPr>
          <p:cNvPr id="2" name="">
            <a:extLst xmlns:a="http://schemas.openxmlformats.org/drawingml/2006/main">
              <a:ext uri="{FF2B5EF4-FFF2-40B4-BE49-F238E27FC236}">
                <a16:creationId xmlns:a16="http://schemas.microsoft.com/office/drawing/2014/main" id="{79742BCE-CB94-4DCA-9DFE-8AB20F6E76B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D13B1BD-D13C-4514-B1B9-94C38504801B}"/>
              </a:ext>
            </a:extLst>
          </p:cNvPr>
          <p:cNvGraphicFramePr/>
          <p:nvPr/>
        </p:nvGraphicFramePr>
        <p:xfrm>
          <a:off xmlns:a="http://schemas.openxmlformats.org/drawingml/2006/main" x="762000" y="2000250"/>
          <a:ext xmlns:a="http://schemas.openxmlformats.org/drawingml/2006/main" cx="10668000" cy="18288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Meetings</a:t>
                      </a:r>
                    </a:p>
                  </a:txBody>
                  <a:tcPr marL="91440" marR="91440" marT="45720" marB="45720">
                    <a:solidFill>
                      <a:srgbClr val="12324A"/>
                    </a:solidFill>
                  </a:tcPr>
                </a:tc>
                <a:tc>
                  <a:txBody>
                    <a:bodyPr/>
                    <a:lstStyle/>
                    <a:p>
                      <a:r>
                        <a:rPr sz="1575" b="1">
                          <a:solidFill>
                            <a:srgbClr val="FFFFFF"/>
                          </a:solidFill>
                          <a:latin typeface="Arial"/>
                          <a:ea typeface="Arial"/>
                          <a:cs typeface="Arial"/>
                        </a:rPr>
                        <a:t>Absences</a:t>
                      </a:r>
                    </a:p>
                  </a:txBody>
                  <a:tcPr marL="91440" marR="91440" marT="45720" marB="45720">
                    <a:solidFill>
                      <a:srgbClr val="12324A"/>
                    </a:solidFill>
                  </a:tcPr>
                </a:tc>
                <a:tc>
                  <a:txBody>
                    <a:bodyPr/>
                    <a:lstStyle/>
                    <a:p>
                      <a:r>
                        <a:rPr sz="1575" b="1">
                          <a:solidFill>
                            <a:srgbClr val="FFFFFF"/>
                          </a:solidFill>
                          <a:latin typeface="Arial"/>
                          <a:ea typeface="Arial"/>
                          <a:cs typeface="Arial"/>
                        </a:rPr>
                        <a:t>Absence rate</a:t>
                      </a:r>
                    </a:p>
                  </a:txBody>
                  <a:tcPr marL="91440" marR="91440" marT="45720" marB="45720">
                    <a:solidFill>
                      <a:srgbClr val="12324A"/>
                    </a:solidFill>
                  </a:tcPr>
                </a:tc>
                <a:tc>
                  <a:txBody>
                    <a:bodyPr/>
                    <a:lstStyle/>
                    <a:p>
                      <a:r>
                        <a:rPr sz="1575" b="1">
                          <a:solidFill>
                            <a:srgbClr val="FFFFFF"/>
                          </a:solidFill>
                          <a:latin typeface="Arial"/>
                          <a:ea typeface="Arial"/>
                          <a:cs typeface="Arial"/>
                        </a:rPr>
                        <a:t>Exam ban</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3</a:t>
                      </a:r>
                    </a:p>
                  </a:txBody>
                  <a:tcPr marL="91440" marR="91440" marT="45720" marB="45720">
                    <a:solidFill>
                      <a:srgbClr val="FFFFFF"/>
                    </a:solidFill>
                  </a:tcPr>
                </a:tc>
                <a:tc>
                  <a:txBody>
                    <a:bodyPr/>
                    <a:lstStyle/>
                    <a:p>
                      <a:r>
                        <a:rPr sz="1575" b="0">
                          <a:solidFill>
                            <a:srgbClr val="203747"/>
                          </a:solidFill>
                          <a:latin typeface="Arial"/>
                          <a:ea typeface="Arial"/>
                          <a:cs typeface="Arial"/>
                        </a:rPr>
                        <a:t>20.0 percent</a:t>
                      </a:r>
                    </a:p>
                  </a:txBody>
                  <a:tcPr marL="91440" marR="91440" marT="45720" marB="45720">
                    <a:solidFill>
                      <a:srgbClr val="FFFFFF"/>
                    </a:solidFill>
                  </a:tcPr>
                </a:tc>
                <a:tc>
                  <a:txBody>
                    <a:bodyPr/>
                    <a:lstStyle/>
                    <a:p>
                      <a:r>
                        <a:rPr sz="1575" b="0">
                          <a:solidFill>
                            <a:srgbClr val="203747"/>
                          </a:solidFill>
                          <a:latin typeface="Arial"/>
                          <a:ea typeface="Arial"/>
                          <a:cs typeface="Arial"/>
                        </a:rPr>
                        <a:t>No</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15</a:t>
                      </a:r>
                    </a:p>
                  </a:txBody>
                  <a:tcPr marL="91440" marR="91440" marT="45720" marB="45720">
                    <a:solidFill>
                      <a:srgbClr val="EDF2F0"/>
                    </a:solidFill>
                  </a:tcPr>
                </a:tc>
                <a:tc>
                  <a:txBody>
                    <a:bodyPr/>
                    <a:lstStyle/>
                    <a:p>
                      <a:r>
                        <a:rPr sz="1575" b="0">
                          <a:solidFill>
                            <a:srgbClr val="203747"/>
                          </a:solidFill>
                          <a:latin typeface="Arial"/>
                          <a:ea typeface="Arial"/>
                          <a:cs typeface="Arial"/>
                        </a:rPr>
                        <a:t>4</a:t>
                      </a:r>
                    </a:p>
                  </a:txBody>
                  <a:tcPr marL="91440" marR="91440" marT="45720" marB="45720">
                    <a:solidFill>
                      <a:srgbClr val="EDF2F0"/>
                    </a:solidFill>
                  </a:tcPr>
                </a:tc>
                <a:tc>
                  <a:txBody>
                    <a:bodyPr/>
                    <a:lstStyle/>
                    <a:p>
                      <a:r>
                        <a:rPr sz="1575" b="0">
                          <a:solidFill>
                            <a:srgbClr val="203747"/>
                          </a:solidFill>
                          <a:latin typeface="Arial"/>
                          <a:ea typeface="Arial"/>
                          <a:cs typeface="Arial"/>
                        </a:rPr>
                        <a:t>26.7 percent</a:t>
                      </a:r>
                    </a:p>
                  </a:txBody>
                  <a:tcPr marL="91440" marR="91440" marT="45720" marB="45720">
                    <a:solidFill>
                      <a:srgbClr val="EDF2F0"/>
                    </a:solidFill>
                  </a:tcPr>
                </a:tc>
                <a:tc>
                  <a:txBody>
                    <a:bodyPr/>
                    <a:lstStyle/>
                    <a:p>
                      <a:r>
                        <a:rPr sz="1575" b="0">
                          <a:solidFill>
                            <a:srgbClr val="203747"/>
                          </a:solidFill>
                          <a:latin typeface="Arial"/>
                          <a:ea typeface="Arial"/>
                          <a:cs typeface="Arial"/>
                        </a:rPr>
                        <a:t>Yes</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D025CAF8-9FC3-4BE6-87A7-50EF2123A82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09</a:t>
            </a:r>
          </a:p>
        </p:txBody>
      </p:sp>
    </p:spTree>
    <p:extLst>
      <p:ext uri="{BB962C8B-B14F-4D97-AF65-F5344CB8AC3E}">
        <p14:creationId xmlns:p14="http://schemas.microsoft.com/office/powerpoint/2010/main" val="263008304"/>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060E60-6E71-49D4-A715-BBD6765C4468}"/>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Conduct scores use a rule table</a:t>
            </a:r>
          </a:p>
        </p:txBody>
      </p:sp>
      <p:sp>
        <p:nvSpPr>
          <p:cNvPr id="2" name="">
            <a:extLst xmlns:a="http://schemas.openxmlformats.org/drawingml/2006/main">
              <a:ext uri="{FF2B5EF4-FFF2-40B4-BE49-F238E27FC236}">
                <a16:creationId xmlns:a16="http://schemas.microsoft.com/office/drawing/2014/main" id="{2CF73F87-2985-4B5C-AAD7-B9114B8E7C2B}"/>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1163F85C-2BB5-4662-87C3-A2CFC1BB6FBB}"/>
              </a:ext>
            </a:extLst>
          </p:cNvPr>
          <p:cNvGraphicFramePr/>
          <p:nvPr/>
        </p:nvGraphicFramePr>
        <p:xfrm>
          <a:off xmlns:a="http://schemas.openxmlformats.org/drawingml/2006/main" x="762000" y="2000250"/>
          <a:ext xmlns:a="http://schemas.openxmlformats.org/drawingml/2006/main" cx="10668000" cy="36576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Minimum score</a:t>
                      </a:r>
                    </a:p>
                  </a:txBody>
                  <a:tcPr marL="91440" marR="91440" marT="45720" marB="45720">
                    <a:solidFill>
                      <a:srgbClr val="12324A"/>
                    </a:solidFill>
                  </a:tcPr>
                </a:tc>
                <a:tc>
                  <a:txBody>
                    <a:bodyPr/>
                    <a:lstStyle/>
                    <a:p>
                      <a:r>
                        <a:rPr sz="1800" b="1">
                          <a:solidFill>
                            <a:srgbClr val="FFFFFF"/>
                          </a:solidFill>
                          <a:latin typeface="Arial"/>
                          <a:ea typeface="Arial"/>
                          <a:cs typeface="Arial"/>
                        </a:rPr>
                        <a:t>Conduct classification</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90</a:t>
                      </a:r>
                    </a:p>
                  </a:txBody>
                  <a:tcPr marL="91440" marR="91440" marT="45720" marB="45720">
                    <a:solidFill>
                      <a:srgbClr val="FFFFFF"/>
                    </a:solidFill>
                  </a:tcPr>
                </a:tc>
                <a:tc>
                  <a:txBody>
                    <a:bodyPr/>
                    <a:lstStyle/>
                    <a:p>
                      <a:r>
                        <a:rPr sz="1800" b="0">
                          <a:solidFill>
                            <a:srgbClr val="203747"/>
                          </a:solidFill>
                          <a:latin typeface="Arial"/>
                          <a:ea typeface="Arial"/>
                          <a:cs typeface="Arial"/>
                        </a:rPr>
                        <a:t>Excellent</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80</a:t>
                      </a:r>
                    </a:p>
                  </a:txBody>
                  <a:tcPr marL="91440" marR="91440" marT="45720" marB="45720">
                    <a:solidFill>
                      <a:srgbClr val="EDF2F0"/>
                    </a:solidFill>
                  </a:tcPr>
                </a:tc>
                <a:tc>
                  <a:txBody>
                    <a:bodyPr/>
                    <a:lstStyle/>
                    <a:p>
                      <a:r>
                        <a:rPr sz="1800" b="0">
                          <a:solidFill>
                            <a:srgbClr val="203747"/>
                          </a:solidFill>
                          <a:latin typeface="Arial"/>
                          <a:ea typeface="Arial"/>
                          <a:cs typeface="Arial"/>
                        </a:rPr>
                        <a:t>Good</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65</a:t>
                      </a:r>
                    </a:p>
                  </a:txBody>
                  <a:tcPr marL="91440" marR="91440" marT="45720" marB="45720">
                    <a:solidFill>
                      <a:srgbClr val="FFFFFF"/>
                    </a:solidFill>
                  </a:tcPr>
                </a:tc>
                <a:tc>
                  <a:txBody>
                    <a:bodyPr/>
                    <a:lstStyle/>
                    <a:p>
                      <a:r>
                        <a:rPr sz="1800" b="0">
                          <a:solidFill>
                            <a:srgbClr val="203747"/>
                          </a:solidFill>
                          <a:latin typeface="Arial"/>
                          <a:ea typeface="Arial"/>
                          <a:cs typeface="Arial"/>
                        </a:rPr>
                        <a:t>Fairly good</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50</a:t>
                      </a:r>
                    </a:p>
                  </a:txBody>
                  <a:tcPr marL="91440" marR="91440" marT="45720" marB="45720">
                    <a:solidFill>
                      <a:srgbClr val="EDF2F0"/>
                    </a:solidFill>
                  </a:tcPr>
                </a:tc>
                <a:tc>
                  <a:txBody>
                    <a:bodyPr/>
                    <a:lstStyle/>
                    <a:p>
                      <a:r>
                        <a:rPr sz="1800" b="0">
                          <a:solidFill>
                            <a:srgbClr val="203747"/>
                          </a:solidFill>
                          <a:latin typeface="Arial"/>
                          <a:ea typeface="Arial"/>
                          <a:cs typeface="Arial"/>
                        </a:rPr>
                        <a:t>Average</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0</a:t>
                      </a:r>
                    </a:p>
                  </a:txBody>
                  <a:tcPr marL="91440" marR="91440" marT="45720" marB="45720">
                    <a:solidFill>
                      <a:srgbClr val="FFFFFF"/>
                    </a:solidFill>
                  </a:tcPr>
                </a:tc>
                <a:tc>
                  <a:txBody>
                    <a:bodyPr/>
                    <a:lstStyle/>
                    <a:p>
                      <a:r>
                        <a:rPr sz="1800" b="0">
                          <a:solidFill>
                            <a:srgbClr val="203747"/>
                          </a:solidFill>
                          <a:latin typeface="Arial"/>
                          <a:ea typeface="Arial"/>
                          <a:cs typeface="Arial"/>
                        </a:rPr>
                        <a:t>Weak</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C23348A-11BF-45FE-ABBF-90B9F488CB1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10</a:t>
            </a:r>
          </a:p>
        </p:txBody>
      </p:sp>
    </p:spTree>
    <p:extLst>
      <p:ext uri="{BB962C8B-B14F-4D97-AF65-F5344CB8AC3E}">
        <p14:creationId xmlns:p14="http://schemas.microsoft.com/office/powerpoint/2010/main" val="446430917"/>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CD7988-BC55-496B-84F2-2B3445246C4D}"/>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risk tool explains each warning</a:t>
            </a:r>
          </a:p>
        </p:txBody>
      </p:sp>
      <p:sp>
        <p:nvSpPr>
          <p:cNvPr id="2" name="">
            <a:extLst xmlns:a="http://schemas.openxmlformats.org/drawingml/2006/main">
              <a:ext uri="{FF2B5EF4-FFF2-40B4-BE49-F238E27FC236}">
                <a16:creationId xmlns:a16="http://schemas.microsoft.com/office/drawing/2014/main" id="{463AAF94-6275-4662-8814-E4DA356FDF95}"/>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229B3-F4C7-4553-B44E-8A89D80651B9}"/>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08EF81D-2D83-4D65-84C3-DD2890F55A66}"/>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Low GPA, high section absence or low conduct can trigger a warning</a:t>
            </a:r>
          </a:p>
        </p:txBody>
      </p:sp>
      <p:sp>
        <p:nvSpPr>
          <p:cNvPr id="5" name="">
            <a:extLst xmlns:a="http://schemas.openxmlformats.org/drawingml/2006/main">
              <a:ext uri="{FF2B5EF4-FFF2-40B4-BE49-F238E27FC236}">
                <a16:creationId xmlns:a16="http://schemas.microsoft.com/office/drawing/2014/main" id="{B9409555-8907-41E0-A62A-DA9772DC5B24}"/>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B2B67D0-E12B-4F3F-A941-EDEB13C87CC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IT01 has 2 flagged students out of 10</a:t>
            </a:r>
          </a:p>
        </p:txBody>
      </p:sp>
      <p:sp>
        <p:nvSpPr>
          <p:cNvPr id="7" name="">
            <a:extLst xmlns:a="http://schemas.openxmlformats.org/drawingml/2006/main">
              <a:ext uri="{FF2B5EF4-FFF2-40B4-BE49-F238E27FC236}">
                <a16:creationId xmlns:a16="http://schemas.microsoft.com/office/drawing/2014/main" id="{D6469CDF-ECEC-4DAF-830B-973007FAC698}"/>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FD4BDC00-B667-427A-8CDB-48BDA82566D1}"/>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Business Administration has 4 out of 20</a:t>
            </a:r>
          </a:p>
        </p:txBody>
      </p:sp>
      <p:sp>
        <p:nvSpPr>
          <p:cNvPr id="9" name="">
            <a:extLst xmlns:a="http://schemas.openxmlformats.org/drawingml/2006/main">
              <a:ext uri="{FF2B5EF4-FFF2-40B4-BE49-F238E27FC236}">
                <a16:creationId xmlns:a16="http://schemas.microsoft.com/office/drawing/2014/main" id="{855ED560-387C-400E-8B15-F23E569A4A6A}"/>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6F2D327-7A7E-4016-B907-53299902F03D}"/>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result includes a reason for each student</a:t>
            </a:r>
          </a:p>
        </p:txBody>
      </p:sp>
      <p:sp>
        <p:nvSpPr>
          <p:cNvPr id="11" name="">
            <a:extLst xmlns:a="http://schemas.openxmlformats.org/drawingml/2006/main">
              <a:ext uri="{FF2B5EF4-FFF2-40B4-BE49-F238E27FC236}">
                <a16:creationId xmlns:a16="http://schemas.microsoft.com/office/drawing/2014/main" id="{BCE83B8F-777E-40BF-8DE5-95E5171925DD}"/>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11</a:t>
            </a:r>
          </a:p>
        </p:txBody>
      </p:sp>
    </p:spTree>
    <p:extLst>
      <p:ext uri="{BB962C8B-B14F-4D97-AF65-F5344CB8AC3E}">
        <p14:creationId xmlns:p14="http://schemas.microsoft.com/office/powerpoint/2010/main" val="1507599513"/>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1FE9D8-A800-435C-B7B8-B593F95B3B0F}"/>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An advising meeting combines several tools</a:t>
            </a:r>
          </a:p>
        </p:txBody>
      </p:sp>
      <p:sp>
        <p:nvSpPr>
          <p:cNvPr id="2" name="">
            <a:extLst xmlns:a="http://schemas.openxmlformats.org/drawingml/2006/main">
              <a:ext uri="{FF2B5EF4-FFF2-40B4-BE49-F238E27FC236}">
                <a16:creationId xmlns:a16="http://schemas.microsoft.com/office/drawing/2014/main" id="{F57904F6-5D68-4D2F-8FDB-5D814E514D9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91CD63-DFEB-4D65-A314-62BB7C41F859}"/>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5A93CA7-6F07-407C-92D0-715FFC6D4C3B}"/>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Get the transcript for the selected semester</a:t>
            </a:r>
          </a:p>
        </p:txBody>
      </p:sp>
      <p:sp>
        <p:nvSpPr>
          <p:cNvPr id="5" name="">
            <a:extLst xmlns:a="http://schemas.openxmlformats.org/drawingml/2006/main">
              <a:ext uri="{FF2B5EF4-FFF2-40B4-BE49-F238E27FC236}">
                <a16:creationId xmlns:a16="http://schemas.microsoft.com/office/drawing/2014/main" id="{49E2075B-31D3-4FD2-ADD7-59ED79140077}"/>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1BED537-5511-49B0-B23C-817363F0160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Check attendance and exam restrictions</a:t>
            </a:r>
          </a:p>
        </p:txBody>
      </p:sp>
      <p:sp>
        <p:nvSpPr>
          <p:cNvPr id="7" name="">
            <a:extLst xmlns:a="http://schemas.openxmlformats.org/drawingml/2006/main">
              <a:ext uri="{FF2B5EF4-FFF2-40B4-BE49-F238E27FC236}">
                <a16:creationId xmlns:a16="http://schemas.microsoft.com/office/drawing/2014/main" id="{3D33805E-7975-4648-82E2-6EE649F9FF5A}"/>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817E36A-B953-41F8-BAE8-D0A88DC0E988}"/>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Read the conduct score and classification</a:t>
            </a:r>
          </a:p>
        </p:txBody>
      </p:sp>
      <p:sp>
        <p:nvSpPr>
          <p:cNvPr id="9" name="">
            <a:extLst xmlns:a="http://schemas.openxmlformats.org/drawingml/2006/main">
              <a:ext uri="{FF2B5EF4-FFF2-40B4-BE49-F238E27FC236}">
                <a16:creationId xmlns:a16="http://schemas.microsoft.com/office/drawing/2014/main" id="{E41276E3-001F-444B-BCF8-4B75B3D00105}"/>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A451F9EE-D73C-4790-9B9A-952B4EF70B96}"/>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Give a short summary with clear next steps</a:t>
            </a:r>
          </a:p>
        </p:txBody>
      </p:sp>
      <p:sp>
        <p:nvSpPr>
          <p:cNvPr id="11" name="">
            <a:extLst xmlns:a="http://schemas.openxmlformats.org/drawingml/2006/main">
              <a:ext uri="{FF2B5EF4-FFF2-40B4-BE49-F238E27FC236}">
                <a16:creationId xmlns:a16="http://schemas.microsoft.com/office/drawing/2014/main" id="{B9928C6C-330E-448D-80CE-76292E46911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12</a:t>
            </a:r>
          </a:p>
        </p:txBody>
      </p:sp>
    </p:spTree>
    <p:extLst>
      <p:ext uri="{BB962C8B-B14F-4D97-AF65-F5344CB8AC3E}">
        <p14:creationId xmlns:p14="http://schemas.microsoft.com/office/powerpoint/2010/main" val="1985263465"/>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0D3625-2644-4DB6-B338-5E4DFA22B8D3}"/>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Provisional tuition example from finance PR2</a:t>
            </a:r>
          </a:p>
        </p:txBody>
      </p:sp>
      <p:sp>
        <p:nvSpPr>
          <p:cNvPr id="2" name="">
            <a:extLst xmlns:a="http://schemas.openxmlformats.org/drawingml/2006/main">
              <a:ext uri="{FF2B5EF4-FFF2-40B4-BE49-F238E27FC236}">
                <a16:creationId xmlns:a16="http://schemas.microsoft.com/office/drawing/2014/main" id="{4C026CF1-0380-4C4F-8AA0-3C9A0AE50AA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BFA3B33-F4C4-41AF-B891-714D8A5F9D4C}"/>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Provisional PR2 example, 2024-1</a:t>
                      </a:r>
                    </a:p>
                  </a:txBody>
                  <a:tcPr marL="91440" marR="91440" marT="45720" marB="45720">
                    <a:solidFill>
                      <a:srgbClr val="12324A"/>
                    </a:solidFill>
                  </a:tcPr>
                </a:tc>
                <a:tc>
                  <a:txBody>
                    <a:bodyPr/>
                    <a:lstStyle/>
                    <a:p>
                      <a:r>
                        <a:rPr sz="1800" b="1">
                          <a:solidFill>
                            <a:srgbClr val="FFFFFF"/>
                          </a:solidFill>
                          <a:latin typeface="Arial"/>
                          <a:ea typeface="Arial"/>
                          <a:cs typeface="Arial"/>
                        </a:rPr>
                        <a:t>Snapshot value</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Student 2201001</a:t>
                      </a:r>
                    </a:p>
                  </a:txBody>
                  <a:tcPr marL="91440" marR="91440" marT="45720" marB="45720">
                    <a:solidFill>
                      <a:srgbClr val="FFFFFF"/>
                    </a:solidFill>
                  </a:tcPr>
                </a:tc>
                <a:tc>
                  <a:txBody>
                    <a:bodyPr/>
                    <a:lstStyle/>
                    <a:p>
                      <a:r>
                        <a:rPr sz="1800" b="0">
                          <a:solidFill>
                            <a:srgbClr val="203747"/>
                          </a:solidFill>
                          <a:latin typeface="Arial"/>
                          <a:ea typeface="Arial"/>
                          <a:cs typeface="Arial"/>
                        </a:rPr>
                        <a:t>Paid in full</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Student 2201002 amount due</a:t>
                      </a:r>
                    </a:p>
                  </a:txBody>
                  <a:tcPr marL="91440" marR="91440" marT="45720" marB="45720">
                    <a:solidFill>
                      <a:srgbClr val="EDF2F0"/>
                    </a:solidFill>
                  </a:tcPr>
                </a:tc>
                <a:tc>
                  <a:txBody>
                    <a:bodyPr/>
                    <a:lstStyle/>
                    <a:p>
                      <a:r>
                        <a:rPr sz="1800" b="0">
                          <a:solidFill>
                            <a:srgbClr val="203747"/>
                          </a:solidFill>
                          <a:latin typeface="Arial"/>
                          <a:ea typeface="Arial"/>
                          <a:cs typeface="Arial"/>
                        </a:rPr>
                        <a:t>8,400,000 VND</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Student 2201002 balance</a:t>
                      </a:r>
                    </a:p>
                  </a:txBody>
                  <a:tcPr marL="91440" marR="91440" marT="45720" marB="45720">
                    <a:solidFill>
                      <a:srgbClr val="FFFFFF"/>
                    </a:solidFill>
                  </a:tcPr>
                </a:tc>
                <a:tc>
                  <a:txBody>
                    <a:bodyPr/>
                    <a:lstStyle/>
                    <a:p>
                      <a:r>
                        <a:rPr sz="1800" b="0">
                          <a:solidFill>
                            <a:srgbClr val="203747"/>
                          </a:solidFill>
                          <a:latin typeface="Arial"/>
                          <a:ea typeface="Arial"/>
                          <a:cs typeface="Arial"/>
                        </a:rPr>
                        <a:t>8,400,000 VND</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IT01 total outstanding balance</a:t>
                      </a:r>
                    </a:p>
                  </a:txBody>
                  <a:tcPr marL="91440" marR="91440" marT="45720" marB="45720">
                    <a:solidFill>
                      <a:srgbClr val="EDF2F0"/>
                    </a:solidFill>
                  </a:tcPr>
                </a:tc>
                <a:tc>
                  <a:txBody>
                    <a:bodyPr/>
                    <a:lstStyle/>
                    <a:p>
                      <a:r>
                        <a:rPr sz="1800" b="0">
                          <a:solidFill>
                            <a:srgbClr val="203747"/>
                          </a:solidFill>
                          <a:latin typeface="Arial"/>
                          <a:ea typeface="Arial"/>
                          <a:cs typeface="Arial"/>
                        </a:rPr>
                        <a:t>16,800,000 VND</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AE5142EA-AA70-4AF4-9D9F-94523C4121F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13</a:t>
            </a:r>
          </a:p>
        </p:txBody>
      </p:sp>
    </p:spTree>
    <p:extLst>
      <p:ext uri="{BB962C8B-B14F-4D97-AF65-F5344CB8AC3E}">
        <p14:creationId xmlns:p14="http://schemas.microsoft.com/office/powerpoint/2010/main" val="836498492"/>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22A523-DC1E-42D7-82A9-232AFDA654E3}"/>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Scholarship rules in the pending finance feature</a:t>
            </a:r>
          </a:p>
        </p:txBody>
      </p:sp>
      <p:sp>
        <p:nvSpPr>
          <p:cNvPr id="2" name="">
            <a:extLst xmlns:a="http://schemas.openxmlformats.org/drawingml/2006/main">
              <a:ext uri="{FF2B5EF4-FFF2-40B4-BE49-F238E27FC236}">
                <a16:creationId xmlns:a16="http://schemas.microsoft.com/office/drawing/2014/main" id="{0C815B21-FA69-40A7-A6B1-5BAF5AC2164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1C1BB9-6B6D-4869-8B23-5EDA6906F4BD}"/>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F56002B-535B-40BC-A869-AB8179D89807}"/>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Check semester GPA and conduct</a:t>
            </a:r>
          </a:p>
        </p:txBody>
      </p:sp>
      <p:sp>
        <p:nvSpPr>
          <p:cNvPr id="5" name="">
            <a:extLst xmlns:a="http://schemas.openxmlformats.org/drawingml/2006/main">
              <a:ext uri="{FF2B5EF4-FFF2-40B4-BE49-F238E27FC236}">
                <a16:creationId xmlns:a16="http://schemas.microsoft.com/office/drawing/2014/main" id="{FBA9F279-F5EC-4A0B-9D75-74DD3ADE3B77}"/>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9E5A31D-9610-4C25-B62D-6077D7168559}"/>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Require paid tuition and no owed courses</a:t>
            </a:r>
          </a:p>
        </p:txBody>
      </p:sp>
      <p:sp>
        <p:nvSpPr>
          <p:cNvPr id="7" name="">
            <a:extLst xmlns:a="http://schemas.openxmlformats.org/drawingml/2006/main">
              <a:ext uri="{FF2B5EF4-FFF2-40B4-BE49-F238E27FC236}">
                <a16:creationId xmlns:a16="http://schemas.microsoft.com/office/drawing/2014/main" id="{0C7157D8-C470-4E08-9BA4-F29F1E2D178B}"/>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EBC3EFA-702C-4C8C-B936-00A7FE47C689}"/>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Rank eligible students by GPA, then conduct</a:t>
            </a:r>
          </a:p>
        </p:txBody>
      </p:sp>
      <p:sp>
        <p:nvSpPr>
          <p:cNvPr id="9" name="">
            <a:extLst xmlns:a="http://schemas.openxmlformats.org/drawingml/2006/main">
              <a:ext uri="{FF2B5EF4-FFF2-40B4-BE49-F238E27FC236}">
                <a16:creationId xmlns:a16="http://schemas.microsoft.com/office/drawing/2014/main" id="{E46A74EC-25CF-4573-B69C-F797D3A49547}"/>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145D1CC-326F-4101-A41E-2009340083A1}"/>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Use the configured number of places</a:t>
            </a:r>
          </a:p>
        </p:txBody>
      </p:sp>
      <p:sp>
        <p:nvSpPr>
          <p:cNvPr id="11" name="">
            <a:extLst xmlns:a="http://schemas.openxmlformats.org/drawingml/2006/main">
              <a:ext uri="{FF2B5EF4-FFF2-40B4-BE49-F238E27FC236}">
                <a16:creationId xmlns:a16="http://schemas.microsoft.com/office/drawing/2014/main" id="{FD2B477D-8B11-4C9E-AD71-8CFD216F698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14</a:t>
            </a:r>
          </a:p>
        </p:txBody>
      </p:sp>
    </p:spTree>
    <p:extLst>
      <p:ext uri="{BB962C8B-B14F-4D97-AF65-F5344CB8AC3E}">
        <p14:creationId xmlns:p14="http://schemas.microsoft.com/office/powerpoint/2010/main" val="686851550"/>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E2B291-EC70-41AA-9DA1-70870AD7A42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Provisional scholarship ranking from finance PR2</a:t>
            </a:r>
          </a:p>
        </p:txBody>
      </p:sp>
      <p:sp>
        <p:nvSpPr>
          <p:cNvPr id="2" name="">
            <a:extLst xmlns:a="http://schemas.openxmlformats.org/drawingml/2006/main">
              <a:ext uri="{FF2B5EF4-FFF2-40B4-BE49-F238E27FC236}">
                <a16:creationId xmlns:a16="http://schemas.microsoft.com/office/drawing/2014/main" id="{2C4C641A-66CF-4F21-8A3C-5D709FF79155}"/>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BF827D76-942D-489C-9636-4DEA6E7E24A5}"/>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SCH02 in IT, provisional PR2 data</a:t>
                      </a:r>
                    </a:p>
                  </a:txBody>
                  <a:tcPr marL="91440" marR="91440" marT="45720" marB="45720">
                    <a:solidFill>
                      <a:srgbClr val="12324A"/>
                    </a:solidFill>
                  </a:tcPr>
                </a:tc>
                <a:tc>
                  <a:txBody>
                    <a:bodyPr/>
                    <a:lstStyle/>
                    <a:p>
                      <a:r>
                        <a:rPr sz="1800" b="1">
                          <a:solidFill>
                            <a:srgbClr val="FFFFFF"/>
                          </a:solidFill>
                          <a:latin typeface="Arial"/>
                          <a:ea typeface="Arial"/>
                          <a:cs typeface="Arial"/>
                        </a:rPr>
                        <a:t>Snapshot value</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Eligible candidates</a:t>
                      </a:r>
                    </a:p>
                  </a:txBody>
                  <a:tcPr marL="91440" marR="91440" marT="45720" marB="45720">
                    <a:solidFill>
                      <a:srgbClr val="FFFFFF"/>
                    </a:solidFill>
                  </a:tcPr>
                </a:tc>
                <a:tc>
                  <a:txBody>
                    <a:bodyPr/>
                    <a:lstStyle/>
                    <a:p>
                      <a:r>
                        <a:rPr sz="1800" b="0">
                          <a:solidFill>
                            <a:srgbClr val="203747"/>
                          </a:solidFill>
                          <a:latin typeface="Arial"/>
                          <a:ea typeface="Arial"/>
                          <a:cs typeface="Arial"/>
                        </a:rPr>
                        <a:t>9</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First candidate</a:t>
                      </a:r>
                    </a:p>
                  </a:txBody>
                  <a:tcPr marL="91440" marR="91440" marT="45720" marB="45720">
                    <a:solidFill>
                      <a:srgbClr val="EDF2F0"/>
                    </a:solidFill>
                  </a:tcPr>
                </a:tc>
                <a:tc>
                  <a:txBody>
                    <a:bodyPr/>
                    <a:lstStyle/>
                    <a:p>
                      <a:r>
                        <a:rPr sz="1800" b="0">
                          <a:solidFill>
                            <a:srgbClr val="203747"/>
                          </a:solidFill>
                          <a:latin typeface="Arial"/>
                          <a:ea typeface="Arial"/>
                          <a:cs typeface="Arial"/>
                        </a:rPr>
                        <a:t>2201016</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First candidate GPA</a:t>
                      </a:r>
                    </a:p>
                  </a:txBody>
                  <a:tcPr marL="91440" marR="91440" marT="45720" marB="45720">
                    <a:solidFill>
                      <a:srgbClr val="FFFFFF"/>
                    </a:solidFill>
                  </a:tcPr>
                </a:tc>
                <a:tc>
                  <a:txBody>
                    <a:bodyPr/>
                    <a:lstStyle/>
                    <a:p>
                      <a:r>
                        <a:rPr sz="1800" b="0">
                          <a:solidFill>
                            <a:srgbClr val="203747"/>
                          </a:solidFill>
                          <a:latin typeface="Arial"/>
                          <a:ea typeface="Arial"/>
                          <a:cs typeface="Arial"/>
                        </a:rPr>
                        <a:t>4.0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F936C0-9415-4230-98AA-39341DB648A9}"/>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15</a:t>
            </a:r>
          </a:p>
        </p:txBody>
      </p:sp>
    </p:spTree>
    <p:extLst>
      <p:ext uri="{BB962C8B-B14F-4D97-AF65-F5344CB8AC3E}">
        <p14:creationId xmlns:p14="http://schemas.microsoft.com/office/powerpoint/2010/main" val="1807886308"/>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3D2246-2827-4227-AEA6-497F996176EF}"/>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Provisional teacher pay calculation</a:t>
            </a:r>
          </a:p>
        </p:txBody>
      </p:sp>
      <p:sp>
        <p:nvSpPr>
          <p:cNvPr id="2" name="">
            <a:extLst xmlns:a="http://schemas.openxmlformats.org/drawingml/2006/main">
              <a:ext uri="{FF2B5EF4-FFF2-40B4-BE49-F238E27FC236}">
                <a16:creationId xmlns:a16="http://schemas.microsoft.com/office/drawing/2014/main" id="{13EAE3A5-2377-4F12-AC26-9CCC7DF2E0C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539A87-175E-4262-B653-6CEB20C97907}"/>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095E548-009E-4E9B-B70A-AD546E93D125}"/>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Monthly periods come from sections and weeks per month</a:t>
            </a:r>
          </a:p>
        </p:txBody>
      </p:sp>
      <p:sp>
        <p:nvSpPr>
          <p:cNvPr id="5" name="">
            <a:extLst xmlns:a="http://schemas.openxmlformats.org/drawingml/2006/main">
              <a:ext uri="{FF2B5EF4-FFF2-40B4-BE49-F238E27FC236}">
                <a16:creationId xmlns:a16="http://schemas.microsoft.com/office/drawing/2014/main" id="{80255249-0D5D-474C-A544-39751831E69D}"/>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18FB152-28C3-4360-84AB-FE0CA8C362E3}"/>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title selects the payment rate</a:t>
            </a:r>
          </a:p>
        </p:txBody>
      </p:sp>
      <p:sp>
        <p:nvSpPr>
          <p:cNvPr id="7" name="">
            <a:extLst xmlns:a="http://schemas.openxmlformats.org/drawingml/2006/main">
              <a:ext uri="{FF2B5EF4-FFF2-40B4-BE49-F238E27FC236}">
                <a16:creationId xmlns:a16="http://schemas.microsoft.com/office/drawing/2014/main" id="{BD02943C-1738-4CD6-9298-69E2765F490A}"/>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467B6A1-1A45-4F22-AD9B-675B289C758A}"/>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Overtime uses the configured threshold and bonus</a:t>
            </a:r>
          </a:p>
        </p:txBody>
      </p:sp>
      <p:sp>
        <p:nvSpPr>
          <p:cNvPr id="9" name="">
            <a:extLst xmlns:a="http://schemas.openxmlformats.org/drawingml/2006/main">
              <a:ext uri="{FF2B5EF4-FFF2-40B4-BE49-F238E27FC236}">
                <a16:creationId xmlns:a16="http://schemas.microsoft.com/office/drawing/2014/main" id="{E8509A00-B107-4BC6-81F2-57E2EC6D7D2E}"/>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F91C86D-7B0F-47F7-B382-5659D1468FA3}"/>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Net pay subtracts deductions from gross pay</a:t>
            </a:r>
          </a:p>
        </p:txBody>
      </p:sp>
      <p:sp>
        <p:nvSpPr>
          <p:cNvPr id="11" name="">
            <a:extLst xmlns:a="http://schemas.openxmlformats.org/drawingml/2006/main">
              <a:ext uri="{FF2B5EF4-FFF2-40B4-BE49-F238E27FC236}">
                <a16:creationId xmlns:a16="http://schemas.microsoft.com/office/drawing/2014/main" id="{32A3A713-54C8-4B79-A283-7B9179E51E64}"/>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16</a:t>
            </a:r>
          </a:p>
        </p:txBody>
      </p:sp>
    </p:spTree>
    <p:extLst>
      <p:ext uri="{BB962C8B-B14F-4D97-AF65-F5344CB8AC3E}">
        <p14:creationId xmlns:p14="http://schemas.microsoft.com/office/powerpoint/2010/main" val="1517051070"/>
      </p:ext>
    </p:extLst>
  </p:cSld>
</p:sld>
</file>

<file path=ppt/slides/slide1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706C77-B7BD-4BD4-9048-E1DDA9466338}"/>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Access and confirmation in the finance feature</a:t>
            </a:r>
          </a:p>
        </p:txBody>
      </p:sp>
      <p:sp>
        <p:nvSpPr>
          <p:cNvPr id="2" name="">
            <a:extLst xmlns:a="http://schemas.openxmlformats.org/drawingml/2006/main">
              <a:ext uri="{FF2B5EF4-FFF2-40B4-BE49-F238E27FC236}">
                <a16:creationId xmlns:a16="http://schemas.microsoft.com/office/drawing/2014/main" id="{A173A70D-1EB4-454F-9461-29BAB2551EB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89FE75-619A-4B97-870B-1DD6D9AF0972}"/>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51DD937-2ED1-4BB1-8302-08CCA45D9F72}"/>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 finance-free host should not guess money values</a:t>
            </a:r>
          </a:p>
        </p:txBody>
      </p:sp>
      <p:sp>
        <p:nvSpPr>
          <p:cNvPr id="5" name="">
            <a:extLst xmlns:a="http://schemas.openxmlformats.org/drawingml/2006/main">
              <a:ext uri="{FF2B5EF4-FFF2-40B4-BE49-F238E27FC236}">
                <a16:creationId xmlns:a16="http://schemas.microsoft.com/office/drawing/2014/main" id="{91A6C704-71B4-426C-90EB-8943E4E42B98}"/>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B740B9B-2204-4F26-8B73-8DD10AFE87BB}"/>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Separate data folders prevent generic academic access</a:t>
            </a:r>
          </a:p>
        </p:txBody>
      </p:sp>
      <p:sp>
        <p:nvSpPr>
          <p:cNvPr id="7" name="">
            <a:extLst xmlns:a="http://schemas.openxmlformats.org/drawingml/2006/main">
              <a:ext uri="{FF2B5EF4-FFF2-40B4-BE49-F238E27FC236}">
                <a16:creationId xmlns:a16="http://schemas.microsoft.com/office/drawing/2014/main" id="{48CFEB78-CC21-424E-8DD8-A6ADF6F93906}"/>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133E6EA-8147-4FC7-8975-525AD1A4FA38}"/>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approve_payroll must ask the user to confirm</a:t>
            </a:r>
          </a:p>
        </p:txBody>
      </p:sp>
      <p:sp>
        <p:nvSpPr>
          <p:cNvPr id="9" name="">
            <a:extLst xmlns:a="http://schemas.openxmlformats.org/drawingml/2006/main">
              <a:ext uri="{FF2B5EF4-FFF2-40B4-BE49-F238E27FC236}">
                <a16:creationId xmlns:a16="http://schemas.microsoft.com/office/drawing/2014/main" id="{3AB1F197-CC81-419F-89AC-4D58C81E05D1}"/>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73C6F9AB-499A-4F4C-90B2-602C965B73EA}"/>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Declining confirmation must keep the record unchanged</a:t>
            </a:r>
          </a:p>
        </p:txBody>
      </p:sp>
      <p:sp>
        <p:nvSpPr>
          <p:cNvPr id="11" name="">
            <a:extLst xmlns:a="http://schemas.openxmlformats.org/drawingml/2006/main">
              <a:ext uri="{FF2B5EF4-FFF2-40B4-BE49-F238E27FC236}">
                <a16:creationId xmlns:a16="http://schemas.microsoft.com/office/drawing/2014/main" id="{5B17925E-FB75-45C6-8AF4-BC4404608131}"/>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17</a:t>
            </a:r>
          </a:p>
        </p:txBody>
      </p:sp>
    </p:spTree>
    <p:extLst>
      <p:ext uri="{BB962C8B-B14F-4D97-AF65-F5344CB8AC3E}">
        <p14:creationId xmlns:p14="http://schemas.microsoft.com/office/powerpoint/2010/main" val="463996328"/>
      </p:ext>
    </p:extLst>
  </p:cSld>
</p:sld>
</file>

<file path=ppt/slides/slide1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A862F2-F00C-434B-81B8-18A3A5201B9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Shared test cases and provisional finance cases</a:t>
            </a:r>
          </a:p>
        </p:txBody>
      </p:sp>
      <p:sp>
        <p:nvSpPr>
          <p:cNvPr id="2" name="">
            <a:extLst xmlns:a="http://schemas.openxmlformats.org/drawingml/2006/main">
              <a:ext uri="{FF2B5EF4-FFF2-40B4-BE49-F238E27FC236}">
                <a16:creationId xmlns:a16="http://schemas.microsoft.com/office/drawing/2014/main" id="{CE5CA846-30EB-47A6-84B7-BABE7FFF9111}"/>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C017037-9BBD-49CC-9130-AEEA2EE547BD}"/>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Set</a:t>
                      </a:r>
                    </a:p>
                  </a:txBody>
                  <a:tcPr marL="91440" marR="91440" marT="45720" marB="45720">
                    <a:solidFill>
                      <a:srgbClr val="12324A"/>
                    </a:solidFill>
                  </a:tcPr>
                </a:tc>
                <a:tc>
                  <a:txBody>
                    <a:bodyPr/>
                    <a:lstStyle/>
                    <a:p>
                      <a:r>
                        <a:rPr sz="1800" b="1">
                          <a:solidFill>
                            <a:srgbClr val="FFFFFF"/>
                          </a:solidFill>
                          <a:latin typeface="Arial"/>
                          <a:ea typeface="Arial"/>
                          <a:cs typeface="Arial"/>
                        </a:rPr>
                        <a:t>Questions / metrics</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Shared CSV, K01–K15 on main</a:t>
                      </a:r>
                    </a:p>
                  </a:txBody>
                  <a:tcPr marL="91440" marR="91440" marT="45720" marB="45720">
                    <a:solidFill>
                      <a:srgbClr val="FFFFFF"/>
                    </a:solidFill>
                  </a:tcPr>
                </a:tc>
                <a:tc>
                  <a:txBody>
                    <a:bodyPr/>
                    <a:lstStyle/>
                    <a:p>
                      <a:r>
                        <a:rPr sz="1800" b="0">
                          <a:solidFill>
                            <a:srgbClr val="203747"/>
                          </a:solidFill>
                          <a:latin typeface="Arial"/>
                          <a:ea typeface="Arial"/>
                          <a:cs typeface="Arial"/>
                        </a:rPr>
                        <a:t>15 questions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Finance pending, K16–K24</a:t>
                      </a:r>
                    </a:p>
                  </a:txBody>
                  <a:tcPr marL="91440" marR="91440" marT="45720" marB="45720">
                    <a:solidFill>
                      <a:srgbClr val="EDF2F0"/>
                    </a:solidFill>
                  </a:tcPr>
                </a:tc>
                <a:tc>
                  <a:txBody>
                    <a:bodyPr/>
                    <a:lstStyle/>
                    <a:p>
                      <a:r>
                        <a:rPr sz="1800" b="0">
                          <a:solidFill>
                            <a:srgbClr val="203747"/>
                          </a:solidFill>
                          <a:latin typeface="Arial"/>
                          <a:ea typeface="Arial"/>
                          <a:cs typeface="Arial"/>
                        </a:rPr>
                        <a:t>9 provisional questions</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Excel checks for shared cases</a:t>
                      </a:r>
                    </a:p>
                  </a:txBody>
                  <a:tcPr marL="91440" marR="91440" marT="45720" marB="45720">
                    <a:solidFill>
                      <a:srgbClr val="FFFFFF"/>
                    </a:solidFill>
                  </a:tcPr>
                </a:tc>
                <a:tc>
                  <a:txBody>
                    <a:bodyPr/>
                    <a:lstStyle/>
                    <a:p>
                      <a:r>
                        <a:rPr sz="1800" b="0">
                          <a:solidFill>
                            <a:srgbClr val="203747"/>
                          </a:solidFill>
                          <a:latin typeface="Arial"/>
                          <a:ea typeface="Arial"/>
                          <a:cs typeface="Arial"/>
                        </a:rPr>
                        <a:t>29 source-linked metrics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Excel finance expectations</a:t>
                      </a:r>
                    </a:p>
                  </a:txBody>
                  <a:tcPr marL="91440" marR="91440" marT="45720" marB="45720">
                    <a:solidFill>
                      <a:srgbClr val="EDF2F0"/>
                    </a:solidFill>
                  </a:tcPr>
                </a:tc>
                <a:tc>
                  <a:txBody>
                    <a:bodyPr/>
                    <a:lstStyle/>
                    <a:p>
                      <a:r>
                        <a:rPr sz="1800" b="0">
                          <a:solidFill>
                            <a:srgbClr val="203747"/>
                          </a:solidFill>
                          <a:latin typeface="Arial"/>
                          <a:ea typeface="Arial"/>
                          <a:cs typeface="Arial"/>
                        </a:rPr>
                        <a:t>26 provisional metrics</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2EF5A237-DB94-4357-8F12-141CBFAF481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18</a:t>
            </a:r>
          </a:p>
        </p:txBody>
      </p:sp>
    </p:spTree>
    <p:extLst>
      <p:ext uri="{BB962C8B-B14F-4D97-AF65-F5344CB8AC3E}">
        <p14:creationId xmlns:p14="http://schemas.microsoft.com/office/powerpoint/2010/main" val="510088127"/>
      </p:ext>
    </p:extLst>
  </p:cSld>
</p:sld>
</file>

<file path=ppt/slides/slide1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BE0609-C399-475F-8963-A2C5FB396F3A}"/>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How to check an answer in Excel</a:t>
            </a:r>
          </a:p>
        </p:txBody>
      </p:sp>
      <p:sp>
        <p:nvSpPr>
          <p:cNvPr id="2" name="">
            <a:extLst xmlns:a="http://schemas.openxmlformats.org/drawingml/2006/main">
              <a:ext uri="{FF2B5EF4-FFF2-40B4-BE49-F238E27FC236}">
                <a16:creationId xmlns:a16="http://schemas.microsoft.com/office/drawing/2014/main" id="{6E65051F-B861-490D-8786-960A7093FE1C}"/>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FAC497-5B7B-461E-8037-A7A752609F97}"/>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3E8680E-E636-4A45-A638-1B036AD1006C}"/>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Use the scope column: main or provisional</a:t>
            </a:r>
          </a:p>
        </p:txBody>
      </p:sp>
      <p:sp>
        <p:nvSpPr>
          <p:cNvPr id="5" name="">
            <a:extLst xmlns:a="http://schemas.openxmlformats.org/drawingml/2006/main">
              <a:ext uri="{FF2B5EF4-FFF2-40B4-BE49-F238E27FC236}">
                <a16:creationId xmlns:a16="http://schemas.microsoft.com/office/drawing/2014/main" id="{628801D4-1BC9-4CF2-97DC-A93BA61C81A7}"/>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FE2953F-EEA0-4B2D-B69B-684EA4A3619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Read the worked arithmetic on the Manual sheet</a:t>
            </a:r>
          </a:p>
        </p:txBody>
      </p:sp>
      <p:sp>
        <p:nvSpPr>
          <p:cNvPr id="7" name="">
            <a:extLst xmlns:a="http://schemas.openxmlformats.org/drawingml/2006/main">
              <a:ext uri="{FF2B5EF4-FFF2-40B4-BE49-F238E27FC236}">
                <a16:creationId xmlns:a16="http://schemas.microsoft.com/office/drawing/2014/main" id="{4B7A80AE-4E48-4FCC-88F6-ADE728D44025}"/>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8277130E-D83F-487E-AB57-1DDC253277C3}"/>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Trace each answer to CSV rows and rule thresholds</a:t>
            </a:r>
          </a:p>
        </p:txBody>
      </p:sp>
      <p:sp>
        <p:nvSpPr>
          <p:cNvPr id="9" name="">
            <a:extLst xmlns:a="http://schemas.openxmlformats.org/drawingml/2006/main">
              <a:ext uri="{FF2B5EF4-FFF2-40B4-BE49-F238E27FC236}">
                <a16:creationId xmlns:a16="http://schemas.microsoft.com/office/drawing/2014/main" id="{B869128B-15B0-487F-911B-3855E7DB86A2}"/>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9C29758-2978-47C2-858E-E6B8CA0A7C8E}"/>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Compare the result and explanation with the recorded log</a:t>
            </a:r>
          </a:p>
        </p:txBody>
      </p:sp>
      <p:sp>
        <p:nvSpPr>
          <p:cNvPr id="11" name="">
            <a:extLst xmlns:a="http://schemas.openxmlformats.org/drawingml/2006/main">
              <a:ext uri="{FF2B5EF4-FFF2-40B4-BE49-F238E27FC236}">
                <a16:creationId xmlns:a16="http://schemas.microsoft.com/office/drawing/2014/main" id="{5B9BCF47-2B00-457B-A13E-F2E66B6A27E7}"/>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19</a:t>
            </a:r>
          </a:p>
        </p:txBody>
      </p:sp>
    </p:spTree>
    <p:extLst>
      <p:ext uri="{BB962C8B-B14F-4D97-AF65-F5344CB8AC3E}">
        <p14:creationId xmlns:p14="http://schemas.microsoft.com/office/powerpoint/2010/main" val="1594121396"/>
      </p:ext>
    </p:extLst>
  </p:cSld>
</p:sld>
</file>

<file path=ppt/slides/slide2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53FA17-6502-4D0D-AD41-DE79D1062BD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Settings used in Khoa tests</a:t>
            </a:r>
          </a:p>
        </p:txBody>
      </p:sp>
      <p:sp>
        <p:nvSpPr>
          <p:cNvPr id="2" name="">
            <a:extLst xmlns:a="http://schemas.openxmlformats.org/drawingml/2006/main">
              <a:ext uri="{FF2B5EF4-FFF2-40B4-BE49-F238E27FC236}">
                <a16:creationId xmlns:a16="http://schemas.microsoft.com/office/drawing/2014/main" id="{ECE7C0E8-70CF-441A-BE51-7DE7525061A5}"/>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241D7A95-4221-4DF7-8921-AAB15380D391}"/>
              </a:ext>
            </a:extLst>
          </p:cNvPr>
          <p:cNvGraphicFramePr/>
          <p:nvPr/>
        </p:nvGraphicFramePr>
        <p:xfrm>
          <a:off xmlns:a="http://schemas.openxmlformats.org/drawingml/2006/main" x="762000" y="2000250"/>
          <a:ext xmlns:a="http://schemas.openxmlformats.org/drawingml/2006/main" cx="10668000" cy="36576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Setting</a:t>
                      </a:r>
                    </a:p>
                  </a:txBody>
                  <a:tcPr marL="91440" marR="91440" marT="45720" marB="45720">
                    <a:solidFill>
                      <a:srgbClr val="12324A"/>
                    </a:solidFill>
                  </a:tcPr>
                </a:tc>
                <a:tc>
                  <a:txBody>
                    <a:bodyPr/>
                    <a:lstStyle/>
                    <a:p>
                      <a:r>
                        <a:rPr sz="1800" b="1">
                          <a:solidFill>
                            <a:srgbClr val="FFFFFF"/>
                          </a:solidFill>
                          <a:latin typeface="Arial"/>
                          <a:ea typeface="Arial"/>
                          <a:cs typeface="Arial"/>
                        </a:rPr>
                        <a:t>Value</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Gemini model</a:t>
                      </a:r>
                    </a:p>
                  </a:txBody>
                  <a:tcPr marL="91440" marR="91440" marT="45720" marB="45720">
                    <a:solidFill>
                      <a:srgbClr val="FFFFFF"/>
                    </a:solidFill>
                  </a:tcPr>
                </a:tc>
                <a:tc>
                  <a:txBody>
                    <a:bodyPr/>
                    <a:lstStyle/>
                    <a:p>
                      <a:r>
                        <a:rPr sz="1800" b="0">
                          <a:solidFill>
                            <a:srgbClr val="203747"/>
                          </a:solidFill>
                          <a:latin typeface="Arial"/>
                          <a:ea typeface="Arial"/>
                          <a:cs typeface="Arial"/>
                        </a:rPr>
                        <a:t>gemini-3.5-flash-lite</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Temperature</a:t>
                      </a:r>
                    </a:p>
                  </a:txBody>
                  <a:tcPr marL="91440" marR="91440" marT="45720" marB="45720">
                    <a:solidFill>
                      <a:srgbClr val="EDF2F0"/>
                    </a:solidFill>
                  </a:tcPr>
                </a:tc>
                <a:tc>
                  <a:txBody>
                    <a:bodyPr/>
                    <a:lstStyle/>
                    <a:p>
                      <a:r>
                        <a:rPr sz="1800" b="0">
                          <a:solidFill>
                            <a:srgbClr val="203747"/>
                          </a:solidFill>
                          <a:latin typeface="Arial"/>
                          <a:ea typeface="Arial"/>
                          <a:cs typeface="Arial"/>
                        </a:rPr>
                        <a:t>0.2</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Maximum tool rounds</a:t>
                      </a:r>
                    </a:p>
                  </a:txBody>
                  <a:tcPr marL="91440" marR="91440" marT="45720" marB="45720">
                    <a:solidFill>
                      <a:srgbClr val="FFFFFF"/>
                    </a:solidFill>
                  </a:tcPr>
                </a:tc>
                <a:tc>
                  <a:txBody>
                    <a:bodyPr/>
                    <a:lstStyle/>
                    <a:p>
                      <a:r>
                        <a:rPr sz="1800" b="0">
                          <a:solidFill>
                            <a:srgbClr val="203747"/>
                          </a:solidFill>
                          <a:latin typeface="Arial"/>
                          <a:ea typeface="Arial"/>
                          <a:cs typeface="Arial"/>
                        </a:rPr>
                        <a:t>8</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Conversation</a:t>
                      </a:r>
                    </a:p>
                  </a:txBody>
                  <a:tcPr marL="91440" marR="91440" marT="45720" marB="45720">
                    <a:solidFill>
                      <a:srgbClr val="EDF2F0"/>
                    </a:solidFill>
                  </a:tcPr>
                </a:tc>
                <a:tc>
                  <a:txBody>
                    <a:bodyPr/>
                    <a:lstStyle/>
                    <a:p>
                      <a:r>
                        <a:rPr sz="1800" b="0">
                          <a:solidFill>
                            <a:srgbClr val="203747"/>
                          </a:solidFill>
                          <a:latin typeface="Arial"/>
                          <a:ea typeface="Arial"/>
                          <a:cs typeface="Arial"/>
                        </a:rPr>
                        <a:t>Fresh for each question</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Model fallback</a:t>
                      </a:r>
                    </a:p>
                  </a:txBody>
                  <a:tcPr marL="91440" marR="91440" marT="45720" marB="45720">
                    <a:solidFill>
                      <a:srgbClr val="FFFFFF"/>
                    </a:solidFill>
                  </a:tcPr>
                </a:tc>
                <a:tc>
                  <a:txBody>
                    <a:bodyPr/>
                    <a:lstStyle/>
                    <a:p>
                      <a:r>
                        <a:rPr sz="1800" b="0">
                          <a:solidFill>
                            <a:srgbClr val="203747"/>
                          </a:solidFill>
                          <a:latin typeface="Arial"/>
                          <a:ea typeface="Arial"/>
                          <a:cs typeface="Arial"/>
                        </a:rPr>
                        <a:t>Disabled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A0CFFA-A254-4DE2-85FF-126F3417A08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20</a:t>
            </a:r>
          </a:p>
        </p:txBody>
      </p:sp>
    </p:spTree>
    <p:extLst>
      <p:ext uri="{BB962C8B-B14F-4D97-AF65-F5344CB8AC3E}">
        <p14:creationId xmlns:p14="http://schemas.microsoft.com/office/powerpoint/2010/main" val="1269640469"/>
      </p:ext>
    </p:extLst>
  </p:cSld>
</p:sld>
</file>

<file path=ppt/slides/slide2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1F8134-E0D2-4385-81B4-33E0C2F3BA3A}"/>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New results on the shared main dataset</a:t>
            </a:r>
          </a:p>
        </p:txBody>
      </p:sp>
      <p:sp>
        <p:nvSpPr>
          <p:cNvPr id="2" name="">
            <a:extLst xmlns:a="http://schemas.openxmlformats.org/drawingml/2006/main">
              <a:ext uri="{FF2B5EF4-FFF2-40B4-BE49-F238E27FC236}">
                <a16:creationId xmlns:a16="http://schemas.microsoft.com/office/drawing/2014/main" id="{196ED22B-C803-4315-95C9-99DEBF1CC597}"/>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DBBCC848-6649-4D49-8020-EC0BA4B5E1B9}"/>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Run</a:t>
                      </a:r>
                    </a:p>
                  </a:txBody>
                  <a:tcPr marL="91440" marR="91440" marT="45720" marB="45720">
                    <a:solidFill>
                      <a:srgbClr val="12324A"/>
                    </a:solidFill>
                  </a:tcPr>
                </a:tc>
                <a:tc>
                  <a:txBody>
                    <a:bodyPr/>
                    <a:lstStyle/>
                    <a:p>
                      <a:r>
                        <a:rPr sz="1575" b="1">
                          <a:solidFill>
                            <a:srgbClr val="FFFFFF"/>
                          </a:solidFill>
                          <a:latin typeface="Arial"/>
                          <a:ea typeface="Arial"/>
                          <a:cs typeface="Arial"/>
                        </a:rPr>
                        <a:t>Cases</a:t>
                      </a:r>
                    </a:p>
                  </a:txBody>
                  <a:tcPr marL="91440" marR="91440" marT="45720" marB="45720">
                    <a:solidFill>
                      <a:srgbClr val="12324A"/>
                    </a:solidFill>
                  </a:tcPr>
                </a:tc>
                <a:tc>
                  <a:txBody>
                    <a:bodyPr/>
                    <a:lstStyle/>
                    <a:p>
                      <a:r>
                        <a:rPr sz="1575" b="1">
                          <a:solidFill>
                            <a:srgbClr val="FFFFFF"/>
                          </a:solidFill>
                          <a:latin typeface="Arial"/>
                          <a:ea typeface="Arial"/>
                          <a:cs typeface="Arial"/>
                        </a:rPr>
                        <a:t>Passed</a:t>
                      </a:r>
                    </a:p>
                  </a:txBody>
                  <a:tcPr marL="91440" marR="91440" marT="45720" marB="45720">
                    <a:solidFill>
                      <a:srgbClr val="12324A"/>
                    </a:solidFill>
                  </a:tcPr>
                </a:tc>
                <a:tc>
                  <a:txBody>
                    <a:bodyPr/>
                    <a:lstStyle/>
                    <a:p>
                      <a:r>
                        <a:rPr sz="1575" b="1">
                          <a:solidFill>
                            <a:srgbClr val="FFFFFF"/>
                          </a:solidFill>
                          <a:latin typeface="Arial"/>
                          <a:ea typeface="Arial"/>
                          <a:cs typeface="Arial"/>
                        </a:rPr>
                        <a:t>Errors</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Direct MCP stdio</a:t>
                      </a:r>
                    </a:p>
                  </a:txBody>
                  <a:tcPr marL="91440" marR="91440" marT="45720" marB="45720">
                    <a:solidFill>
                      <a:srgbClr val="FFFFFF"/>
                    </a:solidFill>
                  </a:tcPr>
                </a:tc>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0</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Direct MCP HTTP</a:t>
                      </a:r>
                    </a:p>
                  </a:txBody>
                  <a:tcPr marL="91440" marR="91440" marT="45720" marB="45720">
                    <a:solidFill>
                      <a:srgbClr val="EDF2F0"/>
                    </a:solidFill>
                  </a:tcPr>
                </a:tc>
                <a:tc>
                  <a:txBody>
                    <a:bodyPr/>
                    <a:lstStyle/>
                    <a:p>
                      <a:r>
                        <a:rPr sz="1575" b="0">
                          <a:solidFill>
                            <a:srgbClr val="203747"/>
                          </a:solidFill>
                          <a:latin typeface="Arial"/>
                          <a:ea typeface="Arial"/>
                          <a:cs typeface="Arial"/>
                        </a:rPr>
                        <a:t>15</a:t>
                      </a:r>
                    </a:p>
                  </a:txBody>
                  <a:tcPr marL="91440" marR="91440" marT="45720" marB="45720">
                    <a:solidFill>
                      <a:srgbClr val="EDF2F0"/>
                    </a:solidFill>
                  </a:tcPr>
                </a:tc>
                <a:tc>
                  <a:txBody>
                    <a:bodyPr/>
                    <a:lstStyle/>
                    <a:p>
                      <a:r>
                        <a:rPr sz="1575" b="0">
                          <a:solidFill>
                            <a:srgbClr val="203747"/>
                          </a:solidFill>
                          <a:latin typeface="Arial"/>
                          <a:ea typeface="Arial"/>
                          <a:cs typeface="Arial"/>
                        </a:rPr>
                        <a:t>15</a:t>
                      </a:r>
                    </a:p>
                  </a:txBody>
                  <a:tcPr marL="91440" marR="91440" marT="45720" marB="45720">
                    <a:solidFill>
                      <a:srgbClr val="EDF2F0"/>
                    </a:solidFill>
                  </a:tcPr>
                </a:tc>
                <a:tc>
                  <a:txBody>
                    <a:bodyPr/>
                    <a:lstStyle/>
                    <a:p>
                      <a:r>
                        <a:rPr sz="1575" b="0">
                          <a:solidFill>
                            <a:srgbClr val="203747"/>
                          </a:solidFill>
                          <a:latin typeface="Arial"/>
                          <a:ea typeface="Arial"/>
                          <a:cs typeface="Arial"/>
                        </a:rPr>
                        <a:t>0</a:t>
                      </a:r>
                    </a:p>
                  </a:txBody>
                  <a:tcPr marL="91440" marR="91440" marT="45720" marB="45720">
                    <a:solidFill>
                      <a:srgbClr val="EDF2F0"/>
                    </a:solidFill>
                  </a:tcPr>
                </a:tc>
              </a:tr>
              <a:tr h="609600">
                <a:tc>
                  <a:txBody>
                    <a:bodyPr/>
                    <a:lstStyle/>
                    <a:p>
                      <a:r>
                        <a:rPr sz="1575" b="0">
                          <a:solidFill>
                            <a:srgbClr val="203747"/>
                          </a:solidFill>
                          <a:latin typeface="Arial"/>
                          <a:ea typeface="Arial"/>
                          <a:cs typeface="Arial"/>
                        </a:rPr>
                        <a:t>Gemini stdio</a:t>
                      </a:r>
                    </a:p>
                  </a:txBody>
                  <a:tcPr marL="91440" marR="91440" marT="45720" marB="45720">
                    <a:solidFill>
                      <a:srgbClr val="FFFFFF"/>
                    </a:solidFill>
                  </a:tcPr>
                </a:tc>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BFA27FD-2214-4A94-BEFB-B5888AC3B875}"/>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21</a:t>
            </a:r>
          </a:p>
        </p:txBody>
      </p:sp>
    </p:spTree>
    <p:extLst>
      <p:ext uri="{BB962C8B-B14F-4D97-AF65-F5344CB8AC3E}">
        <p14:creationId xmlns:p14="http://schemas.microsoft.com/office/powerpoint/2010/main" val="11144488"/>
      </p:ext>
    </p:extLst>
  </p:cSld>
</p:sld>
</file>

<file path=ppt/slides/slide2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8BB4E1-D367-41F7-889E-F4B68E4C7DFD}"/>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Timing and token measurements</a:t>
            </a:r>
          </a:p>
        </p:txBody>
      </p:sp>
      <p:sp>
        <p:nvSpPr>
          <p:cNvPr id="2" name="">
            <a:extLst xmlns:a="http://schemas.openxmlformats.org/drawingml/2006/main">
              <a:ext uri="{FF2B5EF4-FFF2-40B4-BE49-F238E27FC236}">
                <a16:creationId xmlns:a16="http://schemas.microsoft.com/office/drawing/2014/main" id="{ECC2BC4D-01B5-423F-8B41-6EDD175C38C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A020E007-5384-4421-AFC5-21C8F98E31F9}"/>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Measurement</a:t>
                      </a:r>
                    </a:p>
                  </a:txBody>
                  <a:tcPr marL="91440" marR="91440" marT="45720" marB="45720">
                    <a:solidFill>
                      <a:srgbClr val="12324A"/>
                    </a:solidFill>
                  </a:tcPr>
                </a:tc>
                <a:tc>
                  <a:txBody>
                    <a:bodyPr/>
                    <a:lstStyle/>
                    <a:p>
                      <a:r>
                        <a:rPr sz="1800" b="1">
                          <a:solidFill>
                            <a:srgbClr val="FFFFFF"/>
                          </a:solidFill>
                          <a:latin typeface="Arial"/>
                          <a:ea typeface="Arial"/>
                          <a:cs typeface="Arial"/>
                        </a:rPr>
                        <a:t>Shared 15-case run</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Direct stdio median</a:t>
                      </a:r>
                    </a:p>
                  </a:txBody>
                  <a:tcPr marL="91440" marR="91440" marT="45720" marB="45720">
                    <a:solidFill>
                      <a:srgbClr val="FFFFFF"/>
                    </a:solidFill>
                  </a:tcPr>
                </a:tc>
                <a:tc>
                  <a:txBody>
                    <a:bodyPr/>
                    <a:lstStyle/>
                    <a:p>
                      <a:r>
                        <a:rPr sz="1800" b="0">
                          <a:solidFill>
                            <a:srgbClr val="203747"/>
                          </a:solidFill>
                          <a:latin typeface="Arial"/>
                          <a:ea typeface="Arial"/>
                          <a:cs typeface="Arial"/>
                        </a:rPr>
                        <a:t>3 ms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Direct HTTP median</a:t>
                      </a:r>
                    </a:p>
                  </a:txBody>
                  <a:tcPr marL="91440" marR="91440" marT="45720" marB="45720">
                    <a:solidFill>
                      <a:srgbClr val="EDF2F0"/>
                    </a:solidFill>
                  </a:tcPr>
                </a:tc>
                <a:tc>
                  <a:txBody>
                    <a:bodyPr/>
                    <a:lstStyle/>
                    <a:p>
                      <a:r>
                        <a:rPr sz="1800" b="0">
                          <a:solidFill>
                            <a:srgbClr val="203747"/>
                          </a:solidFill>
                          <a:latin typeface="Arial"/>
                          <a:ea typeface="Arial"/>
                          <a:cs typeface="Arial"/>
                        </a:rPr>
                        <a:t>8 ms</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Gemini median per question</a:t>
                      </a:r>
                    </a:p>
                  </a:txBody>
                  <a:tcPr marL="91440" marR="91440" marT="45720" marB="45720">
                    <a:solidFill>
                      <a:srgbClr val="FFFFFF"/>
                    </a:solidFill>
                  </a:tcPr>
                </a:tc>
                <a:tc>
                  <a:txBody>
                    <a:bodyPr/>
                    <a:lstStyle/>
                    <a:p>
                      <a:r>
                        <a:rPr sz="1800" b="0">
                          <a:solidFill>
                            <a:srgbClr val="203747"/>
                          </a:solidFill>
                          <a:latin typeface="Arial"/>
                          <a:ea typeface="Arial"/>
                          <a:cs typeface="Arial"/>
                        </a:rPr>
                        <a:t>2.19 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Gemini input and output tokens</a:t>
                      </a:r>
                    </a:p>
                  </a:txBody>
                  <a:tcPr marL="91440" marR="91440" marT="45720" marB="45720">
                    <a:solidFill>
                      <a:srgbClr val="EDF2F0"/>
                    </a:solidFill>
                  </a:tcPr>
                </a:tc>
                <a:tc>
                  <a:txBody>
                    <a:bodyPr/>
                    <a:lstStyle/>
                    <a:p>
                      <a:r>
                        <a:rPr sz="1800" b="0">
                          <a:solidFill>
                            <a:srgbClr val="203747"/>
                          </a:solidFill>
                          <a:latin typeface="Arial"/>
                          <a:ea typeface="Arial"/>
                          <a:cs typeface="Arial"/>
                        </a:rPr>
                        <a:t>111,391 / 2,458</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7ABDC979-82EE-42FA-A548-199C54F5130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22</a:t>
            </a:r>
          </a:p>
        </p:txBody>
      </p:sp>
    </p:spTree>
    <p:extLst>
      <p:ext uri="{BB962C8B-B14F-4D97-AF65-F5344CB8AC3E}">
        <p14:creationId xmlns:p14="http://schemas.microsoft.com/office/powerpoint/2010/main" val="996728800"/>
      </p:ext>
    </p:extLst>
  </p:cSld>
</p:sld>
</file>

<file path=ppt/slides/slide2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8F014A-E505-4463-9E9E-DDCE68A175BF}"/>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Hoang compared the tool round limit</a:t>
            </a:r>
          </a:p>
        </p:txBody>
      </p:sp>
      <p:sp>
        <p:nvSpPr>
          <p:cNvPr id="2" name="">
            <a:extLst xmlns:a="http://schemas.openxmlformats.org/drawingml/2006/main">
              <a:ext uri="{FF2B5EF4-FFF2-40B4-BE49-F238E27FC236}">
                <a16:creationId xmlns:a16="http://schemas.microsoft.com/office/drawing/2014/main" id="{2220D541-A2F3-4C96-B94B-89242A86A6DC}"/>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7ED8A35A-CD0A-4385-BFE8-F0EBF55EAEC2}"/>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3556000"/>
                <a:gridCol w="3556000"/>
                <a:gridCol w="3556000"/>
              </a:tblGrid>
              <a:tr h="609600">
                <a:tc>
                  <a:txBody>
                    <a:bodyPr/>
                    <a:lstStyle/>
                    <a:p>
                      <a:r>
                        <a:rPr sz="1800" b="1">
                          <a:solidFill>
                            <a:srgbClr val="FFFFFF"/>
                          </a:solidFill>
                          <a:latin typeface="Arial"/>
                          <a:ea typeface="Arial"/>
                          <a:cs typeface="Arial"/>
                        </a:rPr>
                        <a:t>Maximum rounds</a:t>
                      </a:r>
                    </a:p>
                  </a:txBody>
                  <a:tcPr marL="91440" marR="91440" marT="45720" marB="45720">
                    <a:solidFill>
                      <a:srgbClr val="12324A"/>
                    </a:solidFill>
                  </a:tcPr>
                </a:tc>
                <a:tc>
                  <a:txBody>
                    <a:bodyPr/>
                    <a:lstStyle/>
                    <a:p>
                      <a:r>
                        <a:rPr sz="1800" b="1">
                          <a:solidFill>
                            <a:srgbClr val="FFFFFF"/>
                          </a:solidFill>
                          <a:latin typeface="Arial"/>
                          <a:ea typeface="Arial"/>
                          <a:cs typeface="Arial"/>
                        </a:rPr>
                        <a:t>Report workflow used</a:t>
                      </a:r>
                    </a:p>
                  </a:txBody>
                  <a:tcPr marL="91440" marR="91440" marT="45720" marB="45720">
                    <a:solidFill>
                      <a:srgbClr val="12324A"/>
                    </a:solidFill>
                  </a:tcPr>
                </a:tc>
                <a:tc>
                  <a:txBody>
                    <a:bodyPr/>
                    <a:lstStyle/>
                    <a:p>
                      <a:r>
                        <a:rPr sz="1800" b="1">
                          <a:solidFill>
                            <a:srgbClr val="FFFFFF"/>
                          </a:solidFill>
                          <a:latin typeface="Arial"/>
                          <a:ea typeface="Arial"/>
                          <a:cs typeface="Arial"/>
                        </a:rPr>
                        <a:t>Observed outcome</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2</a:t>
                      </a:r>
                    </a:p>
                  </a:txBody>
                  <a:tcPr marL="91440" marR="91440" marT="45720" marB="45720">
                    <a:solidFill>
                      <a:srgbClr val="FFFFFF"/>
                    </a:solidFill>
                  </a:tcPr>
                </a:tc>
                <a:tc>
                  <a:txBody>
                    <a:bodyPr/>
                    <a:lstStyle/>
                    <a:p>
                      <a:r>
                        <a:rPr sz="1800" b="0">
                          <a:solidFill>
                            <a:srgbClr val="203747"/>
                          </a:solidFill>
                          <a:latin typeface="Arial"/>
                          <a:ea typeface="Arial"/>
                          <a:cs typeface="Arial"/>
                        </a:rPr>
                        <a:t>2 rounds</a:t>
                      </a:r>
                    </a:p>
                  </a:txBody>
                  <a:tcPr marL="91440" marR="91440" marT="45720" marB="45720">
                    <a:solidFill>
                      <a:srgbClr val="FFFFFF"/>
                    </a:solidFill>
                  </a:tcPr>
                </a:tc>
                <a:tc>
                  <a:txBody>
                    <a:bodyPr/>
                    <a:lstStyle/>
                    <a:p>
                      <a:r>
                        <a:rPr sz="1800" b="0">
                          <a:solidFill>
                            <a:srgbClr val="203747"/>
                          </a:solidFill>
                          <a:latin typeface="Arial"/>
                          <a:ea typeface="Arial"/>
                          <a:cs typeface="Arial"/>
                        </a:rPr>
                        <a:t>Report completed</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4</a:t>
                      </a:r>
                    </a:p>
                  </a:txBody>
                  <a:tcPr marL="91440" marR="91440" marT="45720" marB="45720">
                    <a:solidFill>
                      <a:srgbClr val="EDF2F0"/>
                    </a:solidFill>
                  </a:tcPr>
                </a:tc>
                <a:tc>
                  <a:txBody>
                    <a:bodyPr/>
                    <a:lstStyle/>
                    <a:p>
                      <a:r>
                        <a:rPr sz="1800" b="0">
                          <a:solidFill>
                            <a:srgbClr val="203747"/>
                          </a:solidFill>
                          <a:latin typeface="Arial"/>
                          <a:ea typeface="Arial"/>
                          <a:cs typeface="Arial"/>
                        </a:rPr>
                        <a:t>2 rounds</a:t>
                      </a:r>
                    </a:p>
                  </a:txBody>
                  <a:tcPr marL="91440" marR="91440" marT="45720" marB="45720">
                    <a:solidFill>
                      <a:srgbClr val="EDF2F0"/>
                    </a:solidFill>
                  </a:tcPr>
                </a:tc>
                <a:tc>
                  <a:txBody>
                    <a:bodyPr/>
                    <a:lstStyle/>
                    <a:p>
                      <a:r>
                        <a:rPr sz="1800" b="0">
                          <a:solidFill>
                            <a:srgbClr val="203747"/>
                          </a:solidFill>
                          <a:latin typeface="Arial"/>
                          <a:ea typeface="Arial"/>
                          <a:cs typeface="Arial"/>
                        </a:rPr>
                        <a:t>Report completed</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8</a:t>
                      </a:r>
                    </a:p>
                  </a:txBody>
                  <a:tcPr marL="91440" marR="91440" marT="45720" marB="45720">
                    <a:solidFill>
                      <a:srgbClr val="FFFFFF"/>
                    </a:solidFill>
                  </a:tcPr>
                </a:tc>
                <a:tc>
                  <a:txBody>
                    <a:bodyPr/>
                    <a:lstStyle/>
                    <a:p>
                      <a:r>
                        <a:rPr sz="1800" b="0">
                          <a:solidFill>
                            <a:srgbClr val="203747"/>
                          </a:solidFill>
                          <a:latin typeface="Arial"/>
                          <a:ea typeface="Arial"/>
                          <a:cs typeface="Arial"/>
                        </a:rPr>
                        <a:t>2 rounds</a:t>
                      </a:r>
                    </a:p>
                  </a:txBody>
                  <a:tcPr marL="91440" marR="91440" marT="45720" marB="45720">
                    <a:solidFill>
                      <a:srgbClr val="FFFFFF"/>
                    </a:solidFill>
                  </a:tcPr>
                </a:tc>
                <a:tc>
                  <a:txBody>
                    <a:bodyPr/>
                    <a:lstStyle/>
                    <a:p>
                      <a:r>
                        <a:rPr sz="1800" b="0">
                          <a:solidFill>
                            <a:srgbClr val="203747"/>
                          </a:solidFill>
                          <a:latin typeface="Arial"/>
                          <a:ea typeface="Arial"/>
                          <a:cs typeface="Arial"/>
                        </a:rPr>
                        <a:t>Report completed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A81A7A9-9E2C-4CD5-AA2A-2D263C642BBD}"/>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23</a:t>
            </a:r>
          </a:p>
        </p:txBody>
      </p:sp>
    </p:spTree>
    <p:extLst>
      <p:ext uri="{BB962C8B-B14F-4D97-AF65-F5344CB8AC3E}">
        <p14:creationId xmlns:p14="http://schemas.microsoft.com/office/powerpoint/2010/main" val="1924747666"/>
      </p:ext>
    </p:extLst>
  </p:cSld>
</p:sld>
</file>

<file path=ppt/slides/slide2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B6B539-A3E7-4B9B-B3C9-D0637FF05E1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Hoang compared temperature settings</a:t>
            </a:r>
          </a:p>
        </p:txBody>
      </p:sp>
      <p:sp>
        <p:nvSpPr>
          <p:cNvPr id="2" name="">
            <a:extLst xmlns:a="http://schemas.openxmlformats.org/drawingml/2006/main">
              <a:ext uri="{FF2B5EF4-FFF2-40B4-BE49-F238E27FC236}">
                <a16:creationId xmlns:a16="http://schemas.microsoft.com/office/drawing/2014/main" id="{90C3C3D5-AE1D-4044-9DA6-EDF783BB59E3}"/>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9AAC30D4-8AE5-409D-9528-A60136B7C6A5}"/>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3556000"/>
                <a:gridCol w="3556000"/>
                <a:gridCol w="3556000"/>
              </a:tblGrid>
              <a:tr h="609600">
                <a:tc>
                  <a:txBody>
                    <a:bodyPr/>
                    <a:lstStyle/>
                    <a:p>
                      <a:r>
                        <a:rPr sz="1800" b="1">
                          <a:solidFill>
                            <a:srgbClr val="FFFFFF"/>
                          </a:solidFill>
                          <a:latin typeface="Arial"/>
                          <a:ea typeface="Arial"/>
                          <a:cs typeface="Arial"/>
                        </a:rPr>
                        <a:t>Temperature</a:t>
                      </a:r>
                    </a:p>
                  </a:txBody>
                  <a:tcPr marL="91440" marR="91440" marT="45720" marB="45720">
                    <a:solidFill>
                      <a:srgbClr val="12324A"/>
                    </a:solidFill>
                  </a:tcPr>
                </a:tc>
                <a:tc>
                  <a:txBody>
                    <a:bodyPr/>
                    <a:lstStyle/>
                    <a:p>
                      <a:r>
                        <a:rPr sz="1800" b="1">
                          <a:solidFill>
                            <a:srgbClr val="FFFFFF"/>
                          </a:solidFill>
                          <a:latin typeface="Arial"/>
                          <a:ea typeface="Arial"/>
                          <a:cs typeface="Arial"/>
                        </a:rPr>
                        <a:t>Questions</a:t>
                      </a:r>
                    </a:p>
                  </a:txBody>
                  <a:tcPr marL="91440" marR="91440" marT="45720" marB="45720">
                    <a:solidFill>
                      <a:srgbClr val="12324A"/>
                    </a:solidFill>
                  </a:tcPr>
                </a:tc>
                <a:tc>
                  <a:txBody>
                    <a:bodyPr/>
                    <a:lstStyle/>
                    <a:p>
                      <a:r>
                        <a:rPr sz="1800" b="1">
                          <a:solidFill>
                            <a:srgbClr val="FFFFFF"/>
                          </a:solidFill>
                          <a:latin typeface="Arial"/>
                          <a:ea typeface="Arial"/>
                          <a:cs typeface="Arial"/>
                        </a:rPr>
                        <a:t>Output tokens</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0.0</a:t>
                      </a:r>
                    </a:p>
                  </a:txBody>
                  <a:tcPr marL="91440" marR="91440" marT="45720" marB="45720">
                    <a:solidFill>
                      <a:srgbClr val="FFFFFF"/>
                    </a:solidFill>
                  </a:tcPr>
                </a:tc>
                <a:tc>
                  <a:txBody>
                    <a:bodyPr/>
                    <a:lstStyle/>
                    <a:p>
                      <a:r>
                        <a:rPr sz="1800" b="0">
                          <a:solidFill>
                            <a:srgbClr val="203747"/>
                          </a:solidFill>
                          <a:latin typeface="Arial"/>
                          <a:ea typeface="Arial"/>
                          <a:cs typeface="Arial"/>
                        </a:rPr>
                        <a:t>6</a:t>
                      </a:r>
                    </a:p>
                  </a:txBody>
                  <a:tcPr marL="91440" marR="91440" marT="45720" marB="45720">
                    <a:solidFill>
                      <a:srgbClr val="FFFFFF"/>
                    </a:solidFill>
                  </a:tcPr>
                </a:tc>
                <a:tc>
                  <a:txBody>
                    <a:bodyPr/>
                    <a:lstStyle/>
                    <a:p>
                      <a:r>
                        <a:rPr sz="1800" b="0">
                          <a:solidFill>
                            <a:srgbClr val="203747"/>
                          </a:solidFill>
                          <a:latin typeface="Arial"/>
                          <a:ea typeface="Arial"/>
                          <a:cs typeface="Arial"/>
                        </a:rPr>
                        <a:t>4200</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0.2</a:t>
                      </a:r>
                    </a:p>
                  </a:txBody>
                  <a:tcPr marL="91440" marR="91440" marT="45720" marB="45720">
                    <a:solidFill>
                      <a:srgbClr val="EDF2F0"/>
                    </a:solidFill>
                  </a:tcPr>
                </a:tc>
                <a:tc>
                  <a:txBody>
                    <a:bodyPr/>
                    <a:lstStyle/>
                    <a:p>
                      <a:r>
                        <a:rPr sz="1800" b="0">
                          <a:solidFill>
                            <a:srgbClr val="203747"/>
                          </a:solidFill>
                          <a:latin typeface="Arial"/>
                          <a:ea typeface="Arial"/>
                          <a:cs typeface="Arial"/>
                        </a:rPr>
                        <a:t>6</a:t>
                      </a:r>
                    </a:p>
                  </a:txBody>
                  <a:tcPr marL="91440" marR="91440" marT="45720" marB="45720">
                    <a:solidFill>
                      <a:srgbClr val="EDF2F0"/>
                    </a:solidFill>
                  </a:tcPr>
                </a:tc>
                <a:tc>
                  <a:txBody>
                    <a:bodyPr/>
                    <a:lstStyle/>
                    <a:p>
                      <a:r>
                        <a:rPr sz="1800" b="0">
                          <a:solidFill>
                            <a:srgbClr val="203747"/>
                          </a:solidFill>
                          <a:latin typeface="Arial"/>
                          <a:ea typeface="Arial"/>
                          <a:cs typeface="Arial"/>
                        </a:rPr>
                        <a:t>3611</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1.0</a:t>
                      </a:r>
                    </a:p>
                  </a:txBody>
                  <a:tcPr marL="91440" marR="91440" marT="45720" marB="45720">
                    <a:solidFill>
                      <a:srgbClr val="FFFFFF"/>
                    </a:solidFill>
                  </a:tcPr>
                </a:tc>
                <a:tc>
                  <a:txBody>
                    <a:bodyPr/>
                    <a:lstStyle/>
                    <a:p>
                      <a:r>
                        <a:rPr sz="1800" b="0">
                          <a:solidFill>
                            <a:srgbClr val="203747"/>
                          </a:solidFill>
                          <a:latin typeface="Arial"/>
                          <a:ea typeface="Arial"/>
                          <a:cs typeface="Arial"/>
                        </a:rPr>
                        <a:t>6</a:t>
                      </a:r>
                    </a:p>
                  </a:txBody>
                  <a:tcPr marL="91440" marR="91440" marT="45720" marB="45720">
                    <a:solidFill>
                      <a:srgbClr val="FFFFFF"/>
                    </a:solidFill>
                  </a:tcPr>
                </a:tc>
                <a:tc>
                  <a:txBody>
                    <a:bodyPr/>
                    <a:lstStyle/>
                    <a:p>
                      <a:r>
                        <a:rPr sz="1800" b="0">
                          <a:solidFill>
                            <a:srgbClr val="203747"/>
                          </a:solidFill>
                          <a:latin typeface="Arial"/>
                          <a:ea typeface="Arial"/>
                          <a:cs typeface="Arial"/>
                        </a:rPr>
                        <a:t>5320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075566E-4914-462B-B86F-A22114FA5DA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24</a:t>
            </a:r>
          </a:p>
        </p:txBody>
      </p:sp>
    </p:spTree>
    <p:extLst>
      <p:ext uri="{BB962C8B-B14F-4D97-AF65-F5344CB8AC3E}">
        <p14:creationId xmlns:p14="http://schemas.microsoft.com/office/powerpoint/2010/main" val="740009419"/>
      </p:ext>
    </p:extLst>
  </p:cSld>
</p:sld>
</file>

<file path=ppt/slides/slide2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35363E-B4F1-4018-8A97-DE53D234A7B0}"/>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Tool descriptions need a real comparison</a:t>
            </a:r>
          </a:p>
        </p:txBody>
      </p:sp>
      <p:sp>
        <p:nvSpPr>
          <p:cNvPr id="2" name="">
            <a:extLst xmlns:a="http://schemas.openxmlformats.org/drawingml/2006/main">
              <a:ext uri="{FF2B5EF4-FFF2-40B4-BE49-F238E27FC236}">
                <a16:creationId xmlns:a16="http://schemas.microsoft.com/office/drawing/2014/main" id="{50C30136-3FA9-4282-B46B-7F34011AE3A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790002-4767-4618-BC6E-988DED838056}"/>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720777B-3E80-4E0C-8E59-66EB154C589D}"/>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Clear descriptions explain the job and parameters</a:t>
            </a:r>
          </a:p>
        </p:txBody>
      </p:sp>
      <p:sp>
        <p:nvSpPr>
          <p:cNvPr id="5" name="">
            <a:extLst xmlns:a="http://schemas.openxmlformats.org/drawingml/2006/main">
              <a:ext uri="{FF2B5EF4-FFF2-40B4-BE49-F238E27FC236}">
                <a16:creationId xmlns:a16="http://schemas.microsoft.com/office/drawing/2014/main" id="{6312AFAA-C351-477E-B670-AFFE2824DA40}"/>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FC07285-99CD-4612-AC6A-9DCFEEF24333}"/>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Terse descriptions may save prompt space</a:t>
            </a:r>
          </a:p>
        </p:txBody>
      </p:sp>
      <p:sp>
        <p:nvSpPr>
          <p:cNvPr id="7" name="">
            <a:extLst xmlns:a="http://schemas.openxmlformats.org/drawingml/2006/main">
              <a:ext uri="{FF2B5EF4-FFF2-40B4-BE49-F238E27FC236}">
                <a16:creationId xmlns:a16="http://schemas.microsoft.com/office/drawing/2014/main" id="{34EB8C87-5430-44BF-8877-370AB4054900}"/>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B768FF2E-AD54-4EEF-9ED3-DC1972304B7D}"/>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Changing only the host prompt does not shorten schemas</a:t>
            </a:r>
          </a:p>
        </p:txBody>
      </p:sp>
      <p:sp>
        <p:nvSpPr>
          <p:cNvPr id="9" name="">
            <a:extLst xmlns:a="http://schemas.openxmlformats.org/drawingml/2006/main">
              <a:ext uri="{FF2B5EF4-FFF2-40B4-BE49-F238E27FC236}">
                <a16:creationId xmlns:a16="http://schemas.microsoft.com/office/drawing/2014/main" id="{5228FD75-DB2E-4FD6-8412-F8AE48F3676F}"/>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996C42A8-3CAB-45FB-BC08-60E452BBC697}"/>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true terse-schema variant is not yet measured</a:t>
            </a:r>
          </a:p>
        </p:txBody>
      </p:sp>
      <p:sp>
        <p:nvSpPr>
          <p:cNvPr id="11" name="">
            <a:extLst xmlns:a="http://schemas.openxmlformats.org/drawingml/2006/main">
              <a:ext uri="{FF2B5EF4-FFF2-40B4-BE49-F238E27FC236}">
                <a16:creationId xmlns:a16="http://schemas.microsoft.com/office/drawing/2014/main" id="{4CE66628-922C-4A73-BDD7-BBD33B90E6B4}"/>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25</a:t>
            </a:r>
          </a:p>
        </p:txBody>
      </p:sp>
    </p:spTree>
    <p:extLst>
      <p:ext uri="{BB962C8B-B14F-4D97-AF65-F5344CB8AC3E}">
        <p14:creationId xmlns:p14="http://schemas.microsoft.com/office/powerpoint/2010/main" val="515702399"/>
      </p:ext>
    </p:extLst>
  </p:cSld>
</p:sld>
</file>

<file path=ppt/slides/slide2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315840-128E-4A96-A2FC-6D5198C2B653}"/>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Earlier model comparison gives context</a:t>
            </a:r>
          </a:p>
        </p:txBody>
      </p:sp>
      <p:sp>
        <p:nvSpPr>
          <p:cNvPr id="2" name="">
            <a:extLst xmlns:a="http://schemas.openxmlformats.org/drawingml/2006/main">
              <a:ext uri="{FF2B5EF4-FFF2-40B4-BE49-F238E27FC236}">
                <a16:creationId xmlns:a16="http://schemas.microsoft.com/office/drawing/2014/main" id="{17D4603D-1098-4398-8FA8-2D1A3B3A7440}"/>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5AB52E2B-CE8B-4E2E-9F25-28730639CF03}"/>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3556000"/>
                <a:gridCol w="3556000"/>
                <a:gridCol w="3556000"/>
              </a:tblGrid>
              <a:tr h="609600">
                <a:tc>
                  <a:txBody>
                    <a:bodyPr/>
                    <a:lstStyle/>
                    <a:p>
                      <a:r>
                        <a:rPr sz="1800" b="1">
                          <a:solidFill>
                            <a:srgbClr val="FFFFFF"/>
                          </a:solidFill>
                          <a:latin typeface="Arial"/>
                          <a:ea typeface="Arial"/>
                          <a:cs typeface="Arial"/>
                        </a:rPr>
                        <a:t>Earlier 11 cases run twice</a:t>
                      </a:r>
                    </a:p>
                  </a:txBody>
                  <a:tcPr marL="91440" marR="91440" marT="45720" marB="45720">
                    <a:solidFill>
                      <a:srgbClr val="12324A"/>
                    </a:solidFill>
                  </a:tcPr>
                </a:tc>
                <a:tc>
                  <a:txBody>
                    <a:bodyPr/>
                    <a:lstStyle/>
                    <a:p>
                      <a:r>
                        <a:rPr sz="1800" b="1">
                          <a:solidFill>
                            <a:srgbClr val="FFFFFF"/>
                          </a:solidFill>
                          <a:latin typeface="Arial"/>
                          <a:ea typeface="Arial"/>
                          <a:cs typeface="Arial"/>
                        </a:rPr>
                        <a:t>Passes</a:t>
                      </a:r>
                    </a:p>
                  </a:txBody>
                  <a:tcPr marL="91440" marR="91440" marT="45720" marB="45720">
                    <a:solidFill>
                      <a:srgbClr val="12324A"/>
                    </a:solidFill>
                  </a:tcPr>
                </a:tc>
                <a:tc>
                  <a:txBody>
                    <a:bodyPr/>
                    <a:lstStyle/>
                    <a:p>
                      <a:r>
                        <a:rPr sz="1800" b="1">
                          <a:solidFill>
                            <a:srgbClr val="FFFFFF"/>
                          </a:solidFill>
                          <a:latin typeface="Arial"/>
                          <a:ea typeface="Arial"/>
                          <a:cs typeface="Arial"/>
                        </a:rPr>
                        <a:t>Median model time</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Gemini Flash Lite</a:t>
                      </a:r>
                    </a:p>
                  </a:txBody>
                  <a:tcPr marL="91440" marR="91440" marT="45720" marB="45720">
                    <a:solidFill>
                      <a:srgbClr val="FFFFFF"/>
                    </a:solidFill>
                  </a:tcPr>
                </a:tc>
                <a:tc>
                  <a:txBody>
                    <a:bodyPr/>
                    <a:lstStyle/>
                    <a:p>
                      <a:r>
                        <a:rPr sz="1800" b="0">
                          <a:solidFill>
                            <a:srgbClr val="203747"/>
                          </a:solidFill>
                          <a:latin typeface="Arial"/>
                          <a:ea typeface="Arial"/>
                          <a:cs typeface="Arial"/>
                        </a:rPr>
                        <a:t>22 of 22</a:t>
                      </a:r>
                    </a:p>
                  </a:txBody>
                  <a:tcPr marL="91440" marR="91440" marT="45720" marB="45720">
                    <a:solidFill>
                      <a:srgbClr val="FFFFFF"/>
                    </a:solidFill>
                  </a:tcPr>
                </a:tc>
                <a:tc>
                  <a:txBody>
                    <a:bodyPr/>
                    <a:lstStyle/>
                    <a:p>
                      <a:r>
                        <a:rPr sz="1800" b="0">
                          <a:solidFill>
                            <a:srgbClr val="203747"/>
                          </a:solidFill>
                          <a:latin typeface="Arial"/>
                          <a:ea typeface="Arial"/>
                          <a:cs typeface="Arial"/>
                        </a:rPr>
                        <a:t>2.7 s</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Qwen 4B Instruct</a:t>
                      </a:r>
                    </a:p>
                  </a:txBody>
                  <a:tcPr marL="91440" marR="91440" marT="45720" marB="45720">
                    <a:solidFill>
                      <a:srgbClr val="EDF2F0"/>
                    </a:solidFill>
                  </a:tcPr>
                </a:tc>
                <a:tc>
                  <a:txBody>
                    <a:bodyPr/>
                    <a:lstStyle/>
                    <a:p>
                      <a:r>
                        <a:rPr sz="1800" b="0">
                          <a:solidFill>
                            <a:srgbClr val="203747"/>
                          </a:solidFill>
                          <a:latin typeface="Arial"/>
                          <a:ea typeface="Arial"/>
                          <a:cs typeface="Arial"/>
                        </a:rPr>
                        <a:t>22 of 22</a:t>
                      </a:r>
                    </a:p>
                  </a:txBody>
                  <a:tcPr marL="91440" marR="91440" marT="45720" marB="45720">
                    <a:solidFill>
                      <a:srgbClr val="EDF2F0"/>
                    </a:solidFill>
                  </a:tcPr>
                </a:tc>
                <a:tc>
                  <a:txBody>
                    <a:bodyPr/>
                    <a:lstStyle/>
                    <a:p>
                      <a:r>
                        <a:rPr sz="1800" b="0">
                          <a:solidFill>
                            <a:srgbClr val="203747"/>
                          </a:solidFill>
                          <a:latin typeface="Arial"/>
                          <a:ea typeface="Arial"/>
                          <a:cs typeface="Arial"/>
                        </a:rPr>
                        <a:t>2.1 s</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Qwen 4B Thinking</a:t>
                      </a:r>
                    </a:p>
                  </a:txBody>
                  <a:tcPr marL="91440" marR="91440" marT="45720" marB="45720">
                    <a:solidFill>
                      <a:srgbClr val="FFFFFF"/>
                    </a:solidFill>
                  </a:tcPr>
                </a:tc>
                <a:tc>
                  <a:txBody>
                    <a:bodyPr/>
                    <a:lstStyle/>
                    <a:p>
                      <a:r>
                        <a:rPr sz="1800" b="0">
                          <a:solidFill>
                            <a:srgbClr val="203747"/>
                          </a:solidFill>
                          <a:latin typeface="Arial"/>
                          <a:ea typeface="Arial"/>
                          <a:cs typeface="Arial"/>
                        </a:rPr>
                        <a:t>22 of 22</a:t>
                      </a:r>
                    </a:p>
                  </a:txBody>
                  <a:tcPr marL="91440" marR="91440" marT="45720" marB="45720">
                    <a:solidFill>
                      <a:srgbClr val="FFFFFF"/>
                    </a:solidFill>
                  </a:tcPr>
                </a:tc>
                <a:tc>
                  <a:txBody>
                    <a:bodyPr/>
                    <a:lstStyle/>
                    <a:p>
                      <a:r>
                        <a:rPr sz="1800" b="0">
                          <a:solidFill>
                            <a:srgbClr val="203747"/>
                          </a:solidFill>
                          <a:latin typeface="Arial"/>
                          <a:ea typeface="Arial"/>
                          <a:cs typeface="Arial"/>
                        </a:rPr>
                        <a:t>24.4 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FF1104-DC34-48A6-974C-AF99851FACC7}"/>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26</a:t>
            </a:r>
          </a:p>
        </p:txBody>
      </p:sp>
    </p:spTree>
    <p:extLst>
      <p:ext uri="{BB962C8B-B14F-4D97-AF65-F5344CB8AC3E}">
        <p14:creationId xmlns:p14="http://schemas.microsoft.com/office/powerpoint/2010/main" val="1187172584"/>
      </p:ext>
    </p:extLst>
  </p:cSld>
</p:sld>
</file>

<file path=ppt/slides/slide2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743DE5-7D7E-4279-A834-4737F36A1C95}"/>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Context budget depends on the enabled tools</a:t>
            </a:r>
          </a:p>
        </p:txBody>
      </p:sp>
      <p:sp>
        <p:nvSpPr>
          <p:cNvPr id="2" name="">
            <a:extLst xmlns:a="http://schemas.openxmlformats.org/drawingml/2006/main">
              <a:ext uri="{FF2B5EF4-FFF2-40B4-BE49-F238E27FC236}">
                <a16:creationId xmlns:a16="http://schemas.microsoft.com/office/drawing/2014/main" id="{398A7449-90CB-4306-8EE8-17AA293162D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7C794A-6051-49B6-98C2-2DCA557E30A8}"/>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CC4E044-1D30-46D3-85A6-93AC20FD6AA8}"/>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Current main-only configuration exposes 20 tools</a:t>
            </a:r>
          </a:p>
        </p:txBody>
      </p:sp>
      <p:sp>
        <p:nvSpPr>
          <p:cNvPr id="5" name="">
            <a:extLst xmlns:a="http://schemas.openxmlformats.org/drawingml/2006/main">
              <a:ext uri="{FF2B5EF4-FFF2-40B4-BE49-F238E27FC236}">
                <a16:creationId xmlns:a16="http://schemas.microsoft.com/office/drawing/2014/main" id="{933CFF65-8B13-4369-A98B-8CB1F9462366}"/>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E75EBDC-0D3E-478A-8B7C-F7F1A8D57F46}"/>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old combined finance snapshot exposed 27 tools</a:t>
            </a:r>
          </a:p>
        </p:txBody>
      </p:sp>
      <p:sp>
        <p:nvSpPr>
          <p:cNvPr id="7" name="">
            <a:extLst xmlns:a="http://schemas.openxmlformats.org/drawingml/2006/main">
              <a:ext uri="{FF2B5EF4-FFF2-40B4-BE49-F238E27FC236}">
                <a16:creationId xmlns:a16="http://schemas.microsoft.com/office/drawing/2014/main" id="{28739E5B-9D7C-4F2B-AE98-FE3453699E57}"/>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5E2AC3B-0D08-4E73-A0BB-7D69E0A8CD86}"/>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Tien measured an earlier tool set in an 8192 context</a:t>
            </a:r>
          </a:p>
        </p:txBody>
      </p:sp>
      <p:sp>
        <p:nvSpPr>
          <p:cNvPr id="9" name="">
            <a:extLst xmlns:a="http://schemas.openxmlformats.org/drawingml/2006/main">
              <a:ext uri="{FF2B5EF4-FFF2-40B4-BE49-F238E27FC236}">
                <a16:creationId xmlns:a16="http://schemas.microsoft.com/office/drawing/2014/main" id="{58EA3DEB-755F-4FE7-A60D-F0BA998B3CBE}"/>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A82D2397-35C6-4112-8199-78EDEDBF795B}"/>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Measure again after the final finance merge</a:t>
            </a:r>
          </a:p>
        </p:txBody>
      </p:sp>
      <p:sp>
        <p:nvSpPr>
          <p:cNvPr id="11" name="">
            <a:extLst xmlns:a="http://schemas.openxmlformats.org/drawingml/2006/main">
              <a:ext uri="{FF2B5EF4-FFF2-40B4-BE49-F238E27FC236}">
                <a16:creationId xmlns:a16="http://schemas.microsoft.com/office/drawing/2014/main" id="{5E3FFFD5-5F5F-44BC-A628-0BEBD9273E2E}"/>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27</a:t>
            </a:r>
          </a:p>
        </p:txBody>
      </p:sp>
    </p:spTree>
    <p:extLst>
      <p:ext uri="{BB962C8B-B14F-4D97-AF65-F5344CB8AC3E}">
        <p14:creationId xmlns:p14="http://schemas.microsoft.com/office/powerpoint/2010/main" val="119692990"/>
      </p:ext>
    </p:extLst>
  </p:cSld>
</p:sld>
</file>

<file path=ppt/slides/slide2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0E33A7-D401-4B12-978B-BEF45736F9F5}"/>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Improvements follow observed problems</a:t>
            </a:r>
          </a:p>
        </p:txBody>
      </p:sp>
      <p:sp>
        <p:nvSpPr>
          <p:cNvPr id="2" name="">
            <a:extLst xmlns:a="http://schemas.openxmlformats.org/drawingml/2006/main">
              <a:ext uri="{FF2B5EF4-FFF2-40B4-BE49-F238E27FC236}">
                <a16:creationId xmlns:a16="http://schemas.microsoft.com/office/drawing/2014/main" id="{D1B1F800-620C-4401-88AD-4DC9967D6C3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A62BA2-14A1-4378-9C70-20BFF894BB92}"/>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8ABDBB1-F02C-4463-9602-C9D331446517}"/>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Keep omitted grade fields unchanged</a:t>
            </a:r>
          </a:p>
        </p:txBody>
      </p:sp>
      <p:sp>
        <p:nvSpPr>
          <p:cNvPr id="5" name="">
            <a:extLst xmlns:a="http://schemas.openxmlformats.org/drawingml/2006/main">
              <a:ext uri="{FF2B5EF4-FFF2-40B4-BE49-F238E27FC236}">
                <a16:creationId xmlns:a16="http://schemas.microsoft.com/office/drawing/2014/main" id="{9742224B-734E-433E-8FD2-C502630106FF}"/>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8A082EE-3989-46AC-827B-7CDFE99587AC}"/>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Reply in the language of the question</a:t>
            </a:r>
          </a:p>
        </p:txBody>
      </p:sp>
      <p:sp>
        <p:nvSpPr>
          <p:cNvPr id="7" name="">
            <a:extLst xmlns:a="http://schemas.openxmlformats.org/drawingml/2006/main">
              <a:ext uri="{FF2B5EF4-FFF2-40B4-BE49-F238E27FC236}">
                <a16:creationId xmlns:a16="http://schemas.microsoft.com/office/drawing/2014/main" id="{FFA56343-3F36-49C0-8F2D-6EAE3AE7E80A}"/>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B606409-77FE-430E-B8BF-9145EF73058F}"/>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Disable fallback for fair model measurement</a:t>
            </a:r>
          </a:p>
        </p:txBody>
      </p:sp>
      <p:sp>
        <p:nvSpPr>
          <p:cNvPr id="9" name="">
            <a:extLst xmlns:a="http://schemas.openxmlformats.org/drawingml/2006/main">
              <a:ext uri="{FF2B5EF4-FFF2-40B4-BE49-F238E27FC236}">
                <a16:creationId xmlns:a16="http://schemas.microsoft.com/office/drawing/2014/main" id="{CD0D51BC-DC87-42ED-BAF9-CBCD1E78CF62}"/>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7E422AB-33E5-4147-965C-E4E2F2F2C29F}"/>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Name maximum section rates separately from overall rates</a:t>
            </a:r>
          </a:p>
        </p:txBody>
      </p:sp>
      <p:sp>
        <p:nvSpPr>
          <p:cNvPr id="11" name="">
            <a:extLst xmlns:a="http://schemas.openxmlformats.org/drawingml/2006/main">
              <a:ext uri="{FF2B5EF4-FFF2-40B4-BE49-F238E27FC236}">
                <a16:creationId xmlns:a16="http://schemas.microsoft.com/office/drawing/2014/main" id="{1F880FFC-690D-4E3C-B253-237037E27875}"/>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28</a:t>
            </a:r>
          </a:p>
        </p:txBody>
      </p:sp>
    </p:spTree>
    <p:extLst>
      <p:ext uri="{BB962C8B-B14F-4D97-AF65-F5344CB8AC3E}">
        <p14:creationId xmlns:p14="http://schemas.microsoft.com/office/powerpoint/2010/main" val="62882436"/>
      </p:ext>
    </p:extLst>
  </p:cSld>
</p:sld>
</file>

<file path=ppt/slides/slide2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BF87B8-8571-48C0-9ACE-4DCED9FABBF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Limits and the next useful tests</a:t>
            </a:r>
          </a:p>
        </p:txBody>
      </p:sp>
      <p:sp>
        <p:nvSpPr>
          <p:cNvPr id="2" name="">
            <a:extLst xmlns:a="http://schemas.openxmlformats.org/drawingml/2006/main">
              <a:ext uri="{FF2B5EF4-FFF2-40B4-BE49-F238E27FC236}">
                <a16:creationId xmlns:a16="http://schemas.microsoft.com/office/drawing/2014/main" id="{706C3F98-32DF-4408-8531-DFD0E8E312CD}"/>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E78897-F6B0-49C2-A412-F0525E36878A}"/>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9F4ED53-72EA-4B0A-8C43-4E9B2A801B6F}"/>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Keep provisional finance cases outside the shared CSV</a:t>
            </a:r>
          </a:p>
        </p:txBody>
      </p:sp>
      <p:sp>
        <p:nvSpPr>
          <p:cNvPr id="5" name="">
            <a:extLst xmlns:a="http://schemas.openxmlformats.org/drawingml/2006/main">
              <a:ext uri="{FF2B5EF4-FFF2-40B4-BE49-F238E27FC236}">
                <a16:creationId xmlns:a16="http://schemas.microsoft.com/office/drawing/2014/main" id="{2F2BB37F-D889-4F61-B5B2-FE5974032925}"/>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60686D3-00E0-4C41-906F-654AE9614999}"/>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Rebase and merge finance onto the common main data</a:t>
            </a:r>
          </a:p>
        </p:txBody>
      </p:sp>
      <p:sp>
        <p:nvSpPr>
          <p:cNvPr id="7" name="">
            <a:extLst xmlns:a="http://schemas.openxmlformats.org/drawingml/2006/main">
              <a:ext uri="{FF2B5EF4-FFF2-40B4-BE49-F238E27FC236}">
                <a16:creationId xmlns:a16="http://schemas.microsoft.com/office/drawing/2014/main" id="{2DC1119D-62FF-4599-BC3A-02A012E5FC99}"/>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01BBA23-894F-4187-B320-214EABC01229}"/>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Recompute finance Excel expectations from shared inputs</a:t>
            </a:r>
          </a:p>
        </p:txBody>
      </p:sp>
      <p:sp>
        <p:nvSpPr>
          <p:cNvPr id="9" name="">
            <a:extLst xmlns:a="http://schemas.openxmlformats.org/drawingml/2006/main">
              <a:ext uri="{FF2B5EF4-FFF2-40B4-BE49-F238E27FC236}">
                <a16:creationId xmlns:a16="http://schemas.microsoft.com/office/drawing/2014/main" id="{8CB814A8-9E36-4C11-A64F-CD9F9C0B2B17}"/>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F6EE04A-4BD2-43D0-BC8F-9FF82133B92E}"/>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Then restore and rerun the finance cases</a:t>
            </a:r>
          </a:p>
        </p:txBody>
      </p:sp>
      <p:sp>
        <p:nvSpPr>
          <p:cNvPr id="11" name="">
            <a:extLst xmlns:a="http://schemas.openxmlformats.org/drawingml/2006/main">
              <a:ext uri="{FF2B5EF4-FFF2-40B4-BE49-F238E27FC236}">
                <a16:creationId xmlns:a16="http://schemas.microsoft.com/office/drawing/2014/main" id="{29B40A34-CB4D-479A-BB7B-6EDE8BA03569}"/>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29</a:t>
            </a:r>
          </a:p>
        </p:txBody>
      </p:sp>
    </p:spTree>
    <p:extLst>
      <p:ext uri="{BB962C8B-B14F-4D97-AF65-F5344CB8AC3E}">
        <p14:creationId xmlns:p14="http://schemas.microsoft.com/office/powerpoint/2010/main" val="2076468221"/>
      </p:ext>
    </p:extLst>
  </p:cSld>
</p:sld>
</file>

<file path=ppt/slides/slide3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72F192-15C7-41BD-8DC2-E3666CC1B7E8}"/>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 short live demonstration</a:t>
            </a:r>
          </a:p>
        </p:txBody>
      </p:sp>
      <p:sp>
        <p:nvSpPr>
          <p:cNvPr id="2" name="">
            <a:extLst xmlns:a="http://schemas.openxmlformats.org/drawingml/2006/main">
              <a:ext uri="{FF2B5EF4-FFF2-40B4-BE49-F238E27FC236}">
                <a16:creationId xmlns:a16="http://schemas.microsoft.com/office/drawing/2014/main" id="{18BF5401-DCB2-4EBB-B8D0-8252B3107CA9}"/>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0F816B-828D-489A-B6D1-C41B1C703FEF}"/>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035BC50-E729-4C5B-8966-D74D91F4426C}"/>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Ask for T001 workload in 2024-1</a:t>
            </a:r>
          </a:p>
        </p:txBody>
      </p:sp>
      <p:sp>
        <p:nvSpPr>
          <p:cNvPr id="5" name="">
            <a:extLst xmlns:a="http://schemas.openxmlformats.org/drawingml/2006/main">
              <a:ext uri="{FF2B5EF4-FFF2-40B4-BE49-F238E27FC236}">
                <a16:creationId xmlns:a16="http://schemas.microsoft.com/office/drawing/2014/main" id="{DF2971D2-0844-46AF-8D52-05FF57A215A7}"/>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792B5BA-CD57-42A1-9109-3B8AA1FBCE33}"/>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Compare K07 and K08 at the absence boundary</a:t>
            </a:r>
          </a:p>
        </p:txBody>
      </p:sp>
      <p:sp>
        <p:nvSpPr>
          <p:cNvPr id="7" name="">
            <a:extLst xmlns:a="http://schemas.openxmlformats.org/drawingml/2006/main">
              <a:ext uri="{FF2B5EF4-FFF2-40B4-BE49-F238E27FC236}">
                <a16:creationId xmlns:a16="http://schemas.microsoft.com/office/drawing/2014/main" id="{1196B68A-2D1A-4273-8570-755107FDB05D}"/>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3A24714-9A80-4247-BEE6-519DA7284F65}"/>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Ask for IT01 risk reasons using K12</a:t>
            </a:r>
          </a:p>
        </p:txBody>
      </p:sp>
      <p:sp>
        <p:nvSpPr>
          <p:cNvPr id="9" name="">
            <a:extLst xmlns:a="http://schemas.openxmlformats.org/drawingml/2006/main">
              <a:ext uri="{FF2B5EF4-FFF2-40B4-BE49-F238E27FC236}">
                <a16:creationId xmlns:a16="http://schemas.microsoft.com/office/drawing/2014/main" id="{3ABD6135-2B0F-47CF-9DBF-4C7458DEA756}"/>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2F71B530-2CF4-48FF-BE8A-54CEEDA2D289}"/>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Open a current log and show the tool result</a:t>
            </a:r>
          </a:p>
        </p:txBody>
      </p:sp>
      <p:sp>
        <p:nvSpPr>
          <p:cNvPr id="11" name="">
            <a:extLst xmlns:a="http://schemas.openxmlformats.org/drawingml/2006/main">
              <a:ext uri="{FF2B5EF4-FFF2-40B4-BE49-F238E27FC236}">
                <a16:creationId xmlns:a16="http://schemas.microsoft.com/office/drawing/2014/main" id="{297D4F05-7546-441E-B55A-4F1CC839CAE0}"/>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30</a:t>
            </a:r>
          </a:p>
        </p:txBody>
      </p:sp>
    </p:spTree>
    <p:extLst>
      <p:ext uri="{BB962C8B-B14F-4D97-AF65-F5344CB8AC3E}">
        <p14:creationId xmlns:p14="http://schemas.microsoft.com/office/powerpoint/2010/main" val="498661067"/>
      </p:ext>
    </p:extLst>
  </p:cSld>
</p:sld>
</file>

<file path=ppt/slides/slide3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644F60-845B-47D0-A2EC-1B7E15A7162F}"/>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Main findings</a:t>
            </a:r>
          </a:p>
        </p:txBody>
      </p:sp>
      <p:sp>
        <p:nvSpPr>
          <p:cNvPr id="2" name="">
            <a:extLst xmlns:a="http://schemas.openxmlformats.org/drawingml/2006/main">
              <a:ext uri="{FF2B5EF4-FFF2-40B4-BE49-F238E27FC236}">
                <a16:creationId xmlns:a16="http://schemas.microsoft.com/office/drawing/2014/main" id="{88ED7215-FF38-418B-A2EE-88BE23B92C6C}"/>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4517D3-32CE-4DB1-804A-E5127CB4161F}"/>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5294EA8-63C6-4686-8671-15BD1BDA4620}"/>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new tools answer useful university questions</a:t>
            </a:r>
          </a:p>
        </p:txBody>
      </p:sp>
      <p:sp>
        <p:nvSpPr>
          <p:cNvPr id="5" name="">
            <a:extLst xmlns:a="http://schemas.openxmlformats.org/drawingml/2006/main">
              <a:ext uri="{FF2B5EF4-FFF2-40B4-BE49-F238E27FC236}">
                <a16:creationId xmlns:a16="http://schemas.microsoft.com/office/drawing/2014/main" id="{544B1A22-A774-43F5-8461-F564C8BEEDD2}"/>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4C7DFF8-1911-4888-8A71-33D6A84ED99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Independent checks connect answers to CSV data</a:t>
            </a:r>
          </a:p>
        </p:txBody>
      </p:sp>
      <p:sp>
        <p:nvSpPr>
          <p:cNvPr id="7" name="">
            <a:extLst xmlns:a="http://schemas.openxmlformats.org/drawingml/2006/main">
              <a:ext uri="{FF2B5EF4-FFF2-40B4-BE49-F238E27FC236}">
                <a16:creationId xmlns:a16="http://schemas.microsoft.com/office/drawing/2014/main" id="{E25F4874-65A1-4B42-BBBA-E02496546A0B}"/>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0CC6927C-51A6-4A78-AA7E-D473A7488314}"/>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Settings affect cost, time and recovery room</a:t>
            </a:r>
          </a:p>
        </p:txBody>
      </p:sp>
      <p:sp>
        <p:nvSpPr>
          <p:cNvPr id="9" name="">
            <a:extLst xmlns:a="http://schemas.openxmlformats.org/drawingml/2006/main">
              <a:ext uri="{FF2B5EF4-FFF2-40B4-BE49-F238E27FC236}">
                <a16:creationId xmlns:a16="http://schemas.microsoft.com/office/drawing/2014/main" id="{9DACB27F-AEEF-46E4-B398-DBEB89D9E6EA}"/>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7D1F96D1-8EDD-4557-8FDA-D75E25467C3E}"/>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Logs make the results easy to inspect</a:t>
            </a:r>
          </a:p>
        </p:txBody>
      </p:sp>
      <p:sp>
        <p:nvSpPr>
          <p:cNvPr id="11" name="">
            <a:extLst xmlns:a="http://schemas.openxmlformats.org/drawingml/2006/main">
              <a:ext uri="{FF2B5EF4-FFF2-40B4-BE49-F238E27FC236}">
                <a16:creationId xmlns:a16="http://schemas.microsoft.com/office/drawing/2014/main" id="{78D138A7-3C40-4E5C-B45A-85DD5829A35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31</a:t>
            </a:r>
          </a:p>
        </p:txBody>
      </p:sp>
    </p:spTree>
    <p:extLst>
      <p:ext uri="{BB962C8B-B14F-4D97-AF65-F5344CB8AC3E}">
        <p14:creationId xmlns:p14="http://schemas.microsoft.com/office/powerpoint/2010/main" val="30600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2026-10-18T15:05:49.6760000Z</dcterms:created>
  <dcterms:modified xsi:type="dcterms:W3CDTF">2026-10-18T15:05:49.6760000Z</dcterms:modified>
</coreProperties>
</file>