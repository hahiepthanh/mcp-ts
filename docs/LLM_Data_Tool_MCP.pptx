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947446"/>
            <a:ext cx="1033272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+mj-lt"/>
              </a:rPr>
              <a:t>LLM – DATA – TOOL –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39236"/>
            <a:ext cx="103327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CDD7EB"/>
                </a:solidFill>
                <a:latin typeface="Aptos"/>
              </a:defRPr>
            </a:pPr>
            <a:r>
              <a:rPr dirty="0">
                <a:latin typeface="+mj-lt"/>
              </a:rPr>
              <a:t>How AI Connects to Data and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977639"/>
            <a:ext cx="1828800" cy="73152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rPr>
                <a:latin typeface="+mj-lt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142231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>
                <a:latin typeface="+mj-lt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3977639"/>
            <a:ext cx="1828800" cy="73152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rPr dirty="0">
                <a:latin typeface="+mj-lt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4142231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>
                <a:latin typeface="+mj-l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1828800" cy="73152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rPr dirty="0">
                <a:latin typeface="+mj-lt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42231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>
                <a:latin typeface="+mj-l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977639"/>
            <a:ext cx="1828800" cy="73152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rPr>
                <a:latin typeface="+mj-lt"/>
              </a:rPr>
              <a:t>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rPr dirty="0"/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96596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2337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724912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560320"/>
            <a:ext cx="196596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23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724912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60320"/>
            <a:ext cx="196596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2337"/>
                </a:solidFill>
                <a:latin typeface="Aptos"/>
              </a:defRPr>
            </a:pPr>
            <a: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724912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560320"/>
            <a:ext cx="196596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2337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724912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560320"/>
            <a:ext cx="196596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2337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9585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WHAT IS AN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935" y="1184060"/>
            <a:ext cx="402336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82337"/>
                </a:solidFill>
                <a:latin typeface="Aptos"/>
              </a:defRPr>
            </a:pPr>
            <a:r>
              <a:rPr dirty="0"/>
              <a:t>Large Language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0225" y="1161288"/>
            <a:ext cx="53949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dirty="0">
                <a:latin typeface="+mj-lt"/>
              </a:rPr>
              <a:t>• Understand text</a:t>
            </a:r>
          </a:p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dirty="0">
                <a:latin typeface="+mj-lt"/>
              </a:rPr>
              <a:t>• Generate text</a:t>
            </a:r>
          </a:p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dirty="0">
                <a:latin typeface="+mj-lt"/>
              </a:rPr>
              <a:t>• Learn from data</a:t>
            </a:r>
          </a:p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dirty="0">
                <a:latin typeface="+mj-lt"/>
              </a:rPr>
              <a:t>• Answer questions</a:t>
            </a:r>
          </a:p>
        </p:txBody>
      </p:sp>
      <p:pic>
        <p:nvPicPr>
          <p:cNvPr id="1028" name="Picture 4" descr="Multi-Chain Prompt Injection Attacks | WithSecure™ Lab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417" y="3306786"/>
            <a:ext cx="9944566" cy="299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WHAT CAN LLM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Answer questions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Write text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Summarize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Translate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Write code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976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HOW DOES LLM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3023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69855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3643" y="2487728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2464" y="2300742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rPr dirty="0"/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6986" y="2520757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73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rPr dirty="0"/>
              <a:t>Next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4361" y="2520757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9465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rPr dirty="0"/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44236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69717D"/>
                </a:solidFill>
                <a:latin typeface="Aptos"/>
              </a:defRPr>
            </a:pPr>
            <a:r>
              <a:rPr dirty="0"/>
              <a:t>Tokens</a:t>
            </a:r>
            <a:br>
              <a:rPr dirty="0"/>
            </a:br>
            <a:r>
              <a:rPr dirty="0"/>
              <a:t>LLM</a:t>
            </a:r>
            <a:br>
              <a:rPr dirty="0"/>
            </a:br>
            <a:r>
              <a:rPr dirty="0"/>
              <a:t>Next Token</a:t>
            </a:r>
            <a:br>
              <a:rPr dirty="0"/>
            </a:br>
            <a:r>
              <a:rPr dirty="0"/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017520" cy="13716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Small units of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57400"/>
            <a:ext cx="3017520" cy="13716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Used by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57400"/>
            <a:ext cx="3017520" cy="13716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Help process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TRANSFORMER &amp;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5544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337"/>
                </a:solidFill>
                <a:latin typeface="Aptos"/>
              </a:defRPr>
            </a:pPr>
            <a:r>
              <a:t>Transformer = Main model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15544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82337"/>
                </a:solidFill>
                <a:latin typeface="Aptos"/>
              </a:defRPr>
            </a:pPr>
            <a:r>
              <a:t>Attention = Find important parts</a:t>
            </a:r>
            <a:br/>
            <a:r>
              <a:t>Understand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LLM IN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b="1" dirty="0">
                <a:latin typeface="+mj-lt"/>
              </a:rPr>
              <a:t>• LLM = THE BRAIN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b="1" dirty="0">
                <a:latin typeface="+mj-lt"/>
              </a:rPr>
              <a:t>• Understand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b="1" dirty="0">
                <a:latin typeface="+mj-lt"/>
              </a:rPr>
              <a:t>• Think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b="1" dirty="0">
                <a:latin typeface="+mj-lt"/>
              </a:rPr>
              <a:t>• Plan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b="1" dirty="0">
                <a:latin typeface="+mj-lt"/>
              </a:rPr>
              <a:t>• Choose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b="1" dirty="0">
                <a:latin typeface="+mj-lt"/>
              </a:rPr>
              <a:t>• Respond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LIMITS OF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30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No private data</a:t>
            </a:r>
          </a:p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No live data</a:t>
            </a:r>
          </a:p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Cannot do every action</a:t>
            </a:r>
          </a:p>
          <a:p>
            <a:pPr>
              <a:spcAft>
                <a:spcPts val="1200"/>
              </a:spcAft>
              <a:defRPr sz="21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Needs external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4572000" cy="164592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82337"/>
                </a:solidFill>
                <a:latin typeface="Aptos"/>
              </a:defRPr>
            </a:pPr>
            <a:r>
              <a:t>Solution: DATA +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WHAT IS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17320"/>
            <a:ext cx="630936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82337"/>
                </a:solidFill>
                <a:latin typeface="Aptos"/>
              </a:defRPr>
            </a:pPr>
            <a:r>
              <a:t>DATA =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83280"/>
            <a:ext cx="20116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35478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383280"/>
            <a:ext cx="20116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5478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383280"/>
            <a:ext cx="20116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Websites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5478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83280"/>
            <a:ext cx="20116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5478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383280"/>
            <a:ext cx="20116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Documents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Database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Files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Websites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APIs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GitHub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Google Drive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Company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WHY DOES LLM NEED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017520" cy="13716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“What are our sales this month?”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57400"/>
            <a:ext cx="3017520" cy="13716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LLM → No company data → Cannot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57400"/>
            <a:ext cx="3017520" cy="13716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LLM → Database → Answer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DATA GIVES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DATA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CONTEXT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LLM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ANSWER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Data helps AI give better answers.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WHAT IS A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931920" cy="13258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82337"/>
                </a:solidFill>
                <a:latin typeface="Aptos"/>
              </a:defRPr>
            </a:pPr>
            <a:r>
              <a:t>TOOL =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325880"/>
            <a:ext cx="53035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Search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Calculate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Get data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Call APIs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Use databases</a:t>
            </a:r>
          </a:p>
          <a:p>
            <a:pPr>
              <a:spcAft>
                <a:spcPts val="1200"/>
              </a:spcAft>
              <a:defRPr sz="19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Create images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TYPES OF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Search — Find information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Calculator — Calculate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Database — Get data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API — Connect systems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Weather — Get weather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Code — Run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HOW DOES LLM USE A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Choose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Use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93992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Get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30968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72119"/>
            <a:ext cx="10332720" cy="2308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69717D"/>
                </a:solidFill>
                <a:latin typeface="Aptos"/>
              </a:defRPr>
            </a:pPr>
            <a:r>
              <a:rPr sz="2400" dirty="0" smtClean="0">
                <a:latin typeface="+mj-lt"/>
              </a:rPr>
              <a:t>LM</a:t>
            </a:r>
            <a:r>
              <a:rPr sz="2400" dirty="0">
                <a:latin typeface="+mj-lt"/>
              </a:rPr>
              <a:t/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Choose Tool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Use Tool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Get Result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LLM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Answer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EXAMPLE: WEATHER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“What is the weather in HCMC?”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User → LLM → Weather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Weather Tool → Weather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Weather Data → LLM →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26115"/>
            <a:ext cx="1033272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69717D"/>
                </a:solidFill>
                <a:latin typeface="Aptos"/>
              </a:defRPr>
            </a:pPr>
            <a:r>
              <a:rPr sz="2400" dirty="0">
                <a:latin typeface="+mj-lt"/>
              </a:rPr>
              <a:t>User → LLM → Weather Tool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Weather Tool → Weather API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Weather Data → LLM → Answer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LLM + DATA +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29260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82337"/>
                </a:solidFill>
                <a:latin typeface="Aptos"/>
              </a:defRPr>
            </a:pPr>
            <a:r>
              <a:t>LLM = THINK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194560"/>
            <a:ext cx="29260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82337"/>
                </a:solidFill>
                <a:latin typeface="Aptos"/>
              </a:defRPr>
            </a:pPr>
            <a:r>
              <a:t>DATA = KNOW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94560"/>
            <a:ext cx="29260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82337"/>
                </a:solidFill>
                <a:latin typeface="Aptos"/>
              </a:defRPr>
            </a:pPr>
            <a:r>
              <a:t>TOOL = 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Database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API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GitHub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Files</a:t>
            </a:r>
          </a:p>
          <a:p>
            <a:pPr>
              <a:spcAft>
                <a:spcPts val="1200"/>
              </a:spcAft>
              <a:defRPr sz="2000">
                <a:solidFill>
                  <a:srgbClr val="2D3440"/>
                </a:solidFill>
                <a:latin typeface="Aptos"/>
              </a:defRPr>
            </a:pPr>
            <a:r>
              <a:rPr sz="2400" dirty="0">
                <a:latin typeface="+mj-lt"/>
              </a:rPr>
              <a:t>• Many connections = Hard to manage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WHAT IS MCP?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8872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1">
                <a:solidFill>
                  <a:srgbClr val="182337"/>
                </a:solidFill>
                <a:latin typeface="Aptos"/>
              </a:defRPr>
            </a:pPr>
            <a:r>
              <a:t>MODEL CONTEXT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2560320" cy="105156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3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926080"/>
            <a:ext cx="2560320" cy="105156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337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926080"/>
            <a:ext cx="2560320" cy="105156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337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892040"/>
            <a:ext cx="8138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69717D"/>
                </a:solidFill>
                <a:latin typeface="Aptos"/>
              </a:defRPr>
            </a:pPr>
            <a:r>
              <a:t>One common way to connect 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BEFORE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2834640" cy="100584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8233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1440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Database Connector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91440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GitHub Connector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API Connector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38912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337"/>
                </a:solidFill>
                <a:latin typeface="Aptos"/>
              </a:defRPr>
            </a:pPr>
            <a:r>
              <a:t>File Connector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644411"/>
            <a:ext cx="667512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69717D"/>
                </a:solidFill>
                <a:latin typeface="Aptos"/>
              </a:defRPr>
            </a:pPr>
            <a:r>
              <a:rPr dirty="0">
                <a:latin typeface="+mj-lt"/>
              </a:rPr>
              <a:t>Many different connections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WITH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2834640" cy="100584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82337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14400"/>
            <a:ext cx="27432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914400"/>
            <a:ext cx="27432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7432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389120"/>
            <a:ext cx="27432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2337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644411"/>
            <a:ext cx="667512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69717D"/>
                </a:solidFill>
                <a:latin typeface="Aptos"/>
              </a:defRPr>
            </a:pPr>
            <a:r>
              <a:rPr dirty="0">
                <a:latin typeface="+mj-lt"/>
              </a:rPr>
              <a:t>One common protocol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MCP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AI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MCP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Data /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93992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Client = 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96312"/>
            <a:ext cx="201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6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33172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337"/>
                </a:solidFill>
                <a:latin typeface="Aptos"/>
              </a:defRPr>
            </a:pPr>
            <a:r>
              <a:t>Server = Provide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6784"/>
            <a:ext cx="1033272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69717D"/>
                </a:solidFill>
                <a:latin typeface="Aptos"/>
              </a:defRPr>
            </a:pPr>
            <a:r>
              <a:rPr sz="2400" dirty="0">
                <a:latin typeface="+mj-lt"/>
              </a:rPr>
              <a:t>MCP Client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MCP Server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Data / Tools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Client = Connect</a:t>
            </a:r>
            <a:br>
              <a:rPr sz="2400" dirty="0">
                <a:latin typeface="+mj-lt"/>
              </a:rPr>
            </a:br>
            <a:r>
              <a:rPr sz="2400" dirty="0">
                <a:latin typeface="+mj-lt"/>
              </a:rPr>
              <a:t>Server = Provide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337"/>
                </a:solidFill>
                <a:latin typeface="Aptos"/>
              </a:defRPr>
            </a:pPr>
            <a:r>
              <a:t>MCP: 3 MAIN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30175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PROMPTS —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920240"/>
            <a:ext cx="30175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RESOURCES — Data /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920240"/>
            <a:ext cx="30175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82337"/>
                </a:solidFill>
                <a:latin typeface="Aptos"/>
              </a:defRPr>
            </a:pPr>
            <a:r>
              <a:t>TOOLS — Actions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9005" y="2919156"/>
            <a:ext cx="1024128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82337"/>
                </a:solidFill>
                <a:latin typeface="Aptos"/>
              </a:defRPr>
            </a:pPr>
            <a:r>
              <a:rPr sz="4400" dirty="0" smtClean="0">
                <a:latin typeface="+mj-lt"/>
              </a:rPr>
              <a:t>DEMO</a:t>
            </a:r>
            <a:endParaRPr sz="44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69717D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9487" y="621566"/>
            <a:ext cx="1033272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+mj-lt"/>
              </a:rPr>
              <a:t>LLM =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424" y="3906827"/>
            <a:ext cx="103327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CDD7EB"/>
                </a:solidFill>
                <a:latin typeface="Aptos"/>
              </a:defRPr>
            </a:pPr>
            <a:r>
              <a:rPr sz="2400" dirty="0">
                <a:latin typeface="+mj-lt"/>
              </a:rPr>
              <a:t>DATA = KNOW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337"/>
                </a:solidFill>
                <a:latin typeface="Aptos"/>
              </a:defRPr>
            </a:pPr>
            <a:r>
              <a:t>LLM = THINK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945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337"/>
                </a:solidFill>
                <a:latin typeface="Aptos"/>
              </a:defRPr>
            </a:pPr>
            <a:r>
              <a:t>DATA =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1945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337"/>
                </a:solidFill>
                <a:latin typeface="Aptos"/>
              </a:defRPr>
            </a:pPr>
            <a:r>
              <a:t>TOOL =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1945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337"/>
                </a:solidFill>
                <a:latin typeface="Aptos"/>
              </a:defRPr>
            </a:pPr>
            <a:r>
              <a:t>MCP =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509</Words>
  <Application>Microsoft Office PowerPoint</Application>
  <PresentationFormat>Widescreen</PresentationFormat>
  <Paragraphs>209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2026-10-02T14:11:14Z</dcterms:modified>
  <cp:category/>
</cp:coreProperties>
</file>